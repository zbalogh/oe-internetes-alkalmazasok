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9"/>
  </p:notesMasterIdLst>
  <p:sldIdLst>
    <p:sldId id="288" r:id="rId2"/>
    <p:sldId id="256" r:id="rId3"/>
    <p:sldId id="259" r:id="rId4"/>
    <p:sldId id="275" r:id="rId5"/>
    <p:sldId id="276" r:id="rId6"/>
    <p:sldId id="277" r:id="rId7"/>
    <p:sldId id="278" r:id="rId8"/>
    <p:sldId id="287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5182" autoAdjust="0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82E4E-5CEC-44A9-BF2B-512FB3B5604F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23EBC-67FA-4278-B97C-82D0A52FD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96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prezentáció célja megérteni a webes kommunikáció biztonsági alapjait. Érdemes hangsúlyozni, hogy bár a HTTPS-t nap mint nap használjuk, a működését sok felhasználó és fejlesztő sem ismeri mélyen. Az előadás során lépésről lépésre bontjuk ki, hogyan jön létre egy biztonságos kapcsolat, milyen szerepet játszanak a tanúsítványok, mit jelent a PKI, és végül rátérünk a TLS protokoll részletes — technikai — működésére. Fontos kiemelni, hogy ez a technológiai háttér ma a modern internet egyik legfontosabb alapköve.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3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HTTP protokoll eredetileg nem biztonságos környezetben való működésre készült. Szöveges, </a:t>
            </a:r>
            <a:r>
              <a:rPr lang="hu-HU" dirty="0" err="1"/>
              <a:t>titkosítatlan</a:t>
            </a:r>
            <a:r>
              <a:rPr lang="hu-HU" dirty="0"/>
              <a:t> adatot küld — és minden, amit a felhasználó beír egy HTTP oldalon (például jelszavak, űrlapadatok), könnyen lehallgatható. Különösen fontos hangsúlyozni a „session </a:t>
            </a:r>
            <a:r>
              <a:rPr lang="hu-HU" dirty="0" err="1"/>
              <a:t>hijacking</a:t>
            </a:r>
            <a:r>
              <a:rPr lang="hu-HU" dirty="0"/>
              <a:t>” fogalmát is: ha valaki egy hálózatban képes megszerezni egy session </a:t>
            </a:r>
            <a:r>
              <a:rPr lang="hu-HU" dirty="0" err="1"/>
              <a:t>cookie</a:t>
            </a:r>
            <a:r>
              <a:rPr lang="hu-HU" dirty="0"/>
              <a:t>-t, akár bejelentkezés nélkül is átveheti egy felhasználó munkamenetét. A HTTPS nemcsak titkosít, hanem biztosítja az integritást is. Ez azért lényeges, mert a támadó nemcsak olvashatná az adatot, hanem módosíthatná is („</a:t>
            </a:r>
            <a:r>
              <a:rPr lang="hu-HU" dirty="0" err="1"/>
              <a:t>on-the-fly</a:t>
            </a:r>
            <a:r>
              <a:rPr lang="hu-HU" dirty="0"/>
              <a:t> HTML </a:t>
            </a:r>
            <a:r>
              <a:rPr lang="hu-HU" dirty="0" err="1"/>
              <a:t>injection</a:t>
            </a:r>
            <a:r>
              <a:rPr lang="hu-HU" dirty="0"/>
              <a:t>”). A hitelesítés funkciót is meg kell említeni: a böngésző ellenőrzi, hogy valóban azzal a szerverrel kommunikálunk-e, akinek a </a:t>
            </a:r>
            <a:r>
              <a:rPr lang="hu-HU" dirty="0" err="1"/>
              <a:t>domainjét</a:t>
            </a:r>
            <a:r>
              <a:rPr lang="hu-HU" dirty="0"/>
              <a:t> beírtuk. Ez véd meg a legtöbb MITM támadás ellen.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05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másik</a:t>
            </a:r>
            <a:r>
              <a:rPr lang="en-US" dirty="0"/>
              <a:t> </a:t>
            </a:r>
            <a:r>
              <a:rPr lang="en-US" dirty="0" err="1"/>
              <a:t>protokoll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a HTTP </a:t>
            </a:r>
            <a:r>
              <a:rPr lang="en-US" dirty="0" err="1"/>
              <a:t>titkosított</a:t>
            </a:r>
            <a:r>
              <a:rPr lang="en-US" dirty="0"/>
              <a:t> </a:t>
            </a:r>
            <a:r>
              <a:rPr lang="en-US" dirty="0" err="1"/>
              <a:t>változata</a:t>
            </a:r>
            <a:r>
              <a:rPr lang="en-US" dirty="0"/>
              <a:t>. A HTTPS a TLS </a:t>
            </a:r>
            <a:r>
              <a:rPr lang="en-US" dirty="0" err="1"/>
              <a:t>protokollra</a:t>
            </a:r>
            <a:r>
              <a:rPr lang="en-US" dirty="0"/>
              <a:t> </a:t>
            </a:r>
            <a:r>
              <a:rPr lang="en-US" dirty="0" err="1"/>
              <a:t>épül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a TCP </a:t>
            </a:r>
            <a:r>
              <a:rPr lang="en-US" dirty="0" err="1"/>
              <a:t>fölött</a:t>
            </a:r>
            <a:r>
              <a:rPr lang="en-US" dirty="0"/>
              <a:t> </a:t>
            </a:r>
            <a:r>
              <a:rPr lang="en-US" dirty="0" err="1"/>
              <a:t>helyezkedik</a:t>
            </a:r>
            <a:r>
              <a:rPr lang="en-US" dirty="0"/>
              <a:t> el. </a:t>
            </a:r>
            <a:r>
              <a:rPr lang="en-US" dirty="0" err="1"/>
              <a:t>Tehát</a:t>
            </a:r>
            <a:r>
              <a:rPr lang="en-US" dirty="0"/>
              <a:t> TCP → TLS → HTTP a </a:t>
            </a:r>
            <a:r>
              <a:rPr lang="en-US" dirty="0" err="1"/>
              <a:t>rétegződés</a:t>
            </a:r>
            <a:r>
              <a:rPr lang="en-US" dirty="0"/>
              <a:t>. </a:t>
            </a:r>
            <a:r>
              <a:rPr lang="hu-HU" dirty="0"/>
              <a:t>M</a:t>
            </a:r>
            <a:r>
              <a:rPr lang="en-US" dirty="0"/>
              <a:t>a </a:t>
            </a:r>
            <a:r>
              <a:rPr lang="en-US" dirty="0" err="1"/>
              <a:t>már</a:t>
            </a:r>
            <a:r>
              <a:rPr lang="en-US" dirty="0"/>
              <a:t> a </a:t>
            </a:r>
            <a:r>
              <a:rPr lang="en-US" dirty="0" err="1"/>
              <a:t>böngészők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funkciót</a:t>
            </a:r>
            <a:r>
              <a:rPr lang="en-US" dirty="0"/>
              <a:t> meg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engednek</a:t>
            </a:r>
            <a:r>
              <a:rPr lang="en-US" dirty="0"/>
              <a:t> HTTP </a:t>
            </a:r>
            <a:r>
              <a:rPr lang="en-US" dirty="0" err="1"/>
              <a:t>oldalon</a:t>
            </a:r>
            <a:r>
              <a:rPr lang="en-US" dirty="0"/>
              <a:t> (</a:t>
            </a:r>
            <a:r>
              <a:rPr lang="en-US" dirty="0" err="1"/>
              <a:t>például</a:t>
            </a:r>
            <a:r>
              <a:rPr lang="en-US" dirty="0"/>
              <a:t> geolocation API, push </a:t>
            </a:r>
            <a:r>
              <a:rPr lang="en-US" dirty="0" err="1"/>
              <a:t>notifikációk</a:t>
            </a:r>
            <a:r>
              <a:rPr lang="en-US" dirty="0"/>
              <a:t>), </a:t>
            </a:r>
            <a:r>
              <a:rPr lang="en-US" dirty="0" err="1"/>
              <a:t>illetve</a:t>
            </a:r>
            <a:r>
              <a:rPr lang="en-US" dirty="0"/>
              <a:t> a </a:t>
            </a:r>
            <a:r>
              <a:rPr lang="en-US" dirty="0" err="1"/>
              <a:t>fejlesztők</a:t>
            </a:r>
            <a:r>
              <a:rPr lang="en-US" dirty="0"/>
              <a:t> Chrome-ban és </a:t>
            </a:r>
            <a:r>
              <a:rPr lang="en-US" dirty="0" err="1"/>
              <a:t>Firefoxban</a:t>
            </a:r>
            <a:r>
              <a:rPr lang="en-US" dirty="0"/>
              <a:t> </a:t>
            </a:r>
            <a:r>
              <a:rPr lang="en-US" dirty="0" err="1"/>
              <a:t>rengeteg</a:t>
            </a:r>
            <a:r>
              <a:rPr lang="en-US" dirty="0"/>
              <a:t> </a:t>
            </a:r>
            <a:r>
              <a:rPr lang="en-US" dirty="0" err="1"/>
              <a:t>sárga</a:t>
            </a:r>
            <a:r>
              <a:rPr lang="en-US" dirty="0"/>
              <a:t>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piros</a:t>
            </a:r>
            <a:r>
              <a:rPr lang="en-US" dirty="0"/>
              <a:t> </a:t>
            </a:r>
            <a:r>
              <a:rPr lang="en-US" dirty="0" err="1"/>
              <a:t>figyelmeztetést</a:t>
            </a:r>
            <a:r>
              <a:rPr lang="en-US" dirty="0"/>
              <a:t> </a:t>
            </a:r>
            <a:r>
              <a:rPr lang="en-US" dirty="0" err="1"/>
              <a:t>kapnak</a:t>
            </a:r>
            <a:r>
              <a:rPr lang="en-US" dirty="0"/>
              <a:t>, ha </a:t>
            </a:r>
            <a:r>
              <a:rPr lang="en-US" dirty="0" err="1"/>
              <a:t>nem</a:t>
            </a:r>
            <a:r>
              <a:rPr lang="en-US" dirty="0"/>
              <a:t> HTTPS-t </a:t>
            </a:r>
            <a:r>
              <a:rPr lang="en-US" dirty="0" err="1"/>
              <a:t>használnak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08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Az SSL (</a:t>
            </a:r>
            <a:r>
              <a:rPr lang="hu-HU" dirty="0" err="1"/>
              <a:t>Secure</a:t>
            </a:r>
            <a:r>
              <a:rPr lang="hu-HU" dirty="0"/>
              <a:t> </a:t>
            </a:r>
            <a:r>
              <a:rPr lang="hu-HU" dirty="0" err="1"/>
              <a:t>Sockets</a:t>
            </a:r>
            <a:r>
              <a:rPr lang="hu-HU" dirty="0"/>
              <a:t> </a:t>
            </a:r>
            <a:r>
              <a:rPr lang="hu-HU" dirty="0" err="1"/>
              <a:t>Layer</a:t>
            </a:r>
            <a:r>
              <a:rPr lang="hu-HU" dirty="0"/>
              <a:t>) mára történelmi jelentőségű, de már nem használatos, helyette a TLS protokoll (</a:t>
            </a:r>
            <a:r>
              <a:rPr lang="hu-HU" dirty="0" err="1"/>
              <a:t>Transport</a:t>
            </a:r>
            <a:r>
              <a:rPr lang="hu-HU" dirty="0"/>
              <a:t> </a:t>
            </a:r>
            <a:r>
              <a:rPr lang="hu-HU" dirty="0" err="1"/>
              <a:t>Layer</a:t>
            </a:r>
            <a:r>
              <a:rPr lang="hu-HU" dirty="0"/>
              <a:t> Security) működik.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modern rendszerekben TLS 1.2 vagy 1.3 az ajánlott. A TLS nem egyszerűen „titkosítást biztosít”. Széles funkcionalitása van: kulcscsere, hitelesítés, integritásvédelem, üzenetszegmentálás, tömörítés, és még sok egyéb. A TLS célja egy biztonságos csatorna létrehozása két végpont között, amely felett aztán bármilyen adatot lehet továbbítani, nem csak HTTP-t. </a:t>
            </a:r>
            <a:r>
              <a:rPr lang="en-US" dirty="0"/>
              <a:t>A HTTPS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, mint </a:t>
            </a:r>
            <a:r>
              <a:rPr lang="en-US" dirty="0" err="1"/>
              <a:t>egy</a:t>
            </a:r>
            <a:r>
              <a:rPr lang="en-US" dirty="0"/>
              <a:t> HTTP </a:t>
            </a:r>
            <a:r>
              <a:rPr lang="en-US" dirty="0" err="1"/>
              <a:t>kapcsolat</a:t>
            </a:r>
            <a:r>
              <a:rPr lang="en-US" dirty="0"/>
              <a:t> TLS-</a:t>
            </a:r>
            <a:r>
              <a:rPr lang="en-US" dirty="0" err="1"/>
              <a:t>sel</a:t>
            </a:r>
            <a:r>
              <a:rPr lang="en-US" dirty="0"/>
              <a:t> </a:t>
            </a:r>
            <a:r>
              <a:rPr lang="en-US" dirty="0" err="1"/>
              <a:t>védve</a:t>
            </a:r>
            <a:r>
              <a:rPr lang="en-US" dirty="0"/>
              <a:t>. 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TLS 1.3 sok új fejlesztéssel rendelkezik: </a:t>
            </a:r>
            <a:r>
              <a:rPr lang="en-US" dirty="0"/>
              <a:t>pl. </a:t>
            </a:r>
            <a:r>
              <a:rPr lang="en-US" dirty="0" err="1"/>
              <a:t>kevesebb</a:t>
            </a:r>
            <a:r>
              <a:rPr lang="en-US" dirty="0"/>
              <a:t> </a:t>
            </a:r>
            <a:r>
              <a:rPr lang="en-US" dirty="0" err="1"/>
              <a:t>körös</a:t>
            </a:r>
            <a:r>
              <a:rPr lang="en-US" dirty="0"/>
              <a:t> handshake, </a:t>
            </a:r>
            <a:r>
              <a:rPr lang="en-US" dirty="0" err="1"/>
              <a:t>gyorsabb</a:t>
            </a:r>
            <a:r>
              <a:rPr lang="en-US" dirty="0"/>
              <a:t> </a:t>
            </a:r>
            <a:r>
              <a:rPr lang="en-US" dirty="0" err="1"/>
              <a:t>kapcsolatfelépítés</a:t>
            </a:r>
            <a:r>
              <a:rPr lang="en-US" dirty="0"/>
              <a:t>, </a:t>
            </a:r>
            <a:r>
              <a:rPr lang="en-US" dirty="0" err="1"/>
              <a:t>biztonságosabb</a:t>
            </a:r>
            <a:r>
              <a:rPr lang="en-US" dirty="0"/>
              <a:t> </a:t>
            </a:r>
            <a:r>
              <a:rPr lang="en-US" dirty="0" err="1"/>
              <a:t>algoritmusok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90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</a:t>
            </a:r>
            <a:r>
              <a:rPr lang="en-US" dirty="0"/>
              <a:t> TLS </a:t>
            </a:r>
            <a:r>
              <a:rPr lang="en-US" dirty="0" err="1"/>
              <a:t>valójában</a:t>
            </a:r>
            <a:r>
              <a:rPr lang="en-US" dirty="0"/>
              <a:t> </a:t>
            </a:r>
            <a:r>
              <a:rPr lang="en-US" dirty="0" err="1"/>
              <a:t>többféle</a:t>
            </a:r>
            <a:r>
              <a:rPr lang="en-US" dirty="0"/>
              <a:t> </a:t>
            </a:r>
            <a:r>
              <a:rPr lang="en-US" dirty="0" err="1"/>
              <a:t>kriptográfiai</a:t>
            </a:r>
            <a:r>
              <a:rPr lang="en-US" dirty="0"/>
              <a:t> </a:t>
            </a:r>
            <a:r>
              <a:rPr lang="en-US" dirty="0" err="1"/>
              <a:t>technikát</a:t>
            </a:r>
            <a:r>
              <a:rPr lang="en-US" dirty="0"/>
              <a:t> </a:t>
            </a:r>
            <a:r>
              <a:rPr lang="en-US" dirty="0" err="1"/>
              <a:t>kombinál</a:t>
            </a:r>
            <a:r>
              <a:rPr lang="en-US" dirty="0"/>
              <a:t>. A </a:t>
            </a:r>
            <a:r>
              <a:rPr lang="en-US" dirty="0" err="1"/>
              <a:t>hitelesítés</a:t>
            </a:r>
            <a:r>
              <a:rPr lang="hu-HU" dirty="0"/>
              <a:t>/kulcscsere </a:t>
            </a:r>
            <a:r>
              <a:rPr lang="en-US" dirty="0" err="1"/>
              <a:t>aszimmetrikus</a:t>
            </a:r>
            <a:r>
              <a:rPr lang="en-US" dirty="0"/>
              <a:t> </a:t>
            </a:r>
            <a:r>
              <a:rPr lang="en-US" dirty="0" err="1"/>
              <a:t>kulcsokkal</a:t>
            </a:r>
            <a:r>
              <a:rPr lang="en-US" dirty="0"/>
              <a:t> </a:t>
            </a:r>
            <a:r>
              <a:rPr lang="en-US" dirty="0" err="1"/>
              <a:t>történik</a:t>
            </a:r>
            <a:r>
              <a:rPr lang="en-US" dirty="0"/>
              <a:t> —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rendelkezik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privát</a:t>
            </a:r>
            <a:r>
              <a:rPr lang="en-US" dirty="0"/>
              <a:t> </a:t>
            </a:r>
            <a:r>
              <a:rPr lang="en-US" dirty="0" err="1"/>
              <a:t>kulccsal</a:t>
            </a:r>
            <a:r>
              <a:rPr lang="en-US" dirty="0"/>
              <a:t>, </a:t>
            </a:r>
            <a:r>
              <a:rPr lang="en-US" dirty="0" err="1"/>
              <a:t>amelynek</a:t>
            </a:r>
            <a:r>
              <a:rPr lang="en-US" dirty="0"/>
              <a:t> </a:t>
            </a:r>
            <a:r>
              <a:rPr lang="en-US" dirty="0" err="1"/>
              <a:t>megfelelő</a:t>
            </a:r>
            <a:r>
              <a:rPr lang="en-US" dirty="0"/>
              <a:t> </a:t>
            </a:r>
            <a:r>
              <a:rPr lang="en-US" dirty="0" err="1"/>
              <a:t>publikus</a:t>
            </a:r>
            <a:r>
              <a:rPr lang="en-US" dirty="0"/>
              <a:t> </a:t>
            </a:r>
            <a:r>
              <a:rPr lang="en-US" dirty="0" err="1"/>
              <a:t>kulcsa</a:t>
            </a:r>
            <a:r>
              <a:rPr lang="en-US" dirty="0"/>
              <a:t> a </a:t>
            </a:r>
            <a:r>
              <a:rPr lang="en-US" dirty="0" err="1"/>
              <a:t>tanúsítványban</a:t>
            </a:r>
            <a:r>
              <a:rPr lang="en-US" dirty="0"/>
              <a:t> </a:t>
            </a:r>
            <a:r>
              <a:rPr lang="en-US" dirty="0" err="1"/>
              <a:t>található</a:t>
            </a:r>
            <a:r>
              <a:rPr lang="en-US" dirty="0"/>
              <a:t>. A </a:t>
            </a:r>
            <a:r>
              <a:rPr lang="en-US" dirty="0" err="1"/>
              <a:t>kulcscsere</a:t>
            </a:r>
            <a:r>
              <a:rPr lang="en-US" dirty="0"/>
              <a:t> </a:t>
            </a:r>
            <a:r>
              <a:rPr lang="en-US" dirty="0" err="1"/>
              <a:t>során</a:t>
            </a:r>
            <a:r>
              <a:rPr lang="en-US" dirty="0"/>
              <a:t> </a:t>
            </a:r>
            <a:r>
              <a:rPr lang="en-US" dirty="0" err="1"/>
              <a:t>valamilyen</a:t>
            </a:r>
            <a:r>
              <a:rPr lang="en-US" dirty="0"/>
              <a:t> </a:t>
            </a:r>
            <a:r>
              <a:rPr lang="en-US" dirty="0" err="1"/>
              <a:t>algoritmus</a:t>
            </a:r>
            <a:r>
              <a:rPr lang="en-US" dirty="0"/>
              <a:t> (Diffie–Hellman, ECDHE </a:t>
            </a:r>
            <a:r>
              <a:rPr lang="en-US" dirty="0" err="1"/>
              <a:t>stb</a:t>
            </a:r>
            <a:r>
              <a:rPr lang="en-US" dirty="0"/>
              <a:t>.) </a:t>
            </a:r>
            <a:r>
              <a:rPr lang="en-US" dirty="0" err="1"/>
              <a:t>segítségével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és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közösen</a:t>
            </a:r>
            <a:r>
              <a:rPr lang="en-US" dirty="0"/>
              <a:t> </a:t>
            </a:r>
            <a:r>
              <a:rPr lang="en-US" dirty="0" err="1"/>
              <a:t>előállít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session key-t.</a:t>
            </a:r>
            <a:r>
              <a:rPr lang="hu-HU" dirty="0"/>
              <a:t> Ezt </a:t>
            </a:r>
            <a:r>
              <a:rPr lang="en-US" dirty="0" err="1"/>
              <a:t>követően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szimmetrikus</a:t>
            </a:r>
            <a:r>
              <a:rPr lang="en-US" dirty="0"/>
              <a:t> </a:t>
            </a:r>
            <a:r>
              <a:rPr lang="en-US" dirty="0" err="1"/>
              <a:t>titkosítással</a:t>
            </a:r>
            <a:r>
              <a:rPr lang="en-US" dirty="0"/>
              <a:t> </a:t>
            </a:r>
            <a:r>
              <a:rPr lang="en-US" dirty="0" err="1"/>
              <a:t>történik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adatcsere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gyors</a:t>
            </a:r>
            <a:r>
              <a:rPr lang="en-US" dirty="0"/>
              <a:t> és </a:t>
            </a:r>
            <a:r>
              <a:rPr lang="en-US" dirty="0" err="1"/>
              <a:t>hatékony</a:t>
            </a:r>
            <a:r>
              <a:rPr lang="en-US" dirty="0"/>
              <a:t>. 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TLS protokollban különböző </a:t>
            </a:r>
            <a:r>
              <a:rPr lang="en-US" dirty="0"/>
              <a:t>MAC (Message Authentication Code) </a:t>
            </a:r>
            <a:r>
              <a:rPr lang="hu-HU" dirty="0"/>
              <a:t>, HMAC (</a:t>
            </a:r>
            <a:r>
              <a:rPr lang="hu-HU" dirty="0" err="1"/>
              <a:t>Hash</a:t>
            </a:r>
            <a:r>
              <a:rPr lang="hu-HU" dirty="0"/>
              <a:t> alapú MAC) </a:t>
            </a:r>
            <a:r>
              <a:rPr lang="en-US" dirty="0" err="1"/>
              <a:t>vagy</a:t>
            </a:r>
            <a:r>
              <a:rPr lang="en-US" dirty="0"/>
              <a:t> AEAD</a:t>
            </a:r>
            <a:r>
              <a:rPr lang="hu-HU" dirty="0"/>
              <a:t> (</a:t>
            </a:r>
            <a:r>
              <a:rPr lang="en-US" dirty="0"/>
              <a:t>Authenticated Encryption with Associated Data</a:t>
            </a:r>
            <a:r>
              <a:rPr lang="hu-HU" dirty="0"/>
              <a:t>)</a:t>
            </a:r>
            <a:r>
              <a:rPr lang="en-US" dirty="0"/>
              <a:t> </a:t>
            </a:r>
            <a:r>
              <a:rPr lang="en-US" dirty="0" err="1"/>
              <a:t>algoritmusok</a:t>
            </a:r>
            <a:r>
              <a:rPr lang="en-US" dirty="0"/>
              <a:t> </a:t>
            </a:r>
            <a:r>
              <a:rPr lang="en-US" dirty="0" err="1"/>
              <a:t>biztosítják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integritást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TLS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adatintegritást</a:t>
            </a:r>
            <a:r>
              <a:rPr lang="en-US" dirty="0"/>
              <a:t> </a:t>
            </a:r>
            <a:r>
              <a:rPr lang="en-US" dirty="0" err="1"/>
              <a:t>kezdetben</a:t>
            </a:r>
            <a:r>
              <a:rPr lang="en-US" dirty="0"/>
              <a:t> HMAC-</a:t>
            </a:r>
            <a:r>
              <a:rPr lang="en-US" dirty="0" err="1"/>
              <a:t>alapú</a:t>
            </a:r>
            <a:r>
              <a:rPr lang="en-US" dirty="0"/>
              <a:t> MAC </a:t>
            </a:r>
            <a:r>
              <a:rPr lang="en-US" dirty="0" err="1"/>
              <a:t>algoritmusokkal</a:t>
            </a:r>
            <a:r>
              <a:rPr lang="en-US" dirty="0"/>
              <a:t> (pl. HMAC-SHA256), </a:t>
            </a:r>
            <a:r>
              <a:rPr lang="en-US" dirty="0" err="1"/>
              <a:t>míg</a:t>
            </a:r>
            <a:r>
              <a:rPr lang="en-US" dirty="0"/>
              <a:t> a modern TLS </a:t>
            </a:r>
            <a:r>
              <a:rPr lang="en-US" dirty="0" err="1"/>
              <a:t>verziókban</a:t>
            </a:r>
            <a:r>
              <a:rPr lang="en-US" dirty="0"/>
              <a:t> </a:t>
            </a:r>
            <a:r>
              <a:rPr lang="en-US" dirty="0" err="1"/>
              <a:t>kizárólag</a:t>
            </a:r>
            <a:r>
              <a:rPr lang="en-US" dirty="0"/>
              <a:t> AEAD </a:t>
            </a:r>
            <a:r>
              <a:rPr lang="en-US" dirty="0" err="1"/>
              <a:t>algoritmusokkal</a:t>
            </a:r>
            <a:r>
              <a:rPr lang="en-US" dirty="0"/>
              <a:t> (pl. AES-GCM, ChaCha20-Poly1305) </a:t>
            </a:r>
            <a:r>
              <a:rPr lang="en-US" dirty="0" err="1"/>
              <a:t>biztosítja</a:t>
            </a:r>
            <a:r>
              <a:rPr lang="en-US" dirty="0"/>
              <a:t>, </a:t>
            </a:r>
            <a:r>
              <a:rPr lang="en-US" dirty="0" err="1"/>
              <a:t>amelyek</a:t>
            </a:r>
            <a:r>
              <a:rPr lang="en-US" dirty="0"/>
              <a:t> a </a:t>
            </a:r>
            <a:r>
              <a:rPr lang="en-US" dirty="0" err="1"/>
              <a:t>titkosítást</a:t>
            </a:r>
            <a:r>
              <a:rPr lang="en-US" dirty="0"/>
              <a:t> és a </a:t>
            </a:r>
            <a:r>
              <a:rPr lang="en-US" dirty="0" err="1"/>
              <a:t>hitelesítést</a:t>
            </a:r>
            <a:r>
              <a:rPr lang="en-US" dirty="0"/>
              <a:t> </a:t>
            </a:r>
            <a:r>
              <a:rPr lang="en-US" dirty="0" err="1"/>
              <a:t>egyetlen</a:t>
            </a:r>
            <a:r>
              <a:rPr lang="en-US" dirty="0"/>
              <a:t> </a:t>
            </a:r>
            <a:r>
              <a:rPr lang="en-US" dirty="0" err="1"/>
              <a:t>lépésben</a:t>
            </a:r>
            <a:r>
              <a:rPr lang="en-US" dirty="0"/>
              <a:t> </a:t>
            </a:r>
            <a:r>
              <a:rPr lang="en-US" dirty="0" err="1"/>
              <a:t>valósítják</a:t>
            </a:r>
            <a:r>
              <a:rPr lang="en-US" dirty="0"/>
              <a:t> meg.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9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TLS (Transport Layer Security) </a:t>
            </a:r>
            <a:r>
              <a:rPr lang="en-US" b="1" dirty="0" err="1"/>
              <a:t>nem</a:t>
            </a:r>
            <a:r>
              <a:rPr lang="en-US" b="1" dirty="0"/>
              <a:t> </a:t>
            </a:r>
            <a:r>
              <a:rPr lang="en-US" b="1" dirty="0" err="1"/>
              <a:t>egyetlen</a:t>
            </a:r>
            <a:r>
              <a:rPr lang="en-US" b="1" dirty="0"/>
              <a:t> </a:t>
            </a:r>
            <a:r>
              <a:rPr lang="en-US" b="1" dirty="0" err="1"/>
              <a:t>monolit</a:t>
            </a:r>
            <a:r>
              <a:rPr lang="en-US" b="1" dirty="0"/>
              <a:t> </a:t>
            </a:r>
            <a:r>
              <a:rPr lang="en-US" b="1" dirty="0" err="1"/>
              <a:t>protokoll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több</a:t>
            </a:r>
            <a:r>
              <a:rPr lang="en-US" dirty="0"/>
              <a:t>, </a:t>
            </a:r>
            <a:r>
              <a:rPr lang="en-US" dirty="0" err="1"/>
              <a:t>egymásra</a:t>
            </a:r>
            <a:r>
              <a:rPr lang="en-US" dirty="0"/>
              <a:t> </a:t>
            </a:r>
            <a:r>
              <a:rPr lang="en-US" dirty="0" err="1"/>
              <a:t>épülő</a:t>
            </a:r>
            <a:r>
              <a:rPr lang="en-US" dirty="0"/>
              <a:t> </a:t>
            </a:r>
            <a:r>
              <a:rPr lang="en-US" dirty="0" err="1"/>
              <a:t>rétegből</a:t>
            </a:r>
            <a:r>
              <a:rPr lang="en-US" dirty="0"/>
              <a:t> </a:t>
            </a:r>
            <a:r>
              <a:rPr lang="en-US" dirty="0" err="1"/>
              <a:t>áll</a:t>
            </a:r>
            <a:r>
              <a:rPr lang="en-US" dirty="0"/>
              <a:t>. </a:t>
            </a:r>
            <a:r>
              <a:rPr lang="en-US" dirty="0" err="1"/>
              <a:t>Ezek</a:t>
            </a:r>
            <a:r>
              <a:rPr lang="en-US" dirty="0"/>
              <a:t> a </a:t>
            </a:r>
            <a:r>
              <a:rPr lang="en-US" dirty="0" err="1"/>
              <a:t>rétegek</a:t>
            </a:r>
            <a:r>
              <a:rPr lang="en-US" dirty="0"/>
              <a:t> </a:t>
            </a:r>
            <a:r>
              <a:rPr lang="en-US" b="1" dirty="0" err="1"/>
              <a:t>külön</a:t>
            </a:r>
            <a:r>
              <a:rPr lang="en-US" b="1" dirty="0"/>
              <a:t> </a:t>
            </a:r>
            <a:r>
              <a:rPr lang="en-US" b="1" dirty="0" err="1"/>
              <a:t>feladatköröket</a:t>
            </a:r>
            <a:r>
              <a:rPr lang="en-US" dirty="0"/>
              <a:t> </a:t>
            </a:r>
            <a:r>
              <a:rPr lang="en-US" dirty="0" err="1"/>
              <a:t>látnak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, és </a:t>
            </a:r>
            <a:r>
              <a:rPr lang="en-US" dirty="0" err="1"/>
              <a:t>együtt</a:t>
            </a:r>
            <a:r>
              <a:rPr lang="en-US" dirty="0"/>
              <a:t> </a:t>
            </a:r>
            <a:r>
              <a:rPr lang="en-US" dirty="0" err="1"/>
              <a:t>biztosítják</a:t>
            </a:r>
            <a:r>
              <a:rPr lang="en-US" dirty="0"/>
              <a:t> a </a:t>
            </a:r>
            <a:r>
              <a:rPr lang="en-US" dirty="0" err="1"/>
              <a:t>biztonságos</a:t>
            </a:r>
            <a:r>
              <a:rPr lang="en-US" dirty="0"/>
              <a:t> </a:t>
            </a:r>
            <a:r>
              <a:rPr lang="en-US" dirty="0" err="1"/>
              <a:t>kommunikációt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alkalmazások</a:t>
            </a:r>
            <a:r>
              <a:rPr lang="en-US" dirty="0"/>
              <a:t> </a:t>
            </a:r>
            <a:r>
              <a:rPr lang="hu-HU" dirty="0"/>
              <a:t>s</a:t>
            </a:r>
            <a:r>
              <a:rPr lang="en-US" dirty="0" err="1"/>
              <a:t>zámára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</a:t>
            </a:r>
            <a:r>
              <a:rPr lang="hu-HU" b="1" dirty="0" err="1"/>
              <a:t>Record</a:t>
            </a:r>
            <a:r>
              <a:rPr lang="hu-HU" b="1" dirty="0"/>
              <a:t> </a:t>
            </a:r>
            <a:r>
              <a:rPr lang="hu-HU" b="1" dirty="0" err="1"/>
              <a:t>Layer</a:t>
            </a:r>
            <a:r>
              <a:rPr lang="hu-HU" b="1" dirty="0"/>
              <a:t> </a:t>
            </a:r>
            <a:r>
              <a:rPr lang="hu-HU" dirty="0"/>
              <a:t>a TLS legalacsonyabb szintű </a:t>
            </a:r>
            <a:r>
              <a:rPr lang="hu-HU" dirty="0" err="1"/>
              <a:t>rétege</a:t>
            </a:r>
            <a:r>
              <a:rPr lang="hu-HU" dirty="0"/>
              <a:t>, ami felelős az adatok darabolásáért, adattitkosításért és integritásért. (A titkosított adatot továbbítja a TCP felé)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</a:t>
            </a:r>
            <a:r>
              <a:rPr lang="hu-HU" b="1" dirty="0" err="1"/>
              <a:t>Handshake</a:t>
            </a:r>
            <a:r>
              <a:rPr lang="hu-HU" b="1" dirty="0"/>
              <a:t> </a:t>
            </a:r>
            <a:r>
              <a:rPr lang="hu-HU" b="1" dirty="0" err="1"/>
              <a:t>Layer</a:t>
            </a:r>
            <a:r>
              <a:rPr lang="hu-HU" b="1" dirty="0"/>
              <a:t> </a:t>
            </a:r>
            <a:r>
              <a:rPr lang="hu-HU" dirty="0"/>
              <a:t>ezzel szemben a TLS kapcsolat felépítését és a kulcscserét intézi. Itt történik a végpontok között TLS egyeztetés, a biztonságos csatorna előkészítése (</a:t>
            </a:r>
            <a:r>
              <a:rPr lang="en-US" dirty="0" err="1"/>
              <a:t>kriptográfiai</a:t>
            </a:r>
            <a:r>
              <a:rPr lang="en-US" dirty="0"/>
              <a:t> </a:t>
            </a:r>
            <a:r>
              <a:rPr lang="en-US" dirty="0" err="1"/>
              <a:t>algoritmusok</a:t>
            </a:r>
            <a:r>
              <a:rPr lang="en-US" dirty="0"/>
              <a:t> </a:t>
            </a:r>
            <a:r>
              <a:rPr lang="en-US" dirty="0" err="1"/>
              <a:t>egyeztetése</a:t>
            </a:r>
            <a:r>
              <a:rPr lang="en-US" dirty="0"/>
              <a:t>, a session key </a:t>
            </a:r>
            <a:r>
              <a:rPr lang="en-US" dirty="0" err="1"/>
              <a:t>generálása</a:t>
            </a:r>
            <a:r>
              <a:rPr lang="hu-HU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Az </a:t>
            </a:r>
            <a:r>
              <a:rPr lang="en-US" b="1" dirty="0"/>
              <a:t>Alert Protocol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</a:t>
            </a:r>
            <a:r>
              <a:rPr lang="en-US" dirty="0" err="1"/>
              <a:t>réteg</a:t>
            </a:r>
            <a:r>
              <a:rPr lang="en-US" dirty="0"/>
              <a:t> a </a:t>
            </a:r>
            <a:r>
              <a:rPr lang="en-US" dirty="0" err="1"/>
              <a:t>hiba</a:t>
            </a:r>
            <a:r>
              <a:rPr lang="en-US" dirty="0"/>
              <a:t>- és </a:t>
            </a:r>
            <a:r>
              <a:rPr lang="en-US" dirty="0" err="1"/>
              <a:t>állapotjelzések</a:t>
            </a:r>
            <a:r>
              <a:rPr lang="en-US" dirty="0"/>
              <a:t> </a:t>
            </a:r>
            <a:r>
              <a:rPr lang="en-US" dirty="0" err="1"/>
              <a:t>számára</a:t>
            </a:r>
            <a:r>
              <a:rPr lang="hu-HU" dirty="0"/>
              <a:t>, amely hibákat és megszakításokat jelez.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</a:t>
            </a:r>
            <a:r>
              <a:rPr lang="hu-HU" b="1" dirty="0" err="1"/>
              <a:t>ChangeCipherSpec</a:t>
            </a:r>
            <a:r>
              <a:rPr lang="hu-HU" dirty="0"/>
              <a:t>, amely azt jelzi, hogy a felek mostantól titkosított kommunikációt használnak, </a:t>
            </a:r>
            <a:r>
              <a:rPr lang="en-US" dirty="0"/>
              <a:t>és a </a:t>
            </a:r>
            <a:r>
              <a:rPr lang="en-US" dirty="0" err="1"/>
              <a:t>frissen</a:t>
            </a:r>
            <a:r>
              <a:rPr lang="en-US" dirty="0"/>
              <a:t> </a:t>
            </a:r>
            <a:r>
              <a:rPr lang="en-US" dirty="0" err="1"/>
              <a:t>megegyezett</a:t>
            </a:r>
            <a:r>
              <a:rPr lang="en-US" dirty="0"/>
              <a:t> </a:t>
            </a:r>
            <a:r>
              <a:rPr lang="en-US" dirty="0" err="1"/>
              <a:t>titkosítási</a:t>
            </a:r>
            <a:r>
              <a:rPr lang="en-US" dirty="0"/>
              <a:t> </a:t>
            </a:r>
            <a:r>
              <a:rPr lang="en-US" dirty="0" err="1"/>
              <a:t>algoritmusokat</a:t>
            </a:r>
            <a:r>
              <a:rPr lang="en-US" dirty="0"/>
              <a:t> és </a:t>
            </a:r>
            <a:r>
              <a:rPr lang="en-US" dirty="0" err="1"/>
              <a:t>kulcsokat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használniuk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ezt</a:t>
            </a:r>
            <a:r>
              <a:rPr lang="en-US" dirty="0"/>
              <a:t> </a:t>
            </a:r>
            <a:r>
              <a:rPr lang="en-US" dirty="0" err="1"/>
              <a:t>követő</a:t>
            </a:r>
            <a:r>
              <a:rPr lang="en-US" dirty="0"/>
              <a:t>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titkosítására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Ez a rétegződés segít megérteni, hogy a TLS-ben minden nagyon strukturált, és pontosan meghatározott állapotgépen keresztül működik.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84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ábra szemlélteti a TLS elhelyezkedését a TCP/IP hálózati modellben. A TLS az alkalmazási és a szállítási réteg közé ékelődik be.</a:t>
            </a:r>
          </a:p>
          <a:p>
            <a:endParaRPr lang="hu-HU" dirty="0"/>
          </a:p>
          <a:p>
            <a:r>
              <a:rPr lang="hu-HU" dirty="0"/>
              <a:t>A TLS két fő rétegből áll: </a:t>
            </a:r>
            <a:r>
              <a:rPr lang="hu-HU" dirty="0" err="1"/>
              <a:t>Handshake</a:t>
            </a:r>
            <a:r>
              <a:rPr lang="hu-HU" dirty="0"/>
              <a:t> </a:t>
            </a:r>
            <a:r>
              <a:rPr lang="hu-HU" dirty="0" err="1"/>
              <a:t>Layer</a:t>
            </a:r>
            <a:r>
              <a:rPr lang="hu-HU" dirty="0"/>
              <a:t> és </a:t>
            </a:r>
            <a:r>
              <a:rPr lang="hu-HU" dirty="0" err="1"/>
              <a:t>Record</a:t>
            </a:r>
            <a:r>
              <a:rPr lang="hu-HU" dirty="0"/>
              <a:t> </a:t>
            </a:r>
            <a:r>
              <a:rPr lang="hu-HU" dirty="0" err="1"/>
              <a:t>Layer</a:t>
            </a:r>
            <a:r>
              <a:rPr lang="hu-HU" dirty="0"/>
              <a:t>. A </a:t>
            </a:r>
            <a:r>
              <a:rPr lang="hu-HU" dirty="0" err="1"/>
              <a:t>Handshake</a:t>
            </a:r>
            <a:r>
              <a:rPr lang="hu-HU" dirty="0"/>
              <a:t> mellett helyezkedik el az </a:t>
            </a:r>
            <a:r>
              <a:rPr lang="hu-HU" dirty="0" err="1"/>
              <a:t>Alert</a:t>
            </a:r>
            <a:r>
              <a:rPr lang="hu-HU" dirty="0"/>
              <a:t> és a </a:t>
            </a:r>
            <a:r>
              <a:rPr lang="hu-HU" dirty="0" err="1"/>
              <a:t>ChangeCipherSpec</a:t>
            </a:r>
            <a:r>
              <a:rPr lang="hu-HU" dirty="0"/>
              <a:t> réteg 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91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b="1" dirty="0"/>
              <a:t>PKI</a:t>
            </a:r>
            <a:r>
              <a:rPr lang="hu-HU" b="1" dirty="0"/>
              <a:t> (Public Key </a:t>
            </a:r>
            <a:r>
              <a:rPr lang="hu-HU" b="1" dirty="0" err="1"/>
              <a:t>Infrastructure</a:t>
            </a:r>
            <a:r>
              <a:rPr lang="hu-HU" b="1" dirty="0"/>
              <a:t>)</a:t>
            </a:r>
            <a:r>
              <a:rPr lang="en-US" b="1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teljes</a:t>
            </a:r>
            <a:r>
              <a:rPr lang="en-US" dirty="0"/>
              <a:t> </a:t>
            </a:r>
            <a:r>
              <a:rPr lang="en-US" dirty="0" err="1"/>
              <a:t>infrastruktúra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nemcsak</a:t>
            </a:r>
            <a:r>
              <a:rPr lang="en-US" dirty="0"/>
              <a:t> </a:t>
            </a:r>
            <a:r>
              <a:rPr lang="en-US" dirty="0" err="1"/>
              <a:t>tanúsítványok</a:t>
            </a:r>
            <a:r>
              <a:rPr lang="en-US" dirty="0"/>
              <a:t> </a:t>
            </a:r>
            <a:r>
              <a:rPr lang="en-US" dirty="0" err="1"/>
              <a:t>kiadásával</a:t>
            </a:r>
            <a:r>
              <a:rPr lang="en-US" dirty="0"/>
              <a:t> </a:t>
            </a:r>
            <a:r>
              <a:rPr lang="en-US" dirty="0" err="1"/>
              <a:t>foglalkozik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hitelesítési</a:t>
            </a:r>
            <a:r>
              <a:rPr lang="en-US" dirty="0"/>
              <a:t> </a:t>
            </a:r>
            <a:r>
              <a:rPr lang="en-US" dirty="0" err="1"/>
              <a:t>folyamatokkal</a:t>
            </a:r>
            <a:r>
              <a:rPr lang="en-US" dirty="0"/>
              <a:t>, </a:t>
            </a:r>
            <a:r>
              <a:rPr lang="en-US" dirty="0" err="1"/>
              <a:t>kulcskezeléssel</a:t>
            </a:r>
            <a:r>
              <a:rPr lang="en-US" dirty="0"/>
              <a:t>, </a:t>
            </a:r>
            <a:r>
              <a:rPr lang="en-US" dirty="0" err="1"/>
              <a:t>visszavonási</a:t>
            </a:r>
            <a:r>
              <a:rPr lang="en-US" dirty="0"/>
              <a:t> </a:t>
            </a:r>
            <a:r>
              <a:rPr lang="en-US" dirty="0" err="1"/>
              <a:t>mechanizmusokkal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dirty="0" err="1"/>
              <a:t>hierarchikus</a:t>
            </a:r>
            <a:r>
              <a:rPr lang="en-US" dirty="0"/>
              <a:t> </a:t>
            </a:r>
            <a:r>
              <a:rPr lang="en-US" dirty="0" err="1"/>
              <a:t>modell</a:t>
            </a:r>
            <a:r>
              <a:rPr lang="en-US" dirty="0"/>
              <a:t> </a:t>
            </a:r>
            <a:r>
              <a:rPr lang="en-US" dirty="0" err="1"/>
              <a:t>lényege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b="1" dirty="0"/>
              <a:t>Root CA-t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böngésző</a:t>
            </a:r>
            <a:r>
              <a:rPr lang="en-US" dirty="0"/>
              <a:t> és </a:t>
            </a:r>
            <a:r>
              <a:rPr lang="en-US" dirty="0" err="1"/>
              <a:t>operációs</a:t>
            </a:r>
            <a:r>
              <a:rPr lang="en-US" dirty="0"/>
              <a:t> </a:t>
            </a:r>
            <a:r>
              <a:rPr lang="en-US" dirty="0" err="1"/>
              <a:t>rendszer</a:t>
            </a:r>
            <a:r>
              <a:rPr lang="en-US" dirty="0"/>
              <a:t> </a:t>
            </a:r>
            <a:r>
              <a:rPr lang="en-US" dirty="0" err="1"/>
              <a:t>ismeri</a:t>
            </a:r>
            <a:r>
              <a:rPr lang="en-US" dirty="0"/>
              <a:t> — </a:t>
            </a:r>
            <a:r>
              <a:rPr lang="en-US" dirty="0" err="1"/>
              <a:t>saját</a:t>
            </a:r>
            <a:r>
              <a:rPr lang="en-US" dirty="0"/>
              <a:t> trust store-</a:t>
            </a:r>
            <a:r>
              <a:rPr lang="en-US" dirty="0" err="1"/>
              <a:t>jaik</a:t>
            </a:r>
            <a:r>
              <a:rPr lang="en-US" dirty="0"/>
              <a:t> </a:t>
            </a:r>
            <a:r>
              <a:rPr lang="en-US" dirty="0" err="1"/>
              <a:t>tartalmazzák</a:t>
            </a:r>
            <a:r>
              <a:rPr lang="en-US" dirty="0"/>
              <a:t>. A Root CA </a:t>
            </a:r>
            <a:r>
              <a:rPr lang="en-US" dirty="0" err="1"/>
              <a:t>ritkán</a:t>
            </a:r>
            <a:r>
              <a:rPr lang="en-US" dirty="0"/>
              <a:t> </a:t>
            </a:r>
            <a:r>
              <a:rPr lang="en-US" dirty="0" err="1"/>
              <a:t>ír</a:t>
            </a:r>
            <a:r>
              <a:rPr lang="en-US" dirty="0"/>
              <a:t> </a:t>
            </a:r>
            <a:r>
              <a:rPr lang="en-US" dirty="0" err="1"/>
              <a:t>alá</a:t>
            </a:r>
            <a:r>
              <a:rPr lang="en-US" dirty="0"/>
              <a:t> </a:t>
            </a:r>
            <a:r>
              <a:rPr lang="en-US" dirty="0" err="1"/>
              <a:t>közvetlenül</a:t>
            </a:r>
            <a:r>
              <a:rPr lang="en-US" dirty="0"/>
              <a:t> </a:t>
            </a:r>
            <a:r>
              <a:rPr lang="en-US" dirty="0" err="1"/>
              <a:t>tanúsítványokat</a:t>
            </a:r>
            <a:r>
              <a:rPr lang="en-US" dirty="0"/>
              <a:t>; </a:t>
            </a:r>
            <a:r>
              <a:rPr lang="en-US" dirty="0" err="1"/>
              <a:t>erre</a:t>
            </a:r>
            <a:r>
              <a:rPr lang="en-US" dirty="0"/>
              <a:t> </a:t>
            </a:r>
            <a:r>
              <a:rPr lang="en-US" b="1" dirty="0"/>
              <a:t>intermediate CA-k </a:t>
            </a:r>
            <a:r>
              <a:rPr lang="en-US" dirty="0" err="1"/>
              <a:t>szolgálnak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CA = </a:t>
            </a:r>
            <a:r>
              <a:rPr lang="hu-HU" dirty="0" err="1"/>
              <a:t>Certificate</a:t>
            </a:r>
            <a:r>
              <a:rPr lang="hu-HU" dirty="0"/>
              <a:t> </a:t>
            </a:r>
            <a:r>
              <a:rPr lang="hu-HU" dirty="0" err="1"/>
              <a:t>Authority</a:t>
            </a:r>
            <a:r>
              <a:rPr lang="hu-HU" dirty="0"/>
              <a:t> (</a:t>
            </a:r>
            <a:r>
              <a:rPr lang="hu-HU" dirty="0" err="1"/>
              <a:t>tanusítvány</a:t>
            </a:r>
            <a:r>
              <a:rPr lang="hu-HU" dirty="0"/>
              <a:t> kibocsájtó)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Legismertebb tanúsítványtípus az</a:t>
            </a:r>
            <a:r>
              <a:rPr lang="en-US" dirty="0"/>
              <a:t> </a:t>
            </a:r>
            <a:r>
              <a:rPr lang="en-US" b="1" dirty="0"/>
              <a:t>X.509 </a:t>
            </a:r>
            <a:r>
              <a:rPr lang="en-US" b="1" dirty="0" err="1"/>
              <a:t>formátum</a:t>
            </a:r>
            <a:r>
              <a:rPr lang="en-US" dirty="0"/>
              <a:t>: subject, issuer, validity, SAN, public key, signature, key usage </a:t>
            </a:r>
            <a:r>
              <a:rPr lang="en-US" dirty="0" err="1"/>
              <a:t>mezők</a:t>
            </a:r>
            <a:r>
              <a:rPr lang="en-US" dirty="0"/>
              <a:t>. Fontos </a:t>
            </a:r>
            <a:r>
              <a:rPr lang="en-US" dirty="0" err="1"/>
              <a:t>megjegyezni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modern </a:t>
            </a:r>
            <a:r>
              <a:rPr lang="en-US" dirty="0" err="1"/>
              <a:t>böngészők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kizárólag</a:t>
            </a:r>
            <a:r>
              <a:rPr lang="en-US" dirty="0"/>
              <a:t> a SAN (Subject Alternative Name) </a:t>
            </a:r>
            <a:r>
              <a:rPr lang="en-US" dirty="0" err="1"/>
              <a:t>mezőt</a:t>
            </a:r>
            <a:r>
              <a:rPr lang="en-US" dirty="0"/>
              <a:t> </a:t>
            </a:r>
            <a:r>
              <a:rPr lang="en-US" dirty="0" err="1"/>
              <a:t>használják</a:t>
            </a:r>
            <a:r>
              <a:rPr lang="en-US" dirty="0"/>
              <a:t> domain-</a:t>
            </a:r>
            <a:r>
              <a:rPr lang="en-US" dirty="0" err="1"/>
              <a:t>validációra</a:t>
            </a:r>
            <a:r>
              <a:rPr lang="en-US" dirty="0"/>
              <a:t>.</a:t>
            </a:r>
          </a:p>
          <a:p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b="1" dirty="0" err="1"/>
              <a:t>tanúsítvány</a:t>
            </a:r>
            <a:r>
              <a:rPr lang="en-US" dirty="0"/>
              <a:t> a </a:t>
            </a:r>
            <a:r>
              <a:rPr lang="en-US" dirty="0" err="1"/>
              <a:t>kulcsa</a:t>
            </a:r>
            <a:r>
              <a:rPr lang="en-US" dirty="0"/>
              <a:t> </a:t>
            </a:r>
            <a:r>
              <a:rPr lang="en-US" dirty="0" err="1"/>
              <a:t>annak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megbízzon</a:t>
            </a:r>
            <a:r>
              <a:rPr lang="en-US" dirty="0"/>
              <a:t> a </a:t>
            </a:r>
            <a:r>
              <a:rPr lang="en-US" dirty="0" err="1"/>
              <a:t>szerverben</a:t>
            </a:r>
            <a:r>
              <a:rPr lang="en-US" dirty="0"/>
              <a:t>. Az X.509 </a:t>
            </a:r>
            <a:r>
              <a:rPr lang="en-US" dirty="0" err="1"/>
              <a:t>formátum</a:t>
            </a:r>
            <a:r>
              <a:rPr lang="en-US" dirty="0"/>
              <a:t> </a:t>
            </a:r>
            <a:r>
              <a:rPr lang="en-US" dirty="0" err="1"/>
              <a:t>tartalmazza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publikus</a:t>
            </a:r>
            <a:r>
              <a:rPr lang="en-US" dirty="0"/>
              <a:t> </a:t>
            </a:r>
            <a:r>
              <a:rPr lang="en-US" dirty="0" err="1"/>
              <a:t>kulcsát</a:t>
            </a:r>
            <a:r>
              <a:rPr lang="en-US" dirty="0"/>
              <a:t>, a domain </a:t>
            </a:r>
            <a:r>
              <a:rPr lang="en-US" dirty="0" err="1"/>
              <a:t>nevét</a:t>
            </a:r>
            <a:r>
              <a:rPr lang="en-US" dirty="0"/>
              <a:t> és </a:t>
            </a:r>
            <a:r>
              <a:rPr lang="en-US" dirty="0" err="1"/>
              <a:t>egyéb</a:t>
            </a:r>
            <a:r>
              <a:rPr lang="en-US" dirty="0"/>
              <a:t> </a:t>
            </a:r>
            <a:r>
              <a:rPr lang="en-US" dirty="0" err="1"/>
              <a:t>metaadatokat</a:t>
            </a:r>
            <a:r>
              <a:rPr lang="en-US" dirty="0"/>
              <a:t>. A CA (Certificate Authority) </a:t>
            </a:r>
            <a:r>
              <a:rPr lang="en-US" dirty="0" err="1"/>
              <a:t>aláírja</a:t>
            </a:r>
            <a:r>
              <a:rPr lang="en-US" dirty="0"/>
              <a:t> </a:t>
            </a:r>
            <a:r>
              <a:rPr lang="en-US" dirty="0" err="1"/>
              <a:t>ezt</a:t>
            </a:r>
            <a:r>
              <a:rPr lang="en-US" dirty="0"/>
              <a:t> a </a:t>
            </a:r>
            <a:r>
              <a:rPr lang="en-US" dirty="0" err="1"/>
              <a:t>tanúsítványt</a:t>
            </a:r>
            <a:r>
              <a:rPr lang="en-US" dirty="0"/>
              <a:t>, </a:t>
            </a:r>
            <a:r>
              <a:rPr lang="en-US" dirty="0" err="1"/>
              <a:t>ezáltal</a:t>
            </a:r>
            <a:r>
              <a:rPr lang="en-US" dirty="0"/>
              <a:t> </a:t>
            </a:r>
            <a:r>
              <a:rPr lang="en-US" dirty="0" err="1"/>
              <a:t>garantálja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tanúsítvány</a:t>
            </a:r>
            <a:r>
              <a:rPr lang="en-US" dirty="0"/>
              <a:t> </a:t>
            </a:r>
            <a:r>
              <a:rPr lang="en-US" dirty="0" err="1"/>
              <a:t>valódi</a:t>
            </a:r>
            <a:r>
              <a:rPr lang="en-US" dirty="0"/>
              <a:t>. </a:t>
            </a:r>
            <a:r>
              <a:rPr lang="hu-HU" dirty="0"/>
              <a:t>A </a:t>
            </a:r>
            <a:r>
              <a:rPr lang="en-US" dirty="0" err="1"/>
              <a:t>tanúsítványt</a:t>
            </a:r>
            <a:r>
              <a:rPr lang="en-US" dirty="0"/>
              <a:t> </a:t>
            </a:r>
            <a:r>
              <a:rPr lang="en-US" dirty="0" err="1"/>
              <a:t>bárki</a:t>
            </a:r>
            <a:r>
              <a:rPr lang="en-US" dirty="0"/>
              <a:t> </a:t>
            </a:r>
            <a:r>
              <a:rPr lang="en-US" dirty="0" err="1"/>
              <a:t>elolvashatja</a:t>
            </a:r>
            <a:r>
              <a:rPr lang="en-US" dirty="0"/>
              <a:t>,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nyilvános</a:t>
            </a:r>
            <a:r>
              <a:rPr lang="en-US" dirty="0"/>
              <a:t> </a:t>
            </a:r>
            <a:r>
              <a:rPr lang="en-US" dirty="0" err="1"/>
              <a:t>információ</a:t>
            </a:r>
            <a:r>
              <a:rPr lang="en-US" dirty="0"/>
              <a:t> –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értékét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hitelesített</a:t>
            </a:r>
            <a:r>
              <a:rPr lang="en-US" dirty="0"/>
              <a:t>.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privát</a:t>
            </a:r>
            <a:r>
              <a:rPr lang="en-US" dirty="0"/>
              <a:t> </a:t>
            </a:r>
            <a:r>
              <a:rPr lang="en-US" dirty="0" err="1"/>
              <a:t>kulcsa</a:t>
            </a:r>
            <a:r>
              <a:rPr lang="en-US" dirty="0"/>
              <a:t> </a:t>
            </a:r>
            <a:r>
              <a:rPr lang="en-US" dirty="0" err="1"/>
              <a:t>viszont</a:t>
            </a:r>
            <a:r>
              <a:rPr lang="en-US" dirty="0"/>
              <a:t> </a:t>
            </a:r>
            <a:r>
              <a:rPr lang="en-US" dirty="0" err="1"/>
              <a:t>titok</a:t>
            </a:r>
            <a:r>
              <a:rPr lang="en-US" dirty="0"/>
              <a:t>, és </a:t>
            </a:r>
            <a:r>
              <a:rPr lang="en-US" dirty="0" err="1"/>
              <a:t>soha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hagyhatja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a </a:t>
            </a:r>
            <a:r>
              <a:rPr lang="en-US" dirty="0" err="1"/>
              <a:t>szervert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en-US" b="0" dirty="0"/>
              <a:t>A </a:t>
            </a:r>
            <a:r>
              <a:rPr lang="en-US" b="1" dirty="0" err="1"/>
              <a:t>tanúsítványlánc</a:t>
            </a:r>
            <a:r>
              <a:rPr lang="en-US" b="0" dirty="0"/>
              <a:t> </a:t>
            </a:r>
            <a:r>
              <a:rPr lang="en-US" b="0" dirty="0" err="1"/>
              <a:t>egymásra</a:t>
            </a:r>
            <a:r>
              <a:rPr lang="en-US" b="0" dirty="0"/>
              <a:t> </a:t>
            </a:r>
            <a:r>
              <a:rPr lang="en-US" b="0" dirty="0" err="1"/>
              <a:t>épülő</a:t>
            </a:r>
            <a:r>
              <a:rPr lang="en-US" b="0" dirty="0"/>
              <a:t> </a:t>
            </a:r>
            <a:r>
              <a:rPr lang="en-US" b="0" dirty="0" err="1"/>
              <a:t>digitális</a:t>
            </a:r>
            <a:r>
              <a:rPr lang="en-US" b="0" dirty="0"/>
              <a:t> </a:t>
            </a:r>
            <a:r>
              <a:rPr lang="en-US" b="0" dirty="0" err="1"/>
              <a:t>tanúsítványok</a:t>
            </a:r>
            <a:r>
              <a:rPr lang="en-US" b="0" dirty="0"/>
              <a:t> </a:t>
            </a:r>
            <a:r>
              <a:rPr lang="en-US" b="0" dirty="0" err="1"/>
              <a:t>sorozata</a:t>
            </a:r>
            <a:r>
              <a:rPr lang="en-US" b="0" dirty="0"/>
              <a:t>,</a:t>
            </a:r>
            <a:r>
              <a:rPr lang="hu-HU" b="0" dirty="0"/>
              <a:t> </a:t>
            </a:r>
            <a:r>
              <a:rPr lang="en-US" b="0" dirty="0" err="1"/>
              <a:t>amely</a:t>
            </a:r>
            <a:r>
              <a:rPr lang="en-US" b="0" dirty="0"/>
              <a:t> </a:t>
            </a:r>
            <a:r>
              <a:rPr lang="en-US" b="0" dirty="0" err="1"/>
              <a:t>egy</a:t>
            </a:r>
            <a:r>
              <a:rPr lang="en-US" b="0" dirty="0"/>
              <a:t> </a:t>
            </a:r>
            <a:r>
              <a:rPr lang="en-US" b="0" dirty="0" err="1"/>
              <a:t>végponti</a:t>
            </a:r>
            <a:r>
              <a:rPr lang="en-US" b="0" dirty="0"/>
              <a:t> </a:t>
            </a:r>
            <a:r>
              <a:rPr lang="en-US" b="0" dirty="0" err="1"/>
              <a:t>tanúsítványt</a:t>
            </a:r>
            <a:r>
              <a:rPr lang="en-US" b="0" dirty="0"/>
              <a:t> (pl. </a:t>
            </a:r>
            <a:r>
              <a:rPr lang="en-US" b="0" dirty="0" err="1"/>
              <a:t>egy</a:t>
            </a:r>
            <a:r>
              <a:rPr lang="en-US" b="0" dirty="0"/>
              <a:t> </a:t>
            </a:r>
            <a:r>
              <a:rPr lang="en-US" b="0" dirty="0" err="1"/>
              <a:t>webszerver</a:t>
            </a:r>
            <a:r>
              <a:rPr lang="en-US" b="0" dirty="0"/>
              <a:t> </a:t>
            </a:r>
            <a:r>
              <a:rPr lang="en-US" b="0" dirty="0" err="1"/>
              <a:t>tanúsítványa</a:t>
            </a:r>
            <a:r>
              <a:rPr lang="en-US" b="0" dirty="0"/>
              <a:t>) </a:t>
            </a:r>
            <a:r>
              <a:rPr lang="en-US" b="0" dirty="0" err="1"/>
              <a:t>köt</a:t>
            </a:r>
            <a:r>
              <a:rPr lang="en-US" b="0" dirty="0"/>
              <a:t> </a:t>
            </a:r>
            <a:r>
              <a:rPr lang="en-US" b="0" dirty="0" err="1"/>
              <a:t>össze</a:t>
            </a:r>
            <a:r>
              <a:rPr lang="hu-HU" b="0" dirty="0"/>
              <a:t> </a:t>
            </a:r>
            <a:r>
              <a:rPr lang="en-US" b="0" dirty="0" err="1"/>
              <a:t>egy</a:t>
            </a:r>
            <a:r>
              <a:rPr lang="en-US" b="0" dirty="0"/>
              <a:t> </a:t>
            </a:r>
            <a:r>
              <a:rPr lang="en-US" b="0" dirty="0" err="1"/>
              <a:t>megbízható</a:t>
            </a:r>
            <a:r>
              <a:rPr lang="en-US" b="0" dirty="0"/>
              <a:t> </a:t>
            </a:r>
            <a:r>
              <a:rPr lang="en-US" b="0" dirty="0" err="1"/>
              <a:t>gyökértanúsítvánnyal</a:t>
            </a:r>
            <a:r>
              <a:rPr lang="en-US" b="0" dirty="0"/>
              <a:t> (Root CA).</a:t>
            </a:r>
            <a:r>
              <a:rPr lang="hu-HU" b="0" dirty="0"/>
              <a:t> </a:t>
            </a:r>
            <a:r>
              <a:rPr lang="en-US" dirty="0"/>
              <a:t>A </a:t>
            </a:r>
            <a:r>
              <a:rPr lang="en-US" dirty="0" err="1"/>
              <a:t>lánc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en-US" dirty="0"/>
              <a:t>:</a:t>
            </a:r>
            <a:r>
              <a:rPr lang="hu-HU" dirty="0"/>
              <a:t> </a:t>
            </a:r>
            <a:r>
              <a:rPr lang="en-US" b="0" dirty="0" err="1"/>
              <a:t>bizonyítani</a:t>
            </a:r>
            <a:r>
              <a:rPr lang="en-US" b="0" dirty="0"/>
              <a:t>, </a:t>
            </a:r>
            <a:r>
              <a:rPr lang="en-US" b="0" dirty="0" err="1"/>
              <a:t>hogy</a:t>
            </a:r>
            <a:r>
              <a:rPr lang="en-US" b="0" dirty="0"/>
              <a:t> </a:t>
            </a:r>
            <a:r>
              <a:rPr lang="en-US" b="0" dirty="0" err="1"/>
              <a:t>egy</a:t>
            </a:r>
            <a:r>
              <a:rPr lang="en-US" b="0" dirty="0"/>
              <a:t> </a:t>
            </a:r>
            <a:r>
              <a:rPr lang="en-US" b="0" dirty="0" err="1"/>
              <a:t>tanúsítvány</a:t>
            </a:r>
            <a:r>
              <a:rPr lang="en-US" b="0" dirty="0"/>
              <a:t> </a:t>
            </a:r>
            <a:r>
              <a:rPr lang="en-US" b="0" dirty="0" err="1"/>
              <a:t>megbízható</a:t>
            </a:r>
            <a:r>
              <a:rPr lang="en-US" b="0" dirty="0"/>
              <a:t> </a:t>
            </a:r>
            <a:r>
              <a:rPr lang="en-US" b="0" dirty="0" err="1"/>
              <a:t>forrásból</a:t>
            </a:r>
            <a:r>
              <a:rPr lang="en-US" b="0" dirty="0"/>
              <a:t> </a:t>
            </a:r>
            <a:r>
              <a:rPr lang="en-US" b="0" dirty="0" err="1"/>
              <a:t>származik</a:t>
            </a:r>
            <a:r>
              <a:rPr lang="en-US" b="0" dirty="0"/>
              <a:t>.</a:t>
            </a:r>
            <a:r>
              <a:rPr lang="hu-HU" b="0" dirty="0"/>
              <a:t>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44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dirty="0" err="1"/>
              <a:t>tanúsítvány</a:t>
            </a:r>
            <a:r>
              <a:rPr lang="en-US" dirty="0"/>
              <a:t> </a:t>
            </a:r>
            <a:r>
              <a:rPr lang="en-US" dirty="0" err="1"/>
              <a:t>visszavonható</a:t>
            </a:r>
            <a:r>
              <a:rPr lang="en-US" dirty="0"/>
              <a:t>, </a:t>
            </a:r>
            <a:r>
              <a:rPr lang="en-US" dirty="0" err="1"/>
              <a:t>például</a:t>
            </a:r>
            <a:r>
              <a:rPr lang="en-US" dirty="0"/>
              <a:t> ha a </a:t>
            </a:r>
            <a:r>
              <a:rPr lang="en-US" dirty="0" err="1"/>
              <a:t>privát</a:t>
            </a:r>
            <a:r>
              <a:rPr lang="en-US" dirty="0"/>
              <a:t> </a:t>
            </a:r>
            <a:r>
              <a:rPr lang="en-US" dirty="0" err="1"/>
              <a:t>kulcs</a:t>
            </a:r>
            <a:r>
              <a:rPr lang="en-US" dirty="0"/>
              <a:t> </a:t>
            </a:r>
            <a:r>
              <a:rPr lang="en-US" dirty="0" err="1"/>
              <a:t>kompromittálódott</a:t>
            </a:r>
            <a:r>
              <a:rPr lang="en-US" dirty="0"/>
              <a:t>. A </a:t>
            </a:r>
            <a:r>
              <a:rPr lang="en-US" b="1" dirty="0"/>
              <a:t>CRL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listát</a:t>
            </a:r>
            <a:r>
              <a:rPr lang="en-US" dirty="0"/>
              <a:t> </a:t>
            </a:r>
            <a:r>
              <a:rPr lang="en-US" dirty="0" err="1"/>
              <a:t>jelent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tartalmazza</a:t>
            </a:r>
            <a:r>
              <a:rPr lang="en-US" dirty="0"/>
              <a:t> a </a:t>
            </a:r>
            <a:r>
              <a:rPr lang="en-US" dirty="0" err="1"/>
              <a:t>visszavont</a:t>
            </a:r>
            <a:r>
              <a:rPr lang="en-US" dirty="0"/>
              <a:t> </a:t>
            </a:r>
            <a:r>
              <a:rPr lang="en-US" dirty="0" err="1"/>
              <a:t>tanúsítványokat</a:t>
            </a:r>
            <a:r>
              <a:rPr lang="en-US" dirty="0"/>
              <a:t> — de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sokszor</a:t>
            </a:r>
            <a:r>
              <a:rPr lang="en-US" dirty="0"/>
              <a:t> </a:t>
            </a:r>
            <a:r>
              <a:rPr lang="en-US" dirty="0" err="1"/>
              <a:t>túl</a:t>
            </a:r>
            <a:r>
              <a:rPr lang="en-US" dirty="0"/>
              <a:t> </a:t>
            </a:r>
            <a:r>
              <a:rPr lang="en-US" dirty="0" err="1"/>
              <a:t>nagy</a:t>
            </a:r>
            <a:r>
              <a:rPr lang="en-US" dirty="0"/>
              <a:t> és </a:t>
            </a:r>
            <a:r>
              <a:rPr lang="en-US" dirty="0" err="1"/>
              <a:t>lassú</a:t>
            </a:r>
            <a:r>
              <a:rPr lang="en-US" dirty="0"/>
              <a:t> </a:t>
            </a:r>
            <a:r>
              <a:rPr lang="en-US" dirty="0" err="1"/>
              <a:t>módszer</a:t>
            </a:r>
            <a:r>
              <a:rPr lang="en-US" dirty="0"/>
              <a:t>. 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Az </a:t>
            </a:r>
            <a:r>
              <a:rPr lang="en-US" b="1" dirty="0"/>
              <a:t>OCSP</a:t>
            </a:r>
            <a:r>
              <a:rPr lang="en-US" dirty="0"/>
              <a:t> </a:t>
            </a:r>
            <a:r>
              <a:rPr lang="en-US" dirty="0" err="1"/>
              <a:t>ezzel</a:t>
            </a:r>
            <a:r>
              <a:rPr lang="en-US" dirty="0"/>
              <a:t> </a:t>
            </a:r>
            <a:r>
              <a:rPr lang="en-US" dirty="0" err="1"/>
              <a:t>szemben</a:t>
            </a:r>
            <a:r>
              <a:rPr lang="en-US" dirty="0"/>
              <a:t> </a:t>
            </a:r>
            <a:r>
              <a:rPr lang="en-US" dirty="0" err="1"/>
              <a:t>valós</a:t>
            </a:r>
            <a:r>
              <a:rPr lang="en-US" dirty="0"/>
              <a:t> </a:t>
            </a:r>
            <a:r>
              <a:rPr lang="en-US" dirty="0" err="1"/>
              <a:t>időben</a:t>
            </a:r>
            <a:r>
              <a:rPr lang="en-US" dirty="0"/>
              <a:t> </a:t>
            </a:r>
            <a:r>
              <a:rPr lang="en-US" dirty="0" err="1"/>
              <a:t>kérdez</a:t>
            </a:r>
            <a:r>
              <a:rPr lang="en-US" dirty="0"/>
              <a:t> </a:t>
            </a:r>
            <a:r>
              <a:rPr lang="en-US" dirty="0" err="1"/>
              <a:t>rá</a:t>
            </a:r>
            <a:r>
              <a:rPr lang="en-US" dirty="0"/>
              <a:t> a </a:t>
            </a:r>
            <a:r>
              <a:rPr lang="en-US" dirty="0" err="1"/>
              <a:t>tanúsítvány</a:t>
            </a:r>
            <a:r>
              <a:rPr lang="en-US" dirty="0"/>
              <a:t> </a:t>
            </a:r>
            <a:r>
              <a:rPr lang="en-US" dirty="0" err="1"/>
              <a:t>státuszára</a:t>
            </a:r>
            <a:r>
              <a:rPr lang="hu-HU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 </a:t>
            </a:r>
            <a:r>
              <a:rPr lang="en-US" dirty="0" err="1"/>
              <a:t>teszi</a:t>
            </a:r>
            <a:r>
              <a:rPr lang="en-US" dirty="0"/>
              <a:t> a </a:t>
            </a:r>
            <a:r>
              <a:rPr lang="en-US" dirty="0" err="1"/>
              <a:t>böngészőknek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valós</a:t>
            </a:r>
            <a:r>
              <a:rPr lang="en-US" dirty="0"/>
              <a:t> </a:t>
            </a:r>
            <a:r>
              <a:rPr lang="en-US" dirty="0" err="1"/>
              <a:t>időben</a:t>
            </a:r>
            <a:r>
              <a:rPr lang="en-US" dirty="0"/>
              <a:t> </a:t>
            </a:r>
            <a:r>
              <a:rPr lang="hu-HU" dirty="0"/>
              <a:t>lekérdezéssel </a:t>
            </a:r>
            <a:r>
              <a:rPr lang="en-US" dirty="0" err="1"/>
              <a:t>ellenőrizzék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digitális</a:t>
            </a:r>
            <a:r>
              <a:rPr lang="en-US" dirty="0"/>
              <a:t> </a:t>
            </a:r>
            <a:r>
              <a:rPr lang="en-US" dirty="0" err="1"/>
              <a:t>tanúsítvány</a:t>
            </a:r>
            <a:r>
              <a:rPr lang="en-US" dirty="0"/>
              <a:t> (pl. </a:t>
            </a:r>
            <a:r>
              <a:rPr lang="en-US" dirty="0" err="1"/>
              <a:t>weboldal</a:t>
            </a:r>
            <a:r>
              <a:rPr lang="en-US" dirty="0"/>
              <a:t> </a:t>
            </a:r>
            <a:r>
              <a:rPr lang="en-US" dirty="0" err="1"/>
              <a:t>tanúsítványa</a:t>
            </a:r>
            <a:r>
              <a:rPr lang="en-US" dirty="0"/>
              <a:t>) </a:t>
            </a:r>
            <a:r>
              <a:rPr lang="en-US" dirty="0" err="1"/>
              <a:t>érvényességét</a:t>
            </a:r>
            <a:r>
              <a:rPr lang="en-US" dirty="0"/>
              <a:t>, </a:t>
            </a:r>
            <a:r>
              <a:rPr lang="en-US" dirty="0" err="1"/>
              <a:t>azaz</a:t>
            </a:r>
            <a:r>
              <a:rPr lang="en-US" dirty="0"/>
              <a:t> </a:t>
            </a:r>
            <a:r>
              <a:rPr lang="en-US" dirty="0" err="1"/>
              <a:t>visszavonták</a:t>
            </a:r>
            <a:r>
              <a:rPr lang="en-US" dirty="0"/>
              <a:t>-e </a:t>
            </a:r>
            <a:r>
              <a:rPr lang="en-US" dirty="0" err="1"/>
              <a:t>azt</a:t>
            </a:r>
            <a:r>
              <a:rPr lang="hu-HU" dirty="0"/>
              <a:t>. </a:t>
            </a:r>
            <a:r>
              <a:rPr lang="en-US" dirty="0" err="1"/>
              <a:t>Még</a:t>
            </a:r>
            <a:r>
              <a:rPr lang="en-US" dirty="0"/>
              <a:t> </a:t>
            </a:r>
            <a:r>
              <a:rPr lang="en-US" dirty="0" err="1"/>
              <a:t>modernebb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OCSP stapling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 a </a:t>
            </a:r>
            <a:r>
              <a:rPr lang="hu-HU" dirty="0"/>
              <a:t>web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maga</a:t>
            </a:r>
            <a:r>
              <a:rPr lang="en-US" dirty="0"/>
              <a:t> </a:t>
            </a:r>
            <a:r>
              <a:rPr lang="en-US" dirty="0" err="1"/>
              <a:t>csatolja</a:t>
            </a:r>
            <a:r>
              <a:rPr lang="en-US" dirty="0"/>
              <a:t> a </a:t>
            </a:r>
            <a:r>
              <a:rPr lang="en-US" dirty="0" err="1"/>
              <a:t>friss</a:t>
            </a:r>
            <a:r>
              <a:rPr lang="en-US" dirty="0"/>
              <a:t> OCSP </a:t>
            </a:r>
            <a:r>
              <a:rPr lang="en-US" dirty="0" err="1"/>
              <a:t>választ</a:t>
            </a:r>
            <a:r>
              <a:rPr lang="en-US" dirty="0"/>
              <a:t> a handshake </a:t>
            </a:r>
            <a:r>
              <a:rPr lang="en-US" dirty="0" err="1"/>
              <a:t>során</a:t>
            </a:r>
            <a:r>
              <a:rPr lang="en-US" dirty="0"/>
              <a:t>,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gyorsabb</a:t>
            </a:r>
            <a:r>
              <a:rPr lang="en-US" dirty="0"/>
              <a:t> és </a:t>
            </a:r>
            <a:r>
              <a:rPr lang="en-US" dirty="0" err="1"/>
              <a:t>biztonságosabb</a:t>
            </a:r>
            <a:r>
              <a:rPr lang="en-US" dirty="0"/>
              <a:t> a </a:t>
            </a:r>
            <a:r>
              <a:rPr lang="en-US" dirty="0" err="1"/>
              <a:t>folyamat</a:t>
            </a:r>
            <a:r>
              <a:rPr lang="en-US" dirty="0"/>
              <a:t>.</a:t>
            </a:r>
          </a:p>
          <a:p>
            <a:endParaRPr lang="hu-HU" dirty="0"/>
          </a:p>
          <a:p>
            <a:r>
              <a:rPr lang="hu-HU" dirty="0"/>
              <a:t>Megjegyzés: </a:t>
            </a:r>
            <a:r>
              <a:rPr lang="en-US" dirty="0"/>
              <a:t>A </a:t>
            </a:r>
            <a:r>
              <a:rPr lang="en-US" dirty="0" err="1"/>
              <a:t>böngészők</a:t>
            </a:r>
            <a:r>
              <a:rPr lang="en-US" dirty="0"/>
              <a:t> </a:t>
            </a:r>
            <a:r>
              <a:rPr lang="en-US" dirty="0" err="1"/>
              <a:t>többsége</a:t>
            </a:r>
            <a:r>
              <a:rPr lang="en-US" dirty="0"/>
              <a:t> </a:t>
            </a:r>
            <a:r>
              <a:rPr lang="en-US" dirty="0" err="1"/>
              <a:t>eltávolította</a:t>
            </a:r>
            <a:r>
              <a:rPr lang="en-US" dirty="0"/>
              <a:t> a </a:t>
            </a:r>
            <a:r>
              <a:rPr lang="en-US" dirty="0" err="1"/>
              <a:t>hagyományos</a:t>
            </a:r>
            <a:r>
              <a:rPr lang="en-US" dirty="0"/>
              <a:t> OCSP </a:t>
            </a:r>
            <a:r>
              <a:rPr lang="en-US" dirty="0" err="1"/>
              <a:t>ellenőrzést</a:t>
            </a:r>
            <a:r>
              <a:rPr lang="en-US" dirty="0"/>
              <a:t>, </a:t>
            </a:r>
            <a:r>
              <a:rPr lang="en-US" dirty="0" err="1"/>
              <a:t>helyette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b="1" dirty="0"/>
              <a:t>OCSP </a:t>
            </a:r>
            <a:r>
              <a:rPr lang="en-US" b="1" dirty="0" err="1"/>
              <a:t>Staplinget</a:t>
            </a:r>
            <a:r>
              <a:rPr lang="en-US" b="1" dirty="0"/>
              <a:t> </a:t>
            </a:r>
            <a:r>
              <a:rPr lang="en-US" dirty="0" err="1"/>
              <a:t>használják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sokkal</a:t>
            </a:r>
            <a:r>
              <a:rPr lang="en-US" dirty="0"/>
              <a:t> </a:t>
            </a:r>
            <a:r>
              <a:rPr lang="en-US" dirty="0" err="1"/>
              <a:t>hatékonyabb</a:t>
            </a:r>
            <a:r>
              <a:rPr lang="en-US" dirty="0"/>
              <a:t> és </a:t>
            </a:r>
            <a:r>
              <a:rPr lang="en-US" dirty="0" err="1"/>
              <a:t>adatvédelmi</a:t>
            </a:r>
            <a:r>
              <a:rPr lang="en-US" dirty="0"/>
              <a:t> </a:t>
            </a:r>
            <a:r>
              <a:rPr lang="en-US" dirty="0" err="1"/>
              <a:t>szempontból</a:t>
            </a:r>
            <a:r>
              <a:rPr lang="en-US" dirty="0"/>
              <a:t> is </a:t>
            </a:r>
            <a:r>
              <a:rPr lang="en-US" dirty="0" err="1"/>
              <a:t>jobb</a:t>
            </a:r>
            <a:r>
              <a:rPr lang="en-US" dirty="0"/>
              <a:t> </a:t>
            </a:r>
            <a:r>
              <a:rPr lang="en-US" dirty="0" err="1"/>
              <a:t>megoldás</a:t>
            </a:r>
            <a:r>
              <a:rPr lang="en-US" dirty="0"/>
              <a:t>, </a:t>
            </a:r>
            <a:r>
              <a:rPr lang="en-US" dirty="0" err="1"/>
              <a:t>mivel</a:t>
            </a:r>
            <a:r>
              <a:rPr lang="en-US" dirty="0"/>
              <a:t> a </a:t>
            </a:r>
            <a:r>
              <a:rPr lang="hu-HU" dirty="0"/>
              <a:t>web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hu-HU" dirty="0"/>
              <a:t>csatolja </a:t>
            </a:r>
            <a:r>
              <a:rPr lang="en-US" dirty="0"/>
              <a:t>a </a:t>
            </a:r>
            <a:r>
              <a:rPr lang="en-US" dirty="0" err="1"/>
              <a:t>választ</a:t>
            </a:r>
            <a:r>
              <a:rPr lang="en-US" dirty="0"/>
              <a:t> a </a:t>
            </a:r>
            <a:r>
              <a:rPr lang="en-US" dirty="0" err="1"/>
              <a:t>tanúsítványhoz</a:t>
            </a:r>
            <a:r>
              <a:rPr lang="en-US" dirty="0"/>
              <a:t> a TLS </a:t>
            </a:r>
            <a:r>
              <a:rPr lang="en-US" dirty="0" err="1"/>
              <a:t>kézfogás</a:t>
            </a:r>
            <a:r>
              <a:rPr lang="en-US" dirty="0"/>
              <a:t> </a:t>
            </a:r>
            <a:r>
              <a:rPr lang="en-US" dirty="0" err="1"/>
              <a:t>során</a:t>
            </a:r>
            <a:r>
              <a:rPr lang="hu-HU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23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TLS handshake </a:t>
            </a:r>
            <a:r>
              <a:rPr lang="en-US" dirty="0" err="1"/>
              <a:t>lényege</a:t>
            </a:r>
            <a:r>
              <a:rPr lang="en-US" dirty="0"/>
              <a:t> a </a:t>
            </a:r>
            <a:r>
              <a:rPr lang="en-US" b="1" dirty="0" err="1"/>
              <a:t>biztonságos</a:t>
            </a:r>
            <a:r>
              <a:rPr lang="en-US" b="1" dirty="0"/>
              <a:t> </a:t>
            </a:r>
            <a:r>
              <a:rPr lang="hu-HU" b="1" dirty="0"/>
              <a:t>kommunikációs csatorna</a:t>
            </a:r>
            <a:r>
              <a:rPr lang="en-US" b="1" dirty="0"/>
              <a:t> </a:t>
            </a:r>
            <a:r>
              <a:rPr lang="en-US" dirty="0" err="1"/>
              <a:t>megteremtése</a:t>
            </a:r>
            <a:r>
              <a:rPr lang="en-US" dirty="0"/>
              <a:t>. </a:t>
            </a:r>
            <a:r>
              <a:rPr lang="en-US" dirty="0" err="1"/>
              <a:t>Kezdődik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képességeinek</a:t>
            </a:r>
            <a:r>
              <a:rPr lang="en-US" dirty="0"/>
              <a:t> </a:t>
            </a:r>
            <a:r>
              <a:rPr lang="hu-HU" dirty="0"/>
              <a:t>és a támogatott algoritmusok </a:t>
            </a:r>
            <a:r>
              <a:rPr lang="en-US" dirty="0" err="1"/>
              <a:t>felsorolásával</a:t>
            </a:r>
            <a:r>
              <a:rPr lang="en-US" dirty="0"/>
              <a:t>, </a:t>
            </a:r>
            <a:r>
              <a:rPr lang="en-US" dirty="0" err="1"/>
              <a:t>majd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visszaküldi</a:t>
            </a:r>
            <a:r>
              <a:rPr lang="en-US" dirty="0"/>
              <a:t> a </a:t>
            </a:r>
            <a:r>
              <a:rPr lang="en-US" dirty="0" err="1"/>
              <a:t>tanúsítványát</a:t>
            </a:r>
            <a:r>
              <a:rPr lang="en-US" dirty="0"/>
              <a:t> és </a:t>
            </a:r>
            <a:r>
              <a:rPr lang="en-US" dirty="0" err="1"/>
              <a:t>azt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mely</a:t>
            </a:r>
            <a:r>
              <a:rPr lang="en-US" dirty="0"/>
              <a:t> </a:t>
            </a:r>
            <a:r>
              <a:rPr lang="en-US" dirty="0" err="1"/>
              <a:t>algoritmusokat</a:t>
            </a:r>
            <a:r>
              <a:rPr lang="en-US" dirty="0"/>
              <a:t> </a:t>
            </a:r>
            <a:r>
              <a:rPr lang="en-US" dirty="0" err="1"/>
              <a:t>választotta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Ezután</a:t>
            </a:r>
            <a:r>
              <a:rPr lang="en-US" dirty="0"/>
              <a:t> </a:t>
            </a:r>
            <a:r>
              <a:rPr lang="en-US" dirty="0" err="1"/>
              <a:t>következik</a:t>
            </a:r>
            <a:r>
              <a:rPr lang="en-US" dirty="0"/>
              <a:t> a </a:t>
            </a:r>
            <a:r>
              <a:rPr lang="en-US" b="1" dirty="0" err="1"/>
              <a:t>kulcscsere</a:t>
            </a:r>
            <a:r>
              <a:rPr lang="hu-HU" dirty="0"/>
              <a:t>, amely során </a:t>
            </a:r>
            <a:r>
              <a:rPr lang="en-US" dirty="0"/>
              <a:t>RSA </a:t>
            </a:r>
            <a:r>
              <a:rPr lang="en-US" dirty="0" err="1"/>
              <a:t>esetén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pre-master </a:t>
            </a:r>
            <a:r>
              <a:rPr lang="en-US" dirty="0" err="1"/>
              <a:t>secretet</a:t>
            </a:r>
            <a:r>
              <a:rPr lang="en-US" dirty="0"/>
              <a:t> </a:t>
            </a:r>
            <a:r>
              <a:rPr lang="en-US" dirty="0" err="1"/>
              <a:t>küld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publikus</a:t>
            </a:r>
            <a:r>
              <a:rPr lang="en-US" dirty="0"/>
              <a:t> </a:t>
            </a:r>
            <a:r>
              <a:rPr lang="en-US" dirty="0" err="1"/>
              <a:t>kulcsával</a:t>
            </a:r>
            <a:r>
              <a:rPr lang="en-US" dirty="0"/>
              <a:t> </a:t>
            </a:r>
            <a:r>
              <a:rPr lang="en-US" dirty="0" err="1"/>
              <a:t>titkosítva</a:t>
            </a:r>
            <a:r>
              <a:rPr lang="en-US" dirty="0"/>
              <a:t>; DH-</a:t>
            </a:r>
            <a:r>
              <a:rPr lang="en-US" dirty="0" err="1"/>
              <a:t>alapú</a:t>
            </a:r>
            <a:r>
              <a:rPr lang="en-US" dirty="0"/>
              <a:t> </a:t>
            </a:r>
            <a:r>
              <a:rPr lang="en-US" dirty="0" err="1"/>
              <a:t>algoritmusoknál</a:t>
            </a:r>
            <a:r>
              <a:rPr lang="en-US" dirty="0"/>
              <a:t> </a:t>
            </a:r>
            <a:r>
              <a:rPr lang="en-US" dirty="0" err="1"/>
              <a:t>közös</a:t>
            </a:r>
            <a:r>
              <a:rPr lang="en-US" dirty="0"/>
              <a:t> </a:t>
            </a:r>
            <a:r>
              <a:rPr lang="en-US" dirty="0" err="1"/>
              <a:t>megállapodás</a:t>
            </a:r>
            <a:r>
              <a:rPr lang="en-US" dirty="0"/>
              <a:t> </a:t>
            </a:r>
            <a:r>
              <a:rPr lang="en-US" dirty="0" err="1"/>
              <a:t>jön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.</a:t>
            </a:r>
            <a:r>
              <a:rPr lang="hu-HU" dirty="0"/>
              <a:t> (Az RSA Key Exchange ma már nem ajánlott!)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handshake </a:t>
            </a:r>
            <a:r>
              <a:rPr lang="en-US" dirty="0" err="1"/>
              <a:t>végére</a:t>
            </a:r>
            <a:r>
              <a:rPr lang="en-US" dirty="0"/>
              <a:t> </a:t>
            </a:r>
            <a:r>
              <a:rPr lang="en-US" dirty="0" err="1"/>
              <a:t>mindkét</a:t>
            </a:r>
            <a:r>
              <a:rPr lang="en-US" dirty="0"/>
              <a:t> </a:t>
            </a:r>
            <a:r>
              <a:rPr lang="en-US" dirty="0" err="1"/>
              <a:t>fél</a:t>
            </a:r>
            <a:r>
              <a:rPr lang="en-US" dirty="0"/>
              <a:t> </a:t>
            </a:r>
            <a:r>
              <a:rPr lang="en-US" dirty="0" err="1"/>
              <a:t>rendelkezik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közös</a:t>
            </a:r>
            <a:r>
              <a:rPr lang="en-US" dirty="0"/>
              <a:t> </a:t>
            </a:r>
            <a:r>
              <a:rPr lang="en-US" dirty="0" err="1"/>
              <a:t>titkos</a:t>
            </a:r>
            <a:r>
              <a:rPr lang="en-US" dirty="0"/>
              <a:t> </a:t>
            </a:r>
            <a:r>
              <a:rPr lang="en-US" dirty="0" err="1"/>
              <a:t>kulccsal</a:t>
            </a:r>
            <a:r>
              <a:rPr lang="hu-HU" dirty="0"/>
              <a:t> (session </a:t>
            </a:r>
            <a:r>
              <a:rPr lang="hu-HU" dirty="0" err="1"/>
              <a:t>key</a:t>
            </a:r>
            <a:r>
              <a:rPr lang="hu-HU" dirty="0"/>
              <a:t>)</a:t>
            </a:r>
            <a:r>
              <a:rPr lang="en-US" dirty="0"/>
              <a:t>, </a:t>
            </a:r>
            <a:r>
              <a:rPr lang="en-US" dirty="0" err="1"/>
              <a:t>amelyet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aszimmetrikus</a:t>
            </a:r>
            <a:r>
              <a:rPr lang="en-US" dirty="0"/>
              <a:t> </a:t>
            </a:r>
            <a:r>
              <a:rPr lang="en-US" dirty="0" err="1"/>
              <a:t>kulccsal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tovább</a:t>
            </a:r>
            <a:r>
              <a:rPr lang="en-US" dirty="0"/>
              <a:t> </a:t>
            </a:r>
            <a:r>
              <a:rPr lang="en-US" dirty="0" err="1"/>
              <a:t>nyíltan</a:t>
            </a:r>
            <a:r>
              <a:rPr lang="en-US" dirty="0"/>
              <a:t> </a:t>
            </a:r>
            <a:r>
              <a:rPr lang="en-US" dirty="0" err="1"/>
              <a:t>használni</a:t>
            </a:r>
            <a:r>
              <a:rPr lang="en-US" dirty="0"/>
              <a:t> — a </a:t>
            </a:r>
            <a:r>
              <a:rPr lang="en-US" b="1" dirty="0" err="1"/>
              <a:t>tényleges</a:t>
            </a:r>
            <a:r>
              <a:rPr lang="en-US" b="1" dirty="0"/>
              <a:t> </a:t>
            </a:r>
            <a:r>
              <a:rPr lang="en-US" b="1" dirty="0" err="1"/>
              <a:t>adatforgalom</a:t>
            </a:r>
            <a:r>
              <a:rPr lang="en-US" b="1" dirty="0"/>
              <a:t> </a:t>
            </a:r>
            <a:r>
              <a:rPr lang="en-US" b="1" dirty="0" err="1"/>
              <a:t>szimmetrikus</a:t>
            </a:r>
            <a:r>
              <a:rPr lang="en-US" b="1" dirty="0"/>
              <a:t> </a:t>
            </a:r>
            <a:r>
              <a:rPr lang="en-US" dirty="0"/>
              <a:t>AES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modern </a:t>
            </a:r>
            <a:r>
              <a:rPr lang="en-US" b="1" dirty="0" err="1"/>
              <a:t>titkosítással</a:t>
            </a:r>
            <a:r>
              <a:rPr lang="en-US" dirty="0"/>
              <a:t> </a:t>
            </a:r>
            <a:r>
              <a:rPr lang="en-US" dirty="0" err="1"/>
              <a:t>történik</a:t>
            </a:r>
            <a:r>
              <a:rPr lang="hu-HU" dirty="0"/>
              <a:t> a közös </a:t>
            </a:r>
            <a:r>
              <a:rPr lang="hu-HU" b="1" dirty="0"/>
              <a:t>titkos kulcs </a:t>
            </a:r>
            <a:r>
              <a:rPr lang="hu-HU" dirty="0"/>
              <a:t>(session </a:t>
            </a:r>
            <a:r>
              <a:rPr lang="hu-HU" dirty="0" err="1"/>
              <a:t>key</a:t>
            </a:r>
            <a:r>
              <a:rPr lang="hu-HU" dirty="0"/>
              <a:t>) felhasználásával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46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b="1" dirty="0" err="1"/>
              <a:t>ClientHello</a:t>
            </a:r>
            <a:r>
              <a:rPr lang="en-US" dirty="0"/>
              <a:t> </a:t>
            </a:r>
            <a:r>
              <a:rPr lang="en-US" dirty="0" err="1"/>
              <a:t>felsorolja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által</a:t>
            </a:r>
            <a:r>
              <a:rPr lang="en-US" dirty="0"/>
              <a:t> </a:t>
            </a:r>
            <a:r>
              <a:rPr lang="en-US" dirty="0" err="1"/>
              <a:t>támogatott</a:t>
            </a:r>
            <a:r>
              <a:rPr lang="en-US" dirty="0"/>
              <a:t> </a:t>
            </a:r>
            <a:r>
              <a:rPr lang="en-US" dirty="0" err="1"/>
              <a:t>protokollverziókat</a:t>
            </a:r>
            <a:r>
              <a:rPr lang="en-US" dirty="0"/>
              <a:t>, cipher suite-</a:t>
            </a:r>
            <a:r>
              <a:rPr lang="en-US" dirty="0" err="1"/>
              <a:t>okat</a:t>
            </a:r>
            <a:r>
              <a:rPr lang="en-US" dirty="0"/>
              <a:t>, </a:t>
            </a:r>
            <a:r>
              <a:rPr lang="en-US" dirty="0" err="1"/>
              <a:t>valamint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véletlenszámot</a:t>
            </a:r>
            <a:r>
              <a:rPr lang="en-US" dirty="0"/>
              <a:t> (Client Random).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dirty="0" err="1"/>
              <a:t>szerver</a:t>
            </a:r>
            <a:r>
              <a:rPr lang="en-US" dirty="0"/>
              <a:t> a </a:t>
            </a:r>
            <a:r>
              <a:rPr lang="en-US" b="1" dirty="0" err="1"/>
              <a:t>ServerHello</a:t>
            </a:r>
            <a:r>
              <a:rPr lang="en-US" dirty="0"/>
              <a:t> </a:t>
            </a:r>
            <a:r>
              <a:rPr lang="en-US" dirty="0" err="1"/>
              <a:t>során</a:t>
            </a:r>
            <a:r>
              <a:rPr lang="en-US" dirty="0"/>
              <a:t> </a:t>
            </a:r>
            <a:r>
              <a:rPr lang="en-US" dirty="0" err="1"/>
              <a:t>kiválasztja</a:t>
            </a:r>
            <a:r>
              <a:rPr lang="en-US" dirty="0"/>
              <a:t> a</a:t>
            </a:r>
            <a:r>
              <a:rPr lang="hu-HU" dirty="0"/>
              <a:t> protokollverziót,</a:t>
            </a:r>
            <a:r>
              <a:rPr lang="en-US" dirty="0"/>
              <a:t> </a:t>
            </a:r>
            <a:r>
              <a:rPr lang="hu-HU" dirty="0"/>
              <a:t>a </a:t>
            </a:r>
            <a:r>
              <a:rPr lang="en-US" dirty="0"/>
              <a:t>cipher suite-</a:t>
            </a:r>
            <a:r>
              <a:rPr lang="en-US" dirty="0" err="1"/>
              <a:t>ot</a:t>
            </a:r>
            <a:r>
              <a:rPr lang="en-US" dirty="0"/>
              <a:t>, </a:t>
            </a:r>
            <a:r>
              <a:rPr lang="en-US" dirty="0" err="1"/>
              <a:t>elküldi</a:t>
            </a:r>
            <a:r>
              <a:rPr lang="en-US" dirty="0"/>
              <a:t> a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véletlenszámát</a:t>
            </a:r>
            <a:r>
              <a:rPr lang="en-US" dirty="0"/>
              <a:t> (Server Random), </a:t>
            </a:r>
            <a:r>
              <a:rPr lang="en-US" dirty="0" err="1"/>
              <a:t>majd</a:t>
            </a:r>
            <a:r>
              <a:rPr lang="en-US" dirty="0"/>
              <a:t> </a:t>
            </a:r>
            <a:r>
              <a:rPr lang="en-US" dirty="0" err="1"/>
              <a:t>küldi</a:t>
            </a:r>
            <a:r>
              <a:rPr lang="en-US" dirty="0"/>
              <a:t> a </a:t>
            </a:r>
            <a:r>
              <a:rPr lang="en-US" b="1" dirty="0" err="1"/>
              <a:t>tanúsítványt</a:t>
            </a:r>
            <a:r>
              <a:rPr lang="en-US" dirty="0"/>
              <a:t>. </a:t>
            </a:r>
            <a:r>
              <a:rPr lang="hu-HU" dirty="0"/>
              <a:t>A kapott tanúsítvány ellenőrzésével e</a:t>
            </a:r>
            <a:r>
              <a:rPr lang="en-US" dirty="0" err="1"/>
              <a:t>kkor</a:t>
            </a:r>
            <a:r>
              <a:rPr lang="en-US" dirty="0"/>
              <a:t> </a:t>
            </a:r>
            <a:r>
              <a:rPr lang="en-US" dirty="0" err="1"/>
              <a:t>dönti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megbízható</a:t>
            </a:r>
            <a:r>
              <a:rPr lang="en-US" dirty="0"/>
              <a:t>-e a </a:t>
            </a:r>
            <a:r>
              <a:rPr lang="en-US" dirty="0" err="1"/>
              <a:t>szerver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b="0" dirty="0"/>
              <a:t>Ezt követi</a:t>
            </a:r>
            <a:r>
              <a:rPr lang="hu-HU" b="1" dirty="0"/>
              <a:t> a </a:t>
            </a:r>
            <a:r>
              <a:rPr lang="en-US" b="1" dirty="0" err="1"/>
              <a:t>kulcscsere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Ez </a:t>
            </a:r>
            <a:r>
              <a:rPr lang="en-US" dirty="0" err="1"/>
              <a:t>függ</a:t>
            </a:r>
            <a:r>
              <a:rPr lang="en-US" dirty="0"/>
              <a:t> a </a:t>
            </a:r>
            <a:r>
              <a:rPr lang="en-US" dirty="0" err="1"/>
              <a:t>választott</a:t>
            </a:r>
            <a:r>
              <a:rPr lang="en-US" dirty="0"/>
              <a:t> </a:t>
            </a:r>
            <a:r>
              <a:rPr lang="en-US" dirty="0" err="1"/>
              <a:t>algoritmustól</a:t>
            </a:r>
            <a:r>
              <a:rPr lang="en-US" dirty="0"/>
              <a:t>. Modern </a:t>
            </a:r>
            <a:r>
              <a:rPr lang="en-US" dirty="0" err="1"/>
              <a:t>rendszerek</a:t>
            </a:r>
            <a:r>
              <a:rPr lang="en-US" dirty="0"/>
              <a:t> ECDHE-t </a:t>
            </a:r>
            <a:r>
              <a:rPr lang="en-US" dirty="0" err="1"/>
              <a:t>használnak</a:t>
            </a:r>
            <a:r>
              <a:rPr lang="en-US" dirty="0"/>
              <a:t>, </a:t>
            </a:r>
            <a:r>
              <a:rPr lang="en-US" dirty="0" err="1"/>
              <a:t>ahol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és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közösen</a:t>
            </a:r>
            <a:r>
              <a:rPr lang="en-US" dirty="0"/>
              <a:t> </a:t>
            </a:r>
            <a:r>
              <a:rPr lang="en-US" dirty="0" err="1"/>
              <a:t>generálnak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megosztott</a:t>
            </a:r>
            <a:r>
              <a:rPr lang="en-US" dirty="0"/>
              <a:t> </a:t>
            </a:r>
            <a:r>
              <a:rPr lang="en-US" dirty="0" err="1"/>
              <a:t>titkot</a:t>
            </a:r>
            <a:r>
              <a:rPr lang="en-US" dirty="0"/>
              <a:t>. </a:t>
            </a:r>
            <a:r>
              <a:rPr lang="en-US" dirty="0" err="1"/>
              <a:t>Ebből</a:t>
            </a:r>
            <a:r>
              <a:rPr lang="en-US" dirty="0"/>
              <a:t> </a:t>
            </a:r>
            <a:r>
              <a:rPr lang="en-US" dirty="0" err="1"/>
              <a:t>származik</a:t>
            </a:r>
            <a:r>
              <a:rPr lang="en-US" dirty="0"/>
              <a:t> a session key. A </a:t>
            </a:r>
            <a:r>
              <a:rPr lang="en-US" dirty="0" err="1"/>
              <a:t>kulcscsere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en-US" dirty="0"/>
              <a:t>: </a:t>
            </a:r>
            <a:r>
              <a:rPr lang="en-US" dirty="0" err="1"/>
              <a:t>létrehozni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olyan</a:t>
            </a:r>
            <a:r>
              <a:rPr lang="en-US" dirty="0"/>
              <a:t> </a:t>
            </a:r>
            <a:r>
              <a:rPr lang="en-US" dirty="0" err="1"/>
              <a:t>szimmetrikus</a:t>
            </a:r>
            <a:r>
              <a:rPr lang="en-US" dirty="0"/>
              <a:t> </a:t>
            </a:r>
            <a:r>
              <a:rPr lang="en-US" dirty="0" err="1"/>
              <a:t>titkosítási</a:t>
            </a:r>
            <a:r>
              <a:rPr lang="en-US" dirty="0"/>
              <a:t> </a:t>
            </a:r>
            <a:r>
              <a:rPr lang="en-US" dirty="0" err="1"/>
              <a:t>kulcsot</a:t>
            </a:r>
            <a:r>
              <a:rPr lang="en-US" dirty="0"/>
              <a:t>, </a:t>
            </a:r>
            <a:r>
              <a:rPr lang="en-US" dirty="0" err="1"/>
              <a:t>amelyet</a:t>
            </a:r>
            <a:r>
              <a:rPr lang="en-US" dirty="0"/>
              <a:t> </a:t>
            </a:r>
            <a:r>
              <a:rPr lang="en-US" dirty="0" err="1"/>
              <a:t>később</a:t>
            </a:r>
            <a:r>
              <a:rPr lang="en-US" dirty="0"/>
              <a:t> </a:t>
            </a:r>
            <a:r>
              <a:rPr lang="en-US" dirty="0" err="1"/>
              <a:t>mindkét</a:t>
            </a:r>
            <a:r>
              <a:rPr lang="en-US" dirty="0"/>
              <a:t> </a:t>
            </a:r>
            <a:r>
              <a:rPr lang="en-US" dirty="0" err="1"/>
              <a:t>fél</a:t>
            </a:r>
            <a:r>
              <a:rPr lang="en-US" dirty="0"/>
              <a:t> </a:t>
            </a:r>
            <a:r>
              <a:rPr lang="en-US" dirty="0" err="1"/>
              <a:t>használ</a:t>
            </a:r>
            <a:r>
              <a:rPr lang="en-US" dirty="0"/>
              <a:t>.</a:t>
            </a:r>
            <a:r>
              <a:rPr lang="hu-HU" b="1" dirty="0"/>
              <a:t> Tehát a kulcscsere során </a:t>
            </a:r>
            <a:r>
              <a:rPr lang="hu-HU" dirty="0"/>
              <a:t>nem maga a titkos kulcs cserélődik, hanem a mindkét fél által generált </a:t>
            </a:r>
            <a:r>
              <a:rPr lang="hu-HU" u="sng" dirty="0"/>
              <a:t>kulcspárok publikus részének cseréje</a:t>
            </a:r>
            <a:r>
              <a:rPr lang="hu-HU" dirty="0"/>
              <a:t>. Ezt használják fel a felek a titkos kulcs létrehozásához. </a:t>
            </a:r>
            <a:r>
              <a:rPr lang="en-US" dirty="0"/>
              <a:t>A handshake </a:t>
            </a:r>
            <a:r>
              <a:rPr lang="en-US" dirty="0" err="1"/>
              <a:t>végére</a:t>
            </a:r>
            <a:r>
              <a:rPr lang="en-US" dirty="0"/>
              <a:t> </a:t>
            </a:r>
            <a:r>
              <a:rPr lang="en-US" dirty="0" err="1"/>
              <a:t>mindkét</a:t>
            </a:r>
            <a:r>
              <a:rPr lang="en-US" dirty="0"/>
              <a:t> </a:t>
            </a:r>
            <a:r>
              <a:rPr lang="en-US" dirty="0" err="1"/>
              <a:t>fél</a:t>
            </a:r>
            <a:r>
              <a:rPr lang="en-US" dirty="0"/>
              <a:t> </a:t>
            </a:r>
            <a:r>
              <a:rPr lang="en-US" dirty="0" err="1"/>
              <a:t>rendelkezik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közös</a:t>
            </a:r>
            <a:r>
              <a:rPr lang="en-US" dirty="0"/>
              <a:t> </a:t>
            </a:r>
            <a:r>
              <a:rPr lang="en-US" dirty="0" err="1"/>
              <a:t>titkos</a:t>
            </a:r>
            <a:r>
              <a:rPr lang="en-US" dirty="0"/>
              <a:t> </a:t>
            </a:r>
            <a:r>
              <a:rPr lang="en-US" dirty="0" err="1"/>
              <a:t>kulccsal</a:t>
            </a:r>
            <a:r>
              <a:rPr lang="hu-HU" dirty="0"/>
              <a:t> (session </a:t>
            </a:r>
            <a:r>
              <a:rPr lang="hu-HU" dirty="0" err="1"/>
              <a:t>key</a:t>
            </a:r>
            <a:r>
              <a:rPr lang="hu-HU" dirty="0"/>
              <a:t>)</a:t>
            </a:r>
            <a:r>
              <a:rPr lang="en-US" dirty="0"/>
              <a:t>, </a:t>
            </a:r>
            <a:r>
              <a:rPr lang="hu-HU" dirty="0"/>
              <a:t>és </a:t>
            </a:r>
            <a:r>
              <a:rPr lang="en-US" dirty="0"/>
              <a:t>a </a:t>
            </a:r>
            <a:r>
              <a:rPr lang="en-US" b="1" dirty="0" err="1"/>
              <a:t>tényleges</a:t>
            </a:r>
            <a:r>
              <a:rPr lang="en-US" b="1" dirty="0"/>
              <a:t> </a:t>
            </a:r>
            <a:r>
              <a:rPr lang="en-US" b="1" dirty="0" err="1"/>
              <a:t>adatforgalom</a:t>
            </a:r>
            <a:r>
              <a:rPr lang="en-US" b="1" dirty="0"/>
              <a:t> </a:t>
            </a:r>
            <a:r>
              <a:rPr lang="en-US" b="1" dirty="0" err="1"/>
              <a:t>szimmetrikus</a:t>
            </a:r>
            <a:r>
              <a:rPr lang="en-US" b="1" dirty="0"/>
              <a:t> </a:t>
            </a:r>
            <a:r>
              <a:rPr lang="en-US" dirty="0"/>
              <a:t>AES </a:t>
            </a:r>
            <a:r>
              <a:rPr lang="en-US" dirty="0" err="1"/>
              <a:t>vagy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modern </a:t>
            </a:r>
            <a:r>
              <a:rPr lang="en-US" b="1" dirty="0" err="1"/>
              <a:t>titkosítással</a:t>
            </a:r>
            <a:r>
              <a:rPr lang="en-US" dirty="0"/>
              <a:t> </a:t>
            </a:r>
            <a:r>
              <a:rPr lang="en-US" dirty="0" err="1"/>
              <a:t>történik</a:t>
            </a:r>
            <a:r>
              <a:rPr lang="hu-HU" dirty="0"/>
              <a:t> a közös </a:t>
            </a:r>
            <a:r>
              <a:rPr lang="hu-HU" b="1" dirty="0"/>
              <a:t>titkos kulcs </a:t>
            </a:r>
            <a:r>
              <a:rPr lang="hu-HU" dirty="0"/>
              <a:t>(session </a:t>
            </a:r>
            <a:r>
              <a:rPr lang="hu-HU" dirty="0" err="1"/>
              <a:t>key</a:t>
            </a:r>
            <a:r>
              <a:rPr lang="hu-HU" dirty="0"/>
              <a:t>) felhasználásával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b="1" dirty="0" err="1"/>
              <a:t>ChangeCipherSpec</a:t>
            </a:r>
            <a:r>
              <a:rPr lang="en-US" dirty="0"/>
              <a:t> </a:t>
            </a:r>
            <a:r>
              <a:rPr lang="en-US" dirty="0" err="1"/>
              <a:t>jelzi</a:t>
            </a:r>
            <a:r>
              <a:rPr lang="hu-HU" dirty="0"/>
              <a:t> mindkét fél részéről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innentől</a:t>
            </a:r>
            <a:r>
              <a:rPr lang="en-US" dirty="0"/>
              <a:t> </a:t>
            </a:r>
            <a:r>
              <a:rPr lang="en-US" dirty="0" err="1"/>
              <a:t>titkosított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. </a:t>
            </a:r>
            <a:r>
              <a:rPr lang="en-US" dirty="0" err="1"/>
              <a:t>Végül</a:t>
            </a:r>
            <a:r>
              <a:rPr lang="en-US" dirty="0"/>
              <a:t> </a:t>
            </a:r>
            <a:r>
              <a:rPr lang="en-US" dirty="0" err="1"/>
              <a:t>mindkét</a:t>
            </a:r>
            <a:r>
              <a:rPr lang="en-US" dirty="0"/>
              <a:t> </a:t>
            </a:r>
            <a:r>
              <a:rPr lang="en-US" dirty="0" err="1"/>
              <a:t>fél</a:t>
            </a:r>
            <a:r>
              <a:rPr lang="en-US" dirty="0"/>
              <a:t> </a:t>
            </a:r>
            <a:r>
              <a:rPr lang="en-US" b="1" dirty="0"/>
              <a:t>Finished</a:t>
            </a:r>
            <a:r>
              <a:rPr lang="en-US" dirty="0"/>
              <a:t> </a:t>
            </a:r>
            <a:r>
              <a:rPr lang="en-US" dirty="0" err="1"/>
              <a:t>üzenetet</a:t>
            </a:r>
            <a:r>
              <a:rPr lang="en-US" dirty="0"/>
              <a:t> </a:t>
            </a:r>
            <a:r>
              <a:rPr lang="en-US" dirty="0" err="1"/>
              <a:t>küld</a:t>
            </a:r>
            <a:r>
              <a:rPr lang="en-US" dirty="0"/>
              <a:t>, </a:t>
            </a:r>
            <a:r>
              <a:rPr lang="en-US" dirty="0" err="1"/>
              <a:t>amelyet</a:t>
            </a:r>
            <a:r>
              <a:rPr lang="en-US" dirty="0"/>
              <a:t> </a:t>
            </a:r>
            <a:r>
              <a:rPr lang="en-US" dirty="0" err="1"/>
              <a:t>már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új</a:t>
            </a:r>
            <a:r>
              <a:rPr lang="en-US" dirty="0"/>
              <a:t> </a:t>
            </a:r>
            <a:r>
              <a:rPr lang="en-US" dirty="0" err="1"/>
              <a:t>titkosítással</a:t>
            </a:r>
            <a:r>
              <a:rPr lang="en-US" dirty="0"/>
              <a:t> </a:t>
            </a:r>
            <a:r>
              <a:rPr lang="en-US" dirty="0" err="1"/>
              <a:t>védenek</a:t>
            </a:r>
            <a:r>
              <a:rPr lang="en-US" dirty="0"/>
              <a:t>.</a:t>
            </a:r>
            <a:r>
              <a:rPr lang="hu-HU" dirty="0"/>
              <a:t> Ekkor létrejön a biztonságos csatorna, ami készen áll az adatok titkosított továbbítására.</a:t>
            </a:r>
            <a:endParaRPr lang="en-US" dirty="0"/>
          </a:p>
          <a:p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Fontos! </a:t>
            </a:r>
            <a:r>
              <a:rPr lang="en-US" dirty="0"/>
              <a:t>A TLS </a:t>
            </a:r>
            <a:r>
              <a:rPr lang="en-US" dirty="0" err="1"/>
              <a:t>kulcscsere</a:t>
            </a:r>
            <a:r>
              <a:rPr lang="en-US" dirty="0"/>
              <a:t> </a:t>
            </a:r>
            <a:r>
              <a:rPr lang="en-US" dirty="0" err="1"/>
              <a:t>során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és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ideiglenes</a:t>
            </a:r>
            <a:r>
              <a:rPr lang="en-US" dirty="0"/>
              <a:t> </a:t>
            </a:r>
            <a:r>
              <a:rPr lang="en-US" dirty="0" err="1"/>
              <a:t>kulcspárokat</a:t>
            </a:r>
            <a:r>
              <a:rPr lang="hu-HU" dirty="0"/>
              <a:t> (</a:t>
            </a:r>
            <a:r>
              <a:rPr lang="hu-HU" dirty="0" err="1"/>
              <a:t>private</a:t>
            </a:r>
            <a:r>
              <a:rPr lang="hu-HU" dirty="0"/>
              <a:t> és </a:t>
            </a:r>
            <a:r>
              <a:rPr lang="hu-HU" dirty="0" err="1"/>
              <a:t>public</a:t>
            </a:r>
            <a:r>
              <a:rPr lang="hu-HU" dirty="0"/>
              <a:t>)</a:t>
            </a:r>
            <a:r>
              <a:rPr lang="en-US" dirty="0"/>
              <a:t> </a:t>
            </a:r>
            <a:r>
              <a:rPr lang="en-US" dirty="0" err="1"/>
              <a:t>hoz</a:t>
            </a:r>
            <a:r>
              <a:rPr lang="en-US" dirty="0"/>
              <a:t> </a:t>
            </a:r>
            <a:r>
              <a:rPr lang="en-US" dirty="0" err="1"/>
              <a:t>létre</a:t>
            </a:r>
            <a:r>
              <a:rPr lang="en-US" dirty="0"/>
              <a:t>, </a:t>
            </a:r>
            <a:r>
              <a:rPr lang="hu-HU" dirty="0"/>
              <a:t>a </a:t>
            </a:r>
            <a:r>
              <a:rPr lang="en-US" dirty="0" err="1"/>
              <a:t>publikus</a:t>
            </a:r>
            <a:r>
              <a:rPr lang="en-US" dirty="0"/>
              <a:t> </a:t>
            </a:r>
            <a:r>
              <a:rPr lang="hu-HU" dirty="0"/>
              <a:t>kulcsot kicserélik egymás között</a:t>
            </a:r>
            <a:r>
              <a:rPr lang="en-US" dirty="0"/>
              <a:t>, </a:t>
            </a:r>
            <a:r>
              <a:rPr lang="en-US" dirty="0" err="1"/>
              <a:t>majd</a:t>
            </a:r>
            <a:r>
              <a:rPr lang="en-US" dirty="0"/>
              <a:t> </a:t>
            </a:r>
            <a:r>
              <a:rPr lang="en-US" dirty="0" err="1"/>
              <a:t>ezekből</a:t>
            </a:r>
            <a:r>
              <a:rPr lang="en-US" dirty="0"/>
              <a:t> – </a:t>
            </a:r>
            <a:r>
              <a:rPr lang="hu-HU" dirty="0"/>
              <a:t>és </a:t>
            </a:r>
            <a:r>
              <a:rPr lang="en-US" dirty="0"/>
              <a:t>a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titkos</a:t>
            </a:r>
            <a:r>
              <a:rPr lang="en-US" dirty="0"/>
              <a:t> </a:t>
            </a:r>
            <a:r>
              <a:rPr lang="en-US" dirty="0" err="1"/>
              <a:t>kulcsuk</a:t>
            </a:r>
            <a:r>
              <a:rPr lang="en-US" dirty="0"/>
              <a:t> </a:t>
            </a:r>
            <a:r>
              <a:rPr lang="en-US" dirty="0" err="1"/>
              <a:t>felhasználásával</a:t>
            </a:r>
            <a:r>
              <a:rPr lang="en-US" dirty="0"/>
              <a:t> – </a:t>
            </a:r>
            <a:r>
              <a:rPr lang="en-US" b="1" dirty="0" err="1"/>
              <a:t>függetlenül</a:t>
            </a:r>
            <a:r>
              <a:rPr lang="en-US" b="1" dirty="0"/>
              <a:t>, de </a:t>
            </a:r>
            <a:r>
              <a:rPr lang="en-US" b="1" dirty="0" err="1"/>
              <a:t>azonos</a:t>
            </a:r>
            <a:r>
              <a:rPr lang="en-US" b="1" dirty="0"/>
              <a:t> shared </a:t>
            </a:r>
            <a:r>
              <a:rPr lang="en-US" b="1" dirty="0" err="1"/>
              <a:t>secretet</a:t>
            </a:r>
            <a:r>
              <a:rPr lang="en-US" b="1" dirty="0"/>
              <a:t> </a:t>
            </a:r>
            <a:r>
              <a:rPr lang="en-US" b="1" dirty="0" err="1"/>
              <a:t>számolnak</a:t>
            </a:r>
            <a:r>
              <a:rPr lang="en-US" b="1" dirty="0"/>
              <a:t> ki</a:t>
            </a:r>
            <a:r>
              <a:rPr lang="en-US" dirty="0"/>
              <a:t>, </a:t>
            </a:r>
            <a:r>
              <a:rPr lang="en-US" dirty="0" err="1"/>
              <a:t>anélkül</a:t>
            </a:r>
            <a:r>
              <a:rPr lang="en-US" dirty="0"/>
              <a:t>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bármilyen</a:t>
            </a:r>
            <a:r>
              <a:rPr lang="en-US" dirty="0"/>
              <a:t> </a:t>
            </a:r>
            <a:r>
              <a:rPr lang="en-US" dirty="0" err="1"/>
              <a:t>titkos</a:t>
            </a:r>
            <a:r>
              <a:rPr lang="en-US" dirty="0"/>
              <a:t>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áthaladna</a:t>
            </a:r>
            <a:r>
              <a:rPr lang="en-US" dirty="0"/>
              <a:t> a </a:t>
            </a:r>
            <a:r>
              <a:rPr lang="en-US" dirty="0" err="1"/>
              <a:t>hálózaton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shared secret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átmeneti</a:t>
            </a:r>
            <a:r>
              <a:rPr lang="en-US" dirty="0"/>
              <a:t>, </a:t>
            </a:r>
            <a:r>
              <a:rPr lang="en-US" dirty="0" err="1"/>
              <a:t>közös</a:t>
            </a:r>
            <a:r>
              <a:rPr lang="en-US" dirty="0"/>
              <a:t> </a:t>
            </a:r>
            <a:r>
              <a:rPr lang="en-US" dirty="0" err="1"/>
              <a:t>kriptográfiai</a:t>
            </a:r>
            <a:r>
              <a:rPr lang="en-US" dirty="0"/>
              <a:t> </a:t>
            </a:r>
            <a:r>
              <a:rPr lang="en-US" dirty="0" err="1"/>
              <a:t>alapérték</a:t>
            </a:r>
            <a:r>
              <a:rPr lang="en-US" dirty="0"/>
              <a:t>, </a:t>
            </a:r>
            <a:r>
              <a:rPr lang="en-US" dirty="0" err="1"/>
              <a:t>amelyből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kulcsszármaztató</a:t>
            </a:r>
            <a:r>
              <a:rPr lang="en-US" dirty="0"/>
              <a:t> </a:t>
            </a:r>
            <a:r>
              <a:rPr lang="en-US" dirty="0" err="1"/>
              <a:t>függvény</a:t>
            </a:r>
            <a:r>
              <a:rPr lang="en-US" dirty="0"/>
              <a:t> </a:t>
            </a:r>
            <a:r>
              <a:rPr lang="en-US" dirty="0" err="1"/>
              <a:t>segítségével</a:t>
            </a:r>
            <a:r>
              <a:rPr lang="en-US" dirty="0"/>
              <a:t> </a:t>
            </a:r>
            <a:r>
              <a:rPr lang="hu-HU" dirty="0"/>
              <a:t>mind a kliens és a szerver </a:t>
            </a:r>
            <a:r>
              <a:rPr lang="en-US" dirty="0" err="1"/>
              <a:t>levezetik</a:t>
            </a:r>
            <a:r>
              <a:rPr lang="en-US" dirty="0"/>
              <a:t> a </a:t>
            </a:r>
            <a:r>
              <a:rPr lang="en-US" dirty="0" err="1"/>
              <a:t>kapcsolat</a:t>
            </a:r>
            <a:r>
              <a:rPr lang="hu-HU" dirty="0"/>
              <a:t> (session)</a:t>
            </a:r>
            <a:r>
              <a:rPr lang="en-US" dirty="0"/>
              <a:t> </a:t>
            </a:r>
            <a:r>
              <a:rPr lang="en-US" b="1" dirty="0" err="1"/>
              <a:t>titkos</a:t>
            </a:r>
            <a:r>
              <a:rPr lang="en-US" b="1" dirty="0"/>
              <a:t> </a:t>
            </a:r>
            <a:r>
              <a:rPr lang="en-US" b="1" dirty="0" err="1"/>
              <a:t>kulcsát</a:t>
            </a:r>
            <a:r>
              <a:rPr lang="hu-HU" b="1" dirty="0"/>
              <a:t> (session </a:t>
            </a:r>
            <a:r>
              <a:rPr lang="hu-HU" b="1" dirty="0" err="1"/>
              <a:t>key</a:t>
            </a:r>
            <a:r>
              <a:rPr lang="hu-HU" b="1" dirty="0"/>
              <a:t>)</a:t>
            </a:r>
            <a:r>
              <a:rPr lang="en-US" dirty="0"/>
              <a:t>, </a:t>
            </a:r>
            <a:r>
              <a:rPr lang="en-US" dirty="0" err="1"/>
              <a:t>miközben</a:t>
            </a:r>
            <a:r>
              <a:rPr lang="en-US" dirty="0"/>
              <a:t> </a:t>
            </a:r>
            <a:r>
              <a:rPr lang="en-US" dirty="0" err="1"/>
              <a:t>maga</a:t>
            </a:r>
            <a:r>
              <a:rPr lang="en-US" dirty="0"/>
              <a:t> a shared secret </a:t>
            </a:r>
            <a:r>
              <a:rPr lang="en-US" dirty="0" err="1"/>
              <a:t>soha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kerül</a:t>
            </a:r>
            <a:r>
              <a:rPr lang="en-US" dirty="0"/>
              <a:t> </a:t>
            </a:r>
            <a:r>
              <a:rPr lang="en-US" dirty="0" err="1"/>
              <a:t>közvetlen</a:t>
            </a:r>
            <a:r>
              <a:rPr lang="en-US" dirty="0"/>
              <a:t> </a:t>
            </a:r>
            <a:r>
              <a:rPr lang="en-US" dirty="0" err="1"/>
              <a:t>felhasználásra</a:t>
            </a:r>
            <a:r>
              <a:rPr lang="en-US" dirty="0"/>
              <a:t> </a:t>
            </a:r>
            <a:r>
              <a:rPr lang="en-US" dirty="0" err="1"/>
              <a:t>adat-titkosításhoz</a:t>
            </a:r>
            <a:r>
              <a:rPr lang="en-US" dirty="0"/>
              <a:t>.</a:t>
            </a:r>
            <a:r>
              <a:rPr lang="hu-HU" dirty="0"/>
              <a:t> Az egész folyamat alapja az aszimmetrikus titkosítás.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82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 TLS 1.3 nagy áttörést jelent: az egész </a:t>
            </a:r>
            <a:r>
              <a:rPr lang="hu-HU" dirty="0" err="1"/>
              <a:t>handshake-et</a:t>
            </a:r>
            <a:r>
              <a:rPr lang="hu-HU" dirty="0"/>
              <a:t> jelentősen leegyszerűsítették. Sok régi, veszélyes algoritmust (RC4, RSA </a:t>
            </a:r>
            <a:r>
              <a:rPr lang="hu-HU" dirty="0" err="1"/>
              <a:t>key</a:t>
            </a:r>
            <a:r>
              <a:rPr lang="hu-HU" dirty="0"/>
              <a:t> </a:t>
            </a:r>
            <a:r>
              <a:rPr lang="hu-HU" dirty="0" err="1"/>
              <a:t>exchange</a:t>
            </a:r>
            <a:r>
              <a:rPr lang="hu-HU" dirty="0"/>
              <a:t>, SHA1 stb.) eltávolítottak.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Fontos kiemelni, hogy a </a:t>
            </a:r>
            <a:r>
              <a:rPr lang="hu-HU" b="1" dirty="0"/>
              <a:t>TLS 1.3 </a:t>
            </a:r>
            <a:r>
              <a:rPr lang="hu-HU" dirty="0"/>
              <a:t>jelentősen </a:t>
            </a:r>
            <a:r>
              <a:rPr lang="hu-HU" b="1" dirty="0"/>
              <a:t>egyszerűsítette</a:t>
            </a:r>
            <a:r>
              <a:rPr lang="hu-HU" dirty="0"/>
              <a:t> a működést: sok régi, gyenge mechanizmust elhagytak. A </a:t>
            </a:r>
            <a:r>
              <a:rPr lang="hu-HU" b="1" dirty="0" err="1"/>
              <a:t>handshake</a:t>
            </a:r>
            <a:r>
              <a:rPr lang="hu-HU" b="1" dirty="0"/>
              <a:t> egy körre rövidült</a:t>
            </a:r>
            <a:r>
              <a:rPr lang="hu-HU" dirty="0"/>
              <a:t>, ami csökkenti a késleltetést. A protokoll kötelezővé teszi az </a:t>
            </a:r>
            <a:r>
              <a:rPr lang="hu-HU" dirty="0" err="1"/>
              <a:t>ephemeral</a:t>
            </a:r>
            <a:r>
              <a:rPr lang="hu-HU" dirty="0"/>
              <a:t> kulcsok használatát (például ECDHE) a kulcscsere során, ami biztosítja a </a:t>
            </a:r>
            <a:r>
              <a:rPr lang="hu-HU" dirty="0" err="1"/>
              <a:t>Perfect</a:t>
            </a:r>
            <a:r>
              <a:rPr lang="hu-HU" dirty="0"/>
              <a:t> </a:t>
            </a:r>
            <a:r>
              <a:rPr lang="hu-HU" dirty="0" err="1"/>
              <a:t>Forward</a:t>
            </a:r>
            <a:r>
              <a:rPr lang="hu-HU" dirty="0"/>
              <a:t> </a:t>
            </a:r>
            <a:r>
              <a:rPr lang="hu-HU" dirty="0" err="1"/>
              <a:t>Secrecy</a:t>
            </a:r>
            <a:r>
              <a:rPr lang="hu-HU" dirty="0"/>
              <a:t>-t: ha valaki megszerzi a szerver privát kulcsát, az előző beszélgetések titkosítása akkor sem fejthető vissza. Ez ma már alapelvárás.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577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MITM </a:t>
            </a:r>
            <a:r>
              <a:rPr lang="en-US" dirty="0" err="1"/>
              <a:t>támadás</a:t>
            </a:r>
            <a:r>
              <a:rPr lang="hu-HU" dirty="0"/>
              <a:t>:</a:t>
            </a:r>
            <a:r>
              <a:rPr lang="en-US" dirty="0"/>
              <a:t> a </a:t>
            </a:r>
            <a:r>
              <a:rPr lang="en-US" dirty="0" err="1"/>
              <a:t>támadó</a:t>
            </a:r>
            <a:r>
              <a:rPr lang="en-US" dirty="0"/>
              <a:t> a </a:t>
            </a:r>
            <a:r>
              <a:rPr lang="en-US" dirty="0" err="1"/>
              <a:t>kliens</a:t>
            </a:r>
            <a:r>
              <a:rPr lang="en-US" dirty="0"/>
              <a:t> és a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közé</a:t>
            </a:r>
            <a:r>
              <a:rPr lang="hu-HU" dirty="0"/>
              <a:t> áll (beékelődik a két végpont közé)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A </a:t>
            </a:r>
            <a:r>
              <a:rPr lang="en-US" dirty="0" err="1"/>
              <a:t>támadó</a:t>
            </a:r>
            <a:r>
              <a:rPr lang="en-US" dirty="0"/>
              <a:t> </a:t>
            </a:r>
            <a:r>
              <a:rPr lang="en-US" dirty="0" err="1"/>
              <a:t>például</a:t>
            </a:r>
            <a:r>
              <a:rPr lang="en-US" dirty="0"/>
              <a:t> </a:t>
            </a:r>
            <a:r>
              <a:rPr lang="en-US" dirty="0" err="1"/>
              <a:t>létrehozhat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hamis</a:t>
            </a:r>
            <a:r>
              <a:rPr lang="en-US" dirty="0"/>
              <a:t> Wi-Fi </a:t>
            </a:r>
            <a:r>
              <a:rPr lang="en-US" dirty="0" err="1"/>
              <a:t>hotspotot</a:t>
            </a:r>
            <a:r>
              <a:rPr lang="en-US" dirty="0"/>
              <a:t>, </a:t>
            </a:r>
            <a:r>
              <a:rPr lang="en-US" dirty="0" err="1"/>
              <a:t>átirányíthatja</a:t>
            </a:r>
            <a:r>
              <a:rPr lang="en-US" dirty="0"/>
              <a:t> a DNS </a:t>
            </a:r>
            <a:r>
              <a:rPr lang="en-US" dirty="0" err="1"/>
              <a:t>lekérdezéseket</a:t>
            </a:r>
            <a:r>
              <a:rPr lang="en-US" dirty="0"/>
              <a:t>, és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szerverén</a:t>
            </a:r>
            <a:r>
              <a:rPr lang="en-US" dirty="0"/>
              <a:t> </a:t>
            </a:r>
            <a:r>
              <a:rPr lang="en-US" dirty="0" err="1"/>
              <a:t>keresztül</a:t>
            </a:r>
            <a:r>
              <a:rPr lang="en-US" dirty="0"/>
              <a:t> </a:t>
            </a:r>
            <a:r>
              <a:rPr lang="en-US" dirty="0" err="1"/>
              <a:t>csatornázhatja</a:t>
            </a:r>
            <a:r>
              <a:rPr lang="en-US" dirty="0"/>
              <a:t> a </a:t>
            </a:r>
            <a:r>
              <a:rPr lang="en-US" dirty="0" err="1"/>
              <a:t>forgalmat</a:t>
            </a:r>
            <a:r>
              <a:rPr lang="en-US" dirty="0"/>
              <a:t>. De a HTTPS </a:t>
            </a:r>
            <a:r>
              <a:rPr lang="en-US" dirty="0" err="1"/>
              <a:t>ezt</a:t>
            </a:r>
            <a:r>
              <a:rPr lang="en-US" dirty="0"/>
              <a:t> </a:t>
            </a:r>
            <a:r>
              <a:rPr lang="en-US" dirty="0" err="1"/>
              <a:t>megakadályozza</a:t>
            </a:r>
            <a:r>
              <a:rPr lang="en-US" dirty="0"/>
              <a:t>, </a:t>
            </a:r>
            <a:r>
              <a:rPr lang="en-US" dirty="0" err="1"/>
              <a:t>mert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ellenőrzi</a:t>
            </a:r>
            <a:r>
              <a:rPr lang="en-US" dirty="0"/>
              <a:t> a </a:t>
            </a:r>
            <a:r>
              <a:rPr lang="en-US" dirty="0" err="1"/>
              <a:t>tanúsítványláncot</a:t>
            </a:r>
            <a:r>
              <a:rPr lang="en-US" dirty="0"/>
              <a:t>, a domain </a:t>
            </a:r>
            <a:r>
              <a:rPr lang="en-US" dirty="0" err="1"/>
              <a:t>egyezést</a:t>
            </a:r>
            <a:r>
              <a:rPr lang="en-US" dirty="0"/>
              <a:t> és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aláírás</a:t>
            </a:r>
            <a:r>
              <a:rPr lang="en-US" dirty="0"/>
              <a:t> </a:t>
            </a:r>
            <a:r>
              <a:rPr lang="en-US" dirty="0" err="1"/>
              <a:t>érvényességét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HTTPS </a:t>
            </a:r>
            <a:r>
              <a:rPr lang="en-US" dirty="0" err="1"/>
              <a:t>esetén</a:t>
            </a:r>
            <a:r>
              <a:rPr lang="en-US" dirty="0"/>
              <a:t> </a:t>
            </a:r>
            <a:r>
              <a:rPr lang="en-US" dirty="0" err="1"/>
              <a:t>akkor</a:t>
            </a:r>
            <a:r>
              <a:rPr lang="en-US" dirty="0"/>
              <a:t> </a:t>
            </a:r>
            <a:r>
              <a:rPr lang="en-US" dirty="0" err="1"/>
              <a:t>tudná</a:t>
            </a:r>
            <a:r>
              <a:rPr lang="en-US" dirty="0"/>
              <a:t> </a:t>
            </a:r>
            <a:r>
              <a:rPr lang="en-US" dirty="0" err="1"/>
              <a:t>ezt</a:t>
            </a:r>
            <a:r>
              <a:rPr lang="en-US" dirty="0"/>
              <a:t> </a:t>
            </a:r>
            <a:r>
              <a:rPr lang="en-US" dirty="0" err="1"/>
              <a:t>megtenni</a:t>
            </a:r>
            <a:r>
              <a:rPr lang="en-US" dirty="0"/>
              <a:t>, ha </a:t>
            </a:r>
            <a:r>
              <a:rPr lang="en-US" dirty="0" err="1"/>
              <a:t>érvényes</a:t>
            </a:r>
            <a:r>
              <a:rPr lang="en-US" dirty="0"/>
              <a:t> </a:t>
            </a:r>
            <a:r>
              <a:rPr lang="en-US" dirty="0" err="1"/>
              <a:t>tanúsítványt</a:t>
            </a:r>
            <a:r>
              <a:rPr lang="en-US" dirty="0"/>
              <a:t> </a:t>
            </a:r>
            <a:r>
              <a:rPr lang="en-US" dirty="0" err="1"/>
              <a:t>tudna</a:t>
            </a:r>
            <a:r>
              <a:rPr lang="en-US" dirty="0"/>
              <a:t> </a:t>
            </a:r>
            <a:r>
              <a:rPr lang="en-US" dirty="0" err="1"/>
              <a:t>felmutatni</a:t>
            </a:r>
            <a:r>
              <a:rPr lang="en-US" dirty="0"/>
              <a:t> a </a:t>
            </a:r>
            <a:r>
              <a:rPr lang="en-US" dirty="0" err="1"/>
              <a:t>domainhez</a:t>
            </a:r>
            <a:r>
              <a:rPr lang="en-US" dirty="0"/>
              <a:t> — </a:t>
            </a:r>
            <a:r>
              <a:rPr lang="en-US" dirty="0" err="1"/>
              <a:t>ez</a:t>
            </a:r>
            <a:r>
              <a:rPr lang="en-US" dirty="0"/>
              <a:t> a PKI </a:t>
            </a:r>
            <a:r>
              <a:rPr lang="en-US" dirty="0" err="1"/>
              <a:t>miatt</a:t>
            </a:r>
            <a:r>
              <a:rPr lang="en-US" dirty="0"/>
              <a:t> </a:t>
            </a:r>
            <a:r>
              <a:rPr lang="en-US" dirty="0" err="1"/>
              <a:t>rendkívül</a:t>
            </a:r>
            <a:r>
              <a:rPr lang="en-US" dirty="0"/>
              <a:t> </a:t>
            </a:r>
            <a:r>
              <a:rPr lang="en-US" dirty="0" err="1"/>
              <a:t>nehéz</a:t>
            </a:r>
            <a:r>
              <a:rPr lang="en-US" dirty="0"/>
              <a:t>.</a:t>
            </a:r>
            <a:r>
              <a:rPr lang="hu-HU" dirty="0"/>
              <a:t> </a:t>
            </a:r>
            <a:r>
              <a:rPr lang="en-US" dirty="0"/>
              <a:t>HSTS (HTTP Strict Transport Security) </a:t>
            </a:r>
            <a:r>
              <a:rPr lang="en-US" dirty="0" err="1"/>
              <a:t>megakadályozza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böngésző</a:t>
            </a:r>
            <a:r>
              <a:rPr lang="en-US" dirty="0"/>
              <a:t>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biztonságos</a:t>
            </a:r>
            <a:r>
              <a:rPr lang="en-US" dirty="0"/>
              <a:t> HTTP-re </a:t>
            </a:r>
            <a:r>
              <a:rPr lang="en-US" dirty="0" err="1"/>
              <a:t>visszaváltson</a:t>
            </a:r>
            <a:r>
              <a:rPr lang="en-US" dirty="0"/>
              <a:t>.</a:t>
            </a:r>
            <a:r>
              <a:rPr lang="hu-HU" dirty="0"/>
              <a:t> Ma már ezt nagyon sok webszerver bekapcsolja, ezzel utasítva a böngészőt a kötelező HTTPS használatára, ez g</a:t>
            </a:r>
            <a:r>
              <a:rPr lang="en-US" dirty="0" err="1"/>
              <a:t>arantálja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domainhez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HTTPS-</a:t>
            </a:r>
            <a:r>
              <a:rPr lang="en-US" dirty="0" err="1"/>
              <a:t>sel</a:t>
            </a:r>
            <a:r>
              <a:rPr lang="en-US" dirty="0"/>
              <a:t> </a:t>
            </a:r>
            <a:r>
              <a:rPr lang="en-US" dirty="0" err="1"/>
              <a:t>lehet</a:t>
            </a:r>
            <a:r>
              <a:rPr lang="en-US" dirty="0"/>
              <a:t> </a:t>
            </a:r>
            <a:r>
              <a:rPr lang="en-US" dirty="0" err="1"/>
              <a:t>csatlakozni</a:t>
            </a:r>
            <a:r>
              <a:rPr lang="en-US" dirty="0"/>
              <a:t>.</a:t>
            </a:r>
            <a:r>
              <a:rPr lang="hu-HU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73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J</a:t>
            </a:r>
            <a:r>
              <a:rPr lang="en-US" dirty="0" err="1"/>
              <a:t>avasolt</a:t>
            </a:r>
            <a:r>
              <a:rPr lang="en-US" dirty="0"/>
              <a:t> a TLS 1.2 és 1.3 </a:t>
            </a:r>
            <a:r>
              <a:rPr lang="en-US" dirty="0" err="1"/>
              <a:t>támogatása</a:t>
            </a:r>
            <a:r>
              <a:rPr lang="en-US" dirty="0"/>
              <a:t>, de </a:t>
            </a:r>
            <a:r>
              <a:rPr lang="en-US" dirty="0" err="1"/>
              <a:t>mindenképp</a:t>
            </a:r>
            <a:r>
              <a:rPr lang="en-US" dirty="0"/>
              <a:t> </a:t>
            </a:r>
            <a:r>
              <a:rPr lang="en-US" dirty="0" err="1"/>
              <a:t>kerülni</a:t>
            </a:r>
            <a:r>
              <a:rPr lang="en-US" dirty="0"/>
              <a:t> </a:t>
            </a:r>
            <a:r>
              <a:rPr lang="en-US" dirty="0" err="1"/>
              <a:t>kell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SSL-t és a korai TLS </a:t>
            </a:r>
            <a:r>
              <a:rPr lang="en-US" dirty="0" err="1"/>
              <a:t>verziókat</a:t>
            </a:r>
            <a:r>
              <a:rPr lang="en-US" dirty="0"/>
              <a:t>. 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Állítsunk</a:t>
            </a:r>
            <a:r>
              <a:rPr lang="en-US" dirty="0"/>
              <a:t> be </a:t>
            </a:r>
            <a:r>
              <a:rPr lang="en-US" dirty="0" err="1"/>
              <a:t>erős</a:t>
            </a:r>
            <a:r>
              <a:rPr lang="en-US" dirty="0"/>
              <a:t> cipher suite-</a:t>
            </a:r>
            <a:r>
              <a:rPr lang="en-US" dirty="0" err="1"/>
              <a:t>okat</a:t>
            </a:r>
            <a:r>
              <a:rPr lang="en-US" dirty="0"/>
              <a:t>, és </a:t>
            </a:r>
            <a:r>
              <a:rPr lang="en-US" dirty="0" err="1"/>
              <a:t>kerüljük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RC4, DES, 3DES, MD5 </a:t>
            </a:r>
            <a:r>
              <a:rPr lang="en-US" dirty="0" err="1"/>
              <a:t>algoritmusokat</a:t>
            </a:r>
            <a:r>
              <a:rPr lang="en-US" dirty="0"/>
              <a:t>. 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Alkalmazzuk a HSTS technikát a HTTPS használatának kikényszerítésére.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</a:t>
            </a:r>
            <a:r>
              <a:rPr lang="en-US" dirty="0"/>
              <a:t> HTTPS </a:t>
            </a:r>
            <a:r>
              <a:rPr lang="en-US" dirty="0" err="1"/>
              <a:t>teljesen</a:t>
            </a:r>
            <a:r>
              <a:rPr lang="en-US" dirty="0"/>
              <a:t> </a:t>
            </a:r>
            <a:r>
              <a:rPr lang="en-US" dirty="0" err="1"/>
              <a:t>elérhető</a:t>
            </a:r>
            <a:r>
              <a:rPr lang="en-US" dirty="0"/>
              <a:t> </a:t>
            </a:r>
            <a:r>
              <a:rPr lang="en-US" dirty="0" err="1"/>
              <a:t>ingyen</a:t>
            </a:r>
            <a:r>
              <a:rPr lang="en-US" dirty="0"/>
              <a:t> is (Let’s Encrypt), és </a:t>
            </a:r>
            <a:r>
              <a:rPr lang="en-US" dirty="0" err="1"/>
              <a:t>automatikusan</a:t>
            </a:r>
            <a:r>
              <a:rPr lang="en-US" dirty="0"/>
              <a:t> </a:t>
            </a:r>
            <a:r>
              <a:rPr lang="en-US" dirty="0" err="1"/>
              <a:t>frissíthető</a:t>
            </a:r>
            <a:r>
              <a:rPr lang="en-US" dirty="0"/>
              <a:t>.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TLS 1.2-ben erős </a:t>
            </a:r>
            <a:r>
              <a:rPr lang="hu-HU" dirty="0" err="1"/>
              <a:t>cipher</a:t>
            </a:r>
            <a:r>
              <a:rPr lang="hu-HU" dirty="0"/>
              <a:t> </a:t>
            </a:r>
            <a:r>
              <a:rPr lang="hu-HU" dirty="0" err="1"/>
              <a:t>suite</a:t>
            </a:r>
            <a:r>
              <a:rPr lang="hu-HU" dirty="0"/>
              <a:t> a </a:t>
            </a:r>
            <a:r>
              <a:rPr lang="en-US" dirty="0"/>
              <a:t>TLS_ECDHE_ECDSA_WITH_AES_256_GCM_SHA384</a:t>
            </a: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TLS 1.3-ban ajánlott: </a:t>
            </a:r>
            <a:r>
              <a:rPr lang="en-US" dirty="0"/>
              <a:t>TLS_AES_256_GCM_SHA384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38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HTTPS nem csupán egy „S” betű, hanem egy teljes ökoszisztéma, amely biztosítja az internet biztonságos működését. A TLS protokoll a biztonság szíve. A PKI nélkülözhetetlen ahhoz, hogy a böngésző megbízzon a szerverben. A modern internet gyakorlatilag elképzelhetetlen lenne HTTPS nélkül.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</a:t>
            </a:r>
            <a:r>
              <a:rPr lang="en-US" dirty="0"/>
              <a:t> HTTPS </a:t>
            </a:r>
            <a:r>
              <a:rPr lang="en-US" dirty="0" err="1"/>
              <a:t>mögött</a:t>
            </a:r>
            <a:r>
              <a:rPr lang="en-US" dirty="0"/>
              <a:t> </a:t>
            </a:r>
            <a:r>
              <a:rPr lang="en-US" dirty="0" err="1"/>
              <a:t>hatalmas</a:t>
            </a:r>
            <a:r>
              <a:rPr lang="en-US" dirty="0"/>
              <a:t> </a:t>
            </a:r>
            <a:r>
              <a:rPr lang="en-US" dirty="0" err="1"/>
              <a:t>technológiai</a:t>
            </a:r>
            <a:r>
              <a:rPr lang="en-US" dirty="0"/>
              <a:t> és </a:t>
            </a:r>
            <a:r>
              <a:rPr lang="en-US" dirty="0" err="1"/>
              <a:t>kriptográfiai</a:t>
            </a:r>
            <a:r>
              <a:rPr lang="en-US" dirty="0"/>
              <a:t> </a:t>
            </a:r>
            <a:r>
              <a:rPr lang="en-US" dirty="0" err="1"/>
              <a:t>infrastruktúra</a:t>
            </a:r>
            <a:r>
              <a:rPr lang="en-US" dirty="0"/>
              <a:t> </a:t>
            </a:r>
            <a:r>
              <a:rPr lang="en-US" dirty="0" err="1"/>
              <a:t>áll</a:t>
            </a:r>
            <a:r>
              <a:rPr lang="en-US" dirty="0"/>
              <a:t>, </a:t>
            </a:r>
            <a:r>
              <a:rPr lang="en-US" dirty="0" err="1"/>
              <a:t>amelynek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internetes</a:t>
            </a:r>
            <a:r>
              <a:rPr lang="en-US" dirty="0"/>
              <a:t> </a:t>
            </a:r>
            <a:r>
              <a:rPr lang="en-US" dirty="0" err="1"/>
              <a:t>biztonság</a:t>
            </a:r>
            <a:r>
              <a:rPr lang="en-US" dirty="0"/>
              <a:t> </a:t>
            </a:r>
            <a:r>
              <a:rPr lang="en-US" dirty="0" err="1"/>
              <a:t>fenntartása</a:t>
            </a:r>
            <a:r>
              <a:rPr lang="en-US" dirty="0"/>
              <a:t>. </a:t>
            </a:r>
            <a:r>
              <a:rPr lang="hu-HU" dirty="0"/>
              <a:t>Ezáltal az MITM támadások is jól kivédhetők, megnehezítve a támadok dolgát.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TLS handshake </a:t>
            </a:r>
            <a:r>
              <a:rPr lang="en-US" dirty="0" err="1"/>
              <a:t>megértése</a:t>
            </a:r>
            <a:r>
              <a:rPr lang="en-US" dirty="0"/>
              <a:t> </a:t>
            </a:r>
            <a:r>
              <a:rPr lang="en-US" dirty="0" err="1"/>
              <a:t>sok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területhez</a:t>
            </a:r>
            <a:r>
              <a:rPr lang="en-US" dirty="0"/>
              <a:t> is </a:t>
            </a:r>
            <a:r>
              <a:rPr lang="en-US" dirty="0" err="1"/>
              <a:t>hasznos</a:t>
            </a:r>
            <a:r>
              <a:rPr lang="en-US" dirty="0"/>
              <a:t>, </a:t>
            </a:r>
            <a:r>
              <a:rPr lang="en-US" dirty="0" err="1"/>
              <a:t>például</a:t>
            </a:r>
            <a:r>
              <a:rPr lang="en-US" dirty="0"/>
              <a:t> API </a:t>
            </a:r>
            <a:r>
              <a:rPr lang="en-US" dirty="0" err="1"/>
              <a:t>kommunikáció</a:t>
            </a:r>
            <a:r>
              <a:rPr lang="en-US" dirty="0"/>
              <a:t>, </a:t>
            </a:r>
            <a:r>
              <a:rPr lang="en-US" dirty="0" err="1"/>
              <a:t>mobilalkalmazások</a:t>
            </a:r>
            <a:r>
              <a:rPr lang="en-US" dirty="0"/>
              <a:t>, backend-frontend </a:t>
            </a:r>
            <a:r>
              <a:rPr lang="en-US" dirty="0" err="1"/>
              <a:t>kapcsolatok</a:t>
            </a:r>
            <a:r>
              <a:rPr lang="en-US" dirty="0"/>
              <a:t>, IoT </a:t>
            </a:r>
            <a:r>
              <a:rPr lang="en-US" dirty="0" err="1"/>
              <a:t>eszközök</a:t>
            </a:r>
            <a:r>
              <a:rPr lang="en-US" dirty="0"/>
              <a:t>, </a:t>
            </a:r>
            <a:r>
              <a:rPr lang="en-US" dirty="0" err="1"/>
              <a:t>stb</a:t>
            </a:r>
            <a:r>
              <a:rPr lang="en-US" dirty="0"/>
              <a:t>.</a:t>
            </a:r>
          </a:p>
          <a:p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23EBC-67FA-4278-B97C-82D0A52FD2D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76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2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66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72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2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1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7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32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zbalogh/oe-internetes-alkalmazaso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888D9-8305-0465-4F3D-7DA29873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hu-HU" dirty="0"/>
              <a:t>GitHub </a:t>
            </a:r>
            <a:r>
              <a:rPr lang="hu-HU" dirty="0" err="1"/>
              <a:t>repository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B6470-8D30-EA9B-70C6-C8C1DD303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934" y="2161914"/>
            <a:ext cx="7695849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/>
              <a:t>A tantárgyhoz kapcsolódó anyagok és példaprogramok elérhetők az alábbi GitHub linken: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2400" dirty="0">
                <a:hlinkClick r:id="rId2"/>
              </a:rPr>
              <a:t>https://github.com/zbalogh/oe-internetes-alkalmazasok</a:t>
            </a:r>
            <a:endParaRPr lang="hu-HU" sz="2400" dirty="0"/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CE131-709F-8000-6809-6F51AE690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92246" y="2161914"/>
            <a:ext cx="3178835" cy="317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79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2390-7FD9-3A7E-F78F-3E71606EA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8" y="1052996"/>
            <a:ext cx="11165482" cy="2425796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 err="1"/>
              <a:t>Biztonságos</a:t>
            </a:r>
            <a:r>
              <a:rPr lang="en-US" sz="4400" dirty="0"/>
              <a:t> </a:t>
            </a:r>
            <a:r>
              <a:rPr lang="en-US" sz="4400" dirty="0" err="1"/>
              <a:t>kommunikáció</a:t>
            </a:r>
            <a:r>
              <a:rPr lang="en-US" sz="4400" dirty="0"/>
              <a:t> </a:t>
            </a:r>
            <a:r>
              <a:rPr lang="en-US" sz="4400" dirty="0" err="1"/>
              <a:t>az</a:t>
            </a:r>
            <a:r>
              <a:rPr lang="en-US" sz="4400" dirty="0"/>
              <a:t> </a:t>
            </a:r>
            <a:r>
              <a:rPr lang="en-US" sz="4400" dirty="0" err="1"/>
              <a:t>interneten</a:t>
            </a:r>
            <a:br>
              <a:rPr lang="en-US" sz="4400" dirty="0"/>
            </a:br>
            <a:br>
              <a:rPr lang="hu-HU" sz="3600" dirty="0"/>
            </a:br>
            <a:br>
              <a:rPr lang="hu-HU" sz="3600" dirty="0"/>
            </a:br>
            <a:r>
              <a:rPr lang="en-US" sz="2400" dirty="0"/>
              <a:t>HTTPS, TLS/SSL és PKI </a:t>
            </a:r>
            <a:r>
              <a:rPr lang="en-US" sz="2400" dirty="0" err="1"/>
              <a:t>alapjai</a:t>
            </a:r>
            <a:br>
              <a:rPr lang="en-US" sz="2400" dirty="0"/>
            </a:br>
            <a:endParaRPr lang="en-US" sz="220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7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0F56A-BB1E-8DA6-D6F7-07CE02A9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87552"/>
          </a:xfrm>
        </p:spPr>
        <p:txBody>
          <a:bodyPr>
            <a:normAutofit/>
          </a:bodyPr>
          <a:lstStyle/>
          <a:p>
            <a:r>
              <a:rPr lang="en-US" sz="4000" dirty="0" err="1"/>
              <a:t>Miért</a:t>
            </a:r>
            <a:r>
              <a:rPr lang="en-US" sz="4000" dirty="0"/>
              <a:t> </a:t>
            </a:r>
            <a:r>
              <a:rPr lang="en-US" sz="4000" dirty="0" err="1"/>
              <a:t>kell</a:t>
            </a:r>
            <a:r>
              <a:rPr lang="en-US" sz="4000" dirty="0"/>
              <a:t> HTTPS?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18EF2-0F32-2DE4-361C-973583F4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40280"/>
            <a:ext cx="11155680" cy="3767328"/>
          </a:xfrm>
        </p:spPr>
        <p:txBody>
          <a:bodyPr>
            <a:normAutofit/>
          </a:bodyPr>
          <a:lstStyle/>
          <a:p>
            <a:r>
              <a:rPr lang="en-US" sz="2400" dirty="0" err="1"/>
              <a:t>Adatvédelem</a:t>
            </a:r>
            <a:r>
              <a:rPr lang="en-US" sz="2400" dirty="0"/>
              <a:t> (Confidentiality)</a:t>
            </a:r>
          </a:p>
          <a:p>
            <a:r>
              <a:rPr lang="en-US" sz="2400" dirty="0" err="1"/>
              <a:t>Adatintegritás</a:t>
            </a:r>
            <a:r>
              <a:rPr lang="en-US" sz="2400" dirty="0"/>
              <a:t> (Integrity)</a:t>
            </a:r>
          </a:p>
          <a:p>
            <a:r>
              <a:rPr lang="en-US" sz="2400" dirty="0" err="1"/>
              <a:t>Hitelesítés</a:t>
            </a:r>
            <a:r>
              <a:rPr lang="en-US" sz="2400" dirty="0"/>
              <a:t> (Authentication)</a:t>
            </a:r>
          </a:p>
          <a:p>
            <a:r>
              <a:rPr lang="en-US" sz="2400" dirty="0"/>
              <a:t>MITM </a:t>
            </a:r>
            <a:r>
              <a:rPr lang="en-US" sz="2400" dirty="0" err="1"/>
              <a:t>támadások</a:t>
            </a:r>
            <a:r>
              <a:rPr lang="en-US" sz="2400" dirty="0"/>
              <a:t> </a:t>
            </a:r>
            <a:r>
              <a:rPr lang="en-US" sz="2400" dirty="0" err="1"/>
              <a:t>elleni</a:t>
            </a:r>
            <a:r>
              <a:rPr lang="en-US" sz="2400" dirty="0"/>
              <a:t> </a:t>
            </a:r>
            <a:r>
              <a:rPr lang="en-US" sz="2400" dirty="0" err="1"/>
              <a:t>védelem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63087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1B97-CB79-1A77-C6C2-048E2BE2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HTTP vs HTTPS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3F1A-6982-B68C-BB7D-A95FD6716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61616"/>
            <a:ext cx="11155680" cy="37673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/>
              <a:t>HTTP</a:t>
            </a:r>
            <a:r>
              <a:rPr lang="en-US" sz="2400" dirty="0"/>
              <a:t>: Port 80, </a:t>
            </a:r>
            <a:r>
              <a:rPr lang="en-US" sz="2400" dirty="0" err="1"/>
              <a:t>titkosítatlan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HTTPS</a:t>
            </a:r>
            <a:r>
              <a:rPr lang="en-US" sz="2400" dirty="0"/>
              <a:t>: Port 443, </a:t>
            </a:r>
            <a:r>
              <a:rPr lang="hu-HU" sz="2400" dirty="0"/>
              <a:t>titkosított (</a:t>
            </a:r>
            <a:r>
              <a:rPr lang="en-US" sz="2400" b="1" dirty="0"/>
              <a:t>TLS</a:t>
            </a:r>
            <a:r>
              <a:rPr lang="en-US" sz="2400" dirty="0"/>
              <a:t> </a:t>
            </a:r>
            <a:r>
              <a:rPr lang="hu-HU" sz="2400" dirty="0"/>
              <a:t>protokollra épül)</a:t>
            </a:r>
          </a:p>
          <a:p>
            <a:pPr>
              <a:lnSpc>
                <a:spcPct val="150000"/>
              </a:lnSpc>
            </a:pPr>
            <a:r>
              <a:rPr lang="hu-HU" sz="2400" dirty="0"/>
              <a:t>Rétegek: TCP -&gt; TLS -&gt; HTTP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Böngészők</a:t>
            </a:r>
            <a:r>
              <a:rPr lang="en-US" sz="2400" dirty="0"/>
              <a:t>: </a:t>
            </a:r>
            <a:r>
              <a:rPr lang="en-US" sz="2400" dirty="0" err="1"/>
              <a:t>kötelező</a:t>
            </a:r>
            <a:r>
              <a:rPr lang="en-US" sz="2400" dirty="0"/>
              <a:t> HTTPS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38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6E6D9-25F0-7009-6094-1ABCE065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Mi az a TLS/SSL?</a:t>
            </a:r>
            <a:br>
              <a:rPr lang="it-IT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7613B-0C44-7D3D-153A-6A5C6ABB4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200656"/>
            <a:ext cx="11155680" cy="37673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/>
              <a:t>SSL</a:t>
            </a:r>
            <a:r>
              <a:rPr lang="hu-HU" sz="2400" dirty="0"/>
              <a:t> (</a:t>
            </a:r>
            <a:r>
              <a:rPr lang="hu-HU" sz="2400" dirty="0" err="1"/>
              <a:t>Secure</a:t>
            </a:r>
            <a:r>
              <a:rPr lang="hu-HU" sz="2400" dirty="0"/>
              <a:t> </a:t>
            </a:r>
            <a:r>
              <a:rPr lang="hu-HU" sz="2400" dirty="0" err="1"/>
              <a:t>Socket</a:t>
            </a:r>
            <a:r>
              <a:rPr lang="hu-HU" sz="2400" dirty="0"/>
              <a:t> </a:t>
            </a:r>
            <a:r>
              <a:rPr lang="hu-HU" sz="2400" dirty="0" err="1"/>
              <a:t>Layer</a:t>
            </a:r>
            <a:r>
              <a:rPr lang="hu-HU" sz="2400" dirty="0"/>
              <a:t>): </a:t>
            </a:r>
            <a:r>
              <a:rPr lang="en-US" sz="2400" dirty="0" err="1"/>
              <a:t>régi</a:t>
            </a:r>
            <a:r>
              <a:rPr lang="en-US" sz="2400" dirty="0"/>
              <a:t> </a:t>
            </a:r>
            <a:r>
              <a:rPr lang="en-US" sz="2400" dirty="0" err="1"/>
              <a:t>protokoll</a:t>
            </a:r>
            <a:r>
              <a:rPr lang="en-US" sz="2400" dirty="0"/>
              <a:t>, ma </a:t>
            </a:r>
            <a:r>
              <a:rPr lang="en-US" sz="2400" dirty="0" err="1"/>
              <a:t>már</a:t>
            </a:r>
            <a:r>
              <a:rPr lang="en-US" sz="2400" dirty="0"/>
              <a:t> </a:t>
            </a:r>
            <a:r>
              <a:rPr lang="en-US" sz="2400" dirty="0" err="1"/>
              <a:t>elavult</a:t>
            </a:r>
            <a:r>
              <a:rPr lang="hu-HU" sz="2400" dirty="0"/>
              <a:t>!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TLS</a:t>
            </a:r>
            <a:r>
              <a:rPr lang="hu-HU" sz="2400" dirty="0"/>
              <a:t> (</a:t>
            </a:r>
            <a:r>
              <a:rPr lang="hu-HU" sz="2400" dirty="0" err="1"/>
              <a:t>Transport</a:t>
            </a:r>
            <a:r>
              <a:rPr lang="hu-HU" sz="2400" dirty="0"/>
              <a:t> </a:t>
            </a:r>
            <a:r>
              <a:rPr lang="hu-HU" sz="2400" dirty="0" err="1"/>
              <a:t>Layer</a:t>
            </a:r>
            <a:r>
              <a:rPr lang="hu-HU" sz="2400" dirty="0"/>
              <a:t> Security) </a:t>
            </a:r>
            <a:r>
              <a:rPr lang="en-US" sz="2400" dirty="0"/>
              <a:t>: modern </a:t>
            </a:r>
            <a:r>
              <a:rPr lang="en-US" sz="2400" dirty="0" err="1"/>
              <a:t>verzió</a:t>
            </a:r>
            <a:r>
              <a:rPr lang="en-US" sz="2400" dirty="0"/>
              <a:t> (1.2, 1.3)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 </a:t>
            </a:r>
            <a:r>
              <a:rPr lang="en-US" sz="2400" b="1" dirty="0"/>
              <a:t>HTTPS</a:t>
            </a:r>
            <a:r>
              <a:rPr lang="en-US" sz="2400" dirty="0"/>
              <a:t> </a:t>
            </a:r>
            <a:r>
              <a:rPr lang="en-US" sz="2400" dirty="0" err="1"/>
              <a:t>valójában</a:t>
            </a:r>
            <a:r>
              <a:rPr lang="en-US" sz="2400" dirty="0"/>
              <a:t>: HTTP + TLS</a:t>
            </a:r>
            <a:endParaRPr lang="hu-HU" sz="2400" dirty="0"/>
          </a:p>
          <a:p>
            <a:pPr>
              <a:lnSpc>
                <a:spcPct val="150000"/>
              </a:lnSpc>
            </a:pPr>
            <a:r>
              <a:rPr lang="hu-HU" sz="2400" dirty="0"/>
              <a:t>A TLS célja egy </a:t>
            </a:r>
            <a:r>
              <a:rPr lang="hu-HU" sz="2400" b="1" dirty="0"/>
              <a:t>biztonságos csatorna </a:t>
            </a:r>
            <a:r>
              <a:rPr lang="hu-HU" sz="2400" dirty="0"/>
              <a:t>létrehozása két végpont között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835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3626-9382-CDDB-6F69-4134D747C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08888"/>
          </a:xfrm>
        </p:spPr>
        <p:txBody>
          <a:bodyPr/>
          <a:lstStyle/>
          <a:p>
            <a:r>
              <a:rPr lang="en-US" dirty="0"/>
              <a:t>A TLS </a:t>
            </a:r>
            <a:r>
              <a:rPr lang="en-US" dirty="0" err="1"/>
              <a:t>szerepkörei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B9318-2B81-F202-4997-36F7EEFB9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34184"/>
            <a:ext cx="11155680" cy="37673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 err="1"/>
              <a:t>Titkosítás</a:t>
            </a:r>
            <a:r>
              <a:rPr lang="hu-HU" sz="2000" dirty="0"/>
              <a:t>: Adatok bizalmas kezelése (AES)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 err="1"/>
              <a:t>Hitelesítés</a:t>
            </a:r>
            <a:r>
              <a:rPr lang="hu-HU" sz="2000" dirty="0"/>
              <a:t>: </a:t>
            </a:r>
            <a:r>
              <a:rPr lang="en-US" sz="2000" dirty="0"/>
              <a:t>A </a:t>
            </a:r>
            <a:r>
              <a:rPr lang="en-US" sz="2000" dirty="0" err="1"/>
              <a:t>szerver</a:t>
            </a:r>
            <a:r>
              <a:rPr lang="en-US" sz="2000" dirty="0"/>
              <a:t> </a:t>
            </a:r>
            <a:r>
              <a:rPr lang="en-US" sz="2000" dirty="0" err="1"/>
              <a:t>személyazonosságának</a:t>
            </a:r>
            <a:r>
              <a:rPr lang="en-US" sz="2000" dirty="0"/>
              <a:t> </a:t>
            </a:r>
            <a:r>
              <a:rPr lang="en-US" sz="2000" dirty="0" err="1"/>
              <a:t>igazolása</a:t>
            </a:r>
            <a:r>
              <a:rPr lang="en-US" sz="2000" dirty="0"/>
              <a:t> </a:t>
            </a:r>
            <a:r>
              <a:rPr lang="en-US" sz="2000" dirty="0" err="1"/>
              <a:t>tanúsítvánnyal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 err="1"/>
              <a:t>Integritás</a:t>
            </a:r>
            <a:r>
              <a:rPr lang="hu-HU" sz="2000" dirty="0"/>
              <a:t>: </a:t>
            </a:r>
            <a:r>
              <a:rPr lang="en-US" sz="2000" dirty="0"/>
              <a:t>Az </a:t>
            </a:r>
            <a:r>
              <a:rPr lang="en-US" sz="2000" dirty="0" err="1"/>
              <a:t>adatok</a:t>
            </a:r>
            <a:r>
              <a:rPr lang="en-US" sz="2000" dirty="0"/>
              <a:t> </a:t>
            </a:r>
            <a:r>
              <a:rPr lang="en-US" sz="2000" dirty="0" err="1"/>
              <a:t>sértetlenségének</a:t>
            </a:r>
            <a:r>
              <a:rPr lang="en-US" sz="2000" dirty="0"/>
              <a:t> és </a:t>
            </a:r>
            <a:r>
              <a:rPr lang="en-US" sz="2000" dirty="0" err="1"/>
              <a:t>hitelességének</a:t>
            </a:r>
            <a:r>
              <a:rPr lang="en-US" sz="2000" dirty="0"/>
              <a:t> </a:t>
            </a:r>
            <a:r>
              <a:rPr lang="en-US" sz="2000" dirty="0" err="1"/>
              <a:t>ellenőrzése</a:t>
            </a:r>
            <a:r>
              <a:rPr lang="hu-HU" sz="2000" dirty="0"/>
              <a:t> (HMAC vagy AEAD)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 err="1"/>
              <a:t>Kulcscsere</a:t>
            </a:r>
            <a:r>
              <a:rPr lang="hu-HU" sz="2000" dirty="0"/>
              <a:t>: </a:t>
            </a:r>
            <a:r>
              <a:rPr lang="en-US" sz="2000" dirty="0" err="1"/>
              <a:t>Közös</a:t>
            </a:r>
            <a:r>
              <a:rPr lang="en-US" sz="2000" dirty="0"/>
              <a:t> </a:t>
            </a:r>
            <a:r>
              <a:rPr lang="en-US" sz="2000" dirty="0" err="1"/>
              <a:t>titkos</a:t>
            </a:r>
            <a:r>
              <a:rPr lang="en-US" sz="2000" dirty="0"/>
              <a:t> </a:t>
            </a:r>
            <a:r>
              <a:rPr lang="en-US" sz="2000" dirty="0" err="1"/>
              <a:t>kulcs</a:t>
            </a:r>
            <a:r>
              <a:rPr lang="en-US" sz="2000" dirty="0"/>
              <a:t> </a:t>
            </a:r>
            <a:r>
              <a:rPr lang="en-US" sz="2000" dirty="0" err="1"/>
              <a:t>biztonságos</a:t>
            </a:r>
            <a:r>
              <a:rPr lang="en-US" sz="2000" dirty="0"/>
              <a:t> </a:t>
            </a:r>
            <a:r>
              <a:rPr lang="en-US" sz="2000" dirty="0" err="1"/>
              <a:t>létrehozása</a:t>
            </a:r>
            <a:r>
              <a:rPr lang="hu-HU" sz="2000" dirty="0"/>
              <a:t> </a:t>
            </a:r>
            <a:r>
              <a:rPr lang="en-US" sz="2000" dirty="0"/>
              <a:t>(</a:t>
            </a:r>
            <a:r>
              <a:rPr lang="hu-HU" sz="2000" dirty="0"/>
              <a:t>RSA, </a:t>
            </a:r>
            <a:r>
              <a:rPr lang="en-US" sz="2000" dirty="0"/>
              <a:t>Diffie–Hellman, ECDHE)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35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DC77-8AA5-B20B-67CC-53B34492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1080"/>
          </a:xfrm>
        </p:spPr>
        <p:txBody>
          <a:bodyPr/>
          <a:lstStyle/>
          <a:p>
            <a:r>
              <a:rPr lang="en-US" dirty="0"/>
              <a:t>A TLS </a:t>
            </a:r>
            <a:r>
              <a:rPr lang="en-US" dirty="0" err="1"/>
              <a:t>rétegei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D0096-B782-6039-9B01-8A232E53F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12848"/>
            <a:ext cx="11155680" cy="37673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/>
              <a:t>Record Layer</a:t>
            </a:r>
            <a:r>
              <a:rPr lang="hu-HU" sz="2800" dirty="0"/>
              <a:t>: adat titkosítás és integritás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/>
              <a:t>Handshake</a:t>
            </a:r>
            <a:r>
              <a:rPr lang="hu-HU" sz="2800" dirty="0"/>
              <a:t>: kapcsolatfelépítés és kulcscsere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b="1" dirty="0"/>
              <a:t>Alert</a:t>
            </a:r>
            <a:r>
              <a:rPr lang="hu-HU" sz="2800" dirty="0"/>
              <a:t>: hibakezelés és megszakítás</a:t>
            </a:r>
          </a:p>
          <a:p>
            <a:pPr>
              <a:lnSpc>
                <a:spcPct val="150000"/>
              </a:lnSpc>
            </a:pPr>
            <a:r>
              <a:rPr lang="en-US" sz="2800" b="1" dirty="0" err="1"/>
              <a:t>ChangeCipherSpec</a:t>
            </a:r>
            <a:r>
              <a:rPr lang="hu-HU" sz="2800" dirty="0"/>
              <a:t>: titkosított kommunikációra váltás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5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TLS Protocol">
            <a:extLst>
              <a:ext uri="{FF2B5EF4-FFF2-40B4-BE49-F238E27FC236}">
                <a16:creationId xmlns:a16="http://schemas.microsoft.com/office/drawing/2014/main" id="{93AE901F-378A-7118-F7D0-486F44FFDD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1262063"/>
            <a:ext cx="76200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070D2303-1D61-E6D0-C3C6-D2EC2A900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987" y="1602889"/>
            <a:ext cx="6381704" cy="387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348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6CEDD-26AD-7628-82A1-6D84D562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60120"/>
          </a:xfrm>
        </p:spPr>
        <p:txBody>
          <a:bodyPr/>
          <a:lstStyle/>
          <a:p>
            <a:r>
              <a:rPr lang="en-US" dirty="0"/>
              <a:t>PKI és a </a:t>
            </a:r>
            <a:r>
              <a:rPr lang="en-US" dirty="0" err="1"/>
              <a:t>tanúsítványok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3D2CB-DBCB-5890-6D9C-0A2D733DC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22576"/>
            <a:ext cx="11155680" cy="3767328"/>
          </a:xfrm>
        </p:spPr>
        <p:txBody>
          <a:bodyPr/>
          <a:lstStyle/>
          <a:p>
            <a:r>
              <a:rPr lang="en-US" sz="2400" dirty="0"/>
              <a:t>Mi </a:t>
            </a:r>
            <a:r>
              <a:rPr lang="en-US" sz="2400" dirty="0" err="1"/>
              <a:t>az</a:t>
            </a:r>
            <a:r>
              <a:rPr lang="en-US" sz="2400" dirty="0"/>
              <a:t> a PKI?</a:t>
            </a:r>
          </a:p>
          <a:p>
            <a:r>
              <a:rPr lang="en-US" sz="2400" dirty="0"/>
              <a:t>CA, Intermediate CA, Root CA</a:t>
            </a:r>
          </a:p>
          <a:p>
            <a:r>
              <a:rPr lang="en-US" sz="2400" dirty="0"/>
              <a:t>CA </a:t>
            </a:r>
            <a:r>
              <a:rPr lang="en-US" sz="2400" dirty="0" err="1"/>
              <a:t>által</a:t>
            </a:r>
            <a:r>
              <a:rPr lang="en-US" sz="2400" dirty="0"/>
              <a:t> </a:t>
            </a:r>
            <a:r>
              <a:rPr lang="en-US" sz="2400" dirty="0" err="1"/>
              <a:t>aláírt</a:t>
            </a:r>
            <a:r>
              <a:rPr lang="en-US" sz="2400" dirty="0"/>
              <a:t> X.509 </a:t>
            </a:r>
            <a:r>
              <a:rPr lang="en-US" sz="2400" dirty="0" err="1"/>
              <a:t>tanúsítvány</a:t>
            </a:r>
            <a:endParaRPr lang="hu-HU" sz="2400" dirty="0"/>
          </a:p>
          <a:p>
            <a:r>
              <a:rPr lang="en-US" sz="2400" dirty="0" err="1"/>
              <a:t>Publikus</a:t>
            </a:r>
            <a:r>
              <a:rPr lang="en-US" sz="2400" dirty="0"/>
              <a:t> és </a:t>
            </a:r>
            <a:r>
              <a:rPr lang="en-US" sz="2400" dirty="0" err="1"/>
              <a:t>privát</a:t>
            </a:r>
            <a:r>
              <a:rPr lang="en-US" sz="2400" dirty="0"/>
              <a:t> </a:t>
            </a:r>
            <a:r>
              <a:rPr lang="en-US" sz="2400" dirty="0" err="1"/>
              <a:t>kulcs</a:t>
            </a:r>
            <a:endParaRPr lang="en-US" sz="2400" dirty="0"/>
          </a:p>
          <a:p>
            <a:r>
              <a:rPr lang="en-US" sz="2400" dirty="0" err="1"/>
              <a:t>Tanúsítványlánc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123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CE5F4-1A51-68F3-3BE1-3484D91EE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Tanúsítvány</a:t>
            </a:r>
            <a:r>
              <a:rPr lang="en-US" sz="4000" dirty="0"/>
              <a:t> </a:t>
            </a:r>
            <a:r>
              <a:rPr lang="en-US" sz="4000" dirty="0" err="1"/>
              <a:t>érvényesség</a:t>
            </a:r>
            <a:r>
              <a:rPr lang="en-US" sz="4000" dirty="0"/>
              <a:t> és </a:t>
            </a:r>
            <a:r>
              <a:rPr lang="en-US" sz="4000" dirty="0" err="1"/>
              <a:t>visszavonás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DC665-0FC4-4862-C322-991750F7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273808"/>
            <a:ext cx="11155680" cy="37673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u-HU" sz="2400" dirty="0"/>
              <a:t>A tanúsítványok érvényességi idővel rendelkeznek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 </a:t>
            </a:r>
            <a:r>
              <a:rPr lang="en-US" sz="2400" dirty="0" err="1"/>
              <a:t>tanúsítvány</a:t>
            </a:r>
            <a:r>
              <a:rPr lang="en-US" sz="2400" dirty="0"/>
              <a:t> </a:t>
            </a:r>
            <a:r>
              <a:rPr lang="en-US" sz="2400" dirty="0" err="1"/>
              <a:t>visszavonható</a:t>
            </a:r>
            <a:r>
              <a:rPr lang="en-US" sz="2400" dirty="0"/>
              <a:t>, </a:t>
            </a:r>
            <a:r>
              <a:rPr lang="en-US" sz="2400" dirty="0" err="1"/>
              <a:t>például</a:t>
            </a:r>
            <a:r>
              <a:rPr lang="en-US" sz="2400" dirty="0"/>
              <a:t> ha a </a:t>
            </a:r>
            <a:r>
              <a:rPr lang="en-US" sz="2400" dirty="0" err="1"/>
              <a:t>privát</a:t>
            </a:r>
            <a:r>
              <a:rPr lang="en-US" sz="2400" dirty="0"/>
              <a:t> </a:t>
            </a:r>
            <a:r>
              <a:rPr lang="en-US" sz="2400" dirty="0" err="1"/>
              <a:t>kulcs</a:t>
            </a:r>
            <a:r>
              <a:rPr lang="en-US" sz="2400" dirty="0"/>
              <a:t> </a:t>
            </a:r>
            <a:r>
              <a:rPr lang="en-US" sz="2400" dirty="0" err="1"/>
              <a:t>kompromittálódott</a:t>
            </a:r>
            <a:endParaRPr lang="hu-HU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CRL</a:t>
            </a:r>
            <a:r>
              <a:rPr lang="hu-HU" sz="2400" dirty="0"/>
              <a:t> (</a:t>
            </a:r>
            <a:r>
              <a:rPr lang="hu-HU" sz="2400" dirty="0" err="1"/>
              <a:t>Certificate</a:t>
            </a:r>
            <a:r>
              <a:rPr lang="hu-HU" sz="2400" dirty="0"/>
              <a:t> </a:t>
            </a:r>
            <a:r>
              <a:rPr lang="hu-HU" sz="2400" dirty="0" err="1"/>
              <a:t>Revocation</a:t>
            </a:r>
            <a:r>
              <a:rPr lang="hu-HU" sz="2400" dirty="0"/>
              <a:t> List)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OCSP</a:t>
            </a:r>
            <a:r>
              <a:rPr lang="hu-HU" sz="2400" dirty="0"/>
              <a:t> </a:t>
            </a:r>
            <a:r>
              <a:rPr lang="en-US" sz="2400" dirty="0"/>
              <a:t>(Online Certificate Status Protocol)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OCSP</a:t>
            </a:r>
            <a:r>
              <a:rPr lang="en-US" sz="2400" dirty="0"/>
              <a:t> stapling</a:t>
            </a:r>
          </a:p>
        </p:txBody>
      </p:sp>
    </p:spTree>
    <p:extLst>
      <p:ext uri="{BB962C8B-B14F-4D97-AF65-F5344CB8AC3E}">
        <p14:creationId xmlns:p14="http://schemas.microsoft.com/office/powerpoint/2010/main" val="1125072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B4BD-B8A8-6D3B-AF99-84624E331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21080"/>
          </a:xfrm>
        </p:spPr>
        <p:txBody>
          <a:bodyPr>
            <a:normAutofit/>
          </a:bodyPr>
          <a:lstStyle/>
          <a:p>
            <a:r>
              <a:rPr lang="en-US" sz="4000" dirty="0"/>
              <a:t>TLS Handshake (</a:t>
            </a:r>
            <a:r>
              <a:rPr lang="en-US" sz="4000" dirty="0" err="1"/>
              <a:t>általános</a:t>
            </a:r>
            <a:r>
              <a:rPr lang="en-US" sz="4000" dirty="0"/>
              <a:t> </a:t>
            </a:r>
            <a:r>
              <a:rPr lang="en-US" sz="4000" dirty="0" err="1"/>
              <a:t>áttekintés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0D018-EECC-6881-9C15-5B747B00B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086105"/>
            <a:ext cx="11155680" cy="44767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hu-HU" sz="2400" dirty="0"/>
              <a:t>A </a:t>
            </a:r>
            <a:r>
              <a:rPr lang="hu-HU" sz="2400" dirty="0" err="1"/>
              <a:t>handshake</a:t>
            </a:r>
            <a:r>
              <a:rPr lang="hu-HU" sz="2400" dirty="0"/>
              <a:t> </a:t>
            </a:r>
            <a:r>
              <a:rPr lang="hu-HU" sz="2400" dirty="0" err="1"/>
              <a:t>céja</a:t>
            </a:r>
            <a:r>
              <a:rPr lang="hu-HU" sz="2400" dirty="0"/>
              <a:t>, a </a:t>
            </a:r>
            <a:r>
              <a:rPr lang="hu-HU" sz="2400" b="1" dirty="0"/>
              <a:t>biztonságos csatorna felépítése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b="1" dirty="0" err="1"/>
              <a:t>Kliens</a:t>
            </a:r>
            <a:r>
              <a:rPr lang="en-US" sz="2400" dirty="0"/>
              <a:t> → </a:t>
            </a:r>
            <a:r>
              <a:rPr lang="en-US" sz="2400" dirty="0" err="1"/>
              <a:t>Szerver</a:t>
            </a:r>
            <a:r>
              <a:rPr lang="en-US" sz="2400" dirty="0"/>
              <a:t>: </a:t>
            </a:r>
            <a:r>
              <a:rPr lang="en-US" sz="2400" dirty="0" err="1"/>
              <a:t>képességek</a:t>
            </a:r>
            <a:r>
              <a:rPr lang="en-US" sz="2400" dirty="0"/>
              <a:t>, </a:t>
            </a:r>
            <a:r>
              <a:rPr lang="en-US" sz="2400" dirty="0" err="1"/>
              <a:t>algoritmusok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b="1" dirty="0" err="1"/>
              <a:t>Szerver</a:t>
            </a:r>
            <a:r>
              <a:rPr lang="en-US" sz="2400" dirty="0"/>
              <a:t> → </a:t>
            </a:r>
            <a:r>
              <a:rPr lang="en-US" sz="2400" dirty="0" err="1"/>
              <a:t>Kliens</a:t>
            </a:r>
            <a:r>
              <a:rPr lang="en-US" sz="2400" dirty="0"/>
              <a:t>: </a:t>
            </a:r>
            <a:r>
              <a:rPr lang="en-US" sz="2400" dirty="0" err="1"/>
              <a:t>tanúsítvány</a:t>
            </a:r>
            <a:r>
              <a:rPr lang="en-US" sz="2400" dirty="0"/>
              <a:t>, </a:t>
            </a:r>
            <a:r>
              <a:rPr lang="en-US" sz="2400" dirty="0" err="1"/>
              <a:t>választott</a:t>
            </a:r>
            <a:r>
              <a:rPr lang="en-US" sz="2400" dirty="0"/>
              <a:t> </a:t>
            </a:r>
            <a:r>
              <a:rPr lang="en-US" sz="2400" dirty="0" err="1"/>
              <a:t>algoritmusok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b="1" dirty="0" err="1"/>
              <a:t>Kulcscsere</a:t>
            </a:r>
            <a:r>
              <a:rPr lang="hu-HU" sz="2400" dirty="0"/>
              <a:t> (aszimmetrikus titkosítás)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b="1" dirty="0"/>
              <a:t>Session key </a:t>
            </a:r>
            <a:r>
              <a:rPr lang="hu-HU" sz="2400" dirty="0"/>
              <a:t>(titkos kulcs) </a:t>
            </a:r>
            <a:r>
              <a:rPr lang="en-US" sz="2400" dirty="0" err="1"/>
              <a:t>létrehozása</a:t>
            </a:r>
            <a:endParaRPr lang="en-US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400" b="1" dirty="0" err="1"/>
              <a:t>Titkosított</a:t>
            </a:r>
            <a:r>
              <a:rPr lang="en-US" sz="2400" b="1" dirty="0"/>
              <a:t> </a:t>
            </a:r>
            <a:r>
              <a:rPr lang="en-US" sz="2400" b="1" dirty="0" err="1"/>
              <a:t>kommunikáció</a:t>
            </a:r>
            <a:r>
              <a:rPr lang="en-US" sz="2400" b="1" dirty="0"/>
              <a:t> </a:t>
            </a:r>
            <a:r>
              <a:rPr lang="en-US" sz="2400" dirty="0" err="1"/>
              <a:t>indul</a:t>
            </a:r>
            <a:r>
              <a:rPr lang="hu-HU" sz="2400" dirty="0"/>
              <a:t> (szimmetrikus titkosítás)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236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2404F-FE0B-46E6-BFA3-490A8D9C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13864"/>
            <a:ext cx="11155680" cy="806592"/>
          </a:xfrm>
        </p:spPr>
        <p:txBody>
          <a:bodyPr>
            <a:normAutofit/>
          </a:bodyPr>
          <a:lstStyle/>
          <a:p>
            <a:r>
              <a:rPr lang="hu-HU" sz="4000" dirty="0"/>
              <a:t>(HTTPS) </a:t>
            </a:r>
            <a:r>
              <a:rPr lang="en-US" sz="4000" dirty="0"/>
              <a:t>TLS 1.2 Handshake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98CD4-66E2-7CD6-E406-5DB0F08EF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06" y="1921002"/>
            <a:ext cx="6018488" cy="4123134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 err="1"/>
              <a:t>ClientHello</a:t>
            </a:r>
            <a:r>
              <a:rPr lang="hu-HU" sz="2600" dirty="0"/>
              <a:t> üzenet</a:t>
            </a:r>
            <a:endParaRPr lang="en-US" sz="2600" dirty="0"/>
          </a:p>
          <a:p>
            <a:r>
              <a:rPr lang="en-US" sz="2600" dirty="0" err="1"/>
              <a:t>ServerHello</a:t>
            </a:r>
            <a:r>
              <a:rPr lang="hu-HU" sz="2600" dirty="0"/>
              <a:t> üzenet</a:t>
            </a:r>
            <a:endParaRPr lang="en-US" sz="2600" dirty="0"/>
          </a:p>
          <a:p>
            <a:r>
              <a:rPr lang="hu-HU" sz="2600" dirty="0"/>
              <a:t>Server </a:t>
            </a:r>
            <a:r>
              <a:rPr lang="en-US" sz="2600" dirty="0"/>
              <a:t>Certificate</a:t>
            </a:r>
            <a:r>
              <a:rPr lang="hu-HU" sz="2600" dirty="0"/>
              <a:t> küldése</a:t>
            </a:r>
            <a:endParaRPr lang="en-US" sz="2600" dirty="0"/>
          </a:p>
          <a:p>
            <a:r>
              <a:rPr lang="en-US" sz="2600" dirty="0" err="1"/>
              <a:t>ServerKeyExchange</a:t>
            </a:r>
            <a:r>
              <a:rPr lang="hu-HU" sz="2600" dirty="0"/>
              <a:t> üzenet (opcionális)</a:t>
            </a:r>
          </a:p>
          <a:p>
            <a:r>
              <a:rPr lang="en-US" sz="2600" dirty="0" err="1"/>
              <a:t>ClientKeyExchange</a:t>
            </a:r>
            <a:r>
              <a:rPr lang="hu-HU" sz="2600" dirty="0"/>
              <a:t> üzenet</a:t>
            </a:r>
          </a:p>
          <a:p>
            <a:r>
              <a:rPr lang="hu-HU" sz="2600" dirty="0"/>
              <a:t>Session </a:t>
            </a:r>
            <a:r>
              <a:rPr lang="hu-HU" sz="2600" dirty="0" err="1"/>
              <a:t>key</a:t>
            </a:r>
            <a:r>
              <a:rPr lang="hu-HU" sz="2600" dirty="0"/>
              <a:t> generálása</a:t>
            </a:r>
            <a:endParaRPr lang="en-US" sz="2600" dirty="0"/>
          </a:p>
          <a:p>
            <a:r>
              <a:rPr lang="en-US" sz="2600" dirty="0" err="1"/>
              <a:t>ChangeCipherSpec</a:t>
            </a:r>
            <a:r>
              <a:rPr lang="hu-HU" sz="2600" dirty="0"/>
              <a:t> üzenetek</a:t>
            </a:r>
            <a:endParaRPr lang="en-US" sz="2600" dirty="0"/>
          </a:p>
          <a:p>
            <a:r>
              <a:rPr lang="en-US" sz="2600" dirty="0"/>
              <a:t>Finished </a:t>
            </a:r>
            <a:r>
              <a:rPr lang="en-US" sz="2600" dirty="0" err="1"/>
              <a:t>üzenetek</a:t>
            </a:r>
            <a:endParaRPr lang="en-US" sz="2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DABC57-9C56-3612-53E1-0894379DF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087" y="1605148"/>
            <a:ext cx="4760706" cy="516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54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E8661-0D26-47E3-CB04-EE008EF01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96691"/>
          </a:xfrm>
        </p:spPr>
        <p:txBody>
          <a:bodyPr>
            <a:normAutofit fontScale="90000"/>
          </a:bodyPr>
          <a:lstStyle/>
          <a:p>
            <a:r>
              <a:rPr lang="hu-HU" dirty="0"/>
              <a:t>(HTTPS) </a:t>
            </a:r>
            <a:r>
              <a:rPr lang="en-US" dirty="0"/>
              <a:t>TLS 1.3 </a:t>
            </a:r>
            <a:r>
              <a:rPr lang="en-US" dirty="0" err="1"/>
              <a:t>újdonságok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82AF7-FB08-04DC-A259-7C0CCE1B9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77667"/>
            <a:ext cx="6192108" cy="3767328"/>
          </a:xfrm>
        </p:spPr>
        <p:txBody>
          <a:bodyPr>
            <a:normAutofit/>
          </a:bodyPr>
          <a:lstStyle/>
          <a:p>
            <a:r>
              <a:rPr lang="hu-HU" sz="2400" dirty="0"/>
              <a:t>Egyszerűsített </a:t>
            </a:r>
            <a:r>
              <a:rPr lang="hu-HU" sz="2400" dirty="0" err="1"/>
              <a:t>handshake</a:t>
            </a:r>
            <a:endParaRPr lang="hu-HU" sz="2400" dirty="0"/>
          </a:p>
          <a:p>
            <a:r>
              <a:rPr lang="hu-HU" sz="2400" dirty="0"/>
              <a:t>Gyorsabb kapcsolatfelépítés</a:t>
            </a:r>
          </a:p>
          <a:p>
            <a:r>
              <a:rPr lang="hu-HU" sz="2400" dirty="0"/>
              <a:t>Modern algoritmusok használata</a:t>
            </a:r>
          </a:p>
          <a:p>
            <a:r>
              <a:rPr lang="en-US" sz="2400" dirty="0"/>
              <a:t>Minden </a:t>
            </a:r>
            <a:r>
              <a:rPr lang="en-US" sz="2400" dirty="0" err="1"/>
              <a:t>kulcscsere</a:t>
            </a:r>
            <a:r>
              <a:rPr lang="en-US" sz="2400" dirty="0"/>
              <a:t> ECDHE</a:t>
            </a:r>
            <a:r>
              <a:rPr lang="hu-HU" sz="2400" dirty="0"/>
              <a:t> algoritmussal</a:t>
            </a:r>
          </a:p>
          <a:p>
            <a:r>
              <a:rPr lang="hu-HU" sz="2400" dirty="0"/>
              <a:t>PFS (</a:t>
            </a:r>
            <a:r>
              <a:rPr lang="hu-HU" sz="2400" dirty="0" err="1"/>
              <a:t>Perfect</a:t>
            </a:r>
            <a:r>
              <a:rPr lang="hu-HU" sz="2400" dirty="0"/>
              <a:t> </a:t>
            </a:r>
            <a:r>
              <a:rPr lang="hu-HU" sz="2400" dirty="0" err="1"/>
              <a:t>Forward</a:t>
            </a:r>
            <a:r>
              <a:rPr lang="hu-HU" sz="2400" dirty="0"/>
              <a:t> </a:t>
            </a:r>
            <a:r>
              <a:rPr lang="hu-HU" sz="2400" dirty="0" err="1"/>
              <a:t>Secrecy</a:t>
            </a:r>
            <a:r>
              <a:rPr lang="hu-HU" sz="2400" dirty="0"/>
              <a:t>) kötelező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diagram of a server&#10;&#10;AI-generated content may be incorrect.">
            <a:extLst>
              <a:ext uri="{FF2B5EF4-FFF2-40B4-BE49-F238E27FC236}">
                <a16:creationId xmlns:a16="http://schemas.microsoft.com/office/drawing/2014/main" id="{4A878760-A1BF-C3F1-349C-59B024225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266" y="1483520"/>
            <a:ext cx="2530361" cy="500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17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fferences between TLS 1.2 and TLS 1.3 Full Handshake">
            <a:extLst>
              <a:ext uri="{FF2B5EF4-FFF2-40B4-BE49-F238E27FC236}">
                <a16:creationId xmlns:a16="http://schemas.microsoft.com/office/drawing/2014/main" id="{0DE6DA0F-5B88-B49B-00DC-3F34F0C85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339" y="1070189"/>
            <a:ext cx="7438904" cy="538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731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D922-90AF-F412-73C9-85D75BACE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96691"/>
          </a:xfrm>
        </p:spPr>
        <p:txBody>
          <a:bodyPr>
            <a:normAutofit/>
          </a:bodyPr>
          <a:lstStyle/>
          <a:p>
            <a:r>
              <a:rPr lang="en-US" sz="4000" dirty="0"/>
              <a:t>MITM </a:t>
            </a:r>
            <a:r>
              <a:rPr lang="en-US" sz="4000" dirty="0" err="1"/>
              <a:t>támadás</a:t>
            </a:r>
            <a:r>
              <a:rPr lang="en-US" sz="4000" dirty="0"/>
              <a:t> és </a:t>
            </a:r>
            <a:r>
              <a:rPr lang="en-US" sz="4000" dirty="0" err="1"/>
              <a:t>védekezés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6E427-58F4-0544-985C-9B4906AF0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2289241"/>
            <a:ext cx="11155680" cy="37673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hu-HU" sz="2400" dirty="0"/>
              <a:t>MITM = Man In The </a:t>
            </a:r>
            <a:r>
              <a:rPr lang="hu-HU" sz="2400" dirty="0" err="1"/>
              <a:t>Middle</a:t>
            </a:r>
            <a:endParaRPr lang="hu-HU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Tanúsítvány</a:t>
            </a:r>
            <a:r>
              <a:rPr lang="hu-HU" sz="2400" dirty="0"/>
              <a:t> </a:t>
            </a:r>
            <a:r>
              <a:rPr lang="en-US" sz="2400" dirty="0" err="1"/>
              <a:t>hamisítás</a:t>
            </a:r>
            <a:r>
              <a:rPr lang="hu-HU" sz="2400" dirty="0"/>
              <a:t> – böngésző hibát jelez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DNS </a:t>
            </a:r>
            <a:r>
              <a:rPr lang="hu-HU" sz="2400" dirty="0"/>
              <a:t>eltérítés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HSTS</a:t>
            </a:r>
            <a:r>
              <a:rPr lang="hu-HU" sz="2400" dirty="0"/>
              <a:t> (HTTP </a:t>
            </a:r>
            <a:r>
              <a:rPr lang="hu-HU" sz="2400" dirty="0" err="1"/>
              <a:t>Strict</a:t>
            </a:r>
            <a:r>
              <a:rPr lang="hu-HU" sz="2400" dirty="0"/>
              <a:t> </a:t>
            </a:r>
            <a:r>
              <a:rPr lang="hu-HU" sz="2400" dirty="0" err="1"/>
              <a:t>Transport</a:t>
            </a:r>
            <a:r>
              <a:rPr lang="hu-HU" sz="2400" dirty="0"/>
              <a:t> Security)</a:t>
            </a:r>
            <a:endParaRPr lang="en-US" sz="24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426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9D337-2975-345D-FC10-CA6E44B79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19840"/>
          </a:xfrm>
        </p:spPr>
        <p:txBody>
          <a:bodyPr>
            <a:normAutofit/>
          </a:bodyPr>
          <a:lstStyle/>
          <a:p>
            <a:r>
              <a:rPr lang="en-US" sz="4000" dirty="0"/>
              <a:t>Modern </a:t>
            </a:r>
            <a:r>
              <a:rPr lang="en-US" sz="4000" dirty="0" err="1"/>
              <a:t>legjobb</a:t>
            </a:r>
            <a:r>
              <a:rPr lang="en-US" sz="4000" dirty="0"/>
              <a:t> </a:t>
            </a:r>
            <a:r>
              <a:rPr lang="en-US" sz="4000" dirty="0" err="1"/>
              <a:t>gyakorlatok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0B101-C39F-3C8C-13E2-646BC7198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77667"/>
            <a:ext cx="11155680" cy="37673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TLS 1.3 </a:t>
            </a:r>
            <a:r>
              <a:rPr lang="en-US" sz="2400" dirty="0" err="1"/>
              <a:t>előnyben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Régi </a:t>
            </a:r>
            <a:r>
              <a:rPr lang="en-US" sz="2400" dirty="0" err="1"/>
              <a:t>algoritmusok</a:t>
            </a:r>
            <a:r>
              <a:rPr lang="en-US" sz="2400" dirty="0"/>
              <a:t> </a:t>
            </a:r>
            <a:r>
              <a:rPr lang="en-US" sz="2400" dirty="0" err="1"/>
              <a:t>tiltása</a:t>
            </a:r>
            <a:endParaRPr lang="hu-HU" sz="2400" dirty="0"/>
          </a:p>
          <a:p>
            <a:pPr>
              <a:lnSpc>
                <a:spcPct val="150000"/>
              </a:lnSpc>
            </a:pPr>
            <a:r>
              <a:rPr lang="hu-HU" sz="2400" dirty="0"/>
              <a:t>Erős algoritmusok (</a:t>
            </a:r>
            <a:r>
              <a:rPr lang="hu-HU" sz="2400" dirty="0" err="1"/>
              <a:t>cipher</a:t>
            </a:r>
            <a:r>
              <a:rPr lang="hu-HU" sz="2400" dirty="0"/>
              <a:t> </a:t>
            </a:r>
            <a:r>
              <a:rPr lang="hu-HU" sz="2400" dirty="0" err="1"/>
              <a:t>suites</a:t>
            </a:r>
            <a:r>
              <a:rPr lang="hu-HU" sz="2400" dirty="0"/>
              <a:t>) használata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HTTPS </a:t>
            </a:r>
            <a:r>
              <a:rPr lang="en-US" sz="2400" dirty="0" err="1"/>
              <a:t>automatikus</a:t>
            </a:r>
            <a:r>
              <a:rPr lang="en-US" sz="2400" dirty="0"/>
              <a:t> </a:t>
            </a:r>
            <a:r>
              <a:rPr lang="en-US" sz="2400" dirty="0" err="1"/>
              <a:t>kényszerítése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Let’s Encrypt </a:t>
            </a:r>
            <a:r>
              <a:rPr lang="en-US" sz="2400" dirty="0" err="1"/>
              <a:t>használata</a:t>
            </a:r>
            <a:r>
              <a:rPr lang="hu-HU" sz="2400" dirty="0"/>
              <a:t> (ingyenes)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3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2E2D-F677-B187-DD35-131D6E3E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012438"/>
          </a:xfrm>
        </p:spPr>
        <p:txBody>
          <a:bodyPr>
            <a:normAutofit/>
          </a:bodyPr>
          <a:lstStyle/>
          <a:p>
            <a:r>
              <a:rPr lang="en-US" sz="4000" dirty="0" err="1"/>
              <a:t>Összefoglalás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69C2B-D3A8-37FB-E824-6FCE4D275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23965"/>
            <a:ext cx="11155680" cy="3767328"/>
          </a:xfrm>
        </p:spPr>
        <p:txBody>
          <a:bodyPr>
            <a:normAutofit/>
          </a:bodyPr>
          <a:lstStyle/>
          <a:p>
            <a:r>
              <a:rPr lang="en-US" sz="2400" dirty="0"/>
              <a:t>HTTPS = </a:t>
            </a:r>
            <a:r>
              <a:rPr lang="hu-HU" sz="2400" dirty="0"/>
              <a:t>titkosítás</a:t>
            </a:r>
            <a:r>
              <a:rPr lang="en-US" sz="2400" dirty="0"/>
              <a:t> + </a:t>
            </a:r>
            <a:r>
              <a:rPr lang="en-US" sz="2400" dirty="0" err="1"/>
              <a:t>hitelesség</a:t>
            </a:r>
            <a:r>
              <a:rPr lang="en-US" sz="2400" dirty="0"/>
              <a:t> + </a:t>
            </a:r>
            <a:r>
              <a:rPr lang="en-US" sz="2400" dirty="0" err="1"/>
              <a:t>integritás</a:t>
            </a:r>
            <a:endParaRPr lang="en-US" sz="2400" dirty="0"/>
          </a:p>
          <a:p>
            <a:r>
              <a:rPr lang="en-US" sz="2400" dirty="0" err="1"/>
              <a:t>Tanúsítványok</a:t>
            </a:r>
            <a:r>
              <a:rPr lang="en-US" sz="2400" dirty="0"/>
              <a:t> és PKI </a:t>
            </a:r>
            <a:r>
              <a:rPr lang="en-US" sz="2400" dirty="0" err="1"/>
              <a:t>biztosítják</a:t>
            </a:r>
            <a:r>
              <a:rPr lang="en-US" sz="2400" dirty="0"/>
              <a:t> a </a:t>
            </a:r>
            <a:r>
              <a:rPr lang="en-US" sz="2400" dirty="0" err="1"/>
              <a:t>bizalom</a:t>
            </a:r>
            <a:r>
              <a:rPr lang="en-US" sz="2400" dirty="0"/>
              <a:t> </a:t>
            </a:r>
            <a:r>
              <a:rPr lang="en-US" sz="2400" dirty="0" err="1"/>
              <a:t>alapját</a:t>
            </a:r>
            <a:endParaRPr lang="en-US" sz="2400" dirty="0"/>
          </a:p>
          <a:p>
            <a:r>
              <a:rPr lang="en-US" sz="2400" dirty="0"/>
              <a:t>TLS handshake a </a:t>
            </a:r>
            <a:r>
              <a:rPr lang="en-US" sz="2400" dirty="0" err="1"/>
              <a:t>kapcsolat</a:t>
            </a:r>
            <a:r>
              <a:rPr lang="en-US" sz="2400" dirty="0"/>
              <a:t> </a:t>
            </a:r>
            <a:r>
              <a:rPr lang="en-US" sz="2400" dirty="0" err="1"/>
              <a:t>lelke</a:t>
            </a:r>
            <a:endParaRPr lang="en-US" sz="2400" dirty="0"/>
          </a:p>
          <a:p>
            <a:r>
              <a:rPr lang="en-US" sz="2400" dirty="0"/>
              <a:t>MITM </a:t>
            </a:r>
            <a:r>
              <a:rPr lang="en-US" sz="2400" dirty="0" err="1"/>
              <a:t>támadások</a:t>
            </a:r>
            <a:r>
              <a:rPr lang="en-US" sz="2400" dirty="0"/>
              <a:t> </a:t>
            </a:r>
            <a:r>
              <a:rPr lang="en-US" sz="2400" dirty="0" err="1"/>
              <a:t>jól</a:t>
            </a:r>
            <a:r>
              <a:rPr lang="en-US" sz="2400" dirty="0"/>
              <a:t> </a:t>
            </a:r>
            <a:r>
              <a:rPr lang="en-US" sz="2400" dirty="0" err="1"/>
              <a:t>kivédhetők</a:t>
            </a: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792105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2493</Words>
  <Application>Microsoft Office PowerPoint</Application>
  <PresentationFormat>Widescreen</PresentationFormat>
  <Paragraphs>160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Bierstadt</vt:lpstr>
      <vt:lpstr>GestaltVTI</vt:lpstr>
      <vt:lpstr>GitHub repository</vt:lpstr>
      <vt:lpstr>Biztonságos kommunikáció az interneten   HTTPS, TLS/SSL és PKI alapjai </vt:lpstr>
      <vt:lpstr>Miért kell HTTPS?</vt:lpstr>
      <vt:lpstr>HTTP vs HTTPS </vt:lpstr>
      <vt:lpstr>Mi az a TLS/SSL? </vt:lpstr>
      <vt:lpstr>A TLS szerepkörei</vt:lpstr>
      <vt:lpstr>A TLS rétegei</vt:lpstr>
      <vt:lpstr>PowerPoint Presentation</vt:lpstr>
      <vt:lpstr>PKI és a tanúsítványok</vt:lpstr>
      <vt:lpstr>Tanúsítvány érvényesség és visszavonás</vt:lpstr>
      <vt:lpstr>TLS Handshake (általános áttekintés)</vt:lpstr>
      <vt:lpstr>(HTTPS) TLS 1.2 Handshake</vt:lpstr>
      <vt:lpstr>(HTTPS) TLS 1.3 újdonságok </vt:lpstr>
      <vt:lpstr>PowerPoint Presentation</vt:lpstr>
      <vt:lpstr>MITM támadás és védekezés</vt:lpstr>
      <vt:lpstr>Modern legjobb gyakorlatok</vt:lpstr>
      <vt:lpstr>Összefoglalás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Zoltan Balogh</dc:creator>
  <cp:lastModifiedBy>Zoltan Balogh</cp:lastModifiedBy>
  <cp:revision>61</cp:revision>
  <dcterms:created xsi:type="dcterms:W3CDTF">2025-11-30T15:45:28Z</dcterms:created>
  <dcterms:modified xsi:type="dcterms:W3CDTF">2026-03-07T13:21:57Z</dcterms:modified>
</cp:coreProperties>
</file>