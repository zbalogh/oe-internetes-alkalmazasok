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9"/>
  </p:notesMasterIdLst>
  <p:sldIdLst>
    <p:sldId id="256" r:id="rId2"/>
    <p:sldId id="259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prezentáció bemutatja, hogyan néz ki a modern webfejlesztés alapja: a HTML5 szemantikus elemei, a modern CSS elrendezési technikák – </a:t>
            </a:r>
            <a:r>
              <a:rPr lang="hu-HU" dirty="0" err="1"/>
              <a:t>Flexbox</a:t>
            </a:r>
            <a:r>
              <a:rPr lang="hu-HU" dirty="0"/>
              <a:t> és </a:t>
            </a:r>
            <a:r>
              <a:rPr lang="hu-HU" dirty="0" err="1"/>
              <a:t>Grid</a:t>
            </a:r>
            <a:r>
              <a:rPr lang="hu-HU" dirty="0"/>
              <a:t> –, valamint a </a:t>
            </a:r>
            <a:r>
              <a:rPr lang="hu-HU" dirty="0" err="1"/>
              <a:t>responsive</a:t>
            </a:r>
            <a:r>
              <a:rPr lang="hu-HU" dirty="0"/>
              <a:t> design működése.</a:t>
            </a:r>
          </a:p>
          <a:p>
            <a:endParaRPr lang="hu-HU" dirty="0"/>
          </a:p>
          <a:p>
            <a:r>
              <a:rPr lang="hu-HU" dirty="0"/>
              <a:t>Ezek együtt adják azt a tudást, amivel ma már minden weboldalt illik megépíteni. </a:t>
            </a:r>
            <a:r>
              <a:rPr lang="en-US" dirty="0"/>
              <a:t>Ez a </a:t>
            </a:r>
            <a:r>
              <a:rPr lang="en-US" dirty="0" err="1"/>
              <a:t>három</a:t>
            </a:r>
            <a:r>
              <a:rPr lang="en-US" dirty="0"/>
              <a:t> </a:t>
            </a:r>
            <a:r>
              <a:rPr lang="en-US" dirty="0" err="1"/>
              <a:t>kifejezés</a:t>
            </a:r>
            <a:r>
              <a:rPr lang="en-US" dirty="0"/>
              <a:t> </a:t>
            </a:r>
            <a:r>
              <a:rPr lang="en-US" dirty="0" err="1"/>
              <a:t>együtt</a:t>
            </a:r>
            <a:r>
              <a:rPr lang="en-US" dirty="0"/>
              <a:t> </a:t>
            </a:r>
            <a:r>
              <a:rPr lang="en-US" dirty="0" err="1"/>
              <a:t>írja</a:t>
            </a:r>
            <a:r>
              <a:rPr lang="en-US" dirty="0"/>
              <a:t> le a modern </a:t>
            </a:r>
            <a:r>
              <a:rPr lang="en-US" dirty="0" err="1"/>
              <a:t>webfejlesztés</a:t>
            </a:r>
            <a:r>
              <a:rPr lang="en-US" dirty="0"/>
              <a:t> </a:t>
            </a:r>
            <a:r>
              <a:rPr lang="en-US" dirty="0" err="1"/>
              <a:t>alapját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Nem </a:t>
            </a:r>
            <a:r>
              <a:rPr lang="en-US" dirty="0" err="1"/>
              <a:t>különálló</a:t>
            </a:r>
            <a:r>
              <a:rPr lang="en-US" dirty="0"/>
              <a:t> </a:t>
            </a:r>
            <a:r>
              <a:rPr lang="en-US" dirty="0" err="1"/>
              <a:t>technológiákról</a:t>
            </a:r>
            <a:r>
              <a:rPr lang="en-US" dirty="0"/>
              <a:t> </a:t>
            </a:r>
            <a:r>
              <a:rPr lang="en-US" dirty="0" err="1"/>
              <a:t>beszélünk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szemléletről</a:t>
            </a:r>
            <a:r>
              <a:rPr lang="en-US" dirty="0"/>
              <a:t>: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építünk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weboldalt</a:t>
            </a:r>
            <a:r>
              <a:rPr lang="en-US" dirty="0"/>
              <a:t> </a:t>
            </a:r>
            <a:r>
              <a:rPr lang="en-US" dirty="0" err="1"/>
              <a:t>strukturáltan</a:t>
            </a:r>
            <a:r>
              <a:rPr lang="en-US" dirty="0"/>
              <a:t>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rendezzük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tartalmat</a:t>
            </a:r>
            <a:r>
              <a:rPr lang="en-US" dirty="0"/>
              <a:t> modern CSS-</a:t>
            </a:r>
            <a:r>
              <a:rPr lang="en-US" dirty="0" err="1"/>
              <a:t>sel</a:t>
            </a:r>
            <a:r>
              <a:rPr lang="en-US" dirty="0"/>
              <a:t>, és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érjük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eszközön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használható</a:t>
            </a:r>
            <a:r>
              <a:rPr lang="en-US" dirty="0"/>
              <a:t> </a:t>
            </a:r>
            <a:r>
              <a:rPr lang="en-US" dirty="0" err="1"/>
              <a:t>legyen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webforgalom nagy része ma már mobilról jön, ezért egy oldalnak muszáj jól működnie minden kijelzőn. Másrészt a Google kifejezetten előnyben részesíti a mobilbarát oldalakat.</a:t>
            </a:r>
          </a:p>
          <a:p>
            <a:endParaRPr lang="hu-HU" dirty="0"/>
          </a:p>
          <a:p>
            <a:r>
              <a:rPr lang="hu-HU" dirty="0"/>
              <a:t>Ha szemantikus HTML-t használunk, akkor a keresőmotorok és a képernyőolvasók sokkal jobban értik a tartalmat.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Flexbox</a:t>
            </a:r>
            <a:r>
              <a:rPr lang="hu-HU" dirty="0"/>
              <a:t> és a </a:t>
            </a:r>
            <a:r>
              <a:rPr lang="hu-HU" dirty="0" err="1"/>
              <a:t>Grid</a:t>
            </a:r>
            <a:r>
              <a:rPr lang="hu-HU" dirty="0"/>
              <a:t> pedig modern, tiszta elrendezést ad, amivel sokkal gyorsabban és egyszerűbben tudunk dolgozni.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HTML5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legfontosabb</a:t>
            </a:r>
            <a:r>
              <a:rPr lang="en-US" dirty="0"/>
              <a:t> </a:t>
            </a:r>
            <a:r>
              <a:rPr lang="en-US" dirty="0" err="1"/>
              <a:t>újítása</a:t>
            </a:r>
            <a:r>
              <a:rPr lang="en-US" dirty="0"/>
              <a:t> a </a:t>
            </a:r>
            <a:r>
              <a:rPr lang="en-US" b="1" dirty="0" err="1"/>
              <a:t>szemantikus</a:t>
            </a:r>
            <a:r>
              <a:rPr lang="en-US" b="1" dirty="0"/>
              <a:t> </a:t>
            </a:r>
            <a:r>
              <a:rPr lang="en-US" b="1" dirty="0" err="1"/>
              <a:t>elemek</a:t>
            </a:r>
            <a:r>
              <a:rPr lang="en-US" b="1" dirty="0"/>
              <a:t> </a:t>
            </a:r>
            <a:r>
              <a:rPr lang="en-US" dirty="0" err="1"/>
              <a:t>megjelenése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Ezek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tagek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megjelenítést</a:t>
            </a:r>
            <a:r>
              <a:rPr lang="en-US" dirty="0"/>
              <a:t> </a:t>
            </a:r>
            <a:r>
              <a:rPr lang="en-US" dirty="0" err="1"/>
              <a:t>szolgálnak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jelentést</a:t>
            </a:r>
            <a:r>
              <a:rPr lang="en-US" dirty="0"/>
              <a:t> </a:t>
            </a:r>
            <a:r>
              <a:rPr lang="en-US" dirty="0" err="1"/>
              <a:t>hordoznak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&lt;header&gt;</a:t>
            </a:r>
            <a:r>
              <a:rPr lang="en-US" dirty="0"/>
              <a:t> a </a:t>
            </a:r>
            <a:r>
              <a:rPr lang="en-US" dirty="0" err="1"/>
              <a:t>fejlécekhez</a:t>
            </a:r>
            <a:r>
              <a:rPr lang="en-US" dirty="0"/>
              <a:t> </a:t>
            </a:r>
            <a:r>
              <a:rPr lang="en-US" dirty="0" err="1"/>
              <a:t>való</a:t>
            </a:r>
            <a:r>
              <a:rPr lang="en-US" dirty="0"/>
              <a:t>,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&lt;nav&gt;</a:t>
            </a:r>
            <a:r>
              <a:rPr lang="en-US" dirty="0"/>
              <a:t> a </a:t>
            </a:r>
            <a:r>
              <a:rPr lang="en-US" dirty="0" err="1"/>
              <a:t>navigációhoz</a:t>
            </a:r>
            <a:r>
              <a:rPr lang="en-US" dirty="0"/>
              <a:t>,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&lt;main&gt;</a:t>
            </a:r>
            <a:r>
              <a:rPr lang="en-US" dirty="0"/>
              <a:t> a </a:t>
            </a:r>
            <a:r>
              <a:rPr lang="en-US" dirty="0" err="1"/>
              <a:t>fő</a:t>
            </a:r>
            <a:r>
              <a:rPr lang="en-US" dirty="0"/>
              <a:t> </a:t>
            </a:r>
            <a:r>
              <a:rPr lang="en-US" dirty="0" err="1"/>
              <a:t>tartalomhoz</a:t>
            </a:r>
            <a:r>
              <a:rPr lang="en-US" dirty="0"/>
              <a:t>.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&lt;section&gt;</a:t>
            </a:r>
            <a:r>
              <a:rPr lang="en-US" dirty="0"/>
              <a:t> </a:t>
            </a:r>
            <a:r>
              <a:rPr lang="en-US" dirty="0" err="1"/>
              <a:t>fejezeteket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logikai</a:t>
            </a:r>
            <a:r>
              <a:rPr lang="en-US" dirty="0"/>
              <a:t> </a:t>
            </a:r>
            <a:r>
              <a:rPr lang="en-US" dirty="0" err="1"/>
              <a:t>részeket</a:t>
            </a:r>
            <a:r>
              <a:rPr lang="en-US" dirty="0"/>
              <a:t> </a:t>
            </a:r>
            <a:r>
              <a:rPr lang="en-US" dirty="0" err="1"/>
              <a:t>jelöl</a:t>
            </a:r>
            <a:r>
              <a:rPr lang="en-US" dirty="0"/>
              <a:t>,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&lt;article&gt;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önálló</a:t>
            </a:r>
            <a:r>
              <a:rPr lang="en-US" dirty="0"/>
              <a:t> </a:t>
            </a:r>
            <a:r>
              <a:rPr lang="en-US" dirty="0" err="1"/>
              <a:t>tartalmi</a:t>
            </a:r>
            <a:r>
              <a:rPr lang="en-US" dirty="0"/>
              <a:t> </a:t>
            </a:r>
            <a:r>
              <a:rPr lang="en-US" dirty="0" err="1"/>
              <a:t>egységeket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blogbejegyzést</a:t>
            </a:r>
            <a:r>
              <a:rPr lang="en-US" dirty="0"/>
              <a:t>. Az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&lt;aside&gt;</a:t>
            </a:r>
            <a:r>
              <a:rPr lang="en-US" dirty="0"/>
              <a:t> </a:t>
            </a:r>
            <a:r>
              <a:rPr lang="en-US" dirty="0" err="1"/>
              <a:t>oldalsávot</a:t>
            </a:r>
            <a:r>
              <a:rPr lang="en-US" dirty="0"/>
              <a:t> </a:t>
            </a:r>
            <a:r>
              <a:rPr lang="en-US" dirty="0" err="1"/>
              <a:t>jelöl</a:t>
            </a:r>
            <a:r>
              <a:rPr lang="en-US" dirty="0"/>
              <a:t>,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&lt;footer&gt;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a </a:t>
            </a:r>
            <a:r>
              <a:rPr lang="en-US" dirty="0" err="1"/>
              <a:t>láblécet</a:t>
            </a:r>
            <a:r>
              <a:rPr lang="en-US" dirty="0"/>
              <a:t>.</a:t>
            </a:r>
            <a:endParaRPr lang="hu-HU" dirty="0"/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dirty="0" err="1"/>
              <a:t>lényeg</a:t>
            </a:r>
            <a:r>
              <a:rPr lang="en-US" dirty="0"/>
              <a:t>: </a:t>
            </a:r>
            <a:r>
              <a:rPr lang="en-US" dirty="0" err="1"/>
              <a:t>ezek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„</a:t>
            </a:r>
            <a:r>
              <a:rPr lang="en-US" dirty="0" err="1"/>
              <a:t>dobozok</a:t>
            </a:r>
            <a:r>
              <a:rPr lang="en-US" dirty="0"/>
              <a:t>”,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konkrét</a:t>
            </a:r>
            <a:r>
              <a:rPr lang="en-US" dirty="0"/>
              <a:t> </a:t>
            </a:r>
            <a:r>
              <a:rPr lang="en-US" dirty="0" err="1"/>
              <a:t>jelzést</a:t>
            </a:r>
            <a:r>
              <a:rPr lang="en-US" dirty="0"/>
              <a:t> </a:t>
            </a:r>
            <a:r>
              <a:rPr lang="en-US" dirty="0" err="1"/>
              <a:t>adnak</a:t>
            </a:r>
            <a:r>
              <a:rPr lang="en-US" dirty="0"/>
              <a:t> a </a:t>
            </a:r>
            <a:r>
              <a:rPr lang="en-US" dirty="0" err="1"/>
              <a:t>böngészőknek</a:t>
            </a:r>
            <a:r>
              <a:rPr lang="en-US" dirty="0"/>
              <a:t> és a </a:t>
            </a:r>
            <a:r>
              <a:rPr lang="en-US" dirty="0" err="1"/>
              <a:t>keresőmotoroknak</a:t>
            </a:r>
            <a:r>
              <a:rPr lang="en-US" dirty="0"/>
              <a:t> </a:t>
            </a:r>
            <a:r>
              <a:rPr lang="en-US" dirty="0" err="1"/>
              <a:t>arról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adott</a:t>
            </a:r>
            <a:r>
              <a:rPr lang="en-US" dirty="0"/>
              <a:t> </a:t>
            </a:r>
            <a:r>
              <a:rPr lang="en-US" dirty="0" err="1"/>
              <a:t>rész</a:t>
            </a:r>
            <a:r>
              <a:rPr lang="en-US" dirty="0"/>
              <a:t> mire </a:t>
            </a:r>
            <a:r>
              <a:rPr lang="en-US" dirty="0" err="1"/>
              <a:t>szolgál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Ezek</a:t>
            </a:r>
            <a:r>
              <a:rPr lang="en-US" dirty="0"/>
              <a:t> a </a:t>
            </a:r>
            <a:r>
              <a:rPr lang="en-US" dirty="0" err="1"/>
              <a:t>tagek</a:t>
            </a:r>
            <a:r>
              <a:rPr lang="en-US" dirty="0"/>
              <a:t> </a:t>
            </a:r>
            <a:r>
              <a:rPr lang="en-US" dirty="0" err="1"/>
              <a:t>strukturálják</a:t>
            </a:r>
            <a:r>
              <a:rPr lang="en-US" dirty="0"/>
              <a:t> a </a:t>
            </a:r>
            <a:r>
              <a:rPr lang="en-US" dirty="0" err="1"/>
              <a:t>dokumentumot</a:t>
            </a:r>
            <a:r>
              <a:rPr lang="en-US" dirty="0"/>
              <a:t> –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nekünk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a </a:t>
            </a:r>
            <a:r>
              <a:rPr lang="en-US" dirty="0" err="1"/>
              <a:t>böngészőknek</a:t>
            </a:r>
            <a:r>
              <a:rPr lang="en-US" dirty="0"/>
              <a:t> is.</a:t>
            </a:r>
            <a:endParaRPr lang="hu-HU" dirty="0"/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61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Miért</a:t>
            </a:r>
            <a:r>
              <a:rPr lang="en-US" dirty="0"/>
              <a:t> </a:t>
            </a:r>
            <a:r>
              <a:rPr lang="en-US" dirty="0" err="1"/>
              <a:t>jobb</a:t>
            </a:r>
            <a:r>
              <a:rPr lang="en-US" dirty="0"/>
              <a:t> </a:t>
            </a:r>
            <a:r>
              <a:rPr lang="en-US" dirty="0" err="1"/>
              <a:t>ez</a:t>
            </a:r>
            <a:r>
              <a:rPr lang="en-US" dirty="0"/>
              <a:t>, mint a </a:t>
            </a:r>
            <a:r>
              <a:rPr lang="en-US" dirty="0" err="1"/>
              <a:t>hagyományos</a:t>
            </a:r>
            <a:r>
              <a:rPr lang="en-US" dirty="0"/>
              <a:t> div-</a:t>
            </a:r>
            <a:r>
              <a:rPr lang="en-US" dirty="0" err="1"/>
              <a:t>halmaz</a:t>
            </a:r>
            <a:r>
              <a:rPr lang="en-US" dirty="0"/>
              <a:t>?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szemantikus</a:t>
            </a:r>
            <a:r>
              <a:rPr lang="en-US" dirty="0"/>
              <a:t> HTML </a:t>
            </a:r>
            <a:r>
              <a:rPr lang="en-US" dirty="0" err="1"/>
              <a:t>legnagyobb</a:t>
            </a:r>
            <a:r>
              <a:rPr lang="en-US" dirty="0"/>
              <a:t> </a:t>
            </a:r>
            <a:r>
              <a:rPr lang="en-US" dirty="0" err="1"/>
              <a:t>előnye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érthetőség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Egy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megírt</a:t>
            </a:r>
            <a:r>
              <a:rPr lang="en-US" dirty="0"/>
              <a:t> HTML </a:t>
            </a:r>
            <a:r>
              <a:rPr lang="en-US" dirty="0" err="1"/>
              <a:t>dokumentumot</a:t>
            </a:r>
            <a:r>
              <a:rPr lang="en-US" dirty="0"/>
              <a:t> </a:t>
            </a:r>
            <a:r>
              <a:rPr lang="en-US" dirty="0" err="1"/>
              <a:t>úgy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olvasni</a:t>
            </a:r>
            <a:r>
              <a:rPr lang="en-US" dirty="0"/>
              <a:t>, mint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vázlatot</a:t>
            </a:r>
            <a:r>
              <a:rPr lang="en-US" dirty="0"/>
              <a:t>: </a:t>
            </a:r>
            <a:r>
              <a:rPr lang="en-US" dirty="0" err="1"/>
              <a:t>fejléc</a:t>
            </a:r>
            <a:r>
              <a:rPr lang="en-US" dirty="0"/>
              <a:t>, </a:t>
            </a:r>
            <a:r>
              <a:rPr lang="en-US" dirty="0" err="1"/>
              <a:t>navigáció</a:t>
            </a:r>
            <a:r>
              <a:rPr lang="en-US" dirty="0"/>
              <a:t>, </a:t>
            </a:r>
            <a:r>
              <a:rPr lang="en-US" dirty="0" err="1"/>
              <a:t>tartalom</a:t>
            </a:r>
            <a:r>
              <a:rPr lang="en-US" dirty="0"/>
              <a:t>, </a:t>
            </a:r>
            <a:r>
              <a:rPr lang="en-US" dirty="0" err="1"/>
              <a:t>lábléc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segít</a:t>
            </a:r>
            <a:r>
              <a:rPr lang="en-US" dirty="0"/>
              <a:t> a </a:t>
            </a:r>
            <a:r>
              <a:rPr lang="en-US" dirty="0" err="1"/>
              <a:t>karbantartásban</a:t>
            </a:r>
            <a:r>
              <a:rPr lang="en-US" dirty="0"/>
              <a:t>, </a:t>
            </a:r>
            <a:r>
              <a:rPr lang="en-US" dirty="0" err="1"/>
              <a:t>csökkenti</a:t>
            </a:r>
            <a:r>
              <a:rPr lang="en-US" dirty="0"/>
              <a:t> a </a:t>
            </a:r>
            <a:r>
              <a:rPr lang="en-US" dirty="0" err="1"/>
              <a:t>hibákat</a:t>
            </a:r>
            <a:r>
              <a:rPr lang="en-US" dirty="0"/>
              <a:t>, és </a:t>
            </a:r>
            <a:r>
              <a:rPr lang="en-US" dirty="0" err="1"/>
              <a:t>megkönnyíti</a:t>
            </a:r>
            <a:r>
              <a:rPr lang="en-US" dirty="0"/>
              <a:t> a </a:t>
            </a:r>
            <a:r>
              <a:rPr lang="en-US" dirty="0" err="1"/>
              <a:t>csapatmunkát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Jobb SEO: A </a:t>
            </a:r>
            <a:r>
              <a:rPr lang="en-US" dirty="0" err="1"/>
              <a:t>keresőmotorok</a:t>
            </a:r>
            <a:r>
              <a:rPr lang="en-US" dirty="0"/>
              <a:t> is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pontosabban</a:t>
            </a:r>
            <a:r>
              <a:rPr lang="en-US" dirty="0"/>
              <a:t> </a:t>
            </a:r>
            <a:r>
              <a:rPr lang="en-US" dirty="0" err="1"/>
              <a:t>tudják</a:t>
            </a:r>
            <a:r>
              <a:rPr lang="en-US" dirty="0"/>
              <a:t> </a:t>
            </a:r>
            <a:r>
              <a:rPr lang="en-US" dirty="0" err="1"/>
              <a:t>értelmezni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oldalt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hozzáférhetőség</a:t>
            </a:r>
            <a:r>
              <a:rPr lang="en-US" dirty="0"/>
              <a:t> is </a:t>
            </a:r>
            <a:r>
              <a:rPr lang="en-US" dirty="0" err="1"/>
              <a:t>jobb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a </a:t>
            </a:r>
            <a:r>
              <a:rPr lang="en-US" dirty="0" err="1"/>
              <a:t>képernyőolvasók</a:t>
            </a:r>
            <a:r>
              <a:rPr lang="en-US" dirty="0"/>
              <a:t> </a:t>
            </a:r>
            <a:r>
              <a:rPr lang="en-US" dirty="0" err="1"/>
              <a:t>könnyebben</a:t>
            </a:r>
            <a:r>
              <a:rPr lang="en-US" dirty="0"/>
              <a:t> </a:t>
            </a:r>
            <a:r>
              <a:rPr lang="en-US" dirty="0" err="1"/>
              <a:t>navigálnak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És </a:t>
            </a:r>
            <a:r>
              <a:rPr lang="en-US" dirty="0" err="1"/>
              <a:t>végül</a:t>
            </a:r>
            <a:r>
              <a:rPr lang="hu-HU" dirty="0"/>
              <a:t> röviden</a:t>
            </a:r>
            <a:r>
              <a:rPr lang="en-US" dirty="0"/>
              <a:t>: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kevesebb</a:t>
            </a:r>
            <a:r>
              <a:rPr lang="en-US" dirty="0"/>
              <a:t> div-et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használnunk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tisztább</a:t>
            </a:r>
            <a:r>
              <a:rPr lang="en-US" dirty="0"/>
              <a:t> </a:t>
            </a:r>
            <a:r>
              <a:rPr lang="en-US" dirty="0" err="1"/>
              <a:t>struktúrát</a:t>
            </a:r>
            <a:r>
              <a:rPr lang="en-US" dirty="0"/>
              <a:t> </a:t>
            </a:r>
            <a:r>
              <a:rPr lang="en-US" dirty="0" err="1"/>
              <a:t>eredményez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56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Itt egy egyszerű példa. </a:t>
            </a:r>
            <a:r>
              <a:rPr lang="en-US" dirty="0"/>
              <a:t>Nem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bonyolultnak</a:t>
            </a:r>
            <a:r>
              <a:rPr lang="en-US" dirty="0"/>
              <a:t> </a:t>
            </a:r>
            <a:r>
              <a:rPr lang="en-US" dirty="0" err="1"/>
              <a:t>lennie</a:t>
            </a:r>
            <a:r>
              <a:rPr lang="en-US" dirty="0"/>
              <a:t>.</a:t>
            </a:r>
            <a:r>
              <a:rPr lang="hu-HU" dirty="0"/>
              <a:t> Bal oldalon egy div-</a:t>
            </a:r>
            <a:r>
              <a:rPr lang="hu-HU" dirty="0" err="1"/>
              <a:t>ekkel</a:t>
            </a:r>
            <a:r>
              <a:rPr lang="hu-HU" dirty="0"/>
              <a:t> felépített nem szemantikus HTML oldal, a jobb oldalon pedig egy </a:t>
            </a:r>
            <a:r>
              <a:rPr lang="hu-HU" b="1" dirty="0"/>
              <a:t>szemantikus HTML </a:t>
            </a:r>
            <a:r>
              <a:rPr lang="hu-HU" dirty="0"/>
              <a:t>van. </a:t>
            </a:r>
            <a:r>
              <a:rPr lang="en-US" dirty="0"/>
              <a:t>Már </a:t>
            </a:r>
            <a:r>
              <a:rPr lang="en-US" dirty="0" err="1"/>
              <a:t>attól</a:t>
            </a:r>
            <a:r>
              <a:rPr lang="en-US" dirty="0"/>
              <a:t>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jobb</a:t>
            </a:r>
            <a:r>
              <a:rPr lang="en-US" dirty="0"/>
              <a:t> </a:t>
            </a:r>
            <a:r>
              <a:rPr lang="en-US" dirty="0" err="1"/>
              <a:t>lesz</a:t>
            </a:r>
            <a:r>
              <a:rPr lang="en-US" dirty="0"/>
              <a:t> a </a:t>
            </a:r>
            <a:r>
              <a:rPr lang="en-US" dirty="0" err="1"/>
              <a:t>kód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megfelelő</a:t>
            </a:r>
            <a:r>
              <a:rPr lang="en-US" dirty="0"/>
              <a:t> </a:t>
            </a:r>
            <a:r>
              <a:rPr lang="en-US" dirty="0" err="1"/>
              <a:t>elemeket</a:t>
            </a:r>
            <a:r>
              <a:rPr lang="en-US" dirty="0"/>
              <a:t> </a:t>
            </a:r>
            <a:r>
              <a:rPr lang="en-US" dirty="0" err="1"/>
              <a:t>használunk</a:t>
            </a:r>
            <a:r>
              <a:rPr lang="en-US" dirty="0"/>
              <a:t>.</a:t>
            </a:r>
            <a:r>
              <a:rPr lang="hu-HU"/>
              <a:t> Látható</a:t>
            </a:r>
            <a:r>
              <a:rPr lang="hu-HU" dirty="0"/>
              <a:t>, hogy a blog címe a </a:t>
            </a:r>
            <a:r>
              <a:rPr lang="hu-HU" b="1" dirty="0" err="1"/>
              <a:t>header</a:t>
            </a:r>
            <a:r>
              <a:rPr lang="hu-HU" b="1" dirty="0"/>
              <a:t>-ben</a:t>
            </a:r>
            <a:r>
              <a:rPr lang="hu-HU" dirty="0"/>
              <a:t> van, a tartalom pedig egy </a:t>
            </a:r>
            <a:r>
              <a:rPr lang="hu-HU" b="1" dirty="0" err="1"/>
              <a:t>article</a:t>
            </a:r>
            <a:r>
              <a:rPr lang="hu-HU" b="1" dirty="0"/>
              <a:t>-ben</a:t>
            </a:r>
            <a:r>
              <a:rPr lang="hu-HU" dirty="0"/>
              <a:t>. Semmi extra, mégis sokkal </a:t>
            </a:r>
            <a:r>
              <a:rPr lang="hu-HU" b="1" dirty="0"/>
              <a:t>érthetőbb</a:t>
            </a:r>
            <a:r>
              <a:rPr lang="hu-HU" dirty="0"/>
              <a:t> így a kód, mint ha ugyanezt div-</a:t>
            </a:r>
            <a:r>
              <a:rPr lang="hu-HU" dirty="0" err="1"/>
              <a:t>ekkel</a:t>
            </a:r>
            <a:r>
              <a:rPr lang="hu-HU" dirty="0"/>
              <a:t> oldanánk meg.</a:t>
            </a:r>
          </a:p>
          <a:p>
            <a:endParaRPr lang="hu-HU" dirty="0"/>
          </a:p>
          <a:p>
            <a:r>
              <a:rPr lang="en-US" dirty="0"/>
              <a:t>A HTML </a:t>
            </a:r>
            <a:r>
              <a:rPr lang="en-US" dirty="0" err="1"/>
              <a:t>feladata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szép</a:t>
            </a:r>
            <a:r>
              <a:rPr lang="en-US" dirty="0"/>
              <a:t> </a:t>
            </a:r>
            <a:r>
              <a:rPr lang="en-US" dirty="0" err="1"/>
              <a:t>legyen</a:t>
            </a:r>
            <a:r>
              <a:rPr lang="en-US" dirty="0"/>
              <a:t> –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értelmes</a:t>
            </a:r>
            <a:r>
              <a:rPr lang="en-US" b="1" dirty="0"/>
              <a:t> </a:t>
            </a:r>
            <a:r>
              <a:rPr lang="en-US" b="1" dirty="0" err="1"/>
              <a:t>struktúrát</a:t>
            </a:r>
            <a:r>
              <a:rPr lang="en-US" b="1" dirty="0"/>
              <a:t> </a:t>
            </a:r>
            <a:r>
              <a:rPr lang="en-US" dirty="0" err="1"/>
              <a:t>adjon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megjelenést</a:t>
            </a:r>
            <a:r>
              <a:rPr lang="hu-HU" dirty="0"/>
              <a:t> („a szép kinézetet”)</a:t>
            </a:r>
            <a:r>
              <a:rPr lang="en-US" dirty="0"/>
              <a:t> </a:t>
            </a:r>
            <a:r>
              <a:rPr lang="en-US" dirty="0" err="1"/>
              <a:t>majd</a:t>
            </a:r>
            <a:r>
              <a:rPr lang="en-US" dirty="0"/>
              <a:t> a CSS </a:t>
            </a:r>
            <a:r>
              <a:rPr lang="en-US" dirty="0" err="1"/>
              <a:t>oldja</a:t>
            </a:r>
            <a:r>
              <a:rPr lang="en-US" dirty="0"/>
              <a:t> meg.</a:t>
            </a:r>
            <a:endParaRPr lang="hu-HU" dirty="0"/>
          </a:p>
          <a:p>
            <a:endParaRPr lang="hu-HU" dirty="0"/>
          </a:p>
          <a:p>
            <a:r>
              <a:rPr lang="hu-HU" dirty="0"/>
              <a:t>Fontos! </a:t>
            </a:r>
            <a:r>
              <a:rPr lang="en-US" dirty="0"/>
              <a:t>A </a:t>
            </a:r>
            <a:r>
              <a:rPr lang="en-US" b="0" dirty="0"/>
              <a:t>HTML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megjelenít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jelentést</a:t>
            </a:r>
            <a:r>
              <a:rPr lang="en-US" dirty="0"/>
              <a:t> is </a:t>
            </a:r>
            <a:r>
              <a:rPr lang="en-US" dirty="0" err="1"/>
              <a:t>közöl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szemantikus</a:t>
            </a:r>
            <a:r>
              <a:rPr lang="en-US" dirty="0"/>
              <a:t> HTML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dizájn</a:t>
            </a:r>
            <a:r>
              <a:rPr lang="en-US" dirty="0"/>
              <a:t> </a:t>
            </a:r>
            <a:r>
              <a:rPr lang="en-US" dirty="0" err="1"/>
              <a:t>kérdés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hu-HU" dirty="0"/>
              <a:t> </a:t>
            </a:r>
            <a:r>
              <a:rPr lang="hu-HU" i="1" dirty="0"/>
              <a:t>A</a:t>
            </a:r>
            <a:r>
              <a:rPr lang="en-US" i="1" dirty="0" err="1"/>
              <a:t>ccessibility</a:t>
            </a:r>
            <a:r>
              <a:rPr lang="en-US" i="1" dirty="0"/>
              <a:t> + SEO + </a:t>
            </a:r>
            <a:r>
              <a:rPr lang="en-US" i="1" dirty="0" err="1"/>
              <a:t>karbantarthatóság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93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</a:t>
            </a:r>
            <a:r>
              <a:rPr lang="en-US" dirty="0" err="1"/>
              <a:t>áttérünk</a:t>
            </a:r>
            <a:r>
              <a:rPr lang="en-US" dirty="0"/>
              <a:t> a </a:t>
            </a:r>
            <a:r>
              <a:rPr lang="en-US" dirty="0" err="1"/>
              <a:t>megjelenítésre</a:t>
            </a:r>
            <a:r>
              <a:rPr lang="en-US" dirty="0"/>
              <a:t>, </a:t>
            </a:r>
            <a:r>
              <a:rPr lang="en-US" dirty="0" err="1"/>
              <a:t>azon</a:t>
            </a:r>
            <a:r>
              <a:rPr lang="en-US" dirty="0"/>
              <a:t> </a:t>
            </a:r>
            <a:r>
              <a:rPr lang="en-US" dirty="0" err="1"/>
              <a:t>belül</a:t>
            </a:r>
            <a:r>
              <a:rPr lang="en-US" dirty="0"/>
              <a:t> is a </a:t>
            </a:r>
            <a:r>
              <a:rPr lang="en-US" b="1" dirty="0" err="1"/>
              <a:t>Flexboxra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Flexbox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egydimenziós</a:t>
            </a:r>
            <a:r>
              <a:rPr lang="en-US" dirty="0"/>
              <a:t> </a:t>
            </a:r>
            <a:r>
              <a:rPr lang="en-US" dirty="0" err="1"/>
              <a:t>elrendezési</a:t>
            </a:r>
            <a:r>
              <a:rPr lang="en-US" dirty="0"/>
              <a:t> </a:t>
            </a:r>
            <a:r>
              <a:rPr lang="en-US" dirty="0" err="1"/>
              <a:t>rendszer</a:t>
            </a:r>
            <a:r>
              <a:rPr lang="hu-HU" dirty="0"/>
              <a:t>, ami </a:t>
            </a:r>
            <a:r>
              <a:rPr lang="en-US" dirty="0" err="1"/>
              <a:t>arra</a:t>
            </a:r>
            <a:r>
              <a:rPr lang="en-US" dirty="0"/>
              <a:t> </a:t>
            </a:r>
            <a:r>
              <a:rPr lang="en-US" dirty="0" err="1"/>
              <a:t>való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b="1" dirty="0" err="1"/>
              <a:t>egy</a:t>
            </a:r>
            <a:r>
              <a:rPr lang="en-US" b="1" dirty="0"/>
              <a:t> </a:t>
            </a:r>
            <a:r>
              <a:rPr lang="en-US" b="1" dirty="0" err="1"/>
              <a:t>irányban</a:t>
            </a:r>
            <a:r>
              <a:rPr lang="en-US" b="1" dirty="0"/>
              <a:t> </a:t>
            </a:r>
            <a:r>
              <a:rPr lang="en-US" b="1" dirty="0" err="1"/>
              <a:t>rendezzünk</a:t>
            </a:r>
            <a:r>
              <a:rPr lang="en-US" b="1" dirty="0"/>
              <a:t> </a:t>
            </a:r>
            <a:r>
              <a:rPr lang="en-US" b="1" dirty="0" err="1"/>
              <a:t>el</a:t>
            </a:r>
            <a:r>
              <a:rPr lang="en-US" b="1" dirty="0"/>
              <a:t> </a:t>
            </a:r>
            <a:r>
              <a:rPr lang="en-US" b="1" dirty="0" err="1"/>
              <a:t>elemeket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b="1" dirty="0" err="1"/>
              <a:t>sorba</a:t>
            </a:r>
            <a:r>
              <a:rPr lang="en-US" dirty="0"/>
              <a:t>,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b="1" dirty="0" err="1"/>
              <a:t>oszlopba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használható</a:t>
            </a:r>
            <a:r>
              <a:rPr lang="en-US" dirty="0"/>
              <a:t> 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navigációs</a:t>
            </a:r>
            <a:r>
              <a:rPr lang="en-US" dirty="0"/>
              <a:t> </a:t>
            </a:r>
            <a:r>
              <a:rPr lang="en-US" dirty="0" err="1"/>
              <a:t>menükhöz</a:t>
            </a:r>
            <a:r>
              <a:rPr lang="en-US" dirty="0"/>
              <a:t>, </a:t>
            </a:r>
            <a:r>
              <a:rPr lang="en-US" dirty="0" err="1"/>
              <a:t>kártyás</a:t>
            </a:r>
            <a:r>
              <a:rPr lang="en-US" dirty="0"/>
              <a:t> </a:t>
            </a:r>
            <a:r>
              <a:rPr lang="en-US" dirty="0" err="1"/>
              <a:t>elrendezésekhez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rugalmas</a:t>
            </a:r>
            <a:r>
              <a:rPr lang="en-US" dirty="0"/>
              <a:t> </a:t>
            </a:r>
            <a:r>
              <a:rPr lang="en-US" dirty="0" err="1"/>
              <a:t>oszlopokhoz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dirty="0" err="1"/>
              <a:t>lényege</a:t>
            </a:r>
            <a:r>
              <a:rPr lang="hu-HU" dirty="0"/>
              <a:t> és egyben egyik nagy előnye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b="1" dirty="0" err="1"/>
              <a:t>tartalom</a:t>
            </a:r>
            <a:r>
              <a:rPr lang="en-US" b="1" dirty="0"/>
              <a:t> </a:t>
            </a:r>
            <a:r>
              <a:rPr lang="en-US" b="1" dirty="0" err="1"/>
              <a:t>automatikusan</a:t>
            </a:r>
            <a:r>
              <a:rPr lang="en-US" b="1" dirty="0"/>
              <a:t> </a:t>
            </a:r>
            <a:r>
              <a:rPr lang="en-US" b="1" dirty="0" err="1"/>
              <a:t>igazodik</a:t>
            </a:r>
            <a:r>
              <a:rPr lang="en-US" b="1" dirty="0"/>
              <a:t> </a:t>
            </a:r>
            <a:r>
              <a:rPr lang="en-US" dirty="0"/>
              <a:t>a </a:t>
            </a:r>
            <a:r>
              <a:rPr lang="en-US" dirty="0" err="1"/>
              <a:t>rendelkezésre</a:t>
            </a:r>
            <a:r>
              <a:rPr lang="en-US" dirty="0"/>
              <a:t> </a:t>
            </a:r>
            <a:r>
              <a:rPr lang="en-US" dirty="0" err="1"/>
              <a:t>álló</a:t>
            </a:r>
            <a:r>
              <a:rPr lang="en-US" dirty="0"/>
              <a:t> </a:t>
            </a:r>
            <a:r>
              <a:rPr lang="en-US" dirty="0" err="1"/>
              <a:t>helyhez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54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</a:t>
            </a:r>
            <a:r>
              <a:rPr lang="en-US" dirty="0" err="1"/>
              <a:t>példa</a:t>
            </a:r>
            <a:r>
              <a:rPr lang="en-US" dirty="0"/>
              <a:t> </a:t>
            </a:r>
            <a:r>
              <a:rPr lang="hu-HU" dirty="0"/>
              <a:t>„</a:t>
            </a:r>
            <a:r>
              <a:rPr lang="en-US" dirty="0" err="1"/>
              <a:t>kártyá</a:t>
            </a:r>
            <a:r>
              <a:rPr lang="hu-HU" dirty="0" err="1"/>
              <a:t>kat</a:t>
            </a:r>
            <a:r>
              <a:rPr lang="hu-HU" dirty="0"/>
              <a:t>”</a:t>
            </a:r>
            <a:r>
              <a:rPr lang="en-US" dirty="0"/>
              <a:t> </a:t>
            </a:r>
            <a:r>
              <a:rPr lang="hu-HU" dirty="0"/>
              <a:t>(</a:t>
            </a:r>
            <a:r>
              <a:rPr lang="hu-HU" dirty="0" err="1"/>
              <a:t>cards</a:t>
            </a:r>
            <a:r>
              <a:rPr lang="hu-HU" dirty="0"/>
              <a:t>) </a:t>
            </a:r>
            <a:r>
              <a:rPr lang="en-US" dirty="0" err="1"/>
              <a:t>helyez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egymás</a:t>
            </a:r>
            <a:r>
              <a:rPr lang="en-US" dirty="0"/>
              <a:t> </a:t>
            </a:r>
            <a:r>
              <a:rPr lang="en-US" dirty="0" err="1"/>
              <a:t>mellett</a:t>
            </a:r>
            <a:r>
              <a:rPr lang="en-US" dirty="0"/>
              <a:t>.</a:t>
            </a:r>
            <a:endParaRPr lang="hu-HU" dirty="0"/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display: flex</a:t>
            </a:r>
            <a:r>
              <a:rPr lang="en-US" b="1" dirty="0"/>
              <a:t> </a:t>
            </a:r>
            <a:r>
              <a:rPr lang="en-US" dirty="0" err="1"/>
              <a:t>aktiválja</a:t>
            </a:r>
            <a:r>
              <a:rPr lang="en-US" dirty="0"/>
              <a:t> a </a:t>
            </a:r>
            <a:r>
              <a:rPr lang="en-US" dirty="0" err="1"/>
              <a:t>Flexboxot</a:t>
            </a:r>
            <a:r>
              <a:rPr lang="en-US" dirty="0"/>
              <a:t>, 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gap</a:t>
            </a:r>
            <a:r>
              <a:rPr lang="en-US" dirty="0"/>
              <a:t> </a:t>
            </a:r>
            <a:r>
              <a:rPr lang="en-US" dirty="0" err="1"/>
              <a:t>szabályozza</a:t>
            </a:r>
            <a:r>
              <a:rPr lang="en-US" dirty="0"/>
              <a:t> a </a:t>
            </a:r>
            <a:r>
              <a:rPr lang="en-US" dirty="0" err="1"/>
              <a:t>távolságot</a:t>
            </a:r>
            <a:r>
              <a:rPr lang="en-US" dirty="0"/>
              <a:t>, 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flex: 1</a:t>
            </a:r>
            <a:r>
              <a:rPr lang="en-US" b="1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mondja</a:t>
            </a:r>
            <a:r>
              <a:rPr lang="en-US" dirty="0"/>
              <a:t> meg,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elemek</a:t>
            </a:r>
            <a:r>
              <a:rPr lang="en-US" dirty="0"/>
              <a:t> </a:t>
            </a:r>
            <a:r>
              <a:rPr lang="en-US" dirty="0" err="1"/>
              <a:t>egyenlően</a:t>
            </a:r>
            <a:r>
              <a:rPr lang="en-US" dirty="0"/>
              <a:t> </a:t>
            </a:r>
            <a:r>
              <a:rPr lang="en-US" dirty="0" err="1"/>
              <a:t>osszák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a </a:t>
            </a:r>
            <a:r>
              <a:rPr lang="en-US" dirty="0" err="1"/>
              <a:t>helyet</a:t>
            </a:r>
            <a:r>
              <a:rPr lang="en-US" dirty="0"/>
              <a:t>.</a:t>
            </a:r>
          </a:p>
          <a:p>
            <a:r>
              <a:rPr lang="en-US" dirty="0" err="1"/>
              <a:t>Nincs</a:t>
            </a:r>
            <a:r>
              <a:rPr lang="en-US" dirty="0"/>
              <a:t> </a:t>
            </a:r>
            <a:r>
              <a:rPr lang="en-US" dirty="0" err="1"/>
              <a:t>szükség</a:t>
            </a:r>
            <a:r>
              <a:rPr lang="en-US" dirty="0"/>
              <a:t> </a:t>
            </a:r>
            <a:r>
              <a:rPr lang="en-US" dirty="0" err="1"/>
              <a:t>százalékokra</a:t>
            </a:r>
            <a:r>
              <a:rPr lang="en-US" dirty="0"/>
              <a:t>, </a:t>
            </a:r>
            <a:r>
              <a:rPr lang="en-US" dirty="0" err="1"/>
              <a:t>floatokra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bonyolult</a:t>
            </a:r>
            <a:r>
              <a:rPr lang="en-US" dirty="0"/>
              <a:t> </a:t>
            </a:r>
            <a:r>
              <a:rPr lang="en-US" dirty="0" err="1"/>
              <a:t>számolásra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Flexbox </a:t>
            </a:r>
            <a:r>
              <a:rPr lang="en-US" dirty="0" err="1"/>
              <a:t>leveszi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a </a:t>
            </a:r>
            <a:r>
              <a:rPr lang="en-US" dirty="0" err="1"/>
              <a:t>terhet</a:t>
            </a:r>
            <a:r>
              <a:rPr lang="en-US" dirty="0"/>
              <a:t> a </a:t>
            </a:r>
            <a:r>
              <a:rPr lang="en-US" dirty="0" err="1"/>
              <a:t>fejlesztő</a:t>
            </a:r>
            <a:r>
              <a:rPr lang="en-US" dirty="0"/>
              <a:t> </a:t>
            </a:r>
            <a:r>
              <a:rPr lang="en-US" dirty="0" err="1"/>
              <a:t>válláról</a:t>
            </a:r>
            <a:r>
              <a:rPr lang="en-US" dirty="0"/>
              <a:t>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b="1" dirty="0" err="1"/>
              <a:t>Flexbox</a:t>
            </a:r>
            <a:r>
              <a:rPr lang="hu-HU" b="1" dirty="0"/>
              <a:t> működés:</a:t>
            </a:r>
            <a:endParaRPr lang="hu-HU" dirty="0"/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display: 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</a:t>
            </a:r>
            <a:r>
              <a:rPr lang="hu-HU" dirty="0"/>
              <a:t> → elemek </a:t>
            </a:r>
            <a:r>
              <a:rPr lang="hu-HU" b="1" dirty="0"/>
              <a:t>sorba rendezése</a:t>
            </a:r>
            <a:endParaRPr lang="hu-HU" dirty="0"/>
          </a:p>
          <a:p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gap</a:t>
            </a:r>
            <a:r>
              <a:rPr lang="hu-HU" dirty="0"/>
              <a:t> → elemek közti térköz (margin trükkök nélkül)</a:t>
            </a:r>
          </a:p>
          <a:p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1</a:t>
            </a:r>
            <a:r>
              <a:rPr lang="hu-HU" dirty="0"/>
              <a:t> → </a:t>
            </a:r>
            <a:r>
              <a:rPr lang="hu-HU" b="1" dirty="0"/>
              <a:t>egyenlő szélesség</a:t>
            </a:r>
            <a:r>
              <a:rPr lang="hu-HU" dirty="0"/>
              <a:t>, automatikus számolás (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kártya</a:t>
            </a:r>
            <a:r>
              <a:rPr lang="en-US" dirty="0"/>
              <a:t> </a:t>
            </a:r>
            <a:r>
              <a:rPr lang="en-US" dirty="0" err="1"/>
              <a:t>egyenlően</a:t>
            </a:r>
            <a:r>
              <a:rPr lang="en-US" dirty="0"/>
              <a:t> </a:t>
            </a:r>
            <a:r>
              <a:rPr lang="en-US" dirty="0" err="1"/>
              <a:t>osztozik</a:t>
            </a:r>
            <a:r>
              <a:rPr lang="en-US" dirty="0"/>
              <a:t> a </a:t>
            </a:r>
            <a:r>
              <a:rPr lang="en-US" dirty="0" err="1"/>
              <a:t>helyen</a:t>
            </a:r>
            <a:r>
              <a:rPr lang="en-US" dirty="0"/>
              <a:t>.</a:t>
            </a:r>
            <a:r>
              <a:rPr lang="hu-HU" dirty="0"/>
              <a:t>)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60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  <a:p>
            <a:r>
              <a:rPr lang="hu-HU" b="0" dirty="0"/>
              <a:t>Bal oldalon egy nem szemantikus HTML oldal látható, ami &lt;div&gt; elemekkel van megoldva. A div önmagában nem hordoz jelentést. A jobb oldalon látható a példa szemantikus HTML megfelelője. Mindkettő HTML példa kódban ugyanazt a CSS-t alkalmaztuk a megjelenítésre. Mindkettő HTML ugyanúgy néz ki.</a:t>
            </a:r>
          </a:p>
          <a:p>
            <a:endParaRPr lang="hu-HU" b="0" dirty="0"/>
          </a:p>
          <a:p>
            <a:r>
              <a:rPr lang="hu-HU" b="1" dirty="0"/>
              <a:t>Szemantika:</a:t>
            </a:r>
            <a:endParaRPr lang="hu-HU" dirty="0"/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section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hu-HU" dirty="0"/>
              <a:t> → logikailag összetartozó tartalmi blokk</a:t>
            </a:r>
          </a:p>
          <a:p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hu-H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article</a:t>
            </a:r>
            <a:r>
              <a:rPr lang="hu-H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hu-HU" dirty="0"/>
              <a:t> → önálló tartalmi egység (kártya)</a:t>
            </a:r>
          </a:p>
          <a:p>
            <a:endParaRPr lang="hu-HU" dirty="0"/>
          </a:p>
          <a:p>
            <a:r>
              <a:rPr lang="en-US" dirty="0"/>
              <a:t>A Flexbox a </a:t>
            </a:r>
            <a:r>
              <a:rPr lang="en-US" dirty="0" err="1"/>
              <a:t>layoutot</a:t>
            </a:r>
            <a:r>
              <a:rPr lang="en-US" dirty="0"/>
              <a:t> </a:t>
            </a:r>
            <a:r>
              <a:rPr lang="hu-HU" dirty="0"/>
              <a:t>(megjelenítést) </a:t>
            </a:r>
            <a:r>
              <a:rPr lang="en-US" dirty="0" err="1"/>
              <a:t>oldja</a:t>
            </a:r>
            <a:r>
              <a:rPr lang="en-US" dirty="0"/>
              <a:t> meg.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szemantikus</a:t>
            </a:r>
            <a:r>
              <a:rPr lang="en-US" dirty="0"/>
              <a:t> HTML a </a:t>
            </a:r>
            <a:r>
              <a:rPr lang="en-US" dirty="0" err="1"/>
              <a:t>jelentést</a:t>
            </a:r>
            <a:r>
              <a:rPr lang="en-US" dirty="0"/>
              <a:t> </a:t>
            </a:r>
            <a:r>
              <a:rPr lang="en-US" dirty="0" err="1"/>
              <a:t>adja</a:t>
            </a:r>
            <a:r>
              <a:rPr lang="en-US" dirty="0"/>
              <a:t> </a:t>
            </a:r>
            <a:r>
              <a:rPr lang="en-US" dirty="0" err="1"/>
              <a:t>hozzá</a:t>
            </a:r>
            <a:r>
              <a:rPr lang="hu-HU" dirty="0"/>
              <a:t> a struktúrához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Nem </a:t>
            </a:r>
            <a:r>
              <a:rPr lang="en-US" dirty="0" err="1"/>
              <a:t>attól</a:t>
            </a:r>
            <a:r>
              <a:rPr lang="en-US" dirty="0"/>
              <a:t> modern a </a:t>
            </a:r>
            <a:r>
              <a:rPr lang="en-US" dirty="0" err="1"/>
              <a:t>weboldal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Flexboxot</a:t>
            </a:r>
            <a:r>
              <a:rPr lang="en-US" dirty="0"/>
              <a:t> </a:t>
            </a:r>
            <a:r>
              <a:rPr lang="en-US" dirty="0" err="1"/>
              <a:t>használunk</a:t>
            </a:r>
            <a:r>
              <a:rPr lang="en-US" dirty="0"/>
              <a:t>,</a:t>
            </a:r>
            <a:r>
              <a:rPr lang="hu-HU" dirty="0"/>
              <a:t>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attól</a:t>
            </a:r>
            <a:r>
              <a:rPr lang="en-US" dirty="0"/>
              <a:t> is,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jelentést</a:t>
            </a:r>
            <a:r>
              <a:rPr lang="en-US" dirty="0"/>
              <a:t> </a:t>
            </a:r>
            <a:r>
              <a:rPr lang="en-US" dirty="0" err="1"/>
              <a:t>adunk</a:t>
            </a:r>
            <a:r>
              <a:rPr lang="en-US" dirty="0"/>
              <a:t> a </a:t>
            </a:r>
            <a:r>
              <a:rPr lang="en-US" dirty="0" err="1"/>
              <a:t>struktúrának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59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</a:t>
            </a:r>
            <a:r>
              <a:rPr lang="hu-HU" b="1" dirty="0"/>
              <a:t>CSS </a:t>
            </a:r>
            <a:r>
              <a:rPr lang="hu-HU" b="1" dirty="0" err="1"/>
              <a:t>Grid</a:t>
            </a:r>
            <a:r>
              <a:rPr lang="hu-HU" b="1" dirty="0"/>
              <a:t> </a:t>
            </a:r>
            <a:r>
              <a:rPr lang="hu-HU" dirty="0"/>
              <a:t>a </a:t>
            </a:r>
            <a:r>
              <a:rPr lang="hu-HU" dirty="0" err="1"/>
              <a:t>Flexbox</a:t>
            </a:r>
            <a:r>
              <a:rPr lang="hu-HU" dirty="0"/>
              <a:t> párja, de nem egy, hanem </a:t>
            </a:r>
            <a:r>
              <a:rPr lang="hu-HU" b="1" dirty="0"/>
              <a:t>két dimenzióban működik</a:t>
            </a:r>
            <a:r>
              <a:rPr lang="hu-HU" dirty="0"/>
              <a:t>. Tehát sorokat és oszlopokat is tudunk definiálni. Nagyon jól használható képgalériákhoz, összetettebb </a:t>
            </a:r>
            <a:r>
              <a:rPr lang="hu-HU" dirty="0" err="1"/>
              <a:t>admin</a:t>
            </a:r>
            <a:r>
              <a:rPr lang="hu-HU" dirty="0"/>
              <a:t> vagy </a:t>
            </a:r>
            <a:r>
              <a:rPr lang="hu-HU" dirty="0" err="1"/>
              <a:t>dashboard</a:t>
            </a:r>
            <a:r>
              <a:rPr lang="hu-HU" dirty="0"/>
              <a:t> felületekhez, vagy akár egy teljes oldal elrendezésének megtervezéséhez.</a:t>
            </a:r>
          </a:p>
          <a:p>
            <a:endParaRPr lang="hu-HU" dirty="0"/>
          </a:p>
          <a:p>
            <a:r>
              <a:rPr lang="en-US" dirty="0"/>
              <a:t>A CSS Grid </a:t>
            </a:r>
            <a:r>
              <a:rPr lang="hu-HU" dirty="0"/>
              <a:t>tehát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 </a:t>
            </a:r>
            <a:r>
              <a:rPr lang="en-US" dirty="0" err="1"/>
              <a:t>képbe</a:t>
            </a:r>
            <a:r>
              <a:rPr lang="en-US" dirty="0"/>
              <a:t>, </a:t>
            </a:r>
            <a:r>
              <a:rPr lang="en-US" dirty="0" err="1"/>
              <a:t>amikor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elrendezés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irányú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egyszerre</a:t>
            </a:r>
            <a:r>
              <a:rPr lang="en-US" dirty="0"/>
              <a:t> </a:t>
            </a:r>
            <a:r>
              <a:rPr lang="en-US" dirty="0" err="1"/>
              <a:t>tudunk</a:t>
            </a:r>
            <a:r>
              <a:rPr lang="en-US" dirty="0"/>
              <a:t> </a:t>
            </a:r>
            <a:r>
              <a:rPr lang="en-US" dirty="0" err="1"/>
              <a:t>sorokat</a:t>
            </a:r>
            <a:r>
              <a:rPr lang="en-US" dirty="0"/>
              <a:t> és </a:t>
            </a:r>
            <a:r>
              <a:rPr lang="en-US" dirty="0" err="1"/>
              <a:t>oszlopokat</a:t>
            </a:r>
            <a:r>
              <a:rPr lang="en-US" dirty="0"/>
              <a:t> </a:t>
            </a:r>
            <a:r>
              <a:rPr lang="en-US" dirty="0" err="1"/>
              <a:t>kezelni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Grid </a:t>
            </a:r>
            <a:r>
              <a:rPr lang="en-US" dirty="0" err="1"/>
              <a:t>ideális</a:t>
            </a:r>
            <a:r>
              <a:rPr lang="en-US" dirty="0"/>
              <a:t> </a:t>
            </a:r>
            <a:r>
              <a:rPr lang="en-US" dirty="0" err="1"/>
              <a:t>komplex</a:t>
            </a:r>
            <a:r>
              <a:rPr lang="en-US" dirty="0"/>
              <a:t> </a:t>
            </a:r>
            <a:r>
              <a:rPr lang="en-US" dirty="0" err="1"/>
              <a:t>oldalszerkezetekhez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en-US" dirty="0"/>
              <a:t>Fontos </a:t>
            </a:r>
            <a:r>
              <a:rPr lang="en-US" dirty="0" err="1"/>
              <a:t>megérteni</a:t>
            </a:r>
            <a:r>
              <a:rPr lang="en-US" dirty="0"/>
              <a:t>: a Flexbox és a Grid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konkurensek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kiegészítik</a:t>
            </a:r>
            <a:r>
              <a:rPr lang="en-US" dirty="0"/>
              <a:t> </a:t>
            </a:r>
            <a:r>
              <a:rPr lang="en-US" dirty="0" err="1"/>
              <a:t>egymást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792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Ebben a </a:t>
            </a:r>
            <a:r>
              <a:rPr lang="en-US" dirty="0" err="1"/>
              <a:t>példában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háromoszlopos</a:t>
            </a:r>
            <a:r>
              <a:rPr lang="en-US" dirty="0"/>
              <a:t> </a:t>
            </a:r>
            <a:r>
              <a:rPr lang="en-US" dirty="0" err="1"/>
              <a:t>rácsot</a:t>
            </a:r>
            <a:r>
              <a:rPr lang="en-US" dirty="0"/>
              <a:t> </a:t>
            </a:r>
            <a:r>
              <a:rPr lang="en-US" dirty="0" err="1"/>
              <a:t>hozunk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.</a:t>
            </a:r>
            <a:r>
              <a:rPr lang="hu-HU" dirty="0"/>
              <a:t> Itt három egyenlő szélességű oszlopot definiálunk a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grid-template-columns</a:t>
            </a:r>
            <a:r>
              <a:rPr lang="hu-HU" dirty="0"/>
              <a:t> segítségével.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display: </a:t>
            </a:r>
            <a:r>
              <a:rPr lang="hu-H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</a:t>
            </a:r>
            <a:r>
              <a:rPr lang="en-US" dirty="0"/>
              <a:t> </a:t>
            </a:r>
            <a:r>
              <a:rPr lang="en-US" dirty="0" err="1"/>
              <a:t>aktiválja</a:t>
            </a:r>
            <a:r>
              <a:rPr lang="en-US" dirty="0"/>
              <a:t> a </a:t>
            </a:r>
            <a:r>
              <a:rPr lang="hu-HU" dirty="0" err="1"/>
              <a:t>Grid-et</a:t>
            </a:r>
            <a:r>
              <a:rPr lang="en-US" dirty="0"/>
              <a:t>, a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gap</a:t>
            </a:r>
            <a:r>
              <a:rPr lang="en-US" dirty="0"/>
              <a:t> </a:t>
            </a:r>
            <a:r>
              <a:rPr lang="en-US" dirty="0" err="1"/>
              <a:t>szabályozza</a:t>
            </a:r>
            <a:r>
              <a:rPr lang="en-US" dirty="0"/>
              <a:t> a </a:t>
            </a:r>
            <a:r>
              <a:rPr lang="en-US" dirty="0" err="1"/>
              <a:t>távolságot</a:t>
            </a:r>
            <a:r>
              <a:rPr lang="hu-HU" dirty="0"/>
              <a:t>.</a:t>
            </a:r>
          </a:p>
          <a:p>
            <a:r>
              <a:rPr lang="hu-HU" dirty="0"/>
              <a:t>A </a:t>
            </a:r>
            <a:r>
              <a:rPr lang="hu-HU" b="1" dirty="0" err="1"/>
              <a:t>repeat</a:t>
            </a:r>
            <a:r>
              <a:rPr lang="hu-HU" b="1" dirty="0"/>
              <a:t>(3, 1fr) </a:t>
            </a:r>
            <a:r>
              <a:rPr lang="hu-HU" dirty="0"/>
              <a:t>azt jelenti, hogy három oszlop legyen, mindegyik a rendelkezésre álló hely egyenlő részét foglalja el.</a:t>
            </a:r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átláthatóbb</a:t>
            </a:r>
            <a:r>
              <a:rPr lang="en-US" dirty="0"/>
              <a:t> és </a:t>
            </a:r>
            <a:r>
              <a:rPr lang="en-US" dirty="0" err="1"/>
              <a:t>karbantarthatóbb</a:t>
            </a:r>
            <a:r>
              <a:rPr lang="en-US" dirty="0"/>
              <a:t>, mint a </a:t>
            </a:r>
            <a:r>
              <a:rPr lang="en-US" dirty="0" err="1"/>
              <a:t>régi</a:t>
            </a:r>
            <a:r>
              <a:rPr lang="en-US" dirty="0"/>
              <a:t> </a:t>
            </a:r>
            <a:r>
              <a:rPr lang="en-US" dirty="0" err="1"/>
              <a:t>táblázatos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float 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megoldások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63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0" dirty="0"/>
              <a:t>Jobb oldalon fent egy nem szemantikus HTML oldal látható, ami &lt;div&gt; elemekkel van megoldva. A div önmagában nem hordoz jelentést. A jobb oldalon lent látható a szemantikus HTML megfelelője. Mindkettő HTML példa kódban ugyanazt a CSS-t alkalmaztuk a megjelenítésre. Mindkettő HTML ugyanúgy néz ki.</a:t>
            </a:r>
            <a:endParaRPr lang="hu-HU" dirty="0"/>
          </a:p>
          <a:p>
            <a:endParaRPr lang="hu-HU" dirty="0"/>
          </a:p>
          <a:p>
            <a:r>
              <a:rPr lang="pt-BR" dirty="0"/>
              <a:t>A CSS Grid nem teszi szemantikussá a HTML-t.</a:t>
            </a:r>
            <a:r>
              <a:rPr lang="hu-HU" dirty="0"/>
              <a:t> </a:t>
            </a:r>
            <a:r>
              <a:rPr lang="en-US" dirty="0"/>
              <a:t>A Grid a </a:t>
            </a:r>
            <a:r>
              <a:rPr lang="en-US" dirty="0" err="1"/>
              <a:t>rácso</a:t>
            </a:r>
            <a:r>
              <a:rPr lang="hu-HU" dirty="0"/>
              <a:t>s megjelenítést</a:t>
            </a:r>
            <a:r>
              <a:rPr lang="en-US" dirty="0"/>
              <a:t> </a:t>
            </a:r>
            <a:r>
              <a:rPr lang="en-US" dirty="0" err="1"/>
              <a:t>adja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szemantikus</a:t>
            </a:r>
            <a:r>
              <a:rPr lang="en-US" dirty="0"/>
              <a:t> HTML a</a:t>
            </a:r>
            <a:r>
              <a:rPr lang="hu-HU" dirty="0" err="1"/>
              <a:t>dja</a:t>
            </a:r>
            <a:r>
              <a:rPr lang="hu-HU" dirty="0"/>
              <a:t> a</a:t>
            </a:r>
            <a:r>
              <a:rPr lang="en-US" dirty="0"/>
              <a:t> </a:t>
            </a:r>
            <a:r>
              <a:rPr lang="en-US" dirty="0" err="1"/>
              <a:t>jelentést</a:t>
            </a:r>
            <a:r>
              <a:rPr lang="en-US" dirty="0"/>
              <a:t>.</a:t>
            </a:r>
            <a:endParaRPr lang="hu-H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99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responsive design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technológia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b="1" dirty="0" err="1"/>
              <a:t>tervezési</a:t>
            </a:r>
            <a:r>
              <a:rPr lang="en-US" b="1" dirty="0"/>
              <a:t> </a:t>
            </a:r>
            <a:r>
              <a:rPr lang="en-US" b="1" dirty="0" err="1"/>
              <a:t>elv</a:t>
            </a:r>
            <a:r>
              <a:rPr lang="hu-HU" dirty="0"/>
              <a:t>. </a:t>
            </a:r>
            <a:r>
              <a:rPr lang="en-US" dirty="0"/>
              <a:t>A responsive design </a:t>
            </a:r>
            <a:r>
              <a:rPr lang="en-US" dirty="0" err="1"/>
              <a:t>arról</a:t>
            </a:r>
            <a:r>
              <a:rPr lang="en-US" dirty="0"/>
              <a:t> </a:t>
            </a:r>
            <a:r>
              <a:rPr lang="en-US" dirty="0" err="1"/>
              <a:t>szól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b="1" dirty="0" err="1"/>
              <a:t>weboldal</a:t>
            </a:r>
            <a:r>
              <a:rPr lang="en-US" b="1" dirty="0"/>
              <a:t> </a:t>
            </a:r>
            <a:r>
              <a:rPr lang="en-US" b="1" dirty="0" err="1"/>
              <a:t>alkalmazkodik</a:t>
            </a:r>
            <a:r>
              <a:rPr lang="en-US" b="1" dirty="0"/>
              <a:t> a </a:t>
            </a:r>
            <a:r>
              <a:rPr lang="en-US" b="1" dirty="0" err="1"/>
              <a:t>különböző</a:t>
            </a:r>
            <a:r>
              <a:rPr lang="en-US" b="1" dirty="0"/>
              <a:t> </a:t>
            </a:r>
            <a:r>
              <a:rPr lang="en-US" b="1" dirty="0" err="1"/>
              <a:t>eszközökhöz</a:t>
            </a:r>
            <a:r>
              <a:rPr lang="en-US" dirty="0"/>
              <a:t>. </a:t>
            </a:r>
            <a:endParaRPr lang="hu-HU" dirty="0"/>
          </a:p>
          <a:p>
            <a:endParaRPr lang="hu-HU" dirty="0"/>
          </a:p>
          <a:p>
            <a:r>
              <a:rPr lang="en-US" dirty="0" err="1"/>
              <a:t>Mobilon</a:t>
            </a:r>
            <a:r>
              <a:rPr lang="en-US" dirty="0"/>
              <a:t> </a:t>
            </a:r>
            <a:r>
              <a:rPr lang="en-US" dirty="0" err="1"/>
              <a:t>általában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oszlopot</a:t>
            </a:r>
            <a:r>
              <a:rPr lang="en-US" dirty="0"/>
              <a:t> </a:t>
            </a:r>
            <a:r>
              <a:rPr lang="en-US" dirty="0" err="1"/>
              <a:t>szeretnénk</a:t>
            </a:r>
            <a:r>
              <a:rPr lang="en-US" dirty="0"/>
              <a:t>, </a:t>
            </a:r>
            <a:r>
              <a:rPr lang="en-US" dirty="0" err="1"/>
              <a:t>tableten</a:t>
            </a:r>
            <a:r>
              <a:rPr lang="en-US" dirty="0"/>
              <a:t> </a:t>
            </a:r>
            <a:r>
              <a:rPr lang="en-US" dirty="0" err="1"/>
              <a:t>kettőt</a:t>
            </a:r>
            <a:r>
              <a:rPr lang="en-US" dirty="0"/>
              <a:t>, </a:t>
            </a:r>
            <a:r>
              <a:rPr lang="en-US" dirty="0" err="1"/>
              <a:t>desktopon</a:t>
            </a:r>
            <a:r>
              <a:rPr lang="en-US" dirty="0"/>
              <a:t> </a:t>
            </a:r>
            <a:r>
              <a:rPr lang="en-US" dirty="0" err="1"/>
              <a:t>többet</a:t>
            </a:r>
            <a:r>
              <a:rPr lang="en-US" dirty="0"/>
              <a:t>. </a:t>
            </a:r>
            <a:r>
              <a:rPr lang="en-US" dirty="0" err="1"/>
              <a:t>Ehhez</a:t>
            </a:r>
            <a:r>
              <a:rPr lang="en-US" dirty="0"/>
              <a:t> a </a:t>
            </a:r>
            <a:r>
              <a:rPr lang="en-US" b="1" dirty="0"/>
              <a:t>media query</a:t>
            </a:r>
            <a:r>
              <a:rPr lang="en-US" dirty="0"/>
              <a:t>-</a:t>
            </a:r>
            <a:r>
              <a:rPr lang="en-US" dirty="0" err="1"/>
              <a:t>ket</a:t>
            </a:r>
            <a:r>
              <a:rPr lang="en-US" dirty="0"/>
              <a:t> </a:t>
            </a:r>
            <a:r>
              <a:rPr lang="en-US" dirty="0" err="1"/>
              <a:t>használjuk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</a:t>
            </a:r>
            <a:r>
              <a:rPr lang="en-US" b="1" dirty="0" err="1"/>
              <a:t>feltételhez</a:t>
            </a:r>
            <a:r>
              <a:rPr lang="en-US" b="1" dirty="0"/>
              <a:t> </a:t>
            </a:r>
            <a:r>
              <a:rPr lang="en-US" b="1" dirty="0" err="1"/>
              <a:t>kötött</a:t>
            </a:r>
            <a:r>
              <a:rPr lang="en-US" b="1" dirty="0"/>
              <a:t> CSS</a:t>
            </a:r>
            <a:r>
              <a:rPr lang="en-US" dirty="0"/>
              <a:t> </a:t>
            </a:r>
            <a:r>
              <a:rPr lang="en-US" dirty="0" err="1"/>
              <a:t>szabályokat</a:t>
            </a:r>
            <a:r>
              <a:rPr lang="en-US" dirty="0"/>
              <a:t> </a:t>
            </a:r>
            <a:r>
              <a:rPr lang="en-US" dirty="0" err="1"/>
              <a:t>jelentenek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81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klasszikus</a:t>
            </a:r>
            <a:r>
              <a:rPr lang="en-US" dirty="0"/>
              <a:t> </a:t>
            </a:r>
            <a:r>
              <a:rPr lang="en-US" dirty="0" err="1"/>
              <a:t>példa</a:t>
            </a:r>
            <a:r>
              <a:rPr lang="en-US" dirty="0"/>
              <a:t>: ha a </a:t>
            </a:r>
            <a:r>
              <a:rPr lang="en-US" dirty="0" err="1"/>
              <a:t>kijelző</a:t>
            </a:r>
            <a:r>
              <a:rPr lang="en-US" dirty="0"/>
              <a:t> </a:t>
            </a:r>
            <a:r>
              <a:rPr lang="en-US" dirty="0" err="1"/>
              <a:t>szélessége</a:t>
            </a:r>
            <a:r>
              <a:rPr lang="en-US" dirty="0"/>
              <a:t> 768 pixel </a:t>
            </a:r>
            <a:r>
              <a:rPr lang="en-US" dirty="0" err="1"/>
              <a:t>alá</a:t>
            </a:r>
            <a:r>
              <a:rPr lang="en-US" dirty="0"/>
              <a:t> </a:t>
            </a:r>
            <a:r>
              <a:rPr lang="en-US" dirty="0" err="1"/>
              <a:t>megy</a:t>
            </a:r>
            <a:r>
              <a:rPr lang="en-US" dirty="0"/>
              <a:t>, </a:t>
            </a:r>
            <a:r>
              <a:rPr lang="en-US" dirty="0" err="1"/>
              <a:t>tehát</a:t>
            </a:r>
            <a:r>
              <a:rPr lang="en-US" dirty="0"/>
              <a:t> </a:t>
            </a:r>
            <a:r>
              <a:rPr lang="en-US" dirty="0" err="1"/>
              <a:t>mobilon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kisebb</a:t>
            </a:r>
            <a:r>
              <a:rPr lang="en-US" dirty="0"/>
              <a:t> </a:t>
            </a:r>
            <a:r>
              <a:rPr lang="en-US" dirty="0" err="1"/>
              <a:t>tableten</a:t>
            </a:r>
            <a:r>
              <a:rPr lang="en-US" dirty="0"/>
              <a:t> </a:t>
            </a:r>
            <a:r>
              <a:rPr lang="en-US" dirty="0" err="1"/>
              <a:t>vagyunk</a:t>
            </a:r>
            <a:r>
              <a:rPr lang="en-US" dirty="0"/>
              <a:t>,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megváltoztatjuk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elrendezést</a:t>
            </a:r>
            <a:r>
              <a:rPr lang="hu-HU" dirty="0"/>
              <a:t>:</a:t>
            </a:r>
            <a:r>
              <a:rPr lang="en-US" dirty="0"/>
              <a:t> a Flexbox </a:t>
            </a:r>
            <a:r>
              <a:rPr lang="en-US" dirty="0" err="1"/>
              <a:t>iránya</a:t>
            </a:r>
            <a:r>
              <a:rPr lang="en-US" dirty="0"/>
              <a:t> </a:t>
            </a:r>
            <a:r>
              <a:rPr lang="en-US" dirty="0" err="1"/>
              <a:t>oszlopra</a:t>
            </a:r>
            <a:r>
              <a:rPr lang="en-US" dirty="0"/>
              <a:t> </a:t>
            </a:r>
            <a:r>
              <a:rPr lang="en-US" dirty="0" err="1"/>
              <a:t>vált</a:t>
            </a:r>
            <a:r>
              <a:rPr lang="hu-HU" dirty="0"/>
              <a:t>, í</a:t>
            </a:r>
            <a:r>
              <a:rPr lang="en-US" dirty="0" err="1"/>
              <a:t>gy</a:t>
            </a:r>
            <a:r>
              <a:rPr lang="en-US" dirty="0"/>
              <a:t> a </a:t>
            </a:r>
            <a:r>
              <a:rPr lang="en-US" dirty="0" err="1"/>
              <a:t>kártyák</a:t>
            </a:r>
            <a:r>
              <a:rPr lang="en-US" dirty="0"/>
              <a:t> </a:t>
            </a:r>
            <a:r>
              <a:rPr lang="en-US" dirty="0" err="1"/>
              <a:t>egymás</a:t>
            </a:r>
            <a:r>
              <a:rPr lang="en-US" dirty="0"/>
              <a:t> </a:t>
            </a:r>
            <a:r>
              <a:rPr lang="en-US" dirty="0" err="1"/>
              <a:t>alá</a:t>
            </a:r>
            <a:r>
              <a:rPr lang="en-US" dirty="0"/>
              <a:t> </a:t>
            </a:r>
            <a:r>
              <a:rPr lang="en-US" dirty="0" err="1"/>
              <a:t>kerülnek</a:t>
            </a:r>
            <a:r>
              <a:rPr lang="en-US" dirty="0"/>
              <a:t>.</a:t>
            </a:r>
            <a:r>
              <a:rPr lang="hu-HU" dirty="0"/>
              <a:t> A </a:t>
            </a:r>
            <a:r>
              <a:rPr lang="en-US" dirty="0"/>
              <a:t>a </a:t>
            </a:r>
            <a:r>
              <a:rPr lang="en-US" dirty="0" err="1"/>
              <a:t>tartalom</a:t>
            </a:r>
            <a:r>
              <a:rPr lang="en-US" dirty="0"/>
              <a:t> </a:t>
            </a:r>
            <a:r>
              <a:rPr lang="en-US" dirty="0" err="1"/>
              <a:t>mobilon</a:t>
            </a:r>
            <a:r>
              <a:rPr lang="en-US" dirty="0"/>
              <a:t> </a:t>
            </a:r>
            <a:r>
              <a:rPr lang="en-US" dirty="0" err="1"/>
              <a:t>könnyebben</a:t>
            </a:r>
            <a:r>
              <a:rPr lang="en-US" dirty="0"/>
              <a:t> </a:t>
            </a:r>
            <a:r>
              <a:rPr lang="en-US" dirty="0" err="1"/>
              <a:t>olvasható</a:t>
            </a:r>
            <a:r>
              <a:rPr lang="en-US" dirty="0"/>
              <a:t> </a:t>
            </a:r>
            <a:r>
              <a:rPr lang="en-US" dirty="0" err="1"/>
              <a:t>lesz</a:t>
            </a:r>
            <a:r>
              <a:rPr lang="hu-HU" dirty="0"/>
              <a:t>. </a:t>
            </a:r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leggyakrabban</a:t>
            </a:r>
            <a:r>
              <a:rPr lang="en-US" dirty="0"/>
              <a:t> </a:t>
            </a:r>
            <a:r>
              <a:rPr lang="en-US" dirty="0" err="1"/>
              <a:t>használt</a:t>
            </a:r>
            <a:r>
              <a:rPr lang="en-US" dirty="0"/>
              <a:t> responsive </a:t>
            </a:r>
            <a:r>
              <a:rPr lang="en-US" dirty="0" err="1"/>
              <a:t>minta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b="1" dirty="0" err="1"/>
              <a:t>flex-direction</a:t>
            </a:r>
            <a:r>
              <a:rPr lang="hu-HU" b="1" dirty="0"/>
              <a:t>: </a:t>
            </a:r>
            <a:r>
              <a:rPr lang="hu-HU" b="1" dirty="0" err="1"/>
              <a:t>column</a:t>
            </a:r>
            <a:r>
              <a:rPr lang="hu-HU" b="1" dirty="0"/>
              <a:t>; </a:t>
            </a:r>
            <a:r>
              <a:rPr lang="hu-HU" dirty="0"/>
              <a:t>definiálja az oszlopos elrendezést a </a:t>
            </a:r>
            <a:r>
              <a:rPr lang="hu-HU" b="1" dirty="0" err="1"/>
              <a:t>cards</a:t>
            </a:r>
            <a:r>
              <a:rPr lang="hu-HU" dirty="0"/>
              <a:t> CSS stílus elemen.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23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látható</a:t>
            </a:r>
            <a:r>
              <a:rPr lang="en-US" dirty="0"/>
              <a:t> a </a:t>
            </a:r>
            <a:r>
              <a:rPr lang="en-US" dirty="0" err="1"/>
              <a:t>teljes</a:t>
            </a:r>
            <a:r>
              <a:rPr lang="en-US" dirty="0"/>
              <a:t> responsive </a:t>
            </a:r>
            <a:r>
              <a:rPr lang="en-US" dirty="0" err="1"/>
              <a:t>gondolkodás</a:t>
            </a:r>
            <a:r>
              <a:rPr lang="en-US" dirty="0"/>
              <a:t> Grid-del </a:t>
            </a:r>
            <a:r>
              <a:rPr lang="en-US" dirty="0" err="1"/>
              <a:t>megvalósítva</a:t>
            </a:r>
            <a:r>
              <a:rPr lang="en-US" dirty="0"/>
              <a:t>.</a:t>
            </a:r>
            <a:br>
              <a:rPr lang="en-US" dirty="0"/>
            </a:br>
            <a:endParaRPr lang="hu-HU" dirty="0"/>
          </a:p>
          <a:p>
            <a:r>
              <a:rPr lang="en-US" dirty="0"/>
              <a:t>Nagy </a:t>
            </a:r>
            <a:r>
              <a:rPr lang="en-US" dirty="0" err="1"/>
              <a:t>képernyőn</a:t>
            </a:r>
            <a:r>
              <a:rPr lang="en-US" dirty="0"/>
              <a:t> </a:t>
            </a:r>
            <a:r>
              <a:rPr lang="en-US" dirty="0" err="1"/>
              <a:t>három</a:t>
            </a:r>
            <a:r>
              <a:rPr lang="en-US" dirty="0"/>
              <a:t> </a:t>
            </a:r>
            <a:r>
              <a:rPr lang="en-US" dirty="0" err="1"/>
              <a:t>oszlop</a:t>
            </a:r>
            <a:r>
              <a:rPr lang="en-US" dirty="0"/>
              <a:t>, </a:t>
            </a:r>
            <a:r>
              <a:rPr lang="en-US" dirty="0" err="1"/>
              <a:t>közepes</a:t>
            </a:r>
            <a:r>
              <a:rPr lang="en-US" dirty="0"/>
              <a:t> </a:t>
            </a:r>
            <a:r>
              <a:rPr lang="en-US" dirty="0" err="1"/>
              <a:t>méreten</a:t>
            </a:r>
            <a:r>
              <a:rPr lang="en-US" dirty="0"/>
              <a:t> </a:t>
            </a:r>
            <a:r>
              <a:rPr lang="en-US" dirty="0" err="1"/>
              <a:t>kettő</a:t>
            </a:r>
            <a:r>
              <a:rPr lang="en-US" dirty="0"/>
              <a:t>, </a:t>
            </a:r>
            <a:r>
              <a:rPr lang="en-US" dirty="0" err="1"/>
              <a:t>mobilon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dirty="0"/>
              <a:t>Ez </a:t>
            </a:r>
            <a:r>
              <a:rPr lang="en-US" dirty="0" err="1"/>
              <a:t>az</a:t>
            </a:r>
            <a:r>
              <a:rPr lang="en-US" dirty="0"/>
              <a:t> a </a:t>
            </a:r>
            <a:r>
              <a:rPr lang="en-US" dirty="0" err="1"/>
              <a:t>logika</a:t>
            </a:r>
            <a:r>
              <a:rPr lang="en-US" dirty="0"/>
              <a:t>, </a:t>
            </a:r>
            <a:r>
              <a:rPr lang="en-US" dirty="0" err="1"/>
              <a:t>amit</a:t>
            </a:r>
            <a:r>
              <a:rPr lang="en-US" dirty="0"/>
              <a:t> a </a:t>
            </a:r>
            <a:r>
              <a:rPr lang="en-US" dirty="0" err="1"/>
              <a:t>gyakorlatban</a:t>
            </a:r>
            <a:r>
              <a:rPr lang="en-US" dirty="0"/>
              <a:t> is </a:t>
            </a:r>
            <a:r>
              <a:rPr lang="hu-HU" dirty="0"/>
              <a:t>gyakran </a:t>
            </a:r>
            <a:r>
              <a:rPr lang="en-US" dirty="0" err="1"/>
              <a:t>használn</a:t>
            </a:r>
            <a:r>
              <a:rPr lang="hu-HU" dirty="0" err="1"/>
              <a:t>ak</a:t>
            </a:r>
            <a:r>
              <a:rPr lang="en-US" dirty="0"/>
              <a:t>.</a:t>
            </a:r>
            <a:r>
              <a:rPr lang="hu-HU" dirty="0"/>
              <a:t> Például, í</a:t>
            </a:r>
            <a:r>
              <a:rPr lang="en-US" dirty="0" err="1"/>
              <a:t>gy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a </a:t>
            </a:r>
            <a:r>
              <a:rPr lang="en-US" dirty="0" err="1"/>
              <a:t>legtöbb</a:t>
            </a:r>
            <a:r>
              <a:rPr lang="en-US" dirty="0"/>
              <a:t> modern </a:t>
            </a:r>
            <a:r>
              <a:rPr lang="en-US" dirty="0" err="1"/>
              <a:t>honlap</a:t>
            </a:r>
            <a:r>
              <a:rPr lang="en-US" dirty="0"/>
              <a:t> </a:t>
            </a:r>
            <a:r>
              <a:rPr lang="en-US" dirty="0" err="1"/>
              <a:t>képgalériája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kártyás</a:t>
            </a:r>
            <a:r>
              <a:rPr lang="en-US" dirty="0"/>
              <a:t> </a:t>
            </a:r>
            <a:r>
              <a:rPr lang="en-US" dirty="0" err="1"/>
              <a:t>elrendezése</a:t>
            </a:r>
            <a:r>
              <a:rPr lang="hu-HU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05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Miért</a:t>
            </a:r>
            <a:r>
              <a:rPr lang="en-US" b="1" dirty="0"/>
              <a:t> </a:t>
            </a:r>
            <a:r>
              <a:rPr lang="en-US" b="1" dirty="0" err="1"/>
              <a:t>alakultak</a:t>
            </a:r>
            <a:r>
              <a:rPr lang="en-US" b="1" dirty="0"/>
              <a:t> ki a CSS </a:t>
            </a:r>
            <a:r>
              <a:rPr lang="en-US" b="1" dirty="0" err="1"/>
              <a:t>keretrendszerek</a:t>
            </a:r>
            <a:r>
              <a:rPr lang="en-US" b="1" dirty="0"/>
              <a:t>?</a:t>
            </a:r>
            <a:r>
              <a:rPr lang="hu-HU" b="1" dirty="0"/>
              <a:t> </a:t>
            </a:r>
            <a:r>
              <a:rPr lang="en-US" dirty="0"/>
              <a:t>A </a:t>
            </a:r>
            <a:r>
              <a:rPr lang="en-US" dirty="0" err="1"/>
              <a:t>webfejlesztés</a:t>
            </a:r>
            <a:r>
              <a:rPr lang="en-US" dirty="0"/>
              <a:t> korai </a:t>
            </a:r>
            <a:r>
              <a:rPr lang="en-US" dirty="0" err="1"/>
              <a:t>időszakában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b="1" dirty="0" err="1"/>
              <a:t>egyedi</a:t>
            </a:r>
            <a:r>
              <a:rPr lang="en-US" b="1" dirty="0"/>
              <a:t> CSS-</a:t>
            </a:r>
            <a:r>
              <a:rPr lang="en-US" b="1" dirty="0" err="1"/>
              <a:t>sel</a:t>
            </a:r>
            <a:r>
              <a:rPr lang="en-US" dirty="0"/>
              <a:t> </a:t>
            </a:r>
            <a:r>
              <a:rPr lang="en-US" dirty="0" err="1"/>
              <a:t>készült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Erre </a:t>
            </a:r>
            <a:r>
              <a:rPr lang="en-US" dirty="0" err="1"/>
              <a:t>válaszul</a:t>
            </a:r>
            <a:r>
              <a:rPr lang="en-US" dirty="0"/>
              <a:t> </a:t>
            </a:r>
            <a:r>
              <a:rPr lang="en-US" dirty="0" err="1"/>
              <a:t>jelentek</a:t>
            </a:r>
            <a:r>
              <a:rPr lang="en-US" dirty="0"/>
              <a:t> meg a CSS </a:t>
            </a:r>
            <a:r>
              <a:rPr lang="en-US" dirty="0" err="1"/>
              <a:t>keretrendszerek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it-IT" b="1" dirty="0"/>
              <a:t>Mi az a CSS keretrendszer?</a:t>
            </a:r>
            <a:r>
              <a:rPr lang="hu-HU" dirty="0"/>
              <a:t> </a:t>
            </a:r>
            <a:r>
              <a:rPr lang="en-US" b="0" dirty="0"/>
              <a:t>Egy </a:t>
            </a:r>
            <a:r>
              <a:rPr lang="en-US" b="0" dirty="0" err="1"/>
              <a:t>előre</a:t>
            </a:r>
            <a:r>
              <a:rPr lang="en-US" b="0" dirty="0"/>
              <a:t> </a:t>
            </a:r>
            <a:r>
              <a:rPr lang="en-US" b="0" dirty="0" err="1"/>
              <a:t>elkészített</a:t>
            </a:r>
            <a:r>
              <a:rPr lang="en-US" b="0" dirty="0"/>
              <a:t> CSS </a:t>
            </a:r>
            <a:r>
              <a:rPr lang="en-US" b="0" dirty="0" err="1"/>
              <a:t>szabálykészlet</a:t>
            </a:r>
            <a:r>
              <a:rPr lang="en-US" b="0" dirty="0"/>
              <a:t>,</a:t>
            </a:r>
            <a:r>
              <a:rPr lang="hu-HU" b="0" dirty="0"/>
              <a:t>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megoldja</a:t>
            </a:r>
            <a:r>
              <a:rPr lang="en-US" dirty="0"/>
              <a:t> a </a:t>
            </a:r>
            <a:r>
              <a:rPr lang="en-US" dirty="0" err="1"/>
              <a:t>leggyakoribb</a:t>
            </a:r>
            <a:r>
              <a:rPr lang="en-US" dirty="0"/>
              <a:t> layout és UI </a:t>
            </a:r>
            <a:r>
              <a:rPr lang="en-US" dirty="0" err="1"/>
              <a:t>problémákat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b="1" dirty="0" err="1"/>
              <a:t>Miért</a:t>
            </a:r>
            <a:r>
              <a:rPr lang="en-US" b="1" dirty="0"/>
              <a:t> </a:t>
            </a:r>
            <a:r>
              <a:rPr lang="en-US" b="1" dirty="0" err="1"/>
              <a:t>jó</a:t>
            </a:r>
            <a:r>
              <a:rPr lang="en-US" b="1" dirty="0"/>
              <a:t> CSS </a:t>
            </a:r>
            <a:r>
              <a:rPr lang="en-US" b="1" dirty="0" err="1"/>
              <a:t>keretrendszert</a:t>
            </a:r>
            <a:r>
              <a:rPr lang="en-US" b="1" dirty="0"/>
              <a:t> </a:t>
            </a:r>
            <a:r>
              <a:rPr lang="en-US" b="1" dirty="0" err="1"/>
              <a:t>használni</a:t>
            </a:r>
            <a:r>
              <a:rPr lang="en-US" b="1" dirty="0"/>
              <a:t>?</a:t>
            </a:r>
            <a:r>
              <a:rPr lang="hu-HU" b="1" dirty="0"/>
              <a:t> </a:t>
            </a:r>
            <a:r>
              <a:rPr lang="hu-HU" dirty="0"/>
              <a:t>Gyors fejlesztés, hiszen nem kell mindent nulláról megírni. Gyors prototípus készítés. </a:t>
            </a:r>
            <a:r>
              <a:rPr lang="hu-HU" b="0" dirty="0"/>
              <a:t>Konzisztencia</a:t>
            </a:r>
            <a:r>
              <a:rPr lang="hu-HU" dirty="0"/>
              <a:t>, minden oldal egységes. </a:t>
            </a:r>
            <a:r>
              <a:rPr lang="hu-HU" b="0" dirty="0" err="1"/>
              <a:t>Responsive</a:t>
            </a:r>
            <a:r>
              <a:rPr lang="hu-HU" b="0" dirty="0"/>
              <a:t> design </a:t>
            </a:r>
            <a:r>
              <a:rPr lang="hu-HU" dirty="0"/>
              <a:t>alapban benne van.</a:t>
            </a:r>
          </a:p>
          <a:p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Flexbox</a:t>
            </a:r>
            <a:r>
              <a:rPr lang="en-US" dirty="0"/>
              <a:t>, </a:t>
            </a:r>
            <a:r>
              <a:rPr lang="en-US" b="1" dirty="0"/>
              <a:t>CSS Grid</a:t>
            </a:r>
            <a:r>
              <a:rPr lang="en-US" dirty="0"/>
              <a:t> és a </a:t>
            </a:r>
            <a:r>
              <a:rPr lang="en-US" b="1" dirty="0"/>
              <a:t>responsive design (media query)</a:t>
            </a:r>
            <a:r>
              <a:rPr lang="en-US" dirty="0"/>
              <a:t> </a:t>
            </a:r>
            <a:r>
              <a:rPr lang="en-US" dirty="0" err="1"/>
              <a:t>köré</a:t>
            </a:r>
            <a:r>
              <a:rPr lang="en-US" dirty="0"/>
              <a:t> </a:t>
            </a:r>
            <a:r>
              <a:rPr lang="en-US" b="0" dirty="0" err="1"/>
              <a:t>rengeteg</a:t>
            </a:r>
            <a:r>
              <a:rPr lang="en-US" b="0" dirty="0"/>
              <a:t> </a:t>
            </a:r>
            <a:r>
              <a:rPr lang="en-US" b="0" dirty="0" err="1"/>
              <a:t>keretrendszer</a:t>
            </a:r>
            <a:r>
              <a:rPr lang="en-US" b="0" dirty="0"/>
              <a:t> és utility </a:t>
            </a:r>
            <a:r>
              <a:rPr lang="en-US" b="0" dirty="0" err="1"/>
              <a:t>megoldás</a:t>
            </a:r>
            <a:r>
              <a:rPr lang="en-US" b="0" dirty="0"/>
              <a:t> </a:t>
            </a:r>
            <a:r>
              <a:rPr lang="en-US" b="0" dirty="0" err="1"/>
              <a:t>épült</a:t>
            </a:r>
            <a:r>
              <a:rPr lang="en-US" b="0" dirty="0"/>
              <a:t> – a </a:t>
            </a:r>
            <a:r>
              <a:rPr lang="en-US" b="1" dirty="0"/>
              <a:t>Bootstrap</a:t>
            </a:r>
            <a:r>
              <a:rPr lang="en-US" b="0" dirty="0"/>
              <a:t> </a:t>
            </a:r>
            <a:r>
              <a:rPr lang="en-US" b="0" dirty="0" err="1"/>
              <a:t>csak</a:t>
            </a:r>
            <a:r>
              <a:rPr lang="en-US" b="0" dirty="0"/>
              <a:t> </a:t>
            </a:r>
            <a:r>
              <a:rPr lang="en-US" b="0" dirty="0" err="1"/>
              <a:t>az</a:t>
            </a:r>
            <a:r>
              <a:rPr lang="en-US" b="0" dirty="0"/>
              <a:t> </a:t>
            </a:r>
            <a:r>
              <a:rPr lang="en-US" b="0" dirty="0" err="1"/>
              <a:t>egyik</a:t>
            </a:r>
            <a:r>
              <a:rPr lang="en-US" dirty="0"/>
              <a:t>, </a:t>
            </a:r>
            <a:r>
              <a:rPr lang="en-US" dirty="0" err="1"/>
              <a:t>bár</a:t>
            </a:r>
            <a:r>
              <a:rPr lang="en-US" dirty="0"/>
              <a:t> </a:t>
            </a:r>
            <a:r>
              <a:rPr lang="en-US" dirty="0" err="1"/>
              <a:t>történelmileg</a:t>
            </a:r>
            <a:r>
              <a:rPr lang="en-US" dirty="0"/>
              <a:t> </a:t>
            </a:r>
            <a:r>
              <a:rPr lang="en-US" dirty="0" err="1"/>
              <a:t>nagyon</a:t>
            </a:r>
            <a:r>
              <a:rPr lang="en-US" dirty="0"/>
              <a:t> </a:t>
            </a:r>
            <a:r>
              <a:rPr lang="en-US" dirty="0" err="1"/>
              <a:t>meghatározó</a:t>
            </a:r>
            <a:r>
              <a:rPr lang="en-US" dirty="0"/>
              <a:t>.</a:t>
            </a:r>
            <a:endParaRPr lang="hu-HU" dirty="0"/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Bootstrap</a:t>
            </a:r>
            <a:r>
              <a:rPr lang="hu-HU" dirty="0"/>
              <a:t> mellett még ismertek: </a:t>
            </a:r>
            <a:r>
              <a:rPr lang="hu-HU" dirty="0" err="1"/>
              <a:t>Tailwind</a:t>
            </a:r>
            <a:r>
              <a:rPr lang="hu-HU" dirty="0"/>
              <a:t> CSS, </a:t>
            </a:r>
            <a:r>
              <a:rPr lang="hu-HU" dirty="0" err="1"/>
              <a:t>Material</a:t>
            </a:r>
            <a:r>
              <a:rPr lang="hu-HU" dirty="0"/>
              <a:t> UI, </a:t>
            </a:r>
            <a:r>
              <a:rPr lang="hu-HU" dirty="0" err="1"/>
              <a:t>Bulma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Fontos! </a:t>
            </a:r>
            <a:r>
              <a:rPr lang="en-US" dirty="0"/>
              <a:t>A CSS framework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helyettesíti</a:t>
            </a:r>
            <a:r>
              <a:rPr lang="en-US" dirty="0"/>
              <a:t> a CSS-t.</a:t>
            </a:r>
            <a:r>
              <a:rPr lang="hu-HU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segít</a:t>
            </a:r>
            <a:r>
              <a:rPr lang="en-US" dirty="0"/>
              <a:t> </a:t>
            </a:r>
            <a:r>
              <a:rPr lang="en-US" dirty="0" err="1"/>
              <a:t>gyorsabban</a:t>
            </a:r>
            <a:r>
              <a:rPr lang="en-US" dirty="0"/>
              <a:t> </a:t>
            </a:r>
            <a:r>
              <a:rPr lang="en-US" dirty="0" err="1"/>
              <a:t>jól</a:t>
            </a:r>
            <a:r>
              <a:rPr lang="en-US" dirty="0"/>
              <a:t> </a:t>
            </a:r>
            <a:r>
              <a:rPr lang="en-US" dirty="0" err="1"/>
              <a:t>használni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47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0" dirty="0"/>
              <a:t>A </a:t>
            </a:r>
            <a:r>
              <a:rPr lang="en-US" b="1" dirty="0"/>
              <a:t>HTML5</a:t>
            </a:r>
            <a:r>
              <a:rPr lang="en-US" dirty="0"/>
              <a:t> </a:t>
            </a:r>
            <a:r>
              <a:rPr lang="en-US" dirty="0" err="1"/>
              <a:t>szemantikus</a:t>
            </a:r>
            <a:r>
              <a:rPr lang="en-US" dirty="0"/>
              <a:t> tag</a:t>
            </a:r>
            <a:r>
              <a:rPr lang="hu-HU" dirty="0"/>
              <a:t>-</a:t>
            </a:r>
            <a:r>
              <a:rPr lang="en-US" dirty="0" err="1"/>
              <a:t>jei</a:t>
            </a:r>
            <a:r>
              <a:rPr lang="en-US" dirty="0"/>
              <a:t> </a:t>
            </a:r>
            <a:r>
              <a:rPr lang="en-US" dirty="0" err="1"/>
              <a:t>tiszta</a:t>
            </a:r>
            <a:r>
              <a:rPr lang="en-US" dirty="0"/>
              <a:t> és </a:t>
            </a:r>
            <a:r>
              <a:rPr lang="en-US" dirty="0" err="1"/>
              <a:t>érthető</a:t>
            </a:r>
            <a:r>
              <a:rPr lang="en-US" dirty="0"/>
              <a:t> </a:t>
            </a:r>
            <a:r>
              <a:rPr lang="en-US" dirty="0" err="1"/>
              <a:t>struktúrát</a:t>
            </a:r>
            <a:r>
              <a:rPr lang="en-US" dirty="0"/>
              <a:t> </a:t>
            </a:r>
            <a:r>
              <a:rPr lang="en-US" dirty="0" err="1"/>
              <a:t>adnak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Flexbox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jó</a:t>
            </a:r>
            <a:r>
              <a:rPr lang="en-US" dirty="0"/>
              <a:t>, ha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irányban</a:t>
            </a:r>
            <a:r>
              <a:rPr lang="en-US" dirty="0"/>
              <a:t> </a:t>
            </a:r>
            <a:r>
              <a:rPr lang="en-US" dirty="0" err="1"/>
              <a:t>szeretnénk</a:t>
            </a:r>
            <a:r>
              <a:rPr lang="en-US" dirty="0"/>
              <a:t> </a:t>
            </a:r>
            <a:r>
              <a:rPr lang="en-US" dirty="0" err="1"/>
              <a:t>rugalmas</a:t>
            </a:r>
            <a:r>
              <a:rPr lang="en-US" dirty="0"/>
              <a:t> </a:t>
            </a:r>
            <a:r>
              <a:rPr lang="en-US" dirty="0" err="1"/>
              <a:t>elrendezést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Grid</a:t>
            </a:r>
            <a:r>
              <a:rPr lang="en-US" dirty="0"/>
              <a:t> </a:t>
            </a:r>
            <a:r>
              <a:rPr lang="en-US" dirty="0" err="1"/>
              <a:t>komplexebb</a:t>
            </a:r>
            <a:r>
              <a:rPr lang="en-US" dirty="0"/>
              <a:t>, </a:t>
            </a:r>
            <a:r>
              <a:rPr lang="en-US" dirty="0" err="1"/>
              <a:t>kétdimenziós</a:t>
            </a:r>
            <a:r>
              <a:rPr lang="en-US" dirty="0"/>
              <a:t> </a:t>
            </a:r>
            <a:r>
              <a:rPr lang="en-US" dirty="0" err="1"/>
              <a:t>layoutokhoz</a:t>
            </a:r>
            <a:r>
              <a:rPr lang="en-US" dirty="0"/>
              <a:t> </a:t>
            </a:r>
            <a:r>
              <a:rPr lang="en-US" dirty="0" err="1"/>
              <a:t>ideális</a:t>
            </a:r>
            <a:r>
              <a:rPr lang="en-US" dirty="0"/>
              <a:t>.</a:t>
            </a:r>
            <a:endParaRPr lang="hu-HU" dirty="0"/>
          </a:p>
          <a:p>
            <a:r>
              <a:rPr lang="en-US" dirty="0"/>
              <a:t>A </a:t>
            </a:r>
            <a:r>
              <a:rPr lang="en-US" b="1" dirty="0"/>
              <a:t>media query</a:t>
            </a:r>
            <a:r>
              <a:rPr lang="en-US" dirty="0"/>
              <a:t>-k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biztosítják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oldalunk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eszközön</a:t>
            </a:r>
            <a:r>
              <a:rPr lang="en-US" dirty="0"/>
              <a:t> </a:t>
            </a:r>
            <a:r>
              <a:rPr lang="en-US" dirty="0" err="1"/>
              <a:t>helyesen</a:t>
            </a:r>
            <a:r>
              <a:rPr lang="en-US" dirty="0"/>
              <a:t> </a:t>
            </a:r>
            <a:r>
              <a:rPr lang="en-US" dirty="0" err="1"/>
              <a:t>jelenjen</a:t>
            </a:r>
            <a:r>
              <a:rPr lang="en-US" dirty="0"/>
              <a:t> meg.</a:t>
            </a:r>
            <a:endParaRPr lang="hu-HU" dirty="0"/>
          </a:p>
          <a:p>
            <a:endParaRPr lang="hu-HU" dirty="0"/>
          </a:p>
          <a:p>
            <a:r>
              <a:rPr lang="en-US" dirty="0"/>
              <a:t>A </a:t>
            </a:r>
            <a:r>
              <a:rPr lang="hu-HU" dirty="0"/>
              <a:t>szemantikus </a:t>
            </a:r>
            <a:r>
              <a:rPr lang="en-US" dirty="0"/>
              <a:t>HTML a </a:t>
            </a:r>
            <a:r>
              <a:rPr lang="en-US" dirty="0" err="1"/>
              <a:t>jelentést</a:t>
            </a:r>
            <a:r>
              <a:rPr lang="en-US" dirty="0"/>
              <a:t> </a:t>
            </a:r>
            <a:r>
              <a:rPr lang="en-US" dirty="0" err="1"/>
              <a:t>adja</a:t>
            </a:r>
            <a:r>
              <a:rPr lang="en-US" dirty="0"/>
              <a:t>, a CSS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elrendezést</a:t>
            </a:r>
            <a:r>
              <a:rPr lang="en-US" dirty="0"/>
              <a:t>, a responsive design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alkalmazkodást</a:t>
            </a:r>
            <a:r>
              <a:rPr lang="hu-HU" dirty="0"/>
              <a:t> a különböző eszközök eltérő kijelző méreteihez</a:t>
            </a:r>
            <a:r>
              <a:rPr lang="en-US" dirty="0"/>
              <a:t>.</a:t>
            </a:r>
            <a:r>
              <a:rPr lang="hu-HU" dirty="0"/>
              <a:t> A </a:t>
            </a:r>
            <a:r>
              <a:rPr lang="en-US" dirty="0"/>
              <a:t>modern </a:t>
            </a:r>
            <a:r>
              <a:rPr lang="en-US" dirty="0" err="1"/>
              <a:t>webfejlesztés</a:t>
            </a:r>
            <a:r>
              <a:rPr lang="en-US" dirty="0"/>
              <a:t> </a:t>
            </a:r>
            <a:r>
              <a:rPr lang="en-US" dirty="0" err="1"/>
              <a:t>strukturált</a:t>
            </a:r>
            <a:r>
              <a:rPr lang="en-US" dirty="0"/>
              <a:t>, </a:t>
            </a:r>
            <a:r>
              <a:rPr lang="en-US" dirty="0" err="1"/>
              <a:t>rugalmas</a:t>
            </a:r>
            <a:r>
              <a:rPr lang="en-US" dirty="0"/>
              <a:t> és </a:t>
            </a:r>
            <a:r>
              <a:rPr lang="en-US" dirty="0" err="1"/>
              <a:t>eszközfüggetlen</a:t>
            </a:r>
            <a:r>
              <a:rPr lang="hu-HU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33028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HTML5 + CSS + Responsive Design</a:t>
            </a:r>
            <a:br>
              <a:rPr lang="en-US" sz="4400" dirty="0"/>
            </a:br>
            <a:br>
              <a:rPr lang="hu-HU" sz="3600" dirty="0"/>
            </a:br>
            <a:br>
              <a:rPr lang="hu-HU" sz="3600" dirty="0"/>
            </a:br>
            <a:r>
              <a:rPr lang="en-US" sz="2400" dirty="0" err="1"/>
              <a:t>Szemantikus</a:t>
            </a:r>
            <a:r>
              <a:rPr lang="en-US" sz="2400" dirty="0"/>
              <a:t> HTML, Flexbox, Grid, Media Query-k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87552"/>
          </a:xfrm>
        </p:spPr>
        <p:txBody>
          <a:bodyPr>
            <a:normAutofit/>
          </a:bodyPr>
          <a:lstStyle/>
          <a:p>
            <a:r>
              <a:rPr lang="pt-BR" sz="4000" dirty="0"/>
              <a:t>Miért fontos ez a téma?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18AD36-6F18-5047-C781-ED9A6F78A7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033672"/>
            <a:ext cx="10081710" cy="334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Webforgalom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60–70%-a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mobilról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jön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Google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rangsorolásban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előnyben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részesíti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mobilbarát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oldalakat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szemantikus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SEO és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„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modern,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tiszta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elrendezés</a:t>
            </a:r>
            <a:endParaRPr kumimoji="0" lang="hu-HU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hu-HU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SEO = </a:t>
            </a:r>
            <a:r>
              <a:rPr kumimoji="0" lang="hu-HU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earch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ngine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ptimization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4C9ED-D8EA-4EC8-E460-7D2A9998C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>
            <a:normAutofit/>
          </a:bodyPr>
          <a:lstStyle/>
          <a:p>
            <a:r>
              <a:rPr lang="en-US" sz="4000" dirty="0"/>
              <a:t>HTML5 </a:t>
            </a:r>
            <a:r>
              <a:rPr lang="en-US" sz="4000" dirty="0" err="1"/>
              <a:t>szemantikus</a:t>
            </a:r>
            <a:r>
              <a:rPr lang="en-US" sz="4000" dirty="0"/>
              <a:t> </a:t>
            </a:r>
            <a:r>
              <a:rPr lang="en-US" sz="4000" dirty="0" err="1"/>
              <a:t>elemek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C9AC2-7CC4-1337-9630-0B1160974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354" y="2041733"/>
            <a:ext cx="4140944" cy="4133469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5B07E4D-8903-50BE-2206-D5C10874C0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1969996"/>
            <a:ext cx="5486053" cy="3909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&lt;header&gt;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fejlécek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&lt;nav&gt;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navigáció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&lt;main&gt;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tartalom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&lt;section&gt;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fejezet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tematikus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blokk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&lt;article&gt;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önálló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tartalmi egység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&lt;aside&gt;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oldalsáv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&lt;footer&gt;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lábléc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66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2497-B73C-DDA4-3294-DDF83232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en-US" sz="4000" dirty="0" err="1"/>
              <a:t>Szemantikus</a:t>
            </a:r>
            <a:r>
              <a:rPr lang="en-US" sz="4000" dirty="0"/>
              <a:t> HTML </a:t>
            </a:r>
            <a:r>
              <a:rPr lang="en-US" sz="4000" dirty="0" err="1"/>
              <a:t>előnyei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3E34D6-7CF4-44FA-7CC1-9557572C21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3298" y="2385442"/>
            <a:ext cx="6481983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Kód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könnyebben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olvasható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Jobb SEO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Hozzáférhetőség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hu-HU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Kevesebb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div,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kevesebb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káosz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58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B3762-8820-7DD5-599F-9D0F2A081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74237"/>
            <a:ext cx="11155680" cy="688346"/>
          </a:xfrm>
        </p:spPr>
        <p:txBody>
          <a:bodyPr>
            <a:normAutofit fontScale="90000"/>
          </a:bodyPr>
          <a:lstStyle/>
          <a:p>
            <a:r>
              <a:rPr lang="hu-HU" sz="4000" dirty="0"/>
              <a:t>HTML4 </a:t>
            </a:r>
            <a:r>
              <a:rPr lang="hu-HU" sz="4000" dirty="0" err="1"/>
              <a:t>vs</a:t>
            </a:r>
            <a:r>
              <a:rPr lang="hu-HU" sz="4000" dirty="0"/>
              <a:t> HTML5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BBDFF6-E968-EBE8-789B-9F376D4CE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057" y="1876828"/>
            <a:ext cx="5083987" cy="4209380"/>
          </a:xfrm>
        </p:spPr>
      </p:pic>
      <p:sp>
        <p:nvSpPr>
          <p:cNvPr id="9" name="AutoShape 4">
            <a:extLst>
              <a:ext uri="{FF2B5EF4-FFF2-40B4-BE49-F238E27FC236}">
                <a16:creationId xmlns:a16="http://schemas.microsoft.com/office/drawing/2014/main" id="{641352A4-FA58-78A9-D441-84F769ADE8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880886" cy="1880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44DFF2-9943-026E-9330-B1417C14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044" y="1876828"/>
            <a:ext cx="6222796" cy="4209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7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D0415-B9F0-BD6A-D306-6980DF29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15668"/>
          </a:xfrm>
        </p:spPr>
        <p:txBody>
          <a:bodyPr>
            <a:normAutofit/>
          </a:bodyPr>
          <a:lstStyle/>
          <a:p>
            <a:r>
              <a:rPr lang="en-US" sz="4000" dirty="0" err="1"/>
              <a:t>Példa</a:t>
            </a:r>
            <a:r>
              <a:rPr lang="en-US" sz="4000" dirty="0"/>
              <a:t> </a:t>
            </a:r>
            <a:r>
              <a:rPr lang="en-US" sz="4000" dirty="0" err="1"/>
              <a:t>szemantikus</a:t>
            </a:r>
            <a:r>
              <a:rPr lang="en-US" sz="4000" dirty="0"/>
              <a:t> HTML-re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CDC8A7-36BE-9422-7154-AE5264719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490" y="2095883"/>
            <a:ext cx="4996379" cy="37318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88515D-8282-5806-DFA8-57D81A18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095883"/>
            <a:ext cx="4937868" cy="3876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AA5042-4B34-338F-9E03-ED1B3B47499C}"/>
              </a:ext>
            </a:extLst>
          </p:cNvPr>
          <p:cNvSpPr txBox="1"/>
          <p:nvPr/>
        </p:nvSpPr>
        <p:spPr>
          <a:xfrm>
            <a:off x="1567543" y="6129553"/>
            <a:ext cx="247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Non-</a:t>
            </a:r>
            <a:r>
              <a:rPr lang="hu-HU" dirty="0" err="1"/>
              <a:t>Semantic</a:t>
            </a:r>
            <a:r>
              <a:rPr lang="hu-HU" dirty="0"/>
              <a:t> HTML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CC9A9-4DD8-7B63-32A6-2ECEEC991604}"/>
              </a:ext>
            </a:extLst>
          </p:cNvPr>
          <p:cNvSpPr txBox="1"/>
          <p:nvPr/>
        </p:nvSpPr>
        <p:spPr>
          <a:xfrm>
            <a:off x="7668463" y="6129553"/>
            <a:ext cx="2098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Semantic</a:t>
            </a:r>
            <a:r>
              <a:rPr lang="hu-HU" dirty="0"/>
              <a:t> 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0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319C-431D-54C0-A9F9-690772180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5116"/>
          </a:xfrm>
        </p:spPr>
        <p:txBody>
          <a:bodyPr>
            <a:normAutofit/>
          </a:bodyPr>
          <a:lstStyle/>
          <a:p>
            <a:r>
              <a:rPr lang="en-US" sz="4000" dirty="0"/>
              <a:t>CSS Flexbox (</a:t>
            </a:r>
            <a:r>
              <a:rPr lang="en-US" sz="4000" dirty="0" err="1"/>
              <a:t>áttekintés</a:t>
            </a:r>
            <a:r>
              <a:rPr lang="en-US" sz="4000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70FA1E-0C03-FC16-289C-BD2B9F05BA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419877"/>
            <a:ext cx="699127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dimenziós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elrendezés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</a:t>
            </a:r>
            <a:r>
              <a:rPr lang="hu-HU" altLang="en-US" sz="2400" dirty="0">
                <a:latin typeface="Arial" panose="020B0604020202020204" pitchFamily="34" charset="0"/>
              </a:rPr>
              <a:t> vagy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oszlop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Rugalmas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igazítás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Nagyon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egyszerűen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kezelhető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menük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kártyák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oszlopok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281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8896F-4AAF-C157-E9F6-C0069F10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27243"/>
          </a:xfrm>
        </p:spPr>
        <p:txBody>
          <a:bodyPr>
            <a:normAutofit/>
          </a:bodyPr>
          <a:lstStyle/>
          <a:p>
            <a:r>
              <a:rPr lang="en-US" sz="4000" dirty="0"/>
              <a:t>Flexbox </a:t>
            </a:r>
            <a:r>
              <a:rPr lang="en-US" sz="4000" dirty="0" err="1"/>
              <a:t>példa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861BED-5F5D-E3AA-0C6C-4C918281A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6055" y="2051698"/>
            <a:ext cx="3078867" cy="39636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76FC8E3-6786-6CAD-24AE-6A5E95B78F78}"/>
              </a:ext>
            </a:extLst>
          </p:cNvPr>
          <p:cNvSpPr txBox="1">
            <a:spLocks/>
          </p:cNvSpPr>
          <p:nvPr/>
        </p:nvSpPr>
        <p:spPr>
          <a:xfrm>
            <a:off x="5401517" y="2543343"/>
            <a:ext cx="5582857" cy="149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000" b="1" dirty="0" err="1"/>
              <a:t>Card</a:t>
            </a:r>
            <a:r>
              <a:rPr lang="hu-HU" sz="2000" b="1" dirty="0"/>
              <a:t>-ok</a:t>
            </a:r>
            <a:r>
              <a:rPr lang="hu-HU" sz="2000" dirty="0"/>
              <a:t> elhelyezése</a:t>
            </a:r>
          </a:p>
          <a:p>
            <a:r>
              <a:rPr lang="hu-HU" sz="2000" b="1" dirty="0"/>
              <a:t>display: </a:t>
            </a:r>
            <a:r>
              <a:rPr lang="hu-HU" sz="2000" b="1" dirty="0" err="1"/>
              <a:t>flex</a:t>
            </a:r>
            <a:r>
              <a:rPr lang="hu-HU" sz="2000" b="1" dirty="0"/>
              <a:t>; </a:t>
            </a:r>
            <a:r>
              <a:rPr lang="hu-HU" sz="2000" dirty="0"/>
              <a:t>- elemek sorba helyezése a </a:t>
            </a:r>
            <a:r>
              <a:rPr lang="hu-HU" sz="2000" dirty="0" err="1"/>
              <a:t>Flexbox</a:t>
            </a:r>
            <a:r>
              <a:rPr lang="hu-HU" sz="2000" dirty="0"/>
              <a:t> segítségével.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0088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566D4-81B7-719B-8FD4-A56494867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857828"/>
            <a:ext cx="11155680" cy="820247"/>
          </a:xfrm>
        </p:spPr>
        <p:txBody>
          <a:bodyPr>
            <a:normAutofit/>
          </a:bodyPr>
          <a:lstStyle/>
          <a:p>
            <a:r>
              <a:rPr lang="hu-HU" sz="4000" dirty="0" err="1"/>
              <a:t>Flexbox</a:t>
            </a:r>
            <a:r>
              <a:rPr lang="hu-HU" sz="4000" dirty="0"/>
              <a:t> használata (HTML4 és HTML5)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F09AB-6B77-AF6A-0F16-86E8184A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53" y="1678075"/>
            <a:ext cx="2822584" cy="43338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F57E3D-5827-77D2-B676-E56E93826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859" y="1678075"/>
            <a:ext cx="2912465" cy="4490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44245-597D-5888-C023-CD05AC44B156}"/>
              </a:ext>
            </a:extLst>
          </p:cNvPr>
          <p:cNvSpPr txBox="1"/>
          <p:nvPr/>
        </p:nvSpPr>
        <p:spPr>
          <a:xfrm>
            <a:off x="1423998" y="6168607"/>
            <a:ext cx="247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Non-</a:t>
            </a:r>
            <a:r>
              <a:rPr lang="hu-HU" dirty="0" err="1"/>
              <a:t>Semantic</a:t>
            </a:r>
            <a:r>
              <a:rPr lang="hu-HU" dirty="0"/>
              <a:t> HTML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7DBCD-2DD8-AD52-1FDE-CECA0E4D8685}"/>
              </a:ext>
            </a:extLst>
          </p:cNvPr>
          <p:cNvSpPr txBox="1"/>
          <p:nvPr/>
        </p:nvSpPr>
        <p:spPr>
          <a:xfrm>
            <a:off x="7362449" y="6168607"/>
            <a:ext cx="192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Semantic</a:t>
            </a:r>
            <a:r>
              <a:rPr lang="hu-HU" dirty="0"/>
              <a:t> 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1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1678-C824-F530-9941-1CE7F4FB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0944"/>
          </a:xfrm>
        </p:spPr>
        <p:txBody>
          <a:bodyPr>
            <a:normAutofit/>
          </a:bodyPr>
          <a:lstStyle/>
          <a:p>
            <a:r>
              <a:rPr lang="en-US" sz="4000" dirty="0"/>
              <a:t>CSS Grid (</a:t>
            </a:r>
            <a:r>
              <a:rPr lang="en-US" sz="4000" dirty="0" err="1"/>
              <a:t>áttekintés</a:t>
            </a:r>
            <a:r>
              <a:rPr lang="en-US" sz="4000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468B33-C116-F32F-C4DD-11D05283C8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309078"/>
            <a:ext cx="6597730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dimenziós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(rács)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elrendezés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Oszlopok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sorok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Bonyolultabb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layoutok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egyszerű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létrehozása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Galériák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dashboardok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teljes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oldaltervek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2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00C6-EBAA-651E-086F-53B109AE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>
            <a:normAutofit/>
          </a:bodyPr>
          <a:lstStyle/>
          <a:p>
            <a:r>
              <a:rPr lang="en-US" sz="4000" dirty="0"/>
              <a:t>Grid </a:t>
            </a:r>
            <a:r>
              <a:rPr lang="en-US" sz="4000" dirty="0" err="1"/>
              <a:t>példa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9FE1F-60BD-0BFD-0BD3-52C9170E9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2061" y="2508812"/>
            <a:ext cx="5270076" cy="1840375"/>
          </a:xfrm>
        </p:spPr>
        <p:txBody>
          <a:bodyPr>
            <a:normAutofit/>
          </a:bodyPr>
          <a:lstStyle/>
          <a:p>
            <a:r>
              <a:rPr lang="hu-HU" sz="2000" dirty="0"/>
              <a:t>Háromoszlopos rács elhelyezése</a:t>
            </a:r>
          </a:p>
          <a:p>
            <a:r>
              <a:rPr lang="hu-HU" sz="2000" b="1" dirty="0"/>
              <a:t>display: </a:t>
            </a:r>
            <a:r>
              <a:rPr lang="hu-HU" sz="2000" b="1" dirty="0" err="1"/>
              <a:t>grid</a:t>
            </a:r>
            <a:r>
              <a:rPr lang="hu-HU" sz="2000" b="1" dirty="0"/>
              <a:t>;</a:t>
            </a:r>
            <a:r>
              <a:rPr lang="hu-HU" sz="2000" dirty="0"/>
              <a:t> - aktíválja a </a:t>
            </a:r>
            <a:r>
              <a:rPr lang="hu-HU" sz="2000" dirty="0" err="1"/>
              <a:t>Grid</a:t>
            </a:r>
            <a:r>
              <a:rPr lang="hu-HU" sz="2000" dirty="0"/>
              <a:t> elrendezést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F64B0-C246-7791-050A-EEB389566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63" y="2344881"/>
            <a:ext cx="4980709" cy="20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31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C33EB-E86E-87C3-8DA8-ACFBEE3D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20536"/>
            <a:ext cx="11155680" cy="827242"/>
          </a:xfrm>
        </p:spPr>
        <p:txBody>
          <a:bodyPr>
            <a:normAutofit/>
          </a:bodyPr>
          <a:lstStyle/>
          <a:p>
            <a:r>
              <a:rPr lang="hu-HU" sz="4000" dirty="0" err="1"/>
              <a:t>Grid</a:t>
            </a:r>
            <a:r>
              <a:rPr lang="hu-HU" sz="4000" dirty="0"/>
              <a:t> használata (HTML4 és HTML5)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40F86-4CA7-11D4-CB4B-164E461FB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31" y="1860390"/>
            <a:ext cx="4387736" cy="376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010C7F-3AFE-B2A3-FF53-B372E4B3D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972" y="1860390"/>
            <a:ext cx="4157461" cy="2070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3E4A6F-DC31-EE83-96D8-E73C97172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972" y="4373485"/>
            <a:ext cx="4271057" cy="16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0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8AE6-80E6-04F9-702D-3DCF1F32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27243"/>
          </a:xfrm>
        </p:spPr>
        <p:txBody>
          <a:bodyPr>
            <a:normAutofit/>
          </a:bodyPr>
          <a:lstStyle/>
          <a:p>
            <a:r>
              <a:rPr lang="en-US" sz="4000" dirty="0"/>
              <a:t>Responsive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3C62A9-4CF2-1DFB-2BDE-2F3B4C6D2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113334"/>
            <a:ext cx="9791835" cy="3584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Cél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weboldal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jól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jelenjen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minden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eszközön</a:t>
            </a:r>
            <a:endParaRPr kumimoji="0" lang="hu-HU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Például: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oszlop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oszlop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Desktop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három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oszlop</a:t>
            </a:r>
            <a:endParaRPr kumimoji="0" lang="hu-HU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Ehhez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használjuk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 query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</a:t>
            </a:r>
            <a:r>
              <a:rPr lang="hu-HU" altLang="en-US" sz="2200" dirty="0">
                <a:latin typeface="Arial" panose="020B0604020202020204" pitchFamily="34" charset="0"/>
              </a:rPr>
              <a:t>: feltételhez kötött CSS szabályok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880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EE64-92D2-FCEC-BD75-F048397D4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43684"/>
            <a:ext cx="11155680" cy="769369"/>
          </a:xfrm>
        </p:spPr>
        <p:txBody>
          <a:bodyPr>
            <a:normAutofit/>
          </a:bodyPr>
          <a:lstStyle/>
          <a:p>
            <a:r>
              <a:rPr lang="hu-HU" sz="4000" dirty="0" err="1"/>
              <a:t>FlexBox</a:t>
            </a:r>
            <a:r>
              <a:rPr lang="hu-HU" sz="4000" dirty="0"/>
              <a:t> + </a:t>
            </a:r>
            <a:r>
              <a:rPr lang="en-US" sz="4000" dirty="0"/>
              <a:t>Media Query </a:t>
            </a:r>
            <a:r>
              <a:rPr lang="hu-HU" sz="4000" dirty="0"/>
              <a:t>(egyszerű </a:t>
            </a:r>
            <a:r>
              <a:rPr lang="en-US" sz="4000" dirty="0" err="1"/>
              <a:t>példa</a:t>
            </a:r>
            <a:r>
              <a:rPr lang="hu-HU" sz="4000" dirty="0"/>
              <a:t>)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DFF97-C4E2-2DF6-DEEF-43A5DBF09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2228339"/>
            <a:ext cx="5069333" cy="25635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74A770-7634-DB0D-7179-9BA771B14A3F}"/>
              </a:ext>
            </a:extLst>
          </p:cNvPr>
          <p:cNvSpPr txBox="1"/>
          <p:nvPr/>
        </p:nvSpPr>
        <p:spPr>
          <a:xfrm>
            <a:off x="481707" y="5221686"/>
            <a:ext cx="10676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dirty="0"/>
              <a:t>A </a:t>
            </a:r>
            <a:r>
              <a:rPr lang="hu-HU" sz="2000" b="1" dirty="0" err="1"/>
              <a:t>flex-direction</a:t>
            </a:r>
            <a:r>
              <a:rPr lang="hu-HU" sz="2000" b="1" dirty="0"/>
              <a:t>: </a:t>
            </a:r>
            <a:r>
              <a:rPr lang="hu-HU" sz="2000" b="1" dirty="0" err="1"/>
              <a:t>column</a:t>
            </a:r>
            <a:r>
              <a:rPr lang="hu-HU" sz="2000" b="1" dirty="0"/>
              <a:t>; </a:t>
            </a:r>
            <a:r>
              <a:rPr lang="hu-HU" sz="2000" dirty="0"/>
              <a:t>definiálja az oszlopos elrendezést a </a:t>
            </a:r>
            <a:r>
              <a:rPr lang="hu-HU" sz="2000" b="1" dirty="0" err="1"/>
              <a:t>cards</a:t>
            </a:r>
            <a:r>
              <a:rPr lang="hu-HU" sz="2000" dirty="0"/>
              <a:t> CSS stílus elemen.</a:t>
            </a:r>
          </a:p>
        </p:txBody>
      </p:sp>
    </p:spTree>
    <p:extLst>
      <p:ext uri="{BB962C8B-B14F-4D97-AF65-F5344CB8AC3E}">
        <p14:creationId xmlns:p14="http://schemas.microsoft.com/office/powerpoint/2010/main" val="3172394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89F4-AE1D-FAAB-A307-8738F109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20535"/>
            <a:ext cx="11155680" cy="780944"/>
          </a:xfrm>
        </p:spPr>
        <p:txBody>
          <a:bodyPr>
            <a:normAutofit/>
          </a:bodyPr>
          <a:lstStyle/>
          <a:p>
            <a:r>
              <a:rPr lang="en-US" sz="4000" dirty="0"/>
              <a:t>Grid + Media Query (</a:t>
            </a:r>
            <a:r>
              <a:rPr lang="en-US" sz="4000" dirty="0" err="1"/>
              <a:t>összetett</a:t>
            </a:r>
            <a:r>
              <a:rPr lang="en-US" sz="4000" dirty="0"/>
              <a:t> </a:t>
            </a:r>
            <a:r>
              <a:rPr lang="en-US" sz="4000" dirty="0" err="1"/>
              <a:t>példa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140B-D39C-1491-154D-612D0BB5F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3251" y="2300000"/>
            <a:ext cx="6207542" cy="2873884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 err="1"/>
              <a:t>Itt</a:t>
            </a:r>
            <a:r>
              <a:rPr lang="en-US" sz="2200" dirty="0"/>
              <a:t> </a:t>
            </a:r>
            <a:r>
              <a:rPr lang="en-US" sz="2200" dirty="0" err="1"/>
              <a:t>láthatjuk</a:t>
            </a:r>
            <a:r>
              <a:rPr lang="en-US" sz="2200" dirty="0"/>
              <a:t> a </a:t>
            </a:r>
            <a:r>
              <a:rPr lang="en-US" sz="2200" dirty="0" err="1"/>
              <a:t>háromlépcsős</a:t>
            </a:r>
            <a:r>
              <a:rPr lang="en-US" sz="2200" dirty="0"/>
              <a:t> responsive </a:t>
            </a:r>
            <a:r>
              <a:rPr lang="en-US" sz="2200" dirty="0" err="1"/>
              <a:t>mintát</a:t>
            </a:r>
            <a:r>
              <a:rPr lang="en-US" sz="2200" dirty="0"/>
              <a:t>:</a:t>
            </a:r>
          </a:p>
          <a:p>
            <a:r>
              <a:rPr lang="en-US" sz="2200" dirty="0" err="1"/>
              <a:t>nagy</a:t>
            </a:r>
            <a:r>
              <a:rPr lang="en-US" sz="2200" dirty="0"/>
              <a:t> </a:t>
            </a:r>
            <a:r>
              <a:rPr lang="en-US" sz="2200" dirty="0" err="1"/>
              <a:t>kijelzőn</a:t>
            </a:r>
            <a:r>
              <a:rPr lang="en-US" sz="2200" dirty="0"/>
              <a:t> 3 </a:t>
            </a:r>
            <a:r>
              <a:rPr lang="en-US" sz="2200" dirty="0" err="1"/>
              <a:t>oszlop</a:t>
            </a:r>
            <a:endParaRPr lang="en-US" sz="2200" dirty="0"/>
          </a:p>
          <a:p>
            <a:r>
              <a:rPr lang="hu-HU" sz="2200" dirty="0"/>
              <a:t>közepes kijelző (</a:t>
            </a:r>
            <a:r>
              <a:rPr lang="en-US" sz="2200" dirty="0"/>
              <a:t>tablet</a:t>
            </a:r>
            <a:r>
              <a:rPr lang="hu-HU" sz="2200" dirty="0"/>
              <a:t>)</a:t>
            </a:r>
            <a:r>
              <a:rPr lang="en-US" sz="2200" dirty="0"/>
              <a:t> 2</a:t>
            </a:r>
            <a:r>
              <a:rPr lang="hu-HU" sz="2200" dirty="0"/>
              <a:t> oszlop</a:t>
            </a:r>
            <a:endParaRPr lang="en-US" sz="2200" dirty="0"/>
          </a:p>
          <a:p>
            <a:r>
              <a:rPr lang="en-US" sz="2200" dirty="0" err="1"/>
              <a:t>mobilon</a:t>
            </a:r>
            <a:r>
              <a:rPr lang="en-US" sz="2200" dirty="0"/>
              <a:t> 1</a:t>
            </a:r>
            <a:r>
              <a:rPr lang="hu-HU" sz="2200" dirty="0"/>
              <a:t> oszlop</a:t>
            </a:r>
            <a:endParaRPr lang="en-US" sz="22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C6A96-DBA9-08BF-8BC7-5AA680B88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918035"/>
            <a:ext cx="4327452" cy="439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69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5E1E-F5E3-0E24-15D9-26FEC796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2" y="874236"/>
            <a:ext cx="11155680" cy="850392"/>
          </a:xfrm>
        </p:spPr>
        <p:txBody>
          <a:bodyPr>
            <a:normAutofit/>
          </a:bodyPr>
          <a:lstStyle/>
          <a:p>
            <a:r>
              <a:rPr lang="hu-HU" sz="4000" dirty="0"/>
              <a:t>CSS keretrendszerek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98729-3A79-53B2-9591-A078805A9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1828800"/>
            <a:ext cx="10740959" cy="4716800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 err="1"/>
              <a:t>Miért</a:t>
            </a:r>
            <a:r>
              <a:rPr lang="en-US" sz="2600" dirty="0"/>
              <a:t> </a:t>
            </a:r>
            <a:r>
              <a:rPr lang="en-US" sz="2600" dirty="0" err="1"/>
              <a:t>alakultak</a:t>
            </a:r>
            <a:r>
              <a:rPr lang="en-US" sz="2600" dirty="0"/>
              <a:t> ki a CSS </a:t>
            </a:r>
            <a:r>
              <a:rPr lang="en-US" sz="2600" dirty="0" err="1"/>
              <a:t>keretrendszerek</a:t>
            </a:r>
            <a:r>
              <a:rPr lang="en-US" sz="2600" dirty="0"/>
              <a:t>?</a:t>
            </a:r>
            <a:endParaRPr lang="hu-HU" sz="2600" dirty="0"/>
          </a:p>
          <a:p>
            <a:pPr lvl="1"/>
            <a:r>
              <a:rPr lang="hu-HU" sz="1900" dirty="0"/>
              <a:t>Ismétlődő CSS/</a:t>
            </a:r>
            <a:r>
              <a:rPr lang="hu-HU" sz="1900" dirty="0" err="1"/>
              <a:t>layout</a:t>
            </a:r>
            <a:r>
              <a:rPr lang="hu-HU" sz="1900" dirty="0"/>
              <a:t> problémák, egyedi CSS megoldások</a:t>
            </a:r>
          </a:p>
          <a:p>
            <a:pPr lvl="1"/>
            <a:r>
              <a:rPr lang="hu-HU" sz="1900" dirty="0"/>
              <a:t>A keretrendszerek erre adnak megoldást, egy egységes CSS szabálykészletet.</a:t>
            </a:r>
          </a:p>
          <a:p>
            <a:pPr>
              <a:lnSpc>
                <a:spcPct val="160000"/>
              </a:lnSpc>
            </a:pPr>
            <a:r>
              <a:rPr lang="hu-HU" sz="2600" dirty="0"/>
              <a:t>Mit ad egy CSS keretrendszer?</a:t>
            </a:r>
          </a:p>
          <a:p>
            <a:pPr lvl="1"/>
            <a:r>
              <a:rPr lang="en-US" sz="1900" dirty="0" err="1"/>
              <a:t>Előre</a:t>
            </a:r>
            <a:r>
              <a:rPr lang="en-US" sz="1900" dirty="0"/>
              <a:t> </a:t>
            </a:r>
            <a:r>
              <a:rPr lang="en-US" sz="1900" dirty="0" err="1"/>
              <a:t>definiált</a:t>
            </a:r>
            <a:r>
              <a:rPr lang="en-US" sz="1900" dirty="0"/>
              <a:t> layout (Flexbox / Grid)</a:t>
            </a:r>
            <a:endParaRPr lang="hu-HU" sz="1900" dirty="0"/>
          </a:p>
          <a:p>
            <a:pPr lvl="1"/>
            <a:r>
              <a:rPr lang="hu-HU" sz="1900" dirty="0"/>
              <a:t>Beépített </a:t>
            </a:r>
            <a:r>
              <a:rPr lang="hu-HU" sz="1900" dirty="0" err="1"/>
              <a:t>responsive</a:t>
            </a:r>
            <a:r>
              <a:rPr lang="hu-HU" sz="1900" dirty="0"/>
              <a:t> design</a:t>
            </a:r>
          </a:p>
          <a:p>
            <a:pPr lvl="1"/>
            <a:r>
              <a:rPr lang="en-US" sz="1900" dirty="0" err="1"/>
              <a:t>Újrahasznosítható</a:t>
            </a:r>
            <a:r>
              <a:rPr lang="en-US" sz="1900" dirty="0"/>
              <a:t> </a:t>
            </a:r>
            <a:r>
              <a:rPr lang="en-US" sz="1900" dirty="0" err="1"/>
              <a:t>komponensek</a:t>
            </a:r>
            <a:endParaRPr lang="hu-HU" sz="1900" dirty="0"/>
          </a:p>
          <a:p>
            <a:pPr>
              <a:lnSpc>
                <a:spcPct val="160000"/>
              </a:lnSpc>
            </a:pPr>
            <a:r>
              <a:rPr lang="hu-HU" sz="2600" dirty="0"/>
              <a:t>Népszerű CSS keretrendszerek:</a:t>
            </a:r>
          </a:p>
          <a:p>
            <a:pPr lvl="1"/>
            <a:r>
              <a:rPr lang="hu-HU" sz="1900" dirty="0" err="1"/>
              <a:t>Bootstrap</a:t>
            </a:r>
            <a:endParaRPr lang="hu-HU" sz="1900" dirty="0"/>
          </a:p>
          <a:p>
            <a:pPr lvl="1"/>
            <a:r>
              <a:rPr lang="hu-HU" sz="1900" dirty="0" err="1"/>
              <a:t>Tailwind</a:t>
            </a:r>
            <a:endParaRPr lang="hu-HU" sz="1900" dirty="0"/>
          </a:p>
          <a:p>
            <a:pPr lvl="1"/>
            <a:r>
              <a:rPr lang="hu-HU" sz="1900" dirty="0" err="1"/>
              <a:t>Material</a:t>
            </a:r>
            <a:r>
              <a:rPr lang="hu-HU" sz="1900" dirty="0"/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2774722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364245-87FC-8A13-EB50-A5FD9EB763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473562"/>
            <a:ext cx="8622792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szemantikus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tiszta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struktúra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Flexbox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Egy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dimenzióban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rugalmas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elrendezés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Két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dimenziós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rács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 Query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alkalmazkodás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különböző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eszközökhöz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1865</Words>
  <Application>Microsoft Office PowerPoint</Application>
  <PresentationFormat>Widescreen</PresentationFormat>
  <Paragraphs>184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Arial Unicode MS</vt:lpstr>
      <vt:lpstr>Bierstadt</vt:lpstr>
      <vt:lpstr>GestaltVTI</vt:lpstr>
      <vt:lpstr>HTML5 + CSS + Responsive Design   Szemantikus HTML, Flexbox, Grid, Media Query-k </vt:lpstr>
      <vt:lpstr>Miért fontos ez a téma?</vt:lpstr>
      <vt:lpstr>HTML5 szemantikus elemek</vt:lpstr>
      <vt:lpstr>Szemantikus HTML előnyei</vt:lpstr>
      <vt:lpstr>HTML4 vs HTML5</vt:lpstr>
      <vt:lpstr>Példa szemantikus HTML-re</vt:lpstr>
      <vt:lpstr>CSS Flexbox (áttekintés)</vt:lpstr>
      <vt:lpstr>Flexbox példa</vt:lpstr>
      <vt:lpstr>Flexbox használata (HTML4 és HTML5)</vt:lpstr>
      <vt:lpstr>CSS Grid (áttekintés)</vt:lpstr>
      <vt:lpstr>Grid példa</vt:lpstr>
      <vt:lpstr>Grid használata (HTML4 és HTML5)</vt:lpstr>
      <vt:lpstr>Responsive Design</vt:lpstr>
      <vt:lpstr>FlexBox + Media Query (egyszerű példa)</vt:lpstr>
      <vt:lpstr>Grid + Media Query (összetett példa)</vt:lpstr>
      <vt:lpstr>CSS keretrendszerek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102</cp:revision>
  <dcterms:created xsi:type="dcterms:W3CDTF">2025-11-30T15:45:28Z</dcterms:created>
  <dcterms:modified xsi:type="dcterms:W3CDTF">2026-03-29T19:12:13Z</dcterms:modified>
</cp:coreProperties>
</file>