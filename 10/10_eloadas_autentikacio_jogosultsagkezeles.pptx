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21"/>
  </p:notesMasterIdLst>
  <p:sldIdLst>
    <p:sldId id="256" r:id="rId2"/>
    <p:sldId id="259" r:id="rId3"/>
    <p:sldId id="275" r:id="rId4"/>
    <p:sldId id="276" r:id="rId5"/>
    <p:sldId id="277" r:id="rId6"/>
    <p:sldId id="281" r:id="rId7"/>
    <p:sldId id="278" r:id="rId8"/>
    <p:sldId id="279" r:id="rId9"/>
    <p:sldId id="280" r:id="rId10"/>
    <p:sldId id="282" r:id="rId11"/>
    <p:sldId id="284" r:id="rId12"/>
    <p:sldId id="285" r:id="rId13"/>
    <p:sldId id="283" r:id="rId14"/>
    <p:sldId id="286" r:id="rId15"/>
    <p:sldId id="287" r:id="rId16"/>
    <p:sldId id="289" r:id="rId17"/>
    <p:sldId id="288" r:id="rId18"/>
    <p:sldId id="274" r:id="rId19"/>
    <p:sldId id="29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75182" autoAdjust="0"/>
  </p:normalViewPr>
  <p:slideViewPr>
    <p:cSldViewPr snapToGrid="0">
      <p:cViewPr varScale="1">
        <p:scale>
          <a:sx n="67" d="100"/>
          <a:sy n="67" d="100"/>
        </p:scale>
        <p:origin x="1025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82E4E-5CEC-44A9-BF2B-512FB3B5604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23EBC-67FA-4278-B97C-82D0A52FD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096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83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Mielőtt</a:t>
            </a:r>
            <a:r>
              <a:rPr lang="en-US" dirty="0"/>
              <a:t> </a:t>
            </a:r>
            <a:r>
              <a:rPr lang="en-US" dirty="0" err="1"/>
              <a:t>bármilyen</a:t>
            </a:r>
            <a:r>
              <a:rPr lang="en-US" dirty="0"/>
              <a:t> </a:t>
            </a:r>
            <a:r>
              <a:rPr lang="en-US" dirty="0" err="1"/>
              <a:t>webes</a:t>
            </a:r>
            <a:r>
              <a:rPr lang="en-US" dirty="0"/>
              <a:t> </a:t>
            </a:r>
            <a:r>
              <a:rPr lang="en-US" dirty="0" err="1"/>
              <a:t>alkalmazásról</a:t>
            </a:r>
            <a:r>
              <a:rPr lang="en-US" dirty="0"/>
              <a:t> </a:t>
            </a:r>
            <a:r>
              <a:rPr lang="en-US" dirty="0" err="1"/>
              <a:t>beszélünk</a:t>
            </a:r>
            <a:r>
              <a:rPr lang="en-US" dirty="0"/>
              <a:t>, </a:t>
            </a:r>
            <a:r>
              <a:rPr lang="en-US" dirty="0" err="1"/>
              <a:t>fel</a:t>
            </a:r>
            <a:r>
              <a:rPr lang="en-US" dirty="0"/>
              <a:t> </a:t>
            </a:r>
            <a:r>
              <a:rPr lang="en-US" dirty="0" err="1"/>
              <a:t>kell</a:t>
            </a:r>
            <a:r>
              <a:rPr lang="en-US" dirty="0"/>
              <a:t> </a:t>
            </a:r>
            <a:r>
              <a:rPr lang="en-US" dirty="0" err="1"/>
              <a:t>tennünk</a:t>
            </a:r>
            <a:r>
              <a:rPr lang="en-US" dirty="0"/>
              <a:t> </a:t>
            </a:r>
            <a:r>
              <a:rPr lang="en-US" dirty="0" err="1"/>
              <a:t>két</a:t>
            </a:r>
            <a:r>
              <a:rPr lang="en-US" dirty="0"/>
              <a:t> </a:t>
            </a:r>
            <a:r>
              <a:rPr lang="en-US" dirty="0" err="1"/>
              <a:t>alapvető</a:t>
            </a:r>
            <a:r>
              <a:rPr lang="en-US" dirty="0"/>
              <a:t> </a:t>
            </a:r>
            <a:r>
              <a:rPr lang="en-US" dirty="0" err="1"/>
              <a:t>kérdést</a:t>
            </a:r>
            <a:r>
              <a:rPr lang="en-US" dirty="0"/>
              <a:t>:</a:t>
            </a:r>
            <a:r>
              <a:rPr lang="hu-HU" dirty="0"/>
              <a:t> </a:t>
            </a:r>
            <a:r>
              <a:rPr lang="en-US" b="1" dirty="0"/>
              <a:t>ki </a:t>
            </a:r>
            <a:r>
              <a:rPr lang="en-US" b="1" dirty="0" err="1"/>
              <a:t>vagy</a:t>
            </a:r>
            <a:r>
              <a:rPr lang="en-US" b="1" dirty="0"/>
              <a:t> </a:t>
            </a:r>
            <a:r>
              <a:rPr lang="en-US" b="1" dirty="0" err="1"/>
              <a:t>te</a:t>
            </a:r>
            <a:r>
              <a:rPr lang="en-US" dirty="0"/>
              <a:t>, és </a:t>
            </a:r>
            <a:r>
              <a:rPr lang="en-US" b="1" dirty="0" err="1"/>
              <a:t>mit</a:t>
            </a:r>
            <a:r>
              <a:rPr lang="en-US" b="1" dirty="0"/>
              <a:t> </a:t>
            </a:r>
            <a:r>
              <a:rPr lang="en-US" b="1" dirty="0" err="1"/>
              <a:t>csinálhatsz</a:t>
            </a:r>
            <a:r>
              <a:rPr lang="en-US" b="0" dirty="0"/>
              <a:t> </a:t>
            </a:r>
            <a:r>
              <a:rPr lang="en-US" b="0" dirty="0" err="1"/>
              <a:t>az</a:t>
            </a:r>
            <a:r>
              <a:rPr lang="en-US" b="0" dirty="0"/>
              <a:t> </a:t>
            </a:r>
            <a:r>
              <a:rPr lang="en-US" b="0" dirty="0" err="1"/>
              <a:t>adott</a:t>
            </a:r>
            <a:r>
              <a:rPr lang="en-US" b="0" dirty="0"/>
              <a:t> </a:t>
            </a:r>
            <a:r>
              <a:rPr lang="en-US" b="0" dirty="0" err="1"/>
              <a:t>rendszerben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hu-HU" dirty="0"/>
              <a:t>- </a:t>
            </a:r>
            <a:r>
              <a:rPr lang="en-US" dirty="0" err="1"/>
              <a:t>az</a:t>
            </a:r>
            <a:r>
              <a:rPr lang="en-US" dirty="0"/>
              <a:t> internet </a:t>
            </a:r>
            <a:r>
              <a:rPr lang="en-US" b="1" dirty="0" err="1"/>
              <a:t>nyílt</a:t>
            </a:r>
            <a:r>
              <a:rPr lang="en-US" b="1" dirty="0"/>
              <a:t> </a:t>
            </a:r>
            <a:r>
              <a:rPr lang="en-US" b="1" dirty="0" err="1"/>
              <a:t>közeg</a:t>
            </a:r>
            <a:r>
              <a:rPr lang="en-US" dirty="0"/>
              <a:t>,</a:t>
            </a:r>
          </a:p>
          <a:p>
            <a:r>
              <a:rPr lang="hu-HU" dirty="0"/>
              <a:t>- </a:t>
            </a:r>
            <a:r>
              <a:rPr lang="en-US" dirty="0" err="1"/>
              <a:t>minden</a:t>
            </a:r>
            <a:r>
              <a:rPr lang="en-US" dirty="0"/>
              <a:t> HTTP </a:t>
            </a:r>
            <a:r>
              <a:rPr lang="en-US" dirty="0" err="1"/>
              <a:t>kérés</a:t>
            </a:r>
            <a:r>
              <a:rPr lang="en-US" dirty="0"/>
              <a:t> </a:t>
            </a:r>
            <a:r>
              <a:rPr lang="en-US" dirty="0" err="1"/>
              <a:t>potenciálisan</a:t>
            </a:r>
            <a:r>
              <a:rPr lang="en-US" dirty="0"/>
              <a:t> </a:t>
            </a:r>
            <a:r>
              <a:rPr lang="en-US" dirty="0" err="1"/>
              <a:t>idegen</a:t>
            </a:r>
            <a:r>
              <a:rPr lang="en-US" dirty="0"/>
              <a:t> </a:t>
            </a:r>
            <a:r>
              <a:rPr lang="en-US" dirty="0" err="1"/>
              <a:t>forrásból</a:t>
            </a:r>
            <a:r>
              <a:rPr lang="en-US" dirty="0"/>
              <a:t> </a:t>
            </a:r>
            <a:r>
              <a:rPr lang="en-US" dirty="0" err="1"/>
              <a:t>jön</a:t>
            </a:r>
            <a:r>
              <a:rPr lang="en-US" dirty="0"/>
              <a:t>,</a:t>
            </a:r>
          </a:p>
          <a:p>
            <a:r>
              <a:rPr lang="hu-HU" b="1" dirty="0"/>
              <a:t>- </a:t>
            </a:r>
            <a:r>
              <a:rPr lang="en-US" b="1" dirty="0" err="1"/>
              <a:t>nem</a:t>
            </a:r>
            <a:r>
              <a:rPr lang="en-US" b="1" dirty="0"/>
              <a:t> </a:t>
            </a:r>
            <a:r>
              <a:rPr lang="en-US" b="1" dirty="0" err="1"/>
              <a:t>bízhatunk</a:t>
            </a:r>
            <a:r>
              <a:rPr lang="en-US" b="1" dirty="0"/>
              <a:t> </a:t>
            </a:r>
            <a:r>
              <a:rPr lang="en-US" b="0" dirty="0"/>
              <a:t>meg </a:t>
            </a:r>
            <a:r>
              <a:rPr lang="en-US" b="0" dirty="0" err="1"/>
              <a:t>senkiben</a:t>
            </a:r>
            <a:r>
              <a:rPr lang="en-US" b="0" dirty="0"/>
              <a:t> </a:t>
            </a:r>
            <a:r>
              <a:rPr lang="en-US" b="0" dirty="0" err="1"/>
              <a:t>automatikusan</a:t>
            </a:r>
            <a:r>
              <a:rPr lang="en-US" dirty="0"/>
              <a:t>.</a:t>
            </a:r>
          </a:p>
          <a:p>
            <a:br>
              <a:rPr lang="hu-HU" dirty="0"/>
            </a:br>
            <a:r>
              <a:rPr lang="hu-HU" dirty="0"/>
              <a:t>-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autentikáció</a:t>
            </a:r>
            <a:r>
              <a:rPr lang="en-US" dirty="0"/>
              <a:t> és </a:t>
            </a:r>
            <a:r>
              <a:rPr lang="en-US" dirty="0" err="1"/>
              <a:t>jogosultságkezelés</a:t>
            </a:r>
            <a:r>
              <a:rPr lang="en-US" dirty="0"/>
              <a:t> </a:t>
            </a:r>
            <a:r>
              <a:rPr lang="en-US" b="1" dirty="0" err="1"/>
              <a:t>nem</a:t>
            </a:r>
            <a:r>
              <a:rPr lang="en-US" b="1" dirty="0"/>
              <a:t> extra </a:t>
            </a:r>
            <a:r>
              <a:rPr lang="en-US" b="1" dirty="0" err="1"/>
              <a:t>funkció</a:t>
            </a:r>
            <a:r>
              <a:rPr lang="en-US" dirty="0"/>
              <a:t>,</a:t>
            </a:r>
          </a:p>
          <a:p>
            <a:r>
              <a:rPr lang="hu-HU" dirty="0"/>
              <a:t>-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b="1" dirty="0" err="1"/>
              <a:t>alapfeltétel</a:t>
            </a:r>
            <a:r>
              <a:rPr lang="en-US" dirty="0"/>
              <a:t>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komoly</a:t>
            </a:r>
            <a:r>
              <a:rPr lang="en-US" dirty="0"/>
              <a:t> </a:t>
            </a:r>
            <a:r>
              <a:rPr lang="en-US" dirty="0" err="1"/>
              <a:t>webalkalmazásnál</a:t>
            </a:r>
            <a:r>
              <a:rPr lang="en-US" dirty="0"/>
              <a:t> (bank, </a:t>
            </a:r>
            <a:r>
              <a:rPr lang="en-US" dirty="0" err="1"/>
              <a:t>webshop</a:t>
            </a:r>
            <a:r>
              <a:rPr lang="en-US" dirty="0"/>
              <a:t>, admin </a:t>
            </a:r>
            <a:r>
              <a:rPr lang="en-US" dirty="0" err="1"/>
              <a:t>felület</a:t>
            </a:r>
            <a:r>
              <a:rPr lang="en-US" dirty="0"/>
              <a:t>).</a:t>
            </a:r>
          </a:p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605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egyik</a:t>
            </a:r>
            <a:r>
              <a:rPr lang="en-US" dirty="0"/>
              <a:t> </a:t>
            </a:r>
            <a:r>
              <a:rPr lang="en-US" dirty="0" err="1"/>
              <a:t>legfontosabb</a:t>
            </a:r>
            <a:r>
              <a:rPr lang="en-US" dirty="0"/>
              <a:t> </a:t>
            </a:r>
            <a:r>
              <a:rPr lang="en-US" dirty="0" err="1"/>
              <a:t>fogalmi</a:t>
            </a:r>
            <a:r>
              <a:rPr lang="en-US" dirty="0"/>
              <a:t> </a:t>
            </a:r>
            <a:r>
              <a:rPr lang="en-US" dirty="0" err="1"/>
              <a:t>különbség</a:t>
            </a:r>
            <a:r>
              <a:rPr lang="en-US" dirty="0"/>
              <a:t>, </a:t>
            </a:r>
            <a:r>
              <a:rPr lang="en-US" dirty="0" err="1"/>
              <a:t>amit</a:t>
            </a:r>
            <a:r>
              <a:rPr lang="en-US" dirty="0"/>
              <a:t> </a:t>
            </a:r>
            <a:r>
              <a:rPr lang="en-US" dirty="0" err="1"/>
              <a:t>sokan</a:t>
            </a:r>
            <a:r>
              <a:rPr lang="en-US" dirty="0"/>
              <a:t> </a:t>
            </a:r>
            <a:r>
              <a:rPr lang="en-US" dirty="0" err="1"/>
              <a:t>összekevernek</a:t>
            </a:r>
            <a:r>
              <a:rPr lang="en-US" dirty="0"/>
              <a:t>.</a:t>
            </a:r>
          </a:p>
          <a:p>
            <a:endParaRPr lang="hu-HU" b="1" dirty="0"/>
          </a:p>
          <a:p>
            <a:r>
              <a:rPr lang="en-US" b="1" dirty="0" err="1"/>
              <a:t>Autentikáció</a:t>
            </a:r>
            <a:r>
              <a:rPr lang="en-US" dirty="0"/>
              <a:t> = </a:t>
            </a:r>
            <a:r>
              <a:rPr lang="en-US" i="1" dirty="0"/>
              <a:t>ki </a:t>
            </a:r>
            <a:r>
              <a:rPr lang="en-US" i="1" dirty="0" err="1"/>
              <a:t>vagy</a:t>
            </a:r>
            <a:r>
              <a:rPr lang="en-US" i="1" dirty="0"/>
              <a:t> </a:t>
            </a:r>
            <a:r>
              <a:rPr lang="en-US" i="1" dirty="0" err="1"/>
              <a:t>te</a:t>
            </a:r>
            <a:r>
              <a:rPr lang="en-US" i="1" dirty="0"/>
              <a:t>?</a:t>
            </a:r>
            <a:br>
              <a:rPr lang="en-US" dirty="0"/>
            </a:br>
            <a:r>
              <a:rPr lang="en-US" dirty="0"/>
              <a:t>→ pl. </a:t>
            </a:r>
            <a:r>
              <a:rPr lang="en-US" dirty="0" err="1"/>
              <a:t>beléptél</a:t>
            </a:r>
            <a:r>
              <a:rPr lang="en-US" dirty="0"/>
              <a:t>-e, </a:t>
            </a:r>
            <a:r>
              <a:rPr lang="en-US" dirty="0" err="1"/>
              <a:t>helyes</a:t>
            </a:r>
            <a:r>
              <a:rPr lang="en-US" dirty="0"/>
              <a:t>-e a </a:t>
            </a:r>
            <a:r>
              <a:rPr lang="en-US" dirty="0" err="1"/>
              <a:t>jelszó</a:t>
            </a:r>
            <a:endParaRPr lang="en-US" dirty="0"/>
          </a:p>
          <a:p>
            <a:endParaRPr lang="hu-HU" b="1" dirty="0"/>
          </a:p>
          <a:p>
            <a:r>
              <a:rPr lang="en-US" b="1" dirty="0" err="1"/>
              <a:t>Autorizáció</a:t>
            </a:r>
            <a:r>
              <a:rPr lang="en-US" dirty="0"/>
              <a:t> = </a:t>
            </a:r>
            <a:r>
              <a:rPr lang="en-US" i="1" dirty="0" err="1"/>
              <a:t>mit</a:t>
            </a:r>
            <a:r>
              <a:rPr lang="en-US" i="1" dirty="0"/>
              <a:t> </a:t>
            </a:r>
            <a:r>
              <a:rPr lang="en-US" i="1" dirty="0" err="1"/>
              <a:t>tehetsz</a:t>
            </a:r>
            <a:r>
              <a:rPr lang="en-US" i="1" dirty="0"/>
              <a:t> meg?</a:t>
            </a:r>
            <a:br>
              <a:rPr lang="en-US" dirty="0"/>
            </a:br>
            <a:r>
              <a:rPr lang="en-US" dirty="0"/>
              <a:t>→ pl. admin </a:t>
            </a:r>
            <a:r>
              <a:rPr lang="en-US" dirty="0" err="1"/>
              <a:t>vagy</a:t>
            </a:r>
            <a:r>
              <a:rPr lang="en-US" dirty="0"/>
              <a:t>-e, </a:t>
            </a:r>
            <a:r>
              <a:rPr lang="en-US" dirty="0" err="1"/>
              <a:t>szerkeszthetsz</a:t>
            </a:r>
            <a:r>
              <a:rPr lang="en-US" dirty="0"/>
              <a:t>-e </a:t>
            </a:r>
            <a:r>
              <a:rPr lang="en-US" dirty="0" err="1"/>
              <a:t>adatot</a:t>
            </a:r>
            <a:endParaRPr lang="en-US" dirty="0"/>
          </a:p>
          <a:p>
            <a:endParaRPr lang="hu-HU" dirty="0"/>
          </a:p>
          <a:p>
            <a:r>
              <a:rPr lang="en-US" dirty="0" err="1"/>
              <a:t>Példa</a:t>
            </a:r>
            <a:r>
              <a:rPr lang="en-US" dirty="0"/>
              <a:t>:</a:t>
            </a:r>
            <a:r>
              <a:rPr lang="hu-HU" dirty="0"/>
              <a:t> </a:t>
            </a:r>
            <a:r>
              <a:rPr lang="en-US" dirty="0"/>
              <a:t>Egy </a:t>
            </a:r>
            <a:r>
              <a:rPr lang="en-US" dirty="0" err="1"/>
              <a:t>felhasználó</a:t>
            </a:r>
            <a:r>
              <a:rPr lang="en-US" dirty="0"/>
              <a:t> </a:t>
            </a:r>
            <a:r>
              <a:rPr lang="en-US" b="1" dirty="0"/>
              <a:t>be van </a:t>
            </a:r>
            <a:r>
              <a:rPr lang="en-US" b="1" dirty="0" err="1"/>
              <a:t>jelentkezve</a:t>
            </a:r>
            <a:r>
              <a:rPr lang="en-US" dirty="0"/>
              <a:t>, de</a:t>
            </a:r>
            <a:r>
              <a:rPr lang="hu-HU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biztos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b="1" dirty="0" err="1"/>
              <a:t>törölhet</a:t>
            </a:r>
            <a:r>
              <a:rPr lang="en-US" b="1" dirty="0"/>
              <a:t> </a:t>
            </a:r>
            <a:r>
              <a:rPr lang="en-US" b="1" dirty="0" err="1"/>
              <a:t>felhasználókat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42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web </a:t>
            </a:r>
            <a:r>
              <a:rPr lang="en-US" dirty="0" err="1"/>
              <a:t>egyik</a:t>
            </a:r>
            <a:r>
              <a:rPr lang="en-US" dirty="0"/>
              <a:t> </a:t>
            </a:r>
            <a:r>
              <a:rPr lang="en-US" dirty="0" err="1"/>
              <a:t>legalapvetőbb</a:t>
            </a:r>
            <a:r>
              <a:rPr lang="en-US" dirty="0"/>
              <a:t>, és </a:t>
            </a:r>
            <a:r>
              <a:rPr lang="en-US" dirty="0" err="1"/>
              <a:t>egyben</a:t>
            </a:r>
            <a:r>
              <a:rPr lang="en-US" dirty="0"/>
              <a:t> </a:t>
            </a:r>
            <a:r>
              <a:rPr lang="en-US" dirty="0" err="1"/>
              <a:t>legnagyobb</a:t>
            </a:r>
            <a:r>
              <a:rPr lang="en-US" dirty="0"/>
              <a:t> </a:t>
            </a:r>
            <a:r>
              <a:rPr lang="en-US" dirty="0" err="1"/>
              <a:t>kihívást</a:t>
            </a:r>
            <a:r>
              <a:rPr lang="en-US" dirty="0"/>
              <a:t> </a:t>
            </a:r>
            <a:r>
              <a:rPr lang="en-US" dirty="0" err="1"/>
              <a:t>jelentő</a:t>
            </a:r>
            <a:r>
              <a:rPr lang="en-US" dirty="0"/>
              <a:t> </a:t>
            </a:r>
            <a:r>
              <a:rPr lang="en-US" dirty="0" err="1"/>
              <a:t>tulajdonsága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HTTP </a:t>
            </a:r>
            <a:r>
              <a:rPr lang="en-US" dirty="0" err="1"/>
              <a:t>protokoll</a:t>
            </a:r>
            <a:r>
              <a:rPr lang="en-US" dirty="0"/>
              <a:t> </a:t>
            </a:r>
            <a:r>
              <a:rPr lang="en-US" b="1" dirty="0"/>
              <a:t>stateless</a:t>
            </a:r>
            <a:r>
              <a:rPr lang="en-US" dirty="0"/>
              <a:t>, </a:t>
            </a:r>
            <a:r>
              <a:rPr lang="en-US" dirty="0" err="1"/>
              <a:t>vagyis</a:t>
            </a:r>
            <a:r>
              <a:rPr lang="en-US" dirty="0"/>
              <a:t> </a:t>
            </a:r>
            <a:r>
              <a:rPr lang="en-US" dirty="0" err="1"/>
              <a:t>állapotmentes</a:t>
            </a:r>
            <a:r>
              <a:rPr lang="en-US" dirty="0"/>
              <a:t>.</a:t>
            </a:r>
            <a:endParaRPr lang="hu-HU" dirty="0"/>
          </a:p>
          <a:p>
            <a:r>
              <a:rPr lang="en-US" dirty="0"/>
              <a:t>Ez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dirty="0" err="1"/>
              <a:t>jelenti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amikor</a:t>
            </a:r>
            <a:r>
              <a:rPr lang="en-US" dirty="0"/>
              <a:t> a </a:t>
            </a:r>
            <a:r>
              <a:rPr lang="en-US" dirty="0" err="1"/>
              <a:t>böngésző</a:t>
            </a:r>
            <a:r>
              <a:rPr lang="en-US" dirty="0"/>
              <a:t> </a:t>
            </a:r>
            <a:r>
              <a:rPr lang="en-US" dirty="0" err="1"/>
              <a:t>elküld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HTTP </a:t>
            </a:r>
            <a:r>
              <a:rPr lang="en-US" dirty="0" err="1"/>
              <a:t>kérést</a:t>
            </a:r>
            <a:r>
              <a:rPr lang="en-US" dirty="0"/>
              <a:t> a </a:t>
            </a:r>
            <a:r>
              <a:rPr lang="en-US" dirty="0" err="1"/>
              <a:t>szervernek</a:t>
            </a:r>
            <a:r>
              <a:rPr lang="en-US" dirty="0"/>
              <a:t>,</a:t>
            </a:r>
            <a:r>
              <a:rPr lang="hu-HU" dirty="0"/>
              <a:t> </a:t>
            </a:r>
            <a:r>
              <a:rPr lang="en-US" dirty="0"/>
              <a:t>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b="1" dirty="0" err="1"/>
              <a:t>nem</a:t>
            </a:r>
            <a:r>
              <a:rPr lang="en-US" b="1" dirty="0"/>
              <a:t> </a:t>
            </a:r>
            <a:r>
              <a:rPr lang="en-US" b="1" dirty="0" err="1"/>
              <a:t>tud</a:t>
            </a:r>
            <a:r>
              <a:rPr lang="en-US" b="1" dirty="0"/>
              <a:t> </a:t>
            </a:r>
            <a:r>
              <a:rPr lang="en-US" b="1" dirty="0" err="1"/>
              <a:t>semmit</a:t>
            </a:r>
            <a:r>
              <a:rPr lang="en-US" dirty="0"/>
              <a:t> a </a:t>
            </a:r>
            <a:r>
              <a:rPr lang="en-US" dirty="0" err="1"/>
              <a:t>korábbi</a:t>
            </a:r>
            <a:r>
              <a:rPr lang="en-US" dirty="0"/>
              <a:t> </a:t>
            </a:r>
            <a:r>
              <a:rPr lang="en-US" dirty="0" err="1"/>
              <a:t>kérésekről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szemszögéből</a:t>
            </a:r>
            <a:r>
              <a:rPr lang="en-US" dirty="0"/>
              <a:t>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egyes</a:t>
            </a:r>
            <a:r>
              <a:rPr lang="en-US" dirty="0"/>
              <a:t> </a:t>
            </a:r>
            <a:r>
              <a:rPr lang="en-US" dirty="0" err="1"/>
              <a:t>kérés</a:t>
            </a:r>
            <a:r>
              <a:rPr lang="en-US" dirty="0"/>
              <a:t> </a:t>
            </a:r>
            <a:r>
              <a:rPr lang="en-US" dirty="0" err="1"/>
              <a:t>olyan</a:t>
            </a:r>
            <a:r>
              <a:rPr lang="en-US" dirty="0"/>
              <a:t>, </a:t>
            </a:r>
            <a:r>
              <a:rPr lang="en-US" dirty="0" err="1"/>
              <a:t>mintha</a:t>
            </a:r>
            <a:r>
              <a:rPr lang="en-US" dirty="0"/>
              <a:t> </a:t>
            </a:r>
            <a:r>
              <a:rPr lang="en-US" b="1" dirty="0"/>
              <a:t>most </a:t>
            </a:r>
            <a:r>
              <a:rPr lang="en-US" b="1" dirty="0" err="1"/>
              <a:t>látná</a:t>
            </a:r>
            <a:r>
              <a:rPr lang="en-US" b="1" dirty="0"/>
              <a:t> </a:t>
            </a:r>
            <a:r>
              <a:rPr lang="en-US" b="1" dirty="0" err="1"/>
              <a:t>először</a:t>
            </a:r>
            <a:r>
              <a:rPr lang="en-US" dirty="0"/>
              <a:t> </a:t>
            </a:r>
            <a:r>
              <a:rPr lang="en-US" dirty="0" err="1"/>
              <a:t>ezt</a:t>
            </a:r>
            <a:r>
              <a:rPr lang="en-US" dirty="0"/>
              <a:t> a </a:t>
            </a:r>
            <a:r>
              <a:rPr lang="en-US" dirty="0" err="1"/>
              <a:t>klienst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hu-HU" dirty="0"/>
              <a:t>Azaz:</a:t>
            </a:r>
          </a:p>
          <a:p>
            <a:r>
              <a:rPr lang="hu-HU" dirty="0"/>
              <a:t>- </a:t>
            </a:r>
            <a:r>
              <a:rPr lang="en-US" dirty="0"/>
              <a:t>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b="1" dirty="0" err="1"/>
              <a:t>nem</a:t>
            </a:r>
            <a:r>
              <a:rPr lang="en-US" b="1" dirty="0"/>
              <a:t> </a:t>
            </a:r>
            <a:r>
              <a:rPr lang="en-US" b="1" dirty="0" err="1"/>
              <a:t>emlékszik</a:t>
            </a:r>
            <a:r>
              <a:rPr lang="en-US" dirty="0"/>
              <a:t> </a:t>
            </a:r>
            <a:r>
              <a:rPr lang="en-US" dirty="0" err="1"/>
              <a:t>korábbi</a:t>
            </a:r>
            <a:r>
              <a:rPr lang="en-US" dirty="0"/>
              <a:t> </a:t>
            </a:r>
            <a:r>
              <a:rPr lang="en-US" dirty="0" err="1"/>
              <a:t>kérésekre</a:t>
            </a:r>
            <a:r>
              <a:rPr lang="en-US" dirty="0"/>
              <a:t>,</a:t>
            </a:r>
          </a:p>
          <a:p>
            <a:r>
              <a:rPr lang="hu-HU" dirty="0"/>
              <a:t>- </a:t>
            </a:r>
            <a:r>
              <a:rPr lang="en-US" dirty="0" err="1"/>
              <a:t>minden</a:t>
            </a:r>
            <a:r>
              <a:rPr lang="en-US" dirty="0"/>
              <a:t> request </a:t>
            </a:r>
            <a:r>
              <a:rPr lang="en-US" dirty="0" err="1"/>
              <a:t>önálló</a:t>
            </a:r>
            <a:r>
              <a:rPr lang="en-US" dirty="0"/>
              <a:t>,</a:t>
            </a:r>
          </a:p>
          <a:p>
            <a:r>
              <a:rPr lang="hu-HU" dirty="0"/>
              <a:t>- </a:t>
            </a:r>
            <a:r>
              <a:rPr lang="en-US" dirty="0" err="1"/>
              <a:t>nincs</a:t>
            </a:r>
            <a:r>
              <a:rPr lang="en-US" dirty="0"/>
              <a:t> </a:t>
            </a:r>
            <a:r>
              <a:rPr lang="en-US" dirty="0" err="1"/>
              <a:t>beépített</a:t>
            </a:r>
            <a:r>
              <a:rPr lang="en-US" dirty="0"/>
              <a:t> „</a:t>
            </a:r>
            <a:r>
              <a:rPr lang="en-US" dirty="0" err="1"/>
              <a:t>bejelentkezett</a:t>
            </a:r>
            <a:r>
              <a:rPr lang="en-US" dirty="0"/>
              <a:t> </a:t>
            </a:r>
            <a:r>
              <a:rPr lang="en-US" dirty="0" err="1"/>
              <a:t>állapot</a:t>
            </a:r>
            <a:r>
              <a:rPr lang="en-US" dirty="0"/>
              <a:t>.</a:t>
            </a:r>
          </a:p>
          <a:p>
            <a:endParaRPr lang="hu-HU" dirty="0"/>
          </a:p>
          <a:p>
            <a:r>
              <a:rPr lang="en-US" dirty="0"/>
              <a:t>A HTTP </a:t>
            </a:r>
            <a:r>
              <a:rPr lang="en-US" dirty="0" err="1"/>
              <a:t>protokollban</a:t>
            </a:r>
            <a:r>
              <a:rPr lang="en-US" dirty="0"/>
              <a:t> </a:t>
            </a:r>
            <a:r>
              <a:rPr lang="en-US" b="1" dirty="0" err="1"/>
              <a:t>nincs</a:t>
            </a:r>
            <a:r>
              <a:rPr lang="en-US" b="1" dirty="0"/>
              <a:t> </a:t>
            </a:r>
            <a:r>
              <a:rPr lang="en-US" b="1" dirty="0" err="1"/>
              <a:t>olyan</a:t>
            </a:r>
            <a:r>
              <a:rPr lang="en-US" b="1" dirty="0"/>
              <a:t> </a:t>
            </a:r>
            <a:r>
              <a:rPr lang="en-US" b="1" dirty="0" err="1"/>
              <a:t>fogalom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i="1" dirty="0" err="1"/>
              <a:t>bejelentkezett</a:t>
            </a:r>
            <a:r>
              <a:rPr lang="en-US" i="1" dirty="0"/>
              <a:t> </a:t>
            </a:r>
            <a:r>
              <a:rPr lang="en-US" i="1" dirty="0" err="1"/>
              <a:t>felhasználó</a:t>
            </a:r>
            <a:r>
              <a:rPr lang="hu-HU" i="1" dirty="0"/>
              <a:t>.</a:t>
            </a:r>
            <a:r>
              <a:rPr lang="hu-HU" i="0" dirty="0"/>
              <a:t> </a:t>
            </a:r>
            <a:r>
              <a:rPr lang="en-US" dirty="0"/>
              <a:t>A </a:t>
            </a:r>
            <a:r>
              <a:rPr lang="en-US" dirty="0" err="1"/>
              <a:t>bejelentkezési</a:t>
            </a:r>
            <a:r>
              <a:rPr lang="en-US" dirty="0"/>
              <a:t> </a:t>
            </a:r>
            <a:r>
              <a:rPr lang="en-US" dirty="0" err="1"/>
              <a:t>állapot</a:t>
            </a:r>
            <a:r>
              <a:rPr lang="en-US" dirty="0"/>
              <a:t> </a:t>
            </a:r>
            <a:r>
              <a:rPr lang="en-US" b="1" dirty="0" err="1"/>
              <a:t>nem</a:t>
            </a:r>
            <a:r>
              <a:rPr lang="en-US" b="1" dirty="0"/>
              <a:t> a HTTP </a:t>
            </a:r>
            <a:r>
              <a:rPr lang="en-US" b="1" dirty="0" err="1"/>
              <a:t>része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 err="1"/>
              <a:t>Ezt</a:t>
            </a:r>
            <a:r>
              <a:rPr lang="en-US" dirty="0"/>
              <a:t> </a:t>
            </a:r>
            <a:r>
              <a:rPr lang="en-US" dirty="0" err="1"/>
              <a:t>nekünk</a:t>
            </a:r>
            <a:r>
              <a:rPr lang="en-US" dirty="0"/>
              <a:t>, </a:t>
            </a:r>
            <a:r>
              <a:rPr lang="en-US" dirty="0" err="1"/>
              <a:t>alkalmazásfejlesztőknek</a:t>
            </a:r>
            <a:r>
              <a:rPr lang="en-US" dirty="0"/>
              <a:t> </a:t>
            </a:r>
            <a:r>
              <a:rPr lang="en-US" dirty="0" err="1"/>
              <a:t>kell</a:t>
            </a:r>
            <a:r>
              <a:rPr lang="en-US" dirty="0"/>
              <a:t> </a:t>
            </a:r>
            <a:r>
              <a:rPr lang="en-US" dirty="0" err="1"/>
              <a:t>megoldanunk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en-US" dirty="0"/>
              <a:t>Ha 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emlékszik</a:t>
            </a:r>
            <a:r>
              <a:rPr lang="en-US" dirty="0"/>
              <a:t>, </a:t>
            </a:r>
            <a:r>
              <a:rPr lang="en-US" dirty="0" err="1"/>
              <a:t>honnan</a:t>
            </a:r>
            <a:r>
              <a:rPr lang="en-US" dirty="0"/>
              <a:t> </a:t>
            </a:r>
            <a:r>
              <a:rPr lang="en-US" dirty="0" err="1"/>
              <a:t>tudja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én</a:t>
            </a:r>
            <a:r>
              <a:rPr lang="en-US" dirty="0"/>
              <a:t> </a:t>
            </a:r>
            <a:r>
              <a:rPr lang="en-US" dirty="0" err="1"/>
              <a:t>már</a:t>
            </a:r>
            <a:r>
              <a:rPr lang="en-US" dirty="0"/>
              <a:t> </a:t>
            </a:r>
            <a:r>
              <a:rPr lang="en-US" dirty="0" err="1"/>
              <a:t>bejelentkeztem</a:t>
            </a:r>
            <a:r>
              <a:rPr lang="en-US" dirty="0"/>
              <a:t>?</a:t>
            </a:r>
            <a:r>
              <a:rPr lang="hu-HU" dirty="0"/>
              <a:t> Megoldás: </a:t>
            </a:r>
            <a:r>
              <a:rPr lang="en-US" b="1" dirty="0" err="1"/>
              <a:t>valamilyen</a:t>
            </a:r>
            <a:r>
              <a:rPr lang="en-US" b="1" dirty="0"/>
              <a:t> </a:t>
            </a:r>
            <a:r>
              <a:rPr lang="en-US" b="1" dirty="0" err="1"/>
              <a:t>módon</a:t>
            </a:r>
            <a:r>
              <a:rPr lang="en-US" b="1" dirty="0"/>
              <a:t> </a:t>
            </a:r>
            <a:r>
              <a:rPr lang="en-US" b="1" dirty="0" err="1"/>
              <a:t>állapotot</a:t>
            </a:r>
            <a:r>
              <a:rPr lang="en-US" b="1" dirty="0"/>
              <a:t> </a:t>
            </a:r>
            <a:r>
              <a:rPr lang="en-US" b="1" dirty="0" err="1"/>
              <a:t>kell</a:t>
            </a:r>
            <a:r>
              <a:rPr lang="en-US" b="1" dirty="0"/>
              <a:t> </a:t>
            </a:r>
            <a:r>
              <a:rPr lang="en-US" b="1" dirty="0" err="1"/>
              <a:t>bevezetnünk</a:t>
            </a:r>
            <a:r>
              <a:rPr lang="en-US" dirty="0"/>
              <a:t> a stateless HTTP </a:t>
            </a:r>
            <a:r>
              <a:rPr lang="en-US" dirty="0" err="1"/>
              <a:t>fölé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391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 </a:t>
            </a:r>
            <a:r>
              <a:rPr lang="en-US" dirty="0" err="1"/>
              <a:t>protokoll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emlékszik</a:t>
            </a:r>
            <a:r>
              <a:rPr lang="en-US" dirty="0"/>
              <a:t> </a:t>
            </a:r>
            <a:r>
              <a:rPr lang="en-US" dirty="0" err="1"/>
              <a:t>semmire</a:t>
            </a:r>
            <a:r>
              <a:rPr lang="hu-HU" dirty="0"/>
              <a:t>. </a:t>
            </a:r>
            <a:r>
              <a:rPr lang="en-US" dirty="0"/>
              <a:t>A </a:t>
            </a:r>
            <a:r>
              <a:rPr lang="en-US" dirty="0" err="1"/>
              <a:t>klasszikus</a:t>
            </a:r>
            <a:r>
              <a:rPr lang="en-US" dirty="0"/>
              <a:t> </a:t>
            </a:r>
            <a:r>
              <a:rPr lang="en-US" dirty="0" err="1"/>
              <a:t>megoldás</a:t>
            </a:r>
            <a:r>
              <a:rPr lang="en-US" dirty="0"/>
              <a:t> </a:t>
            </a:r>
            <a:r>
              <a:rPr lang="en-US" dirty="0" err="1"/>
              <a:t>erre</a:t>
            </a:r>
            <a:r>
              <a:rPr lang="en-US" dirty="0"/>
              <a:t> a </a:t>
            </a:r>
            <a:r>
              <a:rPr lang="en-US" dirty="0" err="1"/>
              <a:t>problémára</a:t>
            </a:r>
            <a:r>
              <a:rPr lang="en-US" dirty="0"/>
              <a:t> a session</a:t>
            </a:r>
            <a:r>
              <a:rPr lang="hu-HU" dirty="0"/>
              <a:t>. </a:t>
            </a:r>
            <a:r>
              <a:rPr lang="en-US" dirty="0"/>
              <a:t>A session </a:t>
            </a:r>
            <a:r>
              <a:rPr lang="en-US" dirty="0" err="1"/>
              <a:t>alapú</a:t>
            </a:r>
            <a:r>
              <a:rPr lang="en-US" dirty="0"/>
              <a:t> </a:t>
            </a:r>
            <a:r>
              <a:rPr lang="en-US" dirty="0" err="1"/>
              <a:t>autentikáció</a:t>
            </a:r>
            <a:r>
              <a:rPr lang="en-US" dirty="0"/>
              <a:t> </a:t>
            </a:r>
            <a:r>
              <a:rPr lang="en-US" dirty="0" err="1"/>
              <a:t>lényege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hu-HU" dirty="0"/>
              <a:t> </a:t>
            </a:r>
            <a:r>
              <a:rPr lang="en-US" b="1" dirty="0"/>
              <a:t>a </a:t>
            </a:r>
            <a:r>
              <a:rPr lang="en-US" b="1" dirty="0" err="1"/>
              <a:t>szerver</a:t>
            </a:r>
            <a:r>
              <a:rPr lang="en-US" b="1" dirty="0"/>
              <a:t> </a:t>
            </a:r>
            <a:r>
              <a:rPr lang="en-US" b="1" dirty="0" err="1"/>
              <a:t>elkezd</a:t>
            </a:r>
            <a:r>
              <a:rPr lang="en-US" b="1" dirty="0"/>
              <a:t> </a:t>
            </a:r>
            <a:r>
              <a:rPr lang="en-US" b="1" dirty="0" err="1"/>
              <a:t>emlékezni</a:t>
            </a:r>
            <a:r>
              <a:rPr lang="en-US" b="1" dirty="0"/>
              <a:t> a </a:t>
            </a:r>
            <a:r>
              <a:rPr lang="en-US" b="1" dirty="0" err="1"/>
              <a:t>kliensre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pt-BR" dirty="0"/>
              <a:t>Nem a HTTP emlékszik – hanem </a:t>
            </a:r>
            <a:r>
              <a:rPr lang="pt-BR" b="1" dirty="0"/>
              <a:t>az alkalmazás</a:t>
            </a:r>
            <a:r>
              <a:rPr lang="hu-HU" b="1" dirty="0"/>
              <a:t>.</a:t>
            </a:r>
            <a:endParaRPr lang="hu-HU" dirty="0"/>
          </a:p>
          <a:p>
            <a:endParaRPr lang="hu-HU" dirty="0"/>
          </a:p>
          <a:p>
            <a:r>
              <a:rPr lang="hu-HU" dirty="0"/>
              <a:t>Belépéskor a szerver létrehoz egy </a:t>
            </a:r>
            <a:r>
              <a:rPr lang="hu-HU" b="1" dirty="0"/>
              <a:t>session-t</a:t>
            </a:r>
            <a:r>
              <a:rPr lang="hu-HU" dirty="0"/>
              <a:t>, ami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b="1" dirty="0" err="1"/>
              <a:t>szerver</a:t>
            </a:r>
            <a:r>
              <a:rPr lang="en-US" b="1" dirty="0"/>
              <a:t> </a:t>
            </a:r>
            <a:r>
              <a:rPr lang="en-US" b="1" dirty="0" err="1"/>
              <a:t>oldali</a:t>
            </a:r>
            <a:r>
              <a:rPr lang="en-US" b="1" dirty="0"/>
              <a:t> </a:t>
            </a:r>
            <a:r>
              <a:rPr lang="en-US" b="0" dirty="0" err="1"/>
              <a:t>adatstruktúra</a:t>
            </a:r>
            <a:r>
              <a:rPr lang="hu-HU" b="1" dirty="0"/>
              <a:t>, </a:t>
            </a:r>
            <a:r>
              <a:rPr lang="hu-HU" dirty="0"/>
              <a:t>generál egy </a:t>
            </a:r>
            <a:r>
              <a:rPr lang="hu-HU" b="1" dirty="0"/>
              <a:t>session ID-t</a:t>
            </a:r>
            <a:r>
              <a:rPr lang="hu-HU" dirty="0"/>
              <a:t>, ezt elküldi a kliensnek.</a:t>
            </a:r>
          </a:p>
          <a:p>
            <a:endParaRPr lang="hu-HU" dirty="0"/>
          </a:p>
          <a:p>
            <a:r>
              <a:rPr lang="hu-HU" dirty="0"/>
              <a:t>Fontos: az </a:t>
            </a:r>
            <a:r>
              <a:rPr lang="hu-HU" b="1" dirty="0"/>
              <a:t>állapot a szerveren van</a:t>
            </a:r>
            <a:r>
              <a:rPr lang="hu-HU" dirty="0"/>
              <a:t>, a kliens csak egy azonosítót tárol, és minden kérésnél elküldi a szervernek. </a:t>
            </a:r>
            <a:r>
              <a:rPr lang="en-US" dirty="0" err="1"/>
              <a:t>Így</a:t>
            </a:r>
            <a:r>
              <a:rPr lang="en-US" dirty="0"/>
              <a:t> </a:t>
            </a:r>
            <a:r>
              <a:rPr lang="en-US" dirty="0" err="1"/>
              <a:t>lesz</a:t>
            </a:r>
            <a:r>
              <a:rPr lang="en-US" dirty="0"/>
              <a:t> a stateless HTTP </a:t>
            </a:r>
            <a:r>
              <a:rPr lang="en-US" dirty="0" err="1"/>
              <a:t>fölött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b="1" dirty="0"/>
              <a:t>stateful </a:t>
            </a:r>
            <a:r>
              <a:rPr lang="en-US" b="1" dirty="0" err="1"/>
              <a:t>alkalmazás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hu-HU" dirty="0"/>
              <a:t>Előny: egyszerű, és jól kontrollálható.</a:t>
            </a:r>
          </a:p>
          <a:p>
            <a:endParaRPr lang="hu-HU" dirty="0"/>
          </a:p>
          <a:p>
            <a:r>
              <a:rPr lang="hu-HU" dirty="0"/>
              <a:t>Hátrány:</a:t>
            </a:r>
          </a:p>
          <a:p>
            <a:r>
              <a:rPr lang="hu-HU" dirty="0"/>
              <a:t>- skálázás nehéz, mivel a szerver alkalmazás állapotot tárol</a:t>
            </a:r>
          </a:p>
          <a:p>
            <a:r>
              <a:rPr lang="hu-HU" dirty="0"/>
              <a:t>- szervermemória-függő.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6470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Fontos: </a:t>
            </a:r>
            <a:r>
              <a:rPr lang="en-US" dirty="0"/>
              <a:t>A cookie </a:t>
            </a:r>
            <a:r>
              <a:rPr lang="en-US" dirty="0" err="1"/>
              <a:t>önmagában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autentikációs</a:t>
            </a:r>
            <a:r>
              <a:rPr lang="en-US" dirty="0"/>
              <a:t> </a:t>
            </a:r>
            <a:r>
              <a:rPr lang="en-US" dirty="0" err="1"/>
              <a:t>mechanizmus</a:t>
            </a:r>
            <a:r>
              <a:rPr lang="hu-HU" dirty="0"/>
              <a:t>. A </a:t>
            </a:r>
            <a:r>
              <a:rPr lang="hu-HU" dirty="0" err="1"/>
              <a:t>cookie</a:t>
            </a:r>
            <a:r>
              <a:rPr lang="hu-HU" dirty="0"/>
              <a:t> egy </a:t>
            </a:r>
            <a:r>
              <a:rPr lang="hu-HU" b="1" dirty="0"/>
              <a:t>egyszerű kliens oldali adattároló mechanizmus</a:t>
            </a:r>
            <a:r>
              <a:rPr lang="hu-HU" dirty="0"/>
              <a:t>, amit a böngésző kezel.</a:t>
            </a:r>
          </a:p>
          <a:p>
            <a:endParaRPr lang="hu-HU" dirty="0"/>
          </a:p>
          <a:p>
            <a:r>
              <a:rPr lang="hu-HU" dirty="0"/>
              <a:t>A</a:t>
            </a:r>
            <a:r>
              <a:rPr lang="en-US" dirty="0"/>
              <a:t> cookie </a:t>
            </a:r>
            <a:r>
              <a:rPr lang="en-US" dirty="0" err="1"/>
              <a:t>csak</a:t>
            </a:r>
            <a:r>
              <a:rPr lang="en-US" dirty="0"/>
              <a:t> </a:t>
            </a:r>
            <a:r>
              <a:rPr lang="en-US" b="1" dirty="0" err="1"/>
              <a:t>adatot</a:t>
            </a:r>
            <a:r>
              <a:rPr lang="en-US" b="1" dirty="0"/>
              <a:t> </a:t>
            </a:r>
            <a:r>
              <a:rPr lang="en-US" b="1" dirty="0" err="1"/>
              <a:t>tárol</a:t>
            </a:r>
            <a:r>
              <a:rPr lang="en-US" dirty="0"/>
              <a:t> a </a:t>
            </a:r>
            <a:r>
              <a:rPr lang="en-US" dirty="0" err="1"/>
              <a:t>kliens</a:t>
            </a:r>
            <a:r>
              <a:rPr lang="en-US" dirty="0"/>
              <a:t> </a:t>
            </a:r>
            <a:r>
              <a:rPr lang="en-US" dirty="0" err="1"/>
              <a:t>oldalon</a:t>
            </a:r>
            <a:r>
              <a:rPr lang="en-US" dirty="0"/>
              <a:t>,</a:t>
            </a:r>
            <a:r>
              <a:rPr lang="hu-HU" dirty="0"/>
              <a:t> </a:t>
            </a:r>
            <a:r>
              <a:rPr lang="en-US" dirty="0" err="1"/>
              <a:t>tipikusan</a:t>
            </a:r>
            <a:r>
              <a:rPr lang="en-US" dirty="0"/>
              <a:t> </a:t>
            </a:r>
            <a:r>
              <a:rPr lang="en-US" b="1" dirty="0"/>
              <a:t>session ID</a:t>
            </a:r>
            <a:r>
              <a:rPr lang="hu-HU" b="1" dirty="0"/>
              <a:t> </a:t>
            </a:r>
            <a:r>
              <a:rPr lang="hu-HU" b="0" dirty="0"/>
              <a:t>hordozója</a:t>
            </a:r>
            <a:r>
              <a:rPr lang="en-US" dirty="0"/>
              <a:t>,</a:t>
            </a:r>
            <a:r>
              <a:rPr lang="hu-HU" dirty="0"/>
              <a:t> és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kérésnél</a:t>
            </a:r>
            <a:r>
              <a:rPr lang="en-US" dirty="0"/>
              <a:t> </a:t>
            </a:r>
            <a:r>
              <a:rPr lang="en-US" dirty="0" err="1"/>
              <a:t>automatikusan</a:t>
            </a:r>
            <a:r>
              <a:rPr lang="en-US" dirty="0"/>
              <a:t> </a:t>
            </a:r>
            <a:r>
              <a:rPr lang="en-US" dirty="0" err="1"/>
              <a:t>elküldődik</a:t>
            </a:r>
            <a:r>
              <a:rPr lang="en-US" dirty="0"/>
              <a:t>.</a:t>
            </a:r>
            <a:endParaRPr lang="hu-HU" dirty="0"/>
          </a:p>
          <a:p>
            <a:r>
              <a:rPr lang="en-US" dirty="0"/>
              <a:t>A cookie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tartalmazza</a:t>
            </a:r>
            <a:r>
              <a:rPr lang="en-US" dirty="0"/>
              <a:t> a </a:t>
            </a:r>
            <a:r>
              <a:rPr lang="en-US" dirty="0" err="1"/>
              <a:t>felhasználó</a:t>
            </a:r>
            <a:r>
              <a:rPr lang="en-US" dirty="0"/>
              <a:t> </a:t>
            </a:r>
            <a:r>
              <a:rPr lang="en-US" dirty="0" err="1"/>
              <a:t>adatait</a:t>
            </a:r>
            <a:r>
              <a:rPr lang="en-US" dirty="0"/>
              <a:t>,</a:t>
            </a:r>
            <a:r>
              <a:rPr lang="hu-HU" dirty="0"/>
              <a:t> </a:t>
            </a:r>
            <a:r>
              <a:rPr lang="en-US" dirty="0" err="1"/>
              <a:t>csak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b="1" dirty="0" err="1"/>
              <a:t>azonosítót</a:t>
            </a:r>
            <a:r>
              <a:rPr lang="en-US" dirty="0"/>
              <a:t>, </a:t>
            </a:r>
            <a:r>
              <a:rPr lang="en-US" dirty="0" err="1"/>
              <a:t>ami</a:t>
            </a:r>
            <a:r>
              <a:rPr lang="en-US" dirty="0"/>
              <a:t> 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memóriájára</a:t>
            </a:r>
            <a:r>
              <a:rPr lang="en-US" dirty="0"/>
              <a:t> </a:t>
            </a:r>
            <a:r>
              <a:rPr lang="en-US" dirty="0" err="1"/>
              <a:t>mutat</a:t>
            </a:r>
            <a:r>
              <a:rPr lang="en-US" dirty="0"/>
              <a:t>.</a:t>
            </a:r>
          </a:p>
          <a:p>
            <a:endParaRPr lang="hu-HU" dirty="0"/>
          </a:p>
          <a:p>
            <a:r>
              <a:rPr lang="en-US" dirty="0" err="1"/>
              <a:t>Nagyon</a:t>
            </a:r>
            <a:r>
              <a:rPr lang="en-US" dirty="0"/>
              <a:t> </a:t>
            </a:r>
            <a:r>
              <a:rPr lang="en-US" dirty="0" err="1"/>
              <a:t>gyakori</a:t>
            </a:r>
            <a:r>
              <a:rPr lang="en-US" dirty="0"/>
              <a:t> </a:t>
            </a:r>
            <a:r>
              <a:rPr lang="en-US" dirty="0" err="1"/>
              <a:t>tévhit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cookie </a:t>
            </a:r>
            <a:r>
              <a:rPr lang="en-US" dirty="0" err="1"/>
              <a:t>maga</a:t>
            </a:r>
            <a:r>
              <a:rPr lang="en-US" dirty="0"/>
              <a:t> a </a:t>
            </a:r>
            <a:r>
              <a:rPr lang="en-US" dirty="0" err="1"/>
              <a:t>biztonság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pt-BR" dirty="0"/>
              <a:t>Ez nem igaz.</a:t>
            </a:r>
            <a:r>
              <a:rPr lang="hu-HU" dirty="0"/>
              <a:t> </a:t>
            </a:r>
            <a:r>
              <a:rPr lang="pt-BR" dirty="0"/>
              <a:t>A cookie </a:t>
            </a:r>
            <a:r>
              <a:rPr lang="pt-BR" b="1" dirty="0"/>
              <a:t>csak egy boríték</a:t>
            </a:r>
            <a:r>
              <a:rPr lang="hu-HU" b="0" dirty="0"/>
              <a:t>, ami a session azonosítóját tárolja.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0278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session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rossz</a:t>
            </a:r>
            <a:r>
              <a:rPr lang="en-US" dirty="0"/>
              <a:t> </a:t>
            </a:r>
            <a:r>
              <a:rPr lang="en-US" dirty="0" err="1"/>
              <a:t>megoldás</a:t>
            </a:r>
            <a:r>
              <a:rPr lang="hu-HU" dirty="0"/>
              <a:t>, </a:t>
            </a:r>
            <a:r>
              <a:rPr lang="en-US" dirty="0"/>
              <a:t>de </a:t>
            </a:r>
            <a:r>
              <a:rPr lang="en-US" b="1" dirty="0" err="1"/>
              <a:t>bizonyos</a:t>
            </a:r>
            <a:r>
              <a:rPr lang="en-US" b="1" dirty="0"/>
              <a:t> </a:t>
            </a:r>
            <a:r>
              <a:rPr lang="en-US" b="1" dirty="0" err="1"/>
              <a:t>környezetekben</a:t>
            </a:r>
            <a:r>
              <a:rPr lang="en-US" b="1" dirty="0"/>
              <a:t> </a:t>
            </a:r>
            <a:r>
              <a:rPr lang="en-US" b="1" dirty="0" err="1"/>
              <a:t>komoly</a:t>
            </a:r>
            <a:r>
              <a:rPr lang="en-US" b="1" dirty="0"/>
              <a:t> </a:t>
            </a:r>
            <a:r>
              <a:rPr lang="en-US" b="1" dirty="0" err="1"/>
              <a:t>hátrányai</a:t>
            </a:r>
            <a:r>
              <a:rPr lang="en-US" b="1" dirty="0"/>
              <a:t> </a:t>
            </a:r>
            <a:r>
              <a:rPr lang="en-US" b="1" dirty="0" err="1"/>
              <a:t>vannak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A </a:t>
            </a:r>
            <a:r>
              <a:rPr lang="en-US" dirty="0" err="1"/>
              <a:t>legnagyobb</a:t>
            </a:r>
            <a:r>
              <a:rPr lang="en-US" dirty="0"/>
              <a:t> </a:t>
            </a:r>
            <a:r>
              <a:rPr lang="en-US" dirty="0" err="1"/>
              <a:t>különbség</a:t>
            </a:r>
            <a:r>
              <a:rPr lang="en-US" dirty="0"/>
              <a:t> a session és a modern </a:t>
            </a:r>
            <a:r>
              <a:rPr lang="en-US" dirty="0" err="1"/>
              <a:t>megoldások</a:t>
            </a:r>
            <a:r>
              <a:rPr lang="en-US" dirty="0"/>
              <a:t> </a:t>
            </a:r>
            <a:r>
              <a:rPr lang="en-US" dirty="0" err="1"/>
              <a:t>között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,</a:t>
            </a:r>
            <a:r>
              <a:rPr lang="hu-HU" dirty="0"/>
              <a:t> </a:t>
            </a:r>
            <a:r>
              <a:rPr lang="en-US" dirty="0" err="1"/>
              <a:t>hogy</a:t>
            </a:r>
            <a:r>
              <a:rPr lang="en-US" dirty="0"/>
              <a:t> a session </a:t>
            </a:r>
            <a:r>
              <a:rPr lang="en-US" b="1" dirty="0" err="1"/>
              <a:t>állapotot</a:t>
            </a:r>
            <a:r>
              <a:rPr lang="en-US" b="1" dirty="0"/>
              <a:t> tart </a:t>
            </a:r>
            <a:r>
              <a:rPr lang="en-US" b="1" dirty="0" err="1"/>
              <a:t>fenn</a:t>
            </a:r>
            <a:r>
              <a:rPr lang="en-US" b="1" dirty="0"/>
              <a:t> a </a:t>
            </a:r>
            <a:r>
              <a:rPr lang="en-US" b="1" dirty="0" err="1"/>
              <a:t>szerveren</a:t>
            </a:r>
            <a:r>
              <a:rPr lang="hu-HU" b="1" dirty="0"/>
              <a:t> (alkalmazásban)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hu-HU" dirty="0"/>
              <a:t>A session alapú megoldások jól működtek, amíg monolit alkalmazásaink voltak. </a:t>
            </a:r>
            <a:r>
              <a:rPr lang="en-US" dirty="0" err="1"/>
              <a:t>Egyetlen</a:t>
            </a:r>
            <a:r>
              <a:rPr lang="en-US" dirty="0"/>
              <a:t> </a:t>
            </a:r>
            <a:r>
              <a:rPr lang="en-US" dirty="0" err="1"/>
              <a:t>szerveren</a:t>
            </a:r>
            <a:r>
              <a:rPr lang="en-US" dirty="0"/>
              <a:t> </a:t>
            </a:r>
            <a:r>
              <a:rPr lang="hu-HU" dirty="0"/>
              <a:t>a session állapot</a:t>
            </a:r>
            <a:r>
              <a:rPr lang="en-US" dirty="0"/>
              <a:t> </a:t>
            </a:r>
            <a:r>
              <a:rPr lang="en-US" dirty="0" err="1"/>
              <a:t>még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gond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De mi </a:t>
            </a:r>
            <a:r>
              <a:rPr lang="en-US" dirty="0" err="1"/>
              <a:t>történik</a:t>
            </a:r>
            <a:r>
              <a:rPr lang="en-US" dirty="0"/>
              <a:t>, ha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alkalmazás</a:t>
            </a:r>
            <a:r>
              <a:rPr lang="en-US" dirty="0"/>
              <a:t> </a:t>
            </a:r>
            <a:r>
              <a:rPr lang="en-US" b="1" dirty="0" err="1"/>
              <a:t>több</a:t>
            </a:r>
            <a:r>
              <a:rPr lang="en-US" b="1" dirty="0"/>
              <a:t> </a:t>
            </a:r>
            <a:r>
              <a:rPr lang="en-US" b="1" dirty="0" err="1"/>
              <a:t>szerveren</a:t>
            </a:r>
            <a:r>
              <a:rPr lang="en-US" b="1" dirty="0"/>
              <a:t> </a:t>
            </a:r>
            <a:r>
              <a:rPr lang="en-US" b="1" dirty="0" err="1"/>
              <a:t>fut</a:t>
            </a:r>
            <a:r>
              <a:rPr lang="en-US" dirty="0"/>
              <a:t>?</a:t>
            </a:r>
            <a:r>
              <a:rPr lang="hu-HU" dirty="0"/>
              <a:t> Ekkor m</a:t>
            </a:r>
            <a:r>
              <a:rPr lang="en-US" dirty="0" err="1"/>
              <a:t>elyik</a:t>
            </a:r>
            <a:r>
              <a:rPr lang="en-US" dirty="0"/>
              <a:t>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memóriájában</a:t>
            </a:r>
            <a:r>
              <a:rPr lang="en-US" dirty="0"/>
              <a:t> van a session?</a:t>
            </a:r>
            <a:endParaRPr lang="hu-HU" dirty="0"/>
          </a:p>
          <a:p>
            <a:endParaRPr lang="hu-HU" dirty="0"/>
          </a:p>
          <a:p>
            <a:r>
              <a:rPr lang="en-US" dirty="0" err="1"/>
              <a:t>több</a:t>
            </a:r>
            <a:r>
              <a:rPr lang="en-US" dirty="0"/>
              <a:t> </a:t>
            </a:r>
            <a:r>
              <a:rPr lang="en-US" dirty="0" err="1"/>
              <a:t>szerver</a:t>
            </a:r>
            <a:r>
              <a:rPr lang="en-US" dirty="0"/>
              <a:t> → session </a:t>
            </a:r>
            <a:r>
              <a:rPr lang="en-US" dirty="0" err="1"/>
              <a:t>szinkronizáció</a:t>
            </a:r>
            <a:r>
              <a:rPr lang="hu-HU" dirty="0"/>
              <a:t> vagy megosztott közös cache tároló</a:t>
            </a:r>
            <a:endParaRPr lang="en-US" dirty="0"/>
          </a:p>
          <a:p>
            <a:r>
              <a:rPr lang="en-US" dirty="0"/>
              <a:t>sticky session → </a:t>
            </a:r>
            <a:r>
              <a:rPr lang="en-US" dirty="0" err="1"/>
              <a:t>ugyanaz</a:t>
            </a:r>
            <a:r>
              <a:rPr lang="en-US" dirty="0"/>
              <a:t> a </a:t>
            </a:r>
            <a:r>
              <a:rPr lang="en-US" dirty="0" err="1"/>
              <a:t>kliens</a:t>
            </a:r>
            <a:r>
              <a:rPr lang="en-US" dirty="0"/>
              <a:t> </a:t>
            </a:r>
            <a:r>
              <a:rPr lang="en-US" dirty="0" err="1"/>
              <a:t>mindig</a:t>
            </a:r>
            <a:r>
              <a:rPr lang="en-US" dirty="0"/>
              <a:t> </a:t>
            </a:r>
            <a:r>
              <a:rPr lang="en-US" dirty="0" err="1"/>
              <a:t>ugyanarra</a:t>
            </a:r>
            <a:r>
              <a:rPr lang="en-US" dirty="0"/>
              <a:t> a </a:t>
            </a:r>
            <a:r>
              <a:rPr lang="en-US" dirty="0" err="1"/>
              <a:t>szerverre</a:t>
            </a:r>
            <a:r>
              <a:rPr lang="en-US" dirty="0"/>
              <a:t> </a:t>
            </a:r>
            <a:r>
              <a:rPr lang="en-US" dirty="0" err="1"/>
              <a:t>megy</a:t>
            </a:r>
            <a:endParaRPr lang="hu-HU" dirty="0"/>
          </a:p>
          <a:p>
            <a:endParaRPr lang="hu-HU" dirty="0"/>
          </a:p>
          <a:p>
            <a:r>
              <a:rPr lang="en-US" dirty="0"/>
              <a:t>Ez </a:t>
            </a:r>
            <a:r>
              <a:rPr lang="en-US" dirty="0" err="1"/>
              <a:t>már</a:t>
            </a:r>
            <a:r>
              <a:rPr lang="en-US" dirty="0"/>
              <a:t> </a:t>
            </a:r>
            <a:r>
              <a:rPr lang="en-US" b="1" dirty="0" err="1"/>
              <a:t>komoly</a:t>
            </a:r>
            <a:r>
              <a:rPr lang="en-US" b="1" dirty="0"/>
              <a:t> </a:t>
            </a:r>
            <a:r>
              <a:rPr lang="en-US" b="1" dirty="0" err="1"/>
              <a:t>infrastruktúrát</a:t>
            </a:r>
            <a:r>
              <a:rPr lang="en-US" dirty="0"/>
              <a:t> </a:t>
            </a:r>
            <a:r>
              <a:rPr lang="en-US" dirty="0" err="1"/>
              <a:t>igényel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A session </a:t>
            </a:r>
            <a:r>
              <a:rPr lang="en-US" dirty="0" err="1"/>
              <a:t>alapú</a:t>
            </a:r>
            <a:r>
              <a:rPr lang="en-US" dirty="0"/>
              <a:t> </a:t>
            </a:r>
            <a:r>
              <a:rPr lang="en-US" dirty="0" err="1"/>
              <a:t>modell</a:t>
            </a:r>
            <a:r>
              <a:rPr lang="en-US" dirty="0"/>
              <a:t> </a:t>
            </a:r>
            <a:r>
              <a:rPr lang="en-US" dirty="0" err="1"/>
              <a:t>különösen</a:t>
            </a:r>
            <a:r>
              <a:rPr lang="en-US" dirty="0"/>
              <a:t> </a:t>
            </a:r>
            <a:r>
              <a:rPr lang="en-US" dirty="0" err="1"/>
              <a:t>nehézkes</a:t>
            </a:r>
            <a:r>
              <a:rPr lang="hu-HU" dirty="0"/>
              <a:t> </a:t>
            </a:r>
            <a:r>
              <a:rPr lang="en-US" b="1" dirty="0"/>
              <a:t>microservice </a:t>
            </a:r>
            <a:r>
              <a:rPr lang="en-US" b="1" dirty="0" err="1"/>
              <a:t>architektúrában</a:t>
            </a:r>
            <a:r>
              <a:rPr lang="en-US" dirty="0"/>
              <a:t>.</a:t>
            </a:r>
            <a:endParaRPr lang="hu-HU" dirty="0"/>
          </a:p>
          <a:p>
            <a:r>
              <a:rPr lang="hu-HU" dirty="0"/>
              <a:t>Konklúzió: Az állapottároló session </a:t>
            </a:r>
            <a:r>
              <a:rPr lang="en-US" dirty="0" err="1"/>
              <a:t>ellentmond</a:t>
            </a:r>
            <a:r>
              <a:rPr lang="en-US" dirty="0"/>
              <a:t> a modern, </a:t>
            </a:r>
            <a:r>
              <a:rPr lang="en-US" dirty="0" err="1"/>
              <a:t>skálázható</a:t>
            </a:r>
            <a:r>
              <a:rPr lang="en-US" dirty="0"/>
              <a:t> </a:t>
            </a:r>
            <a:r>
              <a:rPr lang="en-US" dirty="0" err="1"/>
              <a:t>webes</a:t>
            </a:r>
            <a:r>
              <a:rPr lang="en-US" dirty="0"/>
              <a:t> </a:t>
            </a:r>
            <a:r>
              <a:rPr lang="en-US" dirty="0" err="1"/>
              <a:t>architektúráknak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7758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</a:t>
            </a:r>
            <a:r>
              <a:rPr lang="en-US" dirty="0"/>
              <a:t> session </a:t>
            </a:r>
            <a:r>
              <a:rPr lang="en-US" dirty="0" err="1"/>
              <a:t>alapú</a:t>
            </a:r>
            <a:r>
              <a:rPr lang="en-US" dirty="0"/>
              <a:t> </a:t>
            </a:r>
            <a:r>
              <a:rPr lang="en-US" dirty="0" err="1"/>
              <a:t>autentikáció</a:t>
            </a:r>
            <a:r>
              <a:rPr lang="en-US" dirty="0"/>
              <a:t> </a:t>
            </a:r>
            <a:r>
              <a:rPr lang="en-US" dirty="0" err="1"/>
              <a:t>legnagyobb</a:t>
            </a:r>
            <a:r>
              <a:rPr lang="en-US" dirty="0"/>
              <a:t> </a:t>
            </a:r>
            <a:r>
              <a:rPr lang="en-US" dirty="0" err="1"/>
              <a:t>problémája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,</a:t>
            </a:r>
            <a:r>
              <a:rPr lang="hu-HU" dirty="0"/>
              <a:t> </a:t>
            </a:r>
            <a:r>
              <a:rPr lang="en-US" dirty="0" err="1"/>
              <a:t>hogy</a:t>
            </a:r>
            <a:r>
              <a:rPr lang="en-US" dirty="0"/>
              <a:t> a </a:t>
            </a:r>
            <a:r>
              <a:rPr lang="en-US" dirty="0" err="1"/>
              <a:t>szervernek</a:t>
            </a:r>
            <a:r>
              <a:rPr lang="en-US" dirty="0"/>
              <a:t> </a:t>
            </a:r>
            <a:r>
              <a:rPr lang="en-US" b="1" dirty="0" err="1"/>
              <a:t>emlékeznie</a:t>
            </a:r>
            <a:r>
              <a:rPr lang="en-US" b="1" dirty="0"/>
              <a:t> </a:t>
            </a:r>
            <a:r>
              <a:rPr lang="en-US" b="1" dirty="0" err="1"/>
              <a:t>kell</a:t>
            </a:r>
            <a:r>
              <a:rPr lang="en-US" b="1" dirty="0"/>
              <a:t> a </a:t>
            </a:r>
            <a:r>
              <a:rPr lang="en-US" b="1" dirty="0" err="1"/>
              <a:t>kliensre</a:t>
            </a:r>
            <a:r>
              <a:rPr lang="en-US" dirty="0"/>
              <a:t>.</a:t>
            </a:r>
            <a:r>
              <a:rPr lang="hu-HU" dirty="0"/>
              <a:t> A </a:t>
            </a:r>
            <a:r>
              <a:rPr lang="hu-HU" dirty="0" err="1"/>
              <a:t>token</a:t>
            </a:r>
            <a:r>
              <a:rPr lang="hu-HU" dirty="0"/>
              <a:t> alapú </a:t>
            </a:r>
            <a:r>
              <a:rPr lang="hu-HU" dirty="0" err="1"/>
              <a:t>autentikáció</a:t>
            </a:r>
            <a:r>
              <a:rPr lang="hu-HU" dirty="0"/>
              <a:t> erre egy nagyon egyszerű, de radikális választ ad:</a:t>
            </a:r>
          </a:p>
          <a:p>
            <a:r>
              <a:rPr lang="en-US" dirty="0"/>
              <a:t>A token </a:t>
            </a:r>
            <a:r>
              <a:rPr lang="en-US" dirty="0" err="1"/>
              <a:t>alapú</a:t>
            </a:r>
            <a:r>
              <a:rPr lang="en-US" dirty="0"/>
              <a:t> </a:t>
            </a:r>
            <a:r>
              <a:rPr lang="en-US" dirty="0" err="1"/>
              <a:t>autentikáció</a:t>
            </a:r>
            <a:r>
              <a:rPr lang="en-US" dirty="0"/>
              <a:t> </a:t>
            </a:r>
            <a:r>
              <a:rPr lang="en-US" dirty="0" err="1"/>
              <a:t>lényege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állapotot</a:t>
            </a:r>
            <a:r>
              <a:rPr lang="en-US" dirty="0"/>
              <a:t> </a:t>
            </a:r>
            <a:r>
              <a:rPr lang="en-US" b="1" dirty="0" err="1"/>
              <a:t>nem</a:t>
            </a:r>
            <a:r>
              <a:rPr lang="en-US" b="1" dirty="0"/>
              <a:t> a </a:t>
            </a:r>
            <a:r>
              <a:rPr lang="en-US" b="1" dirty="0" err="1"/>
              <a:t>szerver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a </a:t>
            </a:r>
            <a:r>
              <a:rPr lang="en-US" b="1" dirty="0" err="1"/>
              <a:t>kliens</a:t>
            </a:r>
            <a:r>
              <a:rPr lang="en-US" dirty="0"/>
              <a:t> </a:t>
            </a:r>
            <a:r>
              <a:rPr lang="en-US" dirty="0" err="1"/>
              <a:t>hordozza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tárol</a:t>
            </a:r>
            <a:r>
              <a:rPr lang="en-US" dirty="0"/>
              <a:t> session-t,</a:t>
            </a:r>
            <a:r>
              <a:rPr lang="hu-HU" dirty="0"/>
              <a:t> </a:t>
            </a:r>
            <a:r>
              <a:rPr lang="en-US" dirty="0" err="1"/>
              <a:t>nem</a:t>
            </a:r>
            <a:r>
              <a:rPr lang="en-US" dirty="0"/>
              <a:t> tart </a:t>
            </a:r>
            <a:r>
              <a:rPr lang="en-US" dirty="0" err="1"/>
              <a:t>fenn</a:t>
            </a:r>
            <a:r>
              <a:rPr lang="en-US" dirty="0"/>
              <a:t> </a:t>
            </a:r>
            <a:r>
              <a:rPr lang="en-US" dirty="0" err="1"/>
              <a:t>felhasználói</a:t>
            </a:r>
            <a:r>
              <a:rPr lang="en-US" dirty="0"/>
              <a:t> </a:t>
            </a:r>
            <a:r>
              <a:rPr lang="en-US" dirty="0" err="1"/>
              <a:t>állapotot</a:t>
            </a:r>
            <a:r>
              <a:rPr lang="en-US" dirty="0"/>
              <a:t>,</a:t>
            </a:r>
            <a:r>
              <a:rPr lang="hu-HU" dirty="0"/>
              <a:t>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kérésnél</a:t>
            </a:r>
            <a:r>
              <a:rPr lang="en-US" dirty="0"/>
              <a:t> </a:t>
            </a:r>
            <a:r>
              <a:rPr lang="en-US" dirty="0" err="1"/>
              <a:t>csak</a:t>
            </a:r>
            <a:r>
              <a:rPr lang="en-US" dirty="0"/>
              <a:t> </a:t>
            </a:r>
            <a:r>
              <a:rPr lang="en-US" b="1" dirty="0" err="1"/>
              <a:t>ellenőriz</a:t>
            </a:r>
            <a:r>
              <a:rPr lang="hu-HU" b="0" dirty="0"/>
              <a:t> (</a:t>
            </a:r>
            <a:r>
              <a:rPr lang="hu-HU" b="0" dirty="0" err="1"/>
              <a:t>token</a:t>
            </a:r>
            <a:r>
              <a:rPr lang="hu-HU" b="0" dirty="0"/>
              <a:t> </a:t>
            </a:r>
            <a:r>
              <a:rPr lang="hu-HU" b="0" dirty="0" err="1"/>
              <a:t>validation</a:t>
            </a:r>
            <a:r>
              <a:rPr lang="hu-HU" b="0" dirty="0"/>
              <a:t>)</a:t>
            </a:r>
            <a:r>
              <a:rPr lang="en-US" dirty="0"/>
              <a:t>.</a:t>
            </a:r>
            <a:r>
              <a:rPr lang="hu-HU" dirty="0"/>
              <a:t> Ez egy </a:t>
            </a:r>
            <a:r>
              <a:rPr lang="hu-HU" dirty="0" err="1"/>
              <a:t>stateless</a:t>
            </a:r>
            <a:r>
              <a:rPr lang="hu-HU" dirty="0"/>
              <a:t> megoldás.</a:t>
            </a:r>
          </a:p>
          <a:p>
            <a:endParaRPr lang="hu-HU" dirty="0"/>
          </a:p>
          <a:p>
            <a:r>
              <a:rPr lang="hu-HU" dirty="0"/>
              <a:t>Folyamat:</a:t>
            </a:r>
          </a:p>
          <a:p>
            <a:r>
              <a:rPr lang="hu-HU" dirty="0"/>
              <a:t>- </a:t>
            </a:r>
            <a:r>
              <a:rPr lang="en-US" dirty="0" err="1"/>
              <a:t>belépés</a:t>
            </a:r>
            <a:r>
              <a:rPr lang="en-US" dirty="0"/>
              <a:t> </a:t>
            </a:r>
            <a:r>
              <a:rPr lang="en-US" dirty="0" err="1"/>
              <a:t>után</a:t>
            </a:r>
            <a:r>
              <a:rPr lang="en-US" dirty="0"/>
              <a:t> token </a:t>
            </a:r>
            <a:r>
              <a:rPr lang="en-US" dirty="0" err="1"/>
              <a:t>generálás</a:t>
            </a:r>
            <a:r>
              <a:rPr lang="en-US" dirty="0"/>
              <a:t>,</a:t>
            </a:r>
            <a:r>
              <a:rPr lang="hu-HU" dirty="0"/>
              <a:t> amit a szerver elküld a kliensnek,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 err="1"/>
              <a:t>kliens</a:t>
            </a:r>
            <a:r>
              <a:rPr lang="en-US" dirty="0"/>
              <a:t>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kérésnél</a:t>
            </a:r>
            <a:r>
              <a:rPr lang="en-US" dirty="0"/>
              <a:t> </a:t>
            </a:r>
            <a:r>
              <a:rPr lang="en-US" dirty="0" err="1"/>
              <a:t>elküldi</a:t>
            </a:r>
            <a:r>
              <a:rPr lang="hu-HU" dirty="0"/>
              <a:t> a fejlécben</a:t>
            </a:r>
            <a:r>
              <a:rPr lang="en-US" dirty="0"/>
              <a:t>,</a:t>
            </a:r>
          </a:p>
          <a:p>
            <a:r>
              <a:rPr lang="hu-HU" dirty="0"/>
              <a:t>-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csak</a:t>
            </a:r>
            <a:r>
              <a:rPr lang="en-US" dirty="0"/>
              <a:t> </a:t>
            </a:r>
            <a:r>
              <a:rPr lang="en-US" b="1" dirty="0" err="1"/>
              <a:t>ellenőriz</a:t>
            </a:r>
            <a:r>
              <a:rPr lang="en-US" dirty="0"/>
              <a:t>,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tárol</a:t>
            </a:r>
            <a:r>
              <a:rPr lang="en-US" dirty="0"/>
              <a:t> </a:t>
            </a:r>
            <a:r>
              <a:rPr lang="en-US" dirty="0" err="1"/>
              <a:t>állapotot</a:t>
            </a:r>
            <a:r>
              <a:rPr lang="en-US" dirty="0"/>
              <a:t>.</a:t>
            </a:r>
          </a:p>
          <a:p>
            <a:endParaRPr lang="hu-HU" dirty="0"/>
          </a:p>
          <a:p>
            <a:r>
              <a:rPr lang="en-US" dirty="0" err="1"/>
              <a:t>Előny</a:t>
            </a:r>
            <a:r>
              <a:rPr lang="en-US" dirty="0"/>
              <a:t>:</a:t>
            </a:r>
          </a:p>
          <a:p>
            <a:r>
              <a:rPr lang="hu-HU" dirty="0"/>
              <a:t>- </a:t>
            </a:r>
            <a:r>
              <a:rPr lang="en-US" dirty="0" err="1"/>
              <a:t>jól</a:t>
            </a:r>
            <a:r>
              <a:rPr lang="en-US" dirty="0"/>
              <a:t> </a:t>
            </a:r>
            <a:r>
              <a:rPr lang="en-US" dirty="0" err="1"/>
              <a:t>skálázható</a:t>
            </a:r>
            <a:r>
              <a:rPr lang="en-US" dirty="0"/>
              <a:t>,</a:t>
            </a:r>
          </a:p>
          <a:p>
            <a:r>
              <a:rPr lang="hu-HU" dirty="0"/>
              <a:t>- </a:t>
            </a:r>
            <a:r>
              <a:rPr lang="en-US" dirty="0"/>
              <a:t>microservice-</a:t>
            </a:r>
            <a:r>
              <a:rPr lang="en-US" dirty="0" err="1"/>
              <a:t>barát</a:t>
            </a:r>
            <a:r>
              <a:rPr lang="hu-HU" dirty="0"/>
              <a:t>,</a:t>
            </a:r>
          </a:p>
          <a:p>
            <a:pPr marL="0" indent="0">
              <a:buFontTx/>
              <a:buNone/>
            </a:pPr>
            <a:r>
              <a:rPr lang="hu-HU" dirty="0"/>
              <a:t>- Nincs szükség szerver oldali memória vagy cache tároló használatára.</a:t>
            </a:r>
          </a:p>
          <a:p>
            <a:pPr marL="0" indent="0">
              <a:buFontTx/>
              <a:buNone/>
            </a:pPr>
            <a:endParaRPr lang="hu-HU" dirty="0"/>
          </a:p>
          <a:p>
            <a:pPr marL="0" indent="0">
              <a:buFontTx/>
              <a:buNone/>
            </a:pPr>
            <a:r>
              <a:rPr lang="en-US" dirty="0"/>
              <a:t>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kérésnél</a:t>
            </a:r>
            <a:r>
              <a:rPr lang="en-US" dirty="0"/>
              <a:t> </a:t>
            </a:r>
            <a:r>
              <a:rPr lang="en-US" b="0" dirty="0" err="1"/>
              <a:t>úgy</a:t>
            </a:r>
            <a:r>
              <a:rPr lang="en-US" b="0" dirty="0"/>
              <a:t> </a:t>
            </a:r>
            <a:r>
              <a:rPr lang="en-US" b="0" dirty="0" err="1"/>
              <a:t>viselkedik</a:t>
            </a:r>
            <a:r>
              <a:rPr lang="en-US" b="1" dirty="0"/>
              <a:t>, </a:t>
            </a:r>
            <a:r>
              <a:rPr lang="en-US" b="1" dirty="0" err="1"/>
              <a:t>mintha</a:t>
            </a:r>
            <a:r>
              <a:rPr lang="en-US" b="1" dirty="0"/>
              <a:t> </a:t>
            </a:r>
            <a:r>
              <a:rPr lang="en-US" b="1" dirty="0" err="1"/>
              <a:t>először</a:t>
            </a:r>
            <a:r>
              <a:rPr lang="en-US" b="1" dirty="0"/>
              <a:t> </a:t>
            </a:r>
            <a:r>
              <a:rPr lang="en-US" b="1" dirty="0" err="1"/>
              <a:t>látná</a:t>
            </a:r>
            <a:r>
              <a:rPr lang="en-US" b="1" dirty="0"/>
              <a:t> a </a:t>
            </a:r>
            <a:r>
              <a:rPr lang="en-US" b="1" dirty="0" err="1"/>
              <a:t>klienst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A token </a:t>
            </a:r>
            <a:r>
              <a:rPr lang="en-US" dirty="0" err="1"/>
              <a:t>alapján</a:t>
            </a:r>
            <a:r>
              <a:rPr lang="en-US" dirty="0"/>
              <a:t> </a:t>
            </a:r>
            <a:r>
              <a:rPr lang="en-US" dirty="0" err="1"/>
              <a:t>felismeri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</a:t>
            </a:r>
            <a:r>
              <a:rPr lang="en-US" dirty="0" err="1"/>
              <a:t>kérés</a:t>
            </a:r>
            <a:r>
              <a:rPr lang="en-US" dirty="0"/>
              <a:t> </a:t>
            </a:r>
            <a:r>
              <a:rPr lang="en-US" dirty="0" err="1"/>
              <a:t>hiteles</a:t>
            </a:r>
            <a:r>
              <a:rPr lang="hu-HU" dirty="0"/>
              <a:t>.</a:t>
            </a:r>
          </a:p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02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Fontos! </a:t>
            </a:r>
            <a:r>
              <a:rPr lang="en-US" dirty="0"/>
              <a:t>A JWT </a:t>
            </a:r>
            <a:r>
              <a:rPr lang="en-US" b="1" dirty="0" err="1"/>
              <a:t>nem</a:t>
            </a:r>
            <a:r>
              <a:rPr lang="en-US" b="1" dirty="0"/>
              <a:t> </a:t>
            </a:r>
            <a:r>
              <a:rPr lang="en-US" b="1" dirty="0" err="1"/>
              <a:t>egy</a:t>
            </a:r>
            <a:r>
              <a:rPr lang="en-US" b="1" dirty="0"/>
              <a:t> </a:t>
            </a:r>
            <a:r>
              <a:rPr lang="en-US" b="1" dirty="0" err="1"/>
              <a:t>titkosított</a:t>
            </a:r>
            <a:r>
              <a:rPr lang="en-US" b="1" dirty="0"/>
              <a:t> </a:t>
            </a:r>
            <a:r>
              <a:rPr lang="en-US" b="1" dirty="0" err="1"/>
              <a:t>adat</a:t>
            </a:r>
            <a:r>
              <a:rPr lang="en-US" dirty="0"/>
              <a:t>,</a:t>
            </a:r>
            <a:r>
              <a:rPr lang="hu-HU" dirty="0"/>
              <a:t>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b="1" dirty="0" err="1"/>
              <a:t>strukturált</a:t>
            </a:r>
            <a:r>
              <a:rPr lang="en-US" b="1" dirty="0"/>
              <a:t> és </a:t>
            </a:r>
            <a:r>
              <a:rPr lang="en-US" b="1" dirty="0" err="1"/>
              <a:t>aláírt</a:t>
            </a:r>
            <a:r>
              <a:rPr lang="en-US" b="1" dirty="0"/>
              <a:t> token</a:t>
            </a:r>
            <a:r>
              <a:rPr lang="en-US" dirty="0"/>
              <a:t>.</a:t>
            </a:r>
            <a:r>
              <a:rPr lang="hu-HU" dirty="0"/>
              <a:t> Azaz a kliens tudja olvasni, de nem tudja módosítani. A módosítás ellen az aláírás véd. A JWT-be érzékeny adatokat nem teszünk bele. </a:t>
            </a:r>
            <a:r>
              <a:rPr lang="en-US" dirty="0"/>
              <a:t>Egy JWT </a:t>
            </a:r>
            <a:r>
              <a:rPr lang="en-US" dirty="0" err="1"/>
              <a:t>valójában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hosszú</a:t>
            </a:r>
            <a:r>
              <a:rPr lang="en-US" dirty="0"/>
              <a:t> </a:t>
            </a:r>
            <a:r>
              <a:rPr lang="en-US" dirty="0" err="1"/>
              <a:t>szöveg</a:t>
            </a:r>
            <a:r>
              <a:rPr lang="hu-HU" dirty="0"/>
              <a:t> (BASE64 kódolással)</a:t>
            </a:r>
            <a:r>
              <a:rPr lang="en-US" dirty="0"/>
              <a:t>,</a:t>
            </a:r>
            <a:r>
              <a:rPr lang="hu-HU" dirty="0"/>
              <a:t> </a:t>
            </a:r>
            <a:r>
              <a:rPr lang="en-US" dirty="0" err="1"/>
              <a:t>amit</a:t>
            </a:r>
            <a:r>
              <a:rPr lang="en-US" dirty="0"/>
              <a:t> </a:t>
            </a:r>
            <a:r>
              <a:rPr lang="en-US" dirty="0" err="1"/>
              <a:t>pontok</a:t>
            </a:r>
            <a:r>
              <a:rPr lang="en-US" dirty="0"/>
              <a:t> </a:t>
            </a:r>
            <a:r>
              <a:rPr lang="en-US" dirty="0" err="1"/>
              <a:t>választanak</a:t>
            </a:r>
            <a:r>
              <a:rPr lang="en-US" dirty="0"/>
              <a:t> el.</a:t>
            </a:r>
            <a:endParaRPr lang="hu-HU" dirty="0"/>
          </a:p>
          <a:p>
            <a:endParaRPr lang="hu-HU" dirty="0"/>
          </a:p>
          <a:p>
            <a:r>
              <a:rPr lang="hu-HU" dirty="0"/>
              <a:t>JWT három fő rész rendre:</a:t>
            </a:r>
            <a:endParaRPr lang="en-US" dirty="0"/>
          </a:p>
          <a:p>
            <a:r>
              <a:rPr lang="hu-HU" b="1" dirty="0"/>
              <a:t>- </a:t>
            </a:r>
            <a:r>
              <a:rPr lang="en-US" b="1" dirty="0"/>
              <a:t>Header</a:t>
            </a:r>
            <a:r>
              <a:rPr lang="en-US" dirty="0"/>
              <a:t>: </a:t>
            </a:r>
            <a:r>
              <a:rPr lang="hu-HU" dirty="0"/>
              <a:t>aláírás </a:t>
            </a:r>
            <a:r>
              <a:rPr lang="en-US" dirty="0" err="1"/>
              <a:t>algoritmus</a:t>
            </a:r>
            <a:r>
              <a:rPr lang="hu-HU" dirty="0"/>
              <a:t>a</a:t>
            </a:r>
            <a:r>
              <a:rPr lang="en-US" dirty="0"/>
              <a:t>, </a:t>
            </a:r>
            <a:r>
              <a:rPr lang="hu-HU" dirty="0"/>
              <a:t>a </a:t>
            </a:r>
            <a:r>
              <a:rPr lang="hu-HU" dirty="0" err="1"/>
              <a:t>token</a:t>
            </a:r>
            <a:r>
              <a:rPr lang="hu-HU" dirty="0"/>
              <a:t> </a:t>
            </a:r>
            <a:r>
              <a:rPr lang="en-US" dirty="0" err="1"/>
              <a:t>típus</a:t>
            </a:r>
            <a:r>
              <a:rPr lang="hu-HU" dirty="0"/>
              <a:t>a</a:t>
            </a:r>
            <a:endParaRPr lang="en-US" dirty="0"/>
          </a:p>
          <a:p>
            <a:r>
              <a:rPr lang="hu-HU" b="1" dirty="0"/>
              <a:t>- </a:t>
            </a:r>
            <a:r>
              <a:rPr lang="en-US" b="1" dirty="0"/>
              <a:t>Payload</a:t>
            </a:r>
            <a:r>
              <a:rPr lang="en-US" dirty="0"/>
              <a:t>: user ID, role, </a:t>
            </a:r>
            <a:r>
              <a:rPr lang="en-US" dirty="0" err="1"/>
              <a:t>lejárat</a:t>
            </a:r>
            <a:r>
              <a:rPr lang="hu-HU" dirty="0"/>
              <a:t>, </a:t>
            </a:r>
            <a:r>
              <a:rPr lang="hu-HU" dirty="0" err="1"/>
              <a:t>stb</a:t>
            </a:r>
            <a:endParaRPr lang="en-US" dirty="0"/>
          </a:p>
          <a:p>
            <a:pPr marL="0" indent="0">
              <a:buFontTx/>
              <a:buNone/>
            </a:pPr>
            <a:r>
              <a:rPr lang="hu-HU" b="1" dirty="0"/>
              <a:t>- </a:t>
            </a:r>
            <a:r>
              <a:rPr lang="en-US" b="1" dirty="0"/>
              <a:t>Signature</a:t>
            </a:r>
            <a:r>
              <a:rPr lang="en-US" dirty="0"/>
              <a:t>:</a:t>
            </a:r>
            <a:r>
              <a:rPr lang="hu-HU" dirty="0"/>
              <a:t> a szerver titkos kulccsal aláírja a </a:t>
            </a:r>
            <a:r>
              <a:rPr lang="hu-HU" dirty="0" err="1"/>
              <a:t>Header</a:t>
            </a:r>
            <a:r>
              <a:rPr lang="hu-HU" dirty="0"/>
              <a:t> + </a:t>
            </a:r>
            <a:r>
              <a:rPr lang="hu-HU" dirty="0" err="1"/>
              <a:t>Payload</a:t>
            </a:r>
            <a:r>
              <a:rPr lang="hu-HU" dirty="0"/>
              <a:t> alapján, és ez az aláírás kerül ide. Ez biztosítja a </a:t>
            </a:r>
            <a:r>
              <a:rPr lang="hu-HU" b="1" dirty="0"/>
              <a:t>hitelességet</a:t>
            </a:r>
            <a:r>
              <a:rPr lang="hu-HU" dirty="0"/>
              <a:t> és </a:t>
            </a:r>
            <a:r>
              <a:rPr lang="hu-HU" b="1" dirty="0"/>
              <a:t>integritását</a:t>
            </a:r>
            <a:r>
              <a:rPr lang="hu-HU" dirty="0"/>
              <a:t>.</a:t>
            </a:r>
          </a:p>
          <a:p>
            <a:pPr marL="171450" indent="-171450">
              <a:buFontTx/>
              <a:buChar char="-"/>
            </a:pPr>
            <a:endParaRPr lang="hu-HU" dirty="0"/>
          </a:p>
          <a:p>
            <a:pPr marL="0" indent="0">
              <a:buFontTx/>
              <a:buNone/>
            </a:pPr>
            <a:r>
              <a:rPr lang="en-US" dirty="0"/>
              <a:t>Ha a token </a:t>
            </a:r>
            <a:r>
              <a:rPr lang="en-US" dirty="0" err="1"/>
              <a:t>tartalma</a:t>
            </a:r>
            <a:r>
              <a:rPr lang="en-US" dirty="0"/>
              <a:t> </a:t>
            </a:r>
            <a:r>
              <a:rPr lang="en-US" dirty="0" err="1"/>
              <a:t>megváltozik</a:t>
            </a:r>
            <a:r>
              <a:rPr lang="en-US" dirty="0"/>
              <a:t>,</a:t>
            </a:r>
            <a:r>
              <a:rPr lang="hu-HU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aláírás</a:t>
            </a:r>
            <a:r>
              <a:rPr lang="en-US" dirty="0"/>
              <a:t> </a:t>
            </a:r>
            <a:r>
              <a:rPr lang="en-US" b="0" dirty="0" err="1"/>
              <a:t>érvénytelenné</a:t>
            </a:r>
            <a:r>
              <a:rPr lang="en-US" b="0" dirty="0"/>
              <a:t> </a:t>
            </a:r>
            <a:r>
              <a:rPr lang="en-US" b="0" dirty="0" err="1"/>
              <a:t>válik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 err="1"/>
              <a:t>Amikor</a:t>
            </a:r>
            <a:r>
              <a:rPr lang="en-US" dirty="0"/>
              <a:t> 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megkap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JWT-t,</a:t>
            </a:r>
            <a:r>
              <a:rPr lang="hu-HU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adatbázist</a:t>
            </a:r>
            <a:r>
              <a:rPr lang="en-US" dirty="0"/>
              <a:t> </a:t>
            </a:r>
            <a:r>
              <a:rPr lang="en-US" dirty="0" err="1"/>
              <a:t>kérdez</a:t>
            </a:r>
            <a:r>
              <a:rPr lang="en-US" dirty="0"/>
              <a:t>,</a:t>
            </a:r>
            <a:r>
              <a:rPr lang="hu-HU" dirty="0"/>
              <a:t>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b="1" dirty="0" err="1"/>
              <a:t>ellenőrzi</a:t>
            </a:r>
            <a:r>
              <a:rPr lang="en-US" b="1" dirty="0"/>
              <a:t> </a:t>
            </a:r>
            <a:r>
              <a:rPr lang="en-US" b="1" dirty="0" err="1"/>
              <a:t>az</a:t>
            </a:r>
            <a:r>
              <a:rPr lang="en-US" b="1" dirty="0"/>
              <a:t> </a:t>
            </a:r>
            <a:r>
              <a:rPr lang="en-US" b="1" dirty="0" err="1"/>
              <a:t>aláírást</a:t>
            </a:r>
            <a:r>
              <a:rPr lang="en-US" dirty="0"/>
              <a:t>.</a:t>
            </a:r>
          </a:p>
          <a:p>
            <a:r>
              <a:rPr lang="hu-HU" dirty="0"/>
              <a:t>A JWT </a:t>
            </a:r>
            <a:r>
              <a:rPr lang="hu-HU" dirty="0" err="1"/>
              <a:t>token</a:t>
            </a:r>
            <a:r>
              <a:rPr lang="hu-HU" dirty="0"/>
              <a:t> </a:t>
            </a:r>
            <a:r>
              <a:rPr lang="en-US" dirty="0" err="1"/>
              <a:t>ideális</a:t>
            </a:r>
            <a:r>
              <a:rPr lang="en-US" dirty="0"/>
              <a:t> stateless </a:t>
            </a:r>
            <a:r>
              <a:rPr lang="en-US" dirty="0" err="1"/>
              <a:t>autentikációhoz</a:t>
            </a:r>
            <a:r>
              <a:rPr lang="hu-HU" dirty="0"/>
              <a:t>.</a:t>
            </a:r>
          </a:p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4669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JWT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nagyon</a:t>
            </a:r>
            <a:r>
              <a:rPr lang="en-US" dirty="0"/>
              <a:t> </a:t>
            </a:r>
            <a:r>
              <a:rPr lang="en-US" dirty="0" err="1"/>
              <a:t>hatékony</a:t>
            </a:r>
            <a:r>
              <a:rPr lang="en-US" dirty="0"/>
              <a:t> </a:t>
            </a:r>
            <a:r>
              <a:rPr lang="en-US" dirty="0" err="1"/>
              <a:t>eszköz</a:t>
            </a:r>
            <a:r>
              <a:rPr lang="en-US" dirty="0"/>
              <a:t>,</a:t>
            </a:r>
            <a:r>
              <a:rPr lang="hu-HU" dirty="0"/>
              <a:t> </a:t>
            </a:r>
            <a:r>
              <a:rPr lang="en-US" dirty="0"/>
              <a:t>de </a:t>
            </a:r>
            <a:r>
              <a:rPr lang="en-US" b="0" dirty="0" err="1"/>
              <a:t>nem</a:t>
            </a:r>
            <a:r>
              <a:rPr lang="en-US" b="0" dirty="0"/>
              <a:t> </a:t>
            </a:r>
            <a:r>
              <a:rPr lang="en-US" b="0" dirty="0" err="1"/>
              <a:t>minden</a:t>
            </a:r>
            <a:r>
              <a:rPr lang="en-US" b="0" dirty="0"/>
              <a:t> </a:t>
            </a:r>
            <a:r>
              <a:rPr lang="en-US" b="0" dirty="0" err="1"/>
              <a:t>problémára</a:t>
            </a:r>
            <a:r>
              <a:rPr lang="en-US" b="0" dirty="0"/>
              <a:t> </a:t>
            </a:r>
            <a:r>
              <a:rPr lang="en-US" b="0" dirty="0" err="1"/>
              <a:t>megoldás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A JWT </a:t>
            </a:r>
            <a:r>
              <a:rPr lang="en-US" dirty="0" err="1"/>
              <a:t>legnagyobb</a:t>
            </a:r>
            <a:r>
              <a:rPr lang="en-US" dirty="0"/>
              <a:t> </a:t>
            </a:r>
            <a:r>
              <a:rPr lang="en-US" dirty="0" err="1"/>
              <a:t>előnye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b="1" dirty="0"/>
              <a:t>stateless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en-US" dirty="0" err="1"/>
              <a:t>Előnyök</a:t>
            </a:r>
            <a:r>
              <a:rPr lang="en-US" dirty="0"/>
              <a:t>:</a:t>
            </a:r>
          </a:p>
          <a:p>
            <a:pPr marL="0" indent="0">
              <a:buFontTx/>
              <a:buNone/>
            </a:pPr>
            <a:r>
              <a:rPr lang="hu-HU" dirty="0"/>
              <a:t>- </a:t>
            </a:r>
            <a:r>
              <a:rPr lang="hu-HU" b="1" dirty="0"/>
              <a:t>állapotmentes</a:t>
            </a:r>
            <a:r>
              <a:rPr lang="hu-HU" dirty="0"/>
              <a:t>: </a:t>
            </a:r>
            <a:r>
              <a:rPr lang="en-US" dirty="0" err="1"/>
              <a:t>nincs</a:t>
            </a:r>
            <a:r>
              <a:rPr lang="en-US" dirty="0"/>
              <a:t> session </a:t>
            </a:r>
            <a:r>
              <a:rPr lang="hu-HU" dirty="0"/>
              <a:t>tárolás, nincs szerveroldali felhasználói állapot,</a:t>
            </a:r>
            <a:endParaRPr lang="en-US" dirty="0"/>
          </a:p>
          <a:p>
            <a:pPr marL="0" indent="0">
              <a:buFontTx/>
              <a:buNone/>
            </a:pPr>
            <a:r>
              <a:rPr lang="hu-HU" dirty="0"/>
              <a:t>- ezért </a:t>
            </a:r>
            <a:r>
              <a:rPr lang="en-US" dirty="0" err="1"/>
              <a:t>horizontálisan</a:t>
            </a:r>
            <a:r>
              <a:rPr lang="en-US" dirty="0"/>
              <a:t> </a:t>
            </a:r>
            <a:r>
              <a:rPr lang="en-US" b="1" dirty="0" err="1"/>
              <a:t>skálázható</a:t>
            </a:r>
            <a:r>
              <a:rPr lang="hu-HU" dirty="0"/>
              <a:t>: bármelyik szerver példány képes a kérést feldolgozni és válaszolni,</a:t>
            </a:r>
          </a:p>
          <a:p>
            <a:pPr marL="0" indent="0">
              <a:buFontTx/>
              <a:buNone/>
            </a:pPr>
            <a:r>
              <a:rPr lang="hu-HU" dirty="0"/>
              <a:t>- </a:t>
            </a:r>
            <a:r>
              <a:rPr lang="hu-HU" b="1" dirty="0"/>
              <a:t>Gyors</a:t>
            </a:r>
            <a:r>
              <a:rPr lang="hu-HU" dirty="0"/>
              <a:t> </a:t>
            </a:r>
            <a:r>
              <a:rPr lang="hu-HU" b="1" dirty="0"/>
              <a:t>validáció</a:t>
            </a:r>
            <a:r>
              <a:rPr lang="hu-HU" dirty="0"/>
              <a:t>: csak az aláírást és a </a:t>
            </a:r>
            <a:r>
              <a:rPr lang="hu-HU" dirty="0" err="1"/>
              <a:t>token</a:t>
            </a:r>
            <a:r>
              <a:rPr lang="hu-HU" dirty="0"/>
              <a:t> lejáratot kell ellenőrizni,</a:t>
            </a:r>
          </a:p>
          <a:p>
            <a:pPr marL="0" indent="0">
              <a:buFontTx/>
              <a:buNone/>
            </a:pPr>
            <a:r>
              <a:rPr lang="hu-HU" dirty="0"/>
              <a:t>- API és </a:t>
            </a:r>
            <a:r>
              <a:rPr lang="hu-HU" dirty="0" err="1"/>
              <a:t>microservice</a:t>
            </a:r>
            <a:r>
              <a:rPr lang="hu-HU" dirty="0"/>
              <a:t> barát megoldás.</a:t>
            </a:r>
            <a:endParaRPr lang="en-US" dirty="0"/>
          </a:p>
          <a:p>
            <a:endParaRPr lang="hu-HU" dirty="0"/>
          </a:p>
          <a:p>
            <a:r>
              <a:rPr lang="en-US" dirty="0" err="1"/>
              <a:t>Kockázatok</a:t>
            </a:r>
            <a:r>
              <a:rPr lang="en-US" dirty="0"/>
              <a:t>:</a:t>
            </a:r>
          </a:p>
          <a:p>
            <a:r>
              <a:rPr lang="hu-HU" dirty="0"/>
              <a:t>- </a:t>
            </a:r>
            <a:r>
              <a:rPr lang="en-US" dirty="0" err="1"/>
              <a:t>ellopott</a:t>
            </a:r>
            <a:r>
              <a:rPr lang="en-US" dirty="0"/>
              <a:t> token</a:t>
            </a:r>
            <a:r>
              <a:rPr lang="hu-HU" dirty="0"/>
              <a:t> teljes</a:t>
            </a:r>
            <a:r>
              <a:rPr lang="en-US" dirty="0"/>
              <a:t> </a:t>
            </a:r>
            <a:r>
              <a:rPr lang="en-US" dirty="0" err="1"/>
              <a:t>hozzáférés</a:t>
            </a:r>
            <a:r>
              <a:rPr lang="hu-HU" dirty="0"/>
              <a:t>t ad</a:t>
            </a:r>
            <a:r>
              <a:rPr lang="en-US" dirty="0"/>
              <a:t>,</a:t>
            </a:r>
          </a:p>
          <a:p>
            <a:r>
              <a:rPr lang="hu-HU" dirty="0"/>
              <a:t>- A </a:t>
            </a:r>
            <a:r>
              <a:rPr lang="hu-HU" dirty="0" err="1"/>
              <a:t>token</a:t>
            </a:r>
            <a:r>
              <a:rPr lang="hu-HU" dirty="0"/>
              <a:t> </a:t>
            </a:r>
            <a:r>
              <a:rPr lang="en-US" b="1" dirty="0" err="1"/>
              <a:t>visszavonás</a:t>
            </a:r>
            <a:r>
              <a:rPr lang="en-US" b="1" dirty="0"/>
              <a:t> </a:t>
            </a:r>
            <a:r>
              <a:rPr lang="en-US" b="1" dirty="0" err="1"/>
              <a:t>nehéz</a:t>
            </a:r>
            <a:r>
              <a:rPr lang="en-US" dirty="0"/>
              <a:t>,</a:t>
            </a:r>
            <a:r>
              <a:rPr lang="hu-HU" dirty="0"/>
              <a:t> hiszen a szerver nem tárol állapotot,</a:t>
            </a:r>
            <a:endParaRPr lang="en-US" dirty="0"/>
          </a:p>
          <a:p>
            <a:pPr marL="0" indent="0">
              <a:buFontTx/>
              <a:buNone/>
            </a:pPr>
            <a:r>
              <a:rPr lang="hu-HU" b="0" dirty="0"/>
              <a:t>- </a:t>
            </a:r>
            <a:r>
              <a:rPr lang="en-US" b="1" dirty="0" err="1"/>
              <a:t>lejárati</a:t>
            </a:r>
            <a:r>
              <a:rPr lang="en-US" b="1" dirty="0"/>
              <a:t> </a:t>
            </a:r>
            <a:r>
              <a:rPr lang="en-US" b="1" dirty="0" err="1"/>
              <a:t>idő</a:t>
            </a:r>
            <a:r>
              <a:rPr lang="en-US" b="1" dirty="0"/>
              <a:t> </a:t>
            </a:r>
            <a:r>
              <a:rPr lang="en-US" b="1" dirty="0" err="1"/>
              <a:t>kritikus</a:t>
            </a:r>
            <a:r>
              <a:rPr lang="en-US" dirty="0"/>
              <a:t>.</a:t>
            </a:r>
            <a:r>
              <a:rPr lang="hu-HU" dirty="0"/>
              <a:t> Egy </a:t>
            </a:r>
            <a:r>
              <a:rPr lang="hu-HU" dirty="0" err="1"/>
              <a:t>token</a:t>
            </a:r>
            <a:r>
              <a:rPr lang="hu-HU" dirty="0"/>
              <a:t> ne legyen túl sokáig érvényes,</a:t>
            </a:r>
          </a:p>
          <a:p>
            <a:pPr marL="0" indent="0">
              <a:buFontTx/>
              <a:buNone/>
            </a:pPr>
            <a:r>
              <a:rPr lang="hu-HU" dirty="0"/>
              <a:t>- </a:t>
            </a:r>
            <a:r>
              <a:rPr lang="en-US" b="1" dirty="0" err="1"/>
              <a:t>Túl</a:t>
            </a:r>
            <a:r>
              <a:rPr lang="en-US" b="1" dirty="0"/>
              <a:t> </a:t>
            </a:r>
            <a:r>
              <a:rPr lang="en-US" b="1" dirty="0" err="1"/>
              <a:t>sok</a:t>
            </a:r>
            <a:r>
              <a:rPr lang="en-US" b="1" dirty="0"/>
              <a:t> </a:t>
            </a:r>
            <a:r>
              <a:rPr lang="en-US" b="1" dirty="0" err="1"/>
              <a:t>adat</a:t>
            </a:r>
            <a:r>
              <a:rPr lang="en-US" dirty="0"/>
              <a:t> a </a:t>
            </a:r>
            <a:r>
              <a:rPr lang="en-US" dirty="0" err="1"/>
              <a:t>tokenben</a:t>
            </a:r>
            <a:r>
              <a:rPr lang="hu-HU" dirty="0"/>
              <a:t>: csak a minimálisan szükséges adat legyen, és ne tartalmazzon érzékeny adatokat.</a:t>
            </a:r>
            <a:endParaRPr lang="en-US" dirty="0"/>
          </a:p>
          <a:p>
            <a:endParaRPr lang="hu-HU" dirty="0"/>
          </a:p>
          <a:p>
            <a:r>
              <a:rPr lang="en-US" dirty="0"/>
              <a:t>A JWT-t </a:t>
            </a:r>
            <a:r>
              <a:rPr lang="en-US" b="1" dirty="0" err="1"/>
              <a:t>rövid</a:t>
            </a:r>
            <a:r>
              <a:rPr lang="en-US" b="1" dirty="0"/>
              <a:t> </a:t>
            </a:r>
            <a:r>
              <a:rPr lang="en-US" b="1" dirty="0" err="1"/>
              <a:t>élettartamra</a:t>
            </a:r>
            <a:r>
              <a:rPr lang="en-US" dirty="0"/>
              <a:t> </a:t>
            </a:r>
            <a:r>
              <a:rPr lang="en-US" dirty="0" err="1"/>
              <a:t>tervezzük</a:t>
            </a:r>
            <a:r>
              <a:rPr lang="hu-HU" dirty="0"/>
              <a:t>, és a </a:t>
            </a:r>
            <a:r>
              <a:rPr lang="hu-HU" b="1" dirty="0" err="1"/>
              <a:t>refresh</a:t>
            </a:r>
            <a:r>
              <a:rPr lang="hu-HU" b="1" dirty="0"/>
              <a:t> </a:t>
            </a:r>
            <a:r>
              <a:rPr lang="hu-HU" b="1" dirty="0" err="1"/>
              <a:t>token</a:t>
            </a:r>
            <a:r>
              <a:rPr lang="hu-HU" b="1" dirty="0"/>
              <a:t> </a:t>
            </a:r>
            <a:r>
              <a:rPr lang="hu-HU" dirty="0"/>
              <a:t>segítségével frissítjük.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1482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Nagyon</a:t>
            </a:r>
            <a:r>
              <a:rPr lang="en-US" dirty="0"/>
              <a:t> </a:t>
            </a:r>
            <a:r>
              <a:rPr lang="en-US" dirty="0" err="1"/>
              <a:t>fontos</a:t>
            </a:r>
            <a:r>
              <a:rPr lang="en-US" dirty="0"/>
              <a:t> </a:t>
            </a:r>
            <a:r>
              <a:rPr lang="en-US" dirty="0" err="1"/>
              <a:t>megérteni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OAuth2 és a JWT </a:t>
            </a:r>
            <a:r>
              <a:rPr lang="en-US" b="1" dirty="0" err="1"/>
              <a:t>nem</a:t>
            </a:r>
            <a:r>
              <a:rPr lang="en-US" b="1" dirty="0"/>
              <a:t> </a:t>
            </a:r>
            <a:r>
              <a:rPr lang="en-US" b="1" dirty="0" err="1"/>
              <a:t>ugyanaz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JWT </a:t>
            </a:r>
            <a:r>
              <a:rPr lang="en-US" dirty="0" err="1"/>
              <a:t>önmagában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technikai</a:t>
            </a:r>
            <a:r>
              <a:rPr lang="en-US" dirty="0"/>
              <a:t> </a:t>
            </a:r>
            <a:r>
              <a:rPr lang="en-US" dirty="0" err="1"/>
              <a:t>eszkö</a:t>
            </a:r>
            <a:r>
              <a:rPr lang="hu-HU" dirty="0"/>
              <a:t>z. Az </a:t>
            </a:r>
            <a:r>
              <a:rPr lang="en-US" dirty="0"/>
              <a:t>OAuth2 </a:t>
            </a:r>
            <a:r>
              <a:rPr lang="en-US" dirty="0" err="1"/>
              <a:t>már</a:t>
            </a:r>
            <a:r>
              <a:rPr lang="en-US" dirty="0"/>
              <a:t> </a:t>
            </a:r>
            <a:r>
              <a:rPr lang="en-US" b="1" dirty="0" err="1"/>
              <a:t>nem</a:t>
            </a:r>
            <a:r>
              <a:rPr lang="en-US" b="1" dirty="0"/>
              <a:t> </a:t>
            </a:r>
            <a:r>
              <a:rPr lang="en-US" b="1" dirty="0" err="1"/>
              <a:t>csak</a:t>
            </a:r>
            <a:r>
              <a:rPr lang="en-US" b="1" dirty="0"/>
              <a:t> </a:t>
            </a:r>
            <a:r>
              <a:rPr lang="en-US" b="1" dirty="0" err="1"/>
              <a:t>technikai</a:t>
            </a:r>
            <a:r>
              <a:rPr lang="en-US" b="1" dirty="0"/>
              <a:t> </a:t>
            </a:r>
            <a:r>
              <a:rPr lang="en-US" b="1" dirty="0" err="1"/>
              <a:t>megoldás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b="1" dirty="0" err="1"/>
              <a:t>architekturális</a:t>
            </a:r>
            <a:r>
              <a:rPr lang="en-US" b="1" dirty="0"/>
              <a:t> és </a:t>
            </a:r>
            <a:r>
              <a:rPr lang="en-US" b="1" dirty="0" err="1"/>
              <a:t>biztonsági</a:t>
            </a:r>
            <a:r>
              <a:rPr lang="en-US" b="1" dirty="0"/>
              <a:t> </a:t>
            </a:r>
            <a:r>
              <a:rPr lang="en-US" b="1" dirty="0" err="1"/>
              <a:t>szemlélet</a:t>
            </a:r>
            <a:r>
              <a:rPr lang="en-US" dirty="0"/>
              <a:t> is.</a:t>
            </a:r>
            <a:endParaRPr lang="hu-HU" dirty="0"/>
          </a:p>
          <a:p>
            <a:r>
              <a:rPr lang="en-US" dirty="0"/>
              <a:t>Az OAuth2 </a:t>
            </a:r>
            <a:r>
              <a:rPr lang="en-US" b="1" dirty="0" err="1"/>
              <a:t>nem</a:t>
            </a:r>
            <a:r>
              <a:rPr lang="en-US" b="1" dirty="0"/>
              <a:t> </a:t>
            </a:r>
            <a:r>
              <a:rPr lang="en-US" b="1" dirty="0" err="1"/>
              <a:t>autentikációs</a:t>
            </a:r>
            <a:r>
              <a:rPr lang="en-US" b="1" dirty="0"/>
              <a:t> </a:t>
            </a:r>
            <a:r>
              <a:rPr lang="en-US" b="1" dirty="0" err="1"/>
              <a:t>rendszer</a:t>
            </a:r>
            <a:r>
              <a:rPr lang="en-US" dirty="0"/>
              <a:t>,</a:t>
            </a:r>
            <a:r>
              <a:rPr lang="hu-HU" dirty="0"/>
              <a:t>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b="1" dirty="0" err="1"/>
              <a:t>engedélyezési</a:t>
            </a:r>
            <a:r>
              <a:rPr lang="en-US" b="1" dirty="0"/>
              <a:t> </a:t>
            </a:r>
            <a:r>
              <a:rPr lang="en-US" b="1" dirty="0" err="1"/>
              <a:t>keretrendszer</a:t>
            </a:r>
            <a:r>
              <a:rPr lang="hu-HU" b="1" dirty="0"/>
              <a:t>. </a:t>
            </a:r>
          </a:p>
          <a:p>
            <a:endParaRPr lang="hu-HU" b="1" dirty="0"/>
          </a:p>
          <a:p>
            <a:r>
              <a:rPr lang="en-US" dirty="0"/>
              <a:t>Az OAuth2 </a:t>
            </a:r>
            <a:r>
              <a:rPr lang="en-US" dirty="0" err="1"/>
              <a:t>kulcsfogalma</a:t>
            </a:r>
            <a:r>
              <a:rPr lang="en-US" dirty="0"/>
              <a:t> a </a:t>
            </a:r>
            <a:r>
              <a:rPr lang="en-US" b="1" dirty="0" err="1"/>
              <a:t>delegált</a:t>
            </a:r>
            <a:r>
              <a:rPr lang="en-US" b="1" dirty="0"/>
              <a:t> </a:t>
            </a:r>
            <a:r>
              <a:rPr lang="en-US" b="1" dirty="0" err="1"/>
              <a:t>hozzáférés</a:t>
            </a:r>
            <a:r>
              <a:rPr lang="hu-HU" b="1" dirty="0"/>
              <a:t>.</a:t>
            </a:r>
            <a:r>
              <a:rPr lang="hu-HU" b="0" dirty="0"/>
              <a:t> A felhasználó engedélyt ad, és egy alkalmazás (kliens) hozzáférést kap korlátozott módon és időben.</a:t>
            </a:r>
          </a:p>
          <a:p>
            <a:r>
              <a:rPr lang="nl-NL" dirty="0"/>
              <a:t>Az OAuth2-ben a hozzáférés</a:t>
            </a:r>
            <a:r>
              <a:rPr lang="hu-HU" dirty="0"/>
              <a:t> (JWT)</a:t>
            </a:r>
            <a:r>
              <a:rPr lang="nl-NL" dirty="0"/>
              <a:t> </a:t>
            </a:r>
            <a:r>
              <a:rPr lang="nl-NL" b="1" dirty="0"/>
              <a:t>tokenekkel történik</a:t>
            </a:r>
            <a:r>
              <a:rPr lang="hu-HU" b="1" dirty="0"/>
              <a:t>.</a:t>
            </a:r>
            <a:r>
              <a:rPr lang="hu-HU" b="0" dirty="0"/>
              <a:t> A</a:t>
            </a:r>
            <a:r>
              <a:rPr lang="en-US" dirty="0"/>
              <a:t> token </a:t>
            </a:r>
            <a:r>
              <a:rPr lang="en-US" dirty="0" err="1"/>
              <a:t>bizonyítja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engedélyt</a:t>
            </a:r>
            <a:r>
              <a:rPr lang="hu-HU" dirty="0"/>
              <a:t>, és </a:t>
            </a:r>
            <a:r>
              <a:rPr lang="en-US" dirty="0" err="1"/>
              <a:t>időben</a:t>
            </a:r>
            <a:r>
              <a:rPr lang="en-US" dirty="0"/>
              <a:t> és </a:t>
            </a:r>
            <a:r>
              <a:rPr lang="en-US" dirty="0" err="1"/>
              <a:t>jogosultságban</a:t>
            </a:r>
            <a:r>
              <a:rPr lang="en-US" dirty="0"/>
              <a:t> </a:t>
            </a:r>
            <a:r>
              <a:rPr lang="en-US" dirty="0" err="1"/>
              <a:t>korlátozott</a:t>
            </a:r>
            <a:r>
              <a:rPr lang="hu-HU" dirty="0"/>
              <a:t>.</a:t>
            </a:r>
          </a:p>
          <a:p>
            <a:r>
              <a:rPr lang="hu-HU" dirty="0"/>
              <a:t>Mindez a </a:t>
            </a:r>
            <a:r>
              <a:rPr lang="hu-HU" b="1" dirty="0"/>
              <a:t>jelszó megosztása nélkül </a:t>
            </a:r>
            <a:r>
              <a:rPr lang="hu-HU" dirty="0"/>
              <a:t>az alkalmazás (kliens) felé: </a:t>
            </a:r>
            <a:r>
              <a:rPr lang="en-US" dirty="0"/>
              <a:t>Nem a </a:t>
            </a:r>
            <a:r>
              <a:rPr lang="en-US" dirty="0" err="1"/>
              <a:t>jelszót</a:t>
            </a:r>
            <a:r>
              <a:rPr lang="en-US" dirty="0"/>
              <a:t> </a:t>
            </a:r>
            <a:r>
              <a:rPr lang="en-US" dirty="0" err="1"/>
              <a:t>adjuk</a:t>
            </a:r>
            <a:r>
              <a:rPr lang="en-US" dirty="0"/>
              <a:t> </a:t>
            </a:r>
            <a:r>
              <a:rPr lang="en-US" dirty="0" err="1"/>
              <a:t>oda</a:t>
            </a:r>
            <a:r>
              <a:rPr lang="en-US" dirty="0"/>
              <a:t>,</a:t>
            </a:r>
            <a:r>
              <a:rPr lang="hu-HU" dirty="0"/>
              <a:t>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b="1" dirty="0" err="1"/>
              <a:t>jogosultságot</a:t>
            </a:r>
            <a:r>
              <a:rPr lang="en-US" b="1" dirty="0"/>
              <a:t> </a:t>
            </a:r>
            <a:r>
              <a:rPr lang="en-US" b="1" dirty="0" err="1"/>
              <a:t>delegálunk</a:t>
            </a:r>
            <a:r>
              <a:rPr lang="hu-HU" b="1" dirty="0"/>
              <a:t> </a:t>
            </a:r>
            <a:r>
              <a:rPr lang="hu-HU" b="0" dirty="0"/>
              <a:t>a kliens alkalmazásnak.</a:t>
            </a:r>
            <a:endParaRPr lang="hu-HU" dirty="0"/>
          </a:p>
          <a:p>
            <a:endParaRPr lang="hu-HU" dirty="0"/>
          </a:p>
          <a:p>
            <a:r>
              <a:rPr lang="en-US" dirty="0"/>
              <a:t>Az OAuth2 </a:t>
            </a:r>
            <a:r>
              <a:rPr lang="en-US" dirty="0" err="1"/>
              <a:t>mindig</a:t>
            </a:r>
            <a:r>
              <a:rPr lang="en-US" dirty="0"/>
              <a:t> </a:t>
            </a:r>
            <a:r>
              <a:rPr lang="en-US" dirty="0" err="1"/>
              <a:t>több</a:t>
            </a:r>
            <a:r>
              <a:rPr lang="en-US" dirty="0"/>
              <a:t> </a:t>
            </a:r>
            <a:r>
              <a:rPr lang="en-US" dirty="0" err="1"/>
              <a:t>szereplővel</a:t>
            </a:r>
            <a:r>
              <a:rPr lang="en-US" dirty="0"/>
              <a:t> </a:t>
            </a:r>
            <a:r>
              <a:rPr lang="en-US" dirty="0" err="1"/>
              <a:t>dolgozik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hu-HU" b="1" dirty="0"/>
              <a:t>- </a:t>
            </a:r>
            <a:r>
              <a:rPr lang="en-US" b="1" dirty="0"/>
              <a:t>User (Resource Owner)</a:t>
            </a:r>
            <a:r>
              <a:rPr lang="en-US" dirty="0"/>
              <a:t> –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adatok</a:t>
            </a:r>
            <a:r>
              <a:rPr lang="en-US" dirty="0"/>
              <a:t> </a:t>
            </a:r>
            <a:r>
              <a:rPr lang="hu-HU" dirty="0"/>
              <a:t>(erőforrás) </a:t>
            </a:r>
            <a:r>
              <a:rPr lang="en-US" dirty="0" err="1"/>
              <a:t>tulajdonosa</a:t>
            </a:r>
            <a:endParaRPr lang="en-US" dirty="0"/>
          </a:p>
          <a:p>
            <a:r>
              <a:rPr lang="hu-HU" b="1" dirty="0"/>
              <a:t>- </a:t>
            </a:r>
            <a:r>
              <a:rPr lang="en-US" b="1" dirty="0"/>
              <a:t>Client</a:t>
            </a:r>
            <a:r>
              <a:rPr lang="en-US" dirty="0"/>
              <a:t> –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alkalmazás</a:t>
            </a:r>
            <a:r>
              <a:rPr lang="en-US" dirty="0"/>
              <a:t>, </a:t>
            </a:r>
            <a:r>
              <a:rPr lang="en-US" dirty="0" err="1"/>
              <a:t>ami</a:t>
            </a:r>
            <a:r>
              <a:rPr lang="en-US" dirty="0"/>
              <a:t> </a:t>
            </a:r>
            <a:r>
              <a:rPr lang="en-US" dirty="0" err="1"/>
              <a:t>hozzáférést</a:t>
            </a:r>
            <a:r>
              <a:rPr lang="en-US" dirty="0"/>
              <a:t> </a:t>
            </a:r>
            <a:r>
              <a:rPr lang="en-US" dirty="0" err="1"/>
              <a:t>kér</a:t>
            </a:r>
            <a:r>
              <a:rPr lang="hu-HU" dirty="0"/>
              <a:t> az adatokhoz (erőforráshoz)</a:t>
            </a:r>
            <a:endParaRPr lang="en-US" dirty="0"/>
          </a:p>
          <a:p>
            <a:r>
              <a:rPr lang="hu-HU" b="1" dirty="0"/>
              <a:t>- </a:t>
            </a:r>
            <a:r>
              <a:rPr lang="en-US" b="1" dirty="0"/>
              <a:t>Authorization Server</a:t>
            </a:r>
            <a:r>
              <a:rPr lang="en-US" dirty="0"/>
              <a:t> – </a:t>
            </a:r>
            <a:r>
              <a:rPr lang="en-US" dirty="0" err="1"/>
              <a:t>engedélyt</a:t>
            </a:r>
            <a:r>
              <a:rPr lang="en-US" dirty="0"/>
              <a:t> ad és </a:t>
            </a:r>
            <a:r>
              <a:rPr lang="en-US" dirty="0" err="1"/>
              <a:t>tokent</a:t>
            </a:r>
            <a:r>
              <a:rPr lang="en-US" dirty="0"/>
              <a:t> </a:t>
            </a:r>
            <a:r>
              <a:rPr lang="en-US" dirty="0" err="1"/>
              <a:t>állít</a:t>
            </a:r>
            <a:r>
              <a:rPr lang="en-US" dirty="0"/>
              <a:t> ki</a:t>
            </a:r>
          </a:p>
          <a:p>
            <a:r>
              <a:rPr lang="hu-HU" b="1" dirty="0"/>
              <a:t>- </a:t>
            </a:r>
            <a:r>
              <a:rPr lang="en-US" b="1" dirty="0"/>
              <a:t>Resource Server</a:t>
            </a:r>
            <a:r>
              <a:rPr lang="en-US" dirty="0"/>
              <a:t> – </a:t>
            </a:r>
            <a:r>
              <a:rPr lang="en-US" dirty="0" err="1"/>
              <a:t>az</a:t>
            </a:r>
            <a:r>
              <a:rPr lang="en-US" dirty="0"/>
              <a:t> API, </a:t>
            </a:r>
            <a:r>
              <a:rPr lang="en-US" dirty="0" err="1"/>
              <a:t>ami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adatokat</a:t>
            </a:r>
            <a:r>
              <a:rPr lang="en-US" dirty="0"/>
              <a:t> </a:t>
            </a:r>
            <a:r>
              <a:rPr lang="en-US" dirty="0" err="1"/>
              <a:t>szolgáltatja</a:t>
            </a:r>
            <a:r>
              <a:rPr lang="hu-HU" dirty="0"/>
              <a:t>, a hozzáféréshez kell a </a:t>
            </a:r>
            <a:r>
              <a:rPr lang="hu-HU" dirty="0" err="1"/>
              <a:t>token</a:t>
            </a:r>
            <a:r>
              <a:rPr lang="hu-HU" dirty="0"/>
              <a:t>.</a:t>
            </a:r>
            <a:endParaRPr lang="en-US" dirty="0"/>
          </a:p>
          <a:p>
            <a:endParaRPr lang="hu-HU" dirty="0"/>
          </a:p>
          <a:p>
            <a:r>
              <a:rPr lang="hu-HU" dirty="0"/>
              <a:t>Megjegyzés: </a:t>
            </a:r>
            <a:r>
              <a:rPr lang="en-US" dirty="0"/>
              <a:t>A </a:t>
            </a:r>
            <a:r>
              <a:rPr lang="en-US" dirty="0" err="1"/>
              <a:t>felhasználó</a:t>
            </a:r>
            <a:r>
              <a:rPr lang="en-US" dirty="0"/>
              <a:t> </a:t>
            </a:r>
            <a:r>
              <a:rPr lang="en-US" dirty="0" err="1"/>
              <a:t>hitelesítését</a:t>
            </a:r>
            <a:r>
              <a:rPr lang="en-US" dirty="0"/>
              <a:t> és </a:t>
            </a:r>
            <a:r>
              <a:rPr lang="en-US" dirty="0" err="1"/>
              <a:t>az</a:t>
            </a:r>
            <a:r>
              <a:rPr lang="en-US" dirty="0"/>
              <a:t> „</a:t>
            </a:r>
            <a:r>
              <a:rPr lang="en-US" dirty="0" err="1"/>
              <a:t>azonosság</a:t>
            </a:r>
            <a:r>
              <a:rPr lang="en-US" dirty="0"/>
              <a:t>” </a:t>
            </a:r>
            <a:r>
              <a:rPr lang="en-US" dirty="0" err="1"/>
              <a:t>kezelését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b="1" dirty="0"/>
              <a:t>OpenID Connect (OIDC)</a:t>
            </a:r>
            <a:r>
              <a:rPr lang="en-US" dirty="0"/>
              <a:t> </a:t>
            </a:r>
            <a:r>
              <a:rPr lang="en-US" dirty="0" err="1"/>
              <a:t>végzi</a:t>
            </a:r>
            <a:r>
              <a:rPr lang="en-US" dirty="0"/>
              <a:t>, </a:t>
            </a:r>
            <a:r>
              <a:rPr lang="en-US" dirty="0" err="1"/>
              <a:t>amely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OAuth2-re </a:t>
            </a:r>
            <a:r>
              <a:rPr lang="en-US" dirty="0" err="1"/>
              <a:t>épülő</a:t>
            </a:r>
            <a:r>
              <a:rPr lang="en-US" dirty="0"/>
              <a:t> </a:t>
            </a:r>
            <a:r>
              <a:rPr lang="en-US" dirty="0" err="1"/>
              <a:t>autentikációs</a:t>
            </a:r>
            <a:r>
              <a:rPr lang="en-US" dirty="0"/>
              <a:t> </a:t>
            </a:r>
            <a:r>
              <a:rPr lang="en-US" dirty="0" err="1"/>
              <a:t>réteg</a:t>
            </a:r>
            <a:r>
              <a:rPr lang="en-US" dirty="0"/>
              <a:t>.</a:t>
            </a:r>
            <a:endParaRPr lang="hu-H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7185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OAuth2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egyetlen</a:t>
            </a:r>
            <a:r>
              <a:rPr lang="en-US" dirty="0"/>
              <a:t> </a:t>
            </a:r>
            <a:r>
              <a:rPr lang="en-US" dirty="0" err="1"/>
              <a:t>folyamatot</a:t>
            </a:r>
            <a:r>
              <a:rPr lang="en-US" dirty="0"/>
              <a:t> </a:t>
            </a:r>
            <a:r>
              <a:rPr lang="en-US" dirty="0" err="1"/>
              <a:t>ír</a:t>
            </a:r>
            <a:r>
              <a:rPr lang="en-US" dirty="0"/>
              <a:t> le,</a:t>
            </a:r>
            <a:r>
              <a:rPr lang="hu-HU" dirty="0"/>
              <a:t>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b="1" dirty="0" err="1"/>
              <a:t>több</a:t>
            </a:r>
            <a:r>
              <a:rPr lang="en-US" b="1" dirty="0"/>
              <a:t> </a:t>
            </a:r>
            <a:r>
              <a:rPr lang="en-US" b="1" dirty="0" err="1"/>
              <a:t>különböző</a:t>
            </a:r>
            <a:r>
              <a:rPr lang="en-US" b="1" dirty="0"/>
              <a:t> </a:t>
            </a:r>
            <a:r>
              <a:rPr lang="en-US" b="1" dirty="0" err="1"/>
              <a:t>forgatókönyvet</a:t>
            </a:r>
            <a:r>
              <a:rPr lang="en-US" dirty="0"/>
              <a:t>, </a:t>
            </a:r>
            <a:r>
              <a:rPr lang="en-US" dirty="0" err="1"/>
              <a:t>amelyeket</a:t>
            </a:r>
            <a:r>
              <a:rPr lang="en-US" dirty="0"/>
              <a:t> </a:t>
            </a:r>
            <a:r>
              <a:rPr lang="en-US" i="1" dirty="0"/>
              <a:t>flow</a:t>
            </a:r>
            <a:r>
              <a:rPr lang="en-US" dirty="0"/>
              <a:t>-</a:t>
            </a:r>
            <a:r>
              <a:rPr lang="en-US" dirty="0" err="1"/>
              <a:t>knak</a:t>
            </a:r>
            <a:r>
              <a:rPr lang="en-US" dirty="0"/>
              <a:t> </a:t>
            </a:r>
            <a:r>
              <a:rPr lang="en-US" dirty="0" err="1"/>
              <a:t>nevezünk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Nem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helyzetre</a:t>
            </a:r>
            <a:r>
              <a:rPr lang="en-US" dirty="0"/>
              <a:t> </a:t>
            </a:r>
            <a:r>
              <a:rPr lang="en-US" dirty="0" err="1"/>
              <a:t>ugyanaz</a:t>
            </a:r>
            <a:r>
              <a:rPr lang="en-US" dirty="0"/>
              <a:t> a flow a </a:t>
            </a:r>
            <a:r>
              <a:rPr lang="en-US" dirty="0" err="1"/>
              <a:t>jó</a:t>
            </a:r>
            <a:r>
              <a:rPr lang="en-US" dirty="0"/>
              <a:t> </a:t>
            </a:r>
            <a:r>
              <a:rPr lang="en-US" dirty="0" err="1"/>
              <a:t>választás</a:t>
            </a:r>
            <a:r>
              <a:rPr lang="hu-HU" dirty="0"/>
              <a:t>.</a:t>
            </a:r>
          </a:p>
          <a:p>
            <a:r>
              <a:rPr lang="en-US" dirty="0"/>
              <a:t>A flow </a:t>
            </a:r>
            <a:r>
              <a:rPr lang="en-US" dirty="0" err="1"/>
              <a:t>kiválasztása</a:t>
            </a:r>
            <a:r>
              <a:rPr lang="en-US" dirty="0"/>
              <a:t> </a:t>
            </a:r>
            <a:r>
              <a:rPr lang="en-US" dirty="0" err="1"/>
              <a:t>attól</a:t>
            </a:r>
            <a:r>
              <a:rPr lang="en-US" dirty="0"/>
              <a:t> </a:t>
            </a:r>
            <a:r>
              <a:rPr lang="en-US" dirty="0" err="1"/>
              <a:t>függ</a:t>
            </a:r>
            <a:r>
              <a:rPr lang="en-US" dirty="0"/>
              <a:t>,</a:t>
            </a:r>
            <a:r>
              <a:rPr lang="hu-HU" dirty="0"/>
              <a:t> </a:t>
            </a:r>
            <a:r>
              <a:rPr lang="en-US" b="1" dirty="0"/>
              <a:t>ki a </a:t>
            </a:r>
            <a:r>
              <a:rPr lang="en-US" b="1" dirty="0" err="1"/>
              <a:t>kliens</a:t>
            </a:r>
            <a:r>
              <a:rPr lang="en-US" dirty="0"/>
              <a:t>, és </a:t>
            </a:r>
            <a:r>
              <a:rPr lang="en-US" b="1" dirty="0" err="1"/>
              <a:t>kinek</a:t>
            </a:r>
            <a:r>
              <a:rPr lang="en-US" b="1" dirty="0"/>
              <a:t> a </a:t>
            </a:r>
            <a:r>
              <a:rPr lang="en-US" b="1" dirty="0" err="1"/>
              <a:t>nevében</a:t>
            </a:r>
            <a:r>
              <a:rPr lang="en-US" b="1" dirty="0"/>
              <a:t> </a:t>
            </a:r>
            <a:r>
              <a:rPr lang="en-US" b="1" dirty="0" err="1"/>
              <a:t>történik</a:t>
            </a:r>
            <a:r>
              <a:rPr lang="en-US" b="1" dirty="0"/>
              <a:t> a </a:t>
            </a:r>
            <a:r>
              <a:rPr lang="en-US" b="1" dirty="0" err="1"/>
              <a:t>hozzáférés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en-US" b="1" dirty="0"/>
              <a:t>Authorization Code Flow</a:t>
            </a:r>
            <a:r>
              <a:rPr lang="hu-HU" dirty="0"/>
              <a:t>: </a:t>
            </a:r>
            <a:r>
              <a:rPr lang="en-US" dirty="0"/>
              <a:t>Ez a </a:t>
            </a:r>
            <a:r>
              <a:rPr lang="en-US" b="0" dirty="0" err="1"/>
              <a:t>legelterjedtebb</a:t>
            </a:r>
            <a:r>
              <a:rPr lang="en-US" b="0" dirty="0"/>
              <a:t> és </a:t>
            </a:r>
            <a:r>
              <a:rPr lang="en-US" b="0" dirty="0" err="1"/>
              <a:t>legbiztonságosabb</a:t>
            </a:r>
            <a:r>
              <a:rPr lang="en-US" b="0" dirty="0"/>
              <a:t> </a:t>
            </a:r>
            <a:r>
              <a:rPr lang="en-US" dirty="0"/>
              <a:t>OAuth2 flow</a:t>
            </a:r>
            <a:r>
              <a:rPr lang="hu-HU" dirty="0"/>
              <a:t>. Webalkalmazások (frontend + backend együtt) használják.</a:t>
            </a:r>
          </a:p>
          <a:p>
            <a:endParaRPr lang="hu-HU" dirty="0"/>
          </a:p>
          <a:p>
            <a:r>
              <a:rPr lang="en-US" b="1" dirty="0"/>
              <a:t>Client Credentials Flow</a:t>
            </a:r>
            <a:r>
              <a:rPr lang="hu-HU" dirty="0"/>
              <a:t>: service-service </a:t>
            </a:r>
            <a:r>
              <a:rPr lang="en-US" dirty="0" err="1"/>
              <a:t>kommunikáció</a:t>
            </a:r>
            <a:r>
              <a:rPr lang="hu-HU" dirty="0"/>
              <a:t>. </a:t>
            </a:r>
            <a:r>
              <a:rPr lang="en-US" dirty="0"/>
              <a:t>Ez a flow </a:t>
            </a:r>
            <a:r>
              <a:rPr lang="en-US" dirty="0" err="1"/>
              <a:t>akkor</a:t>
            </a:r>
            <a:r>
              <a:rPr lang="en-US" dirty="0"/>
              <a:t> </a:t>
            </a:r>
            <a:r>
              <a:rPr lang="en-US" dirty="0" err="1"/>
              <a:t>kell</a:t>
            </a:r>
            <a:r>
              <a:rPr lang="en-US" dirty="0"/>
              <a:t>,</a:t>
            </a:r>
            <a:r>
              <a:rPr lang="hu-HU" dirty="0"/>
              <a:t> </a:t>
            </a:r>
            <a:r>
              <a:rPr lang="en-US" dirty="0" err="1"/>
              <a:t>amikor</a:t>
            </a:r>
            <a:r>
              <a:rPr lang="en-US" dirty="0"/>
              <a:t> </a:t>
            </a:r>
            <a:r>
              <a:rPr lang="en-US" b="0" dirty="0" err="1"/>
              <a:t>nincs</a:t>
            </a:r>
            <a:r>
              <a:rPr lang="en-US" b="0" dirty="0"/>
              <a:t> </a:t>
            </a:r>
            <a:r>
              <a:rPr lang="en-US" b="0" dirty="0" err="1"/>
              <a:t>felhasználó</a:t>
            </a:r>
            <a:r>
              <a:rPr lang="hu-HU" b="0" dirty="0"/>
              <a:t> és nincs UI. Például </a:t>
            </a:r>
            <a:r>
              <a:rPr lang="hu-HU" b="0" dirty="0" err="1"/>
              <a:t>microservice</a:t>
            </a:r>
            <a:r>
              <a:rPr lang="hu-HU" b="0" dirty="0"/>
              <a:t> kommunikáció.</a:t>
            </a:r>
          </a:p>
          <a:p>
            <a:endParaRPr lang="hu-HU" b="0" dirty="0"/>
          </a:p>
          <a:p>
            <a:r>
              <a:rPr lang="en-US" b="1" dirty="0"/>
              <a:t>Implicit Flow</a:t>
            </a:r>
            <a:r>
              <a:rPr lang="hu-HU" b="1" dirty="0"/>
              <a:t>:</a:t>
            </a:r>
            <a:r>
              <a:rPr lang="hu-HU" dirty="0"/>
              <a:t> Az Implicit Flow régen népszerű volt SPA alapú webalkalmazásoknál, de ma már </a:t>
            </a:r>
            <a:r>
              <a:rPr lang="hu-HU" b="1" dirty="0"/>
              <a:t>nem ajánlott</a:t>
            </a:r>
            <a:r>
              <a:rPr lang="hu-HU" dirty="0"/>
              <a:t>. </a:t>
            </a:r>
            <a:r>
              <a:rPr lang="en-US" dirty="0"/>
              <a:t>A</a:t>
            </a:r>
            <a:r>
              <a:rPr lang="hu-HU" dirty="0"/>
              <a:t> </a:t>
            </a:r>
            <a:r>
              <a:rPr lang="hu-HU" dirty="0" err="1"/>
              <a:t>token</a:t>
            </a:r>
            <a:r>
              <a:rPr lang="hu-HU" dirty="0"/>
              <a:t> közvetlenül</a:t>
            </a:r>
            <a:r>
              <a:rPr lang="en-US" dirty="0"/>
              <a:t> </a:t>
            </a:r>
            <a:r>
              <a:rPr lang="en-US" dirty="0" err="1"/>
              <a:t>böngészőn</a:t>
            </a:r>
            <a:r>
              <a:rPr lang="en-US" dirty="0"/>
              <a:t> </a:t>
            </a:r>
            <a:r>
              <a:rPr lang="en-US" dirty="0" err="1"/>
              <a:t>keresztül</a:t>
            </a:r>
            <a:r>
              <a:rPr lang="en-US" dirty="0"/>
              <a:t> </a:t>
            </a:r>
            <a:r>
              <a:rPr lang="en-US" dirty="0" err="1"/>
              <a:t>jön</a:t>
            </a:r>
            <a:r>
              <a:rPr lang="en-US" dirty="0"/>
              <a:t> a </a:t>
            </a:r>
            <a:r>
              <a:rPr lang="hu-HU" dirty="0" err="1"/>
              <a:t>callback</a:t>
            </a:r>
            <a:r>
              <a:rPr lang="hu-HU" dirty="0"/>
              <a:t> URL-ben, amiből a JavaScript kiszedi a </a:t>
            </a:r>
            <a:r>
              <a:rPr lang="hu-HU" dirty="0" err="1"/>
              <a:t>token</a:t>
            </a:r>
            <a:r>
              <a:rPr lang="hu-HU" dirty="0"/>
              <a:t>-t és használja. Ez biztonsági kockázatot jelent.</a:t>
            </a:r>
            <a:endParaRPr lang="hu-HU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3160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Amikor</a:t>
            </a:r>
            <a:r>
              <a:rPr lang="en-US" dirty="0"/>
              <a:t> a </a:t>
            </a:r>
            <a:r>
              <a:rPr lang="en-US" dirty="0" err="1"/>
              <a:t>felhasználó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védett</a:t>
            </a:r>
            <a:r>
              <a:rPr lang="en-US" dirty="0"/>
              <a:t> </a:t>
            </a:r>
            <a:r>
              <a:rPr lang="en-US" dirty="0" err="1"/>
              <a:t>erőforrást</a:t>
            </a:r>
            <a:r>
              <a:rPr lang="en-US" dirty="0"/>
              <a:t> </a:t>
            </a:r>
            <a:r>
              <a:rPr lang="en-US" dirty="0" err="1"/>
              <a:t>szeretne</a:t>
            </a:r>
            <a:r>
              <a:rPr lang="en-US" dirty="0"/>
              <a:t> </a:t>
            </a:r>
            <a:r>
              <a:rPr lang="en-US" dirty="0" err="1"/>
              <a:t>elérni</a:t>
            </a:r>
            <a:r>
              <a:rPr lang="en-US" dirty="0"/>
              <a:t>, a </a:t>
            </a:r>
            <a:r>
              <a:rPr lang="en-US" dirty="0" err="1"/>
              <a:t>böngésző</a:t>
            </a:r>
            <a:r>
              <a:rPr lang="en-US" dirty="0"/>
              <a:t> </a:t>
            </a:r>
            <a:r>
              <a:rPr lang="en-US" dirty="0" err="1"/>
              <a:t>átirányításra</a:t>
            </a:r>
            <a:r>
              <a:rPr lang="en-US" dirty="0"/>
              <a:t> </a:t>
            </a:r>
            <a:r>
              <a:rPr lang="en-US" dirty="0" err="1"/>
              <a:t>kerül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Authorization </a:t>
            </a:r>
            <a:r>
              <a:rPr lang="en-US" dirty="0" err="1"/>
              <a:t>Serverhez</a:t>
            </a:r>
            <a:r>
              <a:rPr lang="en-US" dirty="0"/>
              <a:t>. Az Authorization Server a </a:t>
            </a:r>
            <a:r>
              <a:rPr lang="en-US" dirty="0" err="1"/>
              <a:t>bejelentkezési</a:t>
            </a:r>
            <a:r>
              <a:rPr lang="en-US" dirty="0"/>
              <a:t> </a:t>
            </a:r>
            <a:r>
              <a:rPr lang="en-US" dirty="0" err="1"/>
              <a:t>oldalon</a:t>
            </a:r>
            <a:r>
              <a:rPr lang="en-US" dirty="0"/>
              <a:t> </a:t>
            </a:r>
            <a:r>
              <a:rPr lang="en-US" dirty="0" err="1"/>
              <a:t>hitelesíti</a:t>
            </a:r>
            <a:r>
              <a:rPr lang="en-US" dirty="0"/>
              <a:t> a </a:t>
            </a:r>
            <a:r>
              <a:rPr lang="en-US" dirty="0" err="1"/>
              <a:t>felhasználót</a:t>
            </a:r>
            <a:r>
              <a:rPr lang="en-US" dirty="0"/>
              <a:t>, </a:t>
            </a:r>
            <a:r>
              <a:rPr lang="en-US" dirty="0" err="1"/>
              <a:t>majd</a:t>
            </a:r>
            <a:r>
              <a:rPr lang="en-US" dirty="0"/>
              <a:t> </a:t>
            </a:r>
            <a:r>
              <a:rPr lang="en-US" dirty="0" err="1"/>
              <a:t>sikeres</a:t>
            </a:r>
            <a:r>
              <a:rPr lang="en-US" dirty="0"/>
              <a:t> </a:t>
            </a:r>
            <a:r>
              <a:rPr lang="en-US" dirty="0" err="1"/>
              <a:t>belépés</a:t>
            </a:r>
            <a:r>
              <a:rPr lang="en-US" dirty="0"/>
              <a:t> </a:t>
            </a:r>
            <a:r>
              <a:rPr lang="en-US" dirty="0" err="1"/>
              <a:t>után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b="1" dirty="0"/>
              <a:t>authorization code-</a:t>
            </a:r>
            <a:r>
              <a:rPr lang="en-US" b="1" dirty="0" err="1"/>
              <a:t>ot</a:t>
            </a:r>
            <a:r>
              <a:rPr lang="en-US" dirty="0"/>
              <a:t> </a:t>
            </a:r>
            <a:r>
              <a:rPr lang="en-US" dirty="0" err="1"/>
              <a:t>küld</a:t>
            </a:r>
            <a:r>
              <a:rPr lang="en-US" dirty="0"/>
              <a:t> </a:t>
            </a:r>
            <a:r>
              <a:rPr lang="en-US" dirty="0" err="1"/>
              <a:t>vissza</a:t>
            </a:r>
            <a:r>
              <a:rPr lang="en-US" dirty="0"/>
              <a:t> a </a:t>
            </a:r>
            <a:r>
              <a:rPr lang="en-US" dirty="0" err="1"/>
              <a:t>kliensnek</a:t>
            </a:r>
            <a:r>
              <a:rPr lang="hu-HU" dirty="0"/>
              <a:t> (</a:t>
            </a:r>
            <a:r>
              <a:rPr lang="hu-HU"/>
              <a:t>klasszikus webalkalmazás)</a:t>
            </a:r>
            <a:r>
              <a:rPr lang="en-US" dirty="0"/>
              <a:t>. A </a:t>
            </a:r>
            <a:r>
              <a:rPr lang="en-US" dirty="0" err="1"/>
              <a:t>kliens</a:t>
            </a:r>
            <a:r>
              <a:rPr lang="en-US" dirty="0"/>
              <a:t> </a:t>
            </a:r>
            <a:r>
              <a:rPr lang="en-US" dirty="0" err="1"/>
              <a:t>ezt</a:t>
            </a:r>
            <a:r>
              <a:rPr lang="en-US" dirty="0"/>
              <a:t> a code-</a:t>
            </a:r>
            <a:r>
              <a:rPr lang="en-US" dirty="0" err="1"/>
              <a:t>ot</a:t>
            </a:r>
            <a:r>
              <a:rPr lang="en-US" dirty="0"/>
              <a:t> a </a:t>
            </a:r>
            <a:r>
              <a:rPr lang="en-US" dirty="0" err="1"/>
              <a:t>következő</a:t>
            </a:r>
            <a:r>
              <a:rPr lang="en-US" dirty="0"/>
              <a:t> </a:t>
            </a:r>
            <a:r>
              <a:rPr lang="en-US" dirty="0" err="1"/>
              <a:t>lépésben</a:t>
            </a:r>
            <a:r>
              <a:rPr lang="en-US" dirty="0"/>
              <a:t> </a:t>
            </a:r>
            <a:r>
              <a:rPr lang="en-US" dirty="0" err="1"/>
              <a:t>elküldi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Authorization </a:t>
            </a:r>
            <a:r>
              <a:rPr lang="en-US" dirty="0" err="1"/>
              <a:t>Servernek</a:t>
            </a:r>
            <a:r>
              <a:rPr lang="en-US" dirty="0"/>
              <a:t>, a </a:t>
            </a:r>
            <a:r>
              <a:rPr lang="en-US" dirty="0" err="1"/>
              <a:t>saját</a:t>
            </a:r>
            <a:r>
              <a:rPr lang="en-US" dirty="0"/>
              <a:t>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client_id</a:t>
            </a:r>
            <a:r>
              <a:rPr lang="en-US" b="1" dirty="0"/>
              <a:t> és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client_secret</a:t>
            </a:r>
            <a:r>
              <a:rPr lang="en-US" b="1" dirty="0"/>
              <a:t> </a:t>
            </a:r>
            <a:r>
              <a:rPr lang="en-US" dirty="0" err="1"/>
              <a:t>adataival</a:t>
            </a:r>
            <a:r>
              <a:rPr lang="en-US" dirty="0"/>
              <a:t> </a:t>
            </a:r>
            <a:r>
              <a:rPr lang="en-US" dirty="0" err="1"/>
              <a:t>együtt</a:t>
            </a:r>
            <a:r>
              <a:rPr lang="en-US" dirty="0"/>
              <a:t>, és </a:t>
            </a:r>
            <a:r>
              <a:rPr lang="en-US" dirty="0" err="1"/>
              <a:t>így</a:t>
            </a:r>
            <a:r>
              <a:rPr lang="en-US" dirty="0"/>
              <a:t> </a:t>
            </a:r>
            <a:r>
              <a:rPr lang="en-US" b="1" dirty="0"/>
              <a:t>access token</a:t>
            </a:r>
            <a:r>
              <a:rPr lang="hu-HU" b="1" dirty="0"/>
              <a:t>-</a:t>
            </a:r>
            <a:r>
              <a:rPr lang="en-US" b="1" dirty="0"/>
              <a:t>t</a:t>
            </a:r>
            <a:r>
              <a:rPr lang="en-US" dirty="0"/>
              <a:t> </a:t>
            </a:r>
            <a:r>
              <a:rPr lang="en-US" dirty="0" err="1"/>
              <a:t>kap</a:t>
            </a:r>
            <a:r>
              <a:rPr lang="en-US" dirty="0"/>
              <a:t>. A </a:t>
            </a:r>
            <a:r>
              <a:rPr lang="en-US" dirty="0" err="1"/>
              <a:t>kliens</a:t>
            </a:r>
            <a:r>
              <a:rPr lang="en-US" dirty="0"/>
              <a:t> </a:t>
            </a:r>
            <a:r>
              <a:rPr lang="en-US" dirty="0" err="1"/>
              <a:t>ezután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access token </a:t>
            </a:r>
            <a:r>
              <a:rPr lang="en-US" dirty="0" err="1"/>
              <a:t>segítségével</a:t>
            </a:r>
            <a:r>
              <a:rPr lang="en-US" dirty="0"/>
              <a:t> </a:t>
            </a:r>
            <a:r>
              <a:rPr lang="en-US" dirty="0" err="1"/>
              <a:t>fér</a:t>
            </a:r>
            <a:r>
              <a:rPr lang="en-US" dirty="0"/>
              <a:t> </a:t>
            </a:r>
            <a:r>
              <a:rPr lang="en-US" dirty="0" err="1"/>
              <a:t>hozzá</a:t>
            </a:r>
            <a:r>
              <a:rPr lang="en-US" dirty="0"/>
              <a:t> a </a:t>
            </a:r>
            <a:r>
              <a:rPr lang="en-US" dirty="0" err="1"/>
              <a:t>védett</a:t>
            </a:r>
            <a:r>
              <a:rPr lang="en-US" dirty="0"/>
              <a:t> </a:t>
            </a:r>
            <a:r>
              <a:rPr lang="en-US" dirty="0" err="1"/>
              <a:t>erőforráshoz</a:t>
            </a:r>
            <a:r>
              <a:rPr lang="en-US" dirty="0"/>
              <a:t>.</a:t>
            </a:r>
            <a:endParaRPr lang="hu-H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9473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H</a:t>
            </a:r>
            <a:r>
              <a:rPr lang="en-US" dirty="0" err="1"/>
              <a:t>ány</a:t>
            </a:r>
            <a:r>
              <a:rPr lang="en-US" dirty="0"/>
              <a:t> </a:t>
            </a:r>
            <a:r>
              <a:rPr lang="en-US" dirty="0" err="1"/>
              <a:t>különböző</a:t>
            </a:r>
            <a:r>
              <a:rPr lang="en-US" dirty="0"/>
              <a:t> </a:t>
            </a:r>
            <a:r>
              <a:rPr lang="en-US" dirty="0" err="1"/>
              <a:t>rendszerbe</a:t>
            </a:r>
            <a:r>
              <a:rPr lang="en-US" dirty="0"/>
              <a:t> </a:t>
            </a:r>
            <a:r>
              <a:rPr lang="en-US" dirty="0" err="1"/>
              <a:t>kell</a:t>
            </a:r>
            <a:r>
              <a:rPr lang="en-US" dirty="0"/>
              <a:t> </a:t>
            </a:r>
            <a:r>
              <a:rPr lang="en-US" dirty="0" err="1"/>
              <a:t>belépnünk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munkahelyen</a:t>
            </a:r>
            <a:r>
              <a:rPr lang="en-US" dirty="0"/>
              <a:t>?</a:t>
            </a:r>
            <a:r>
              <a:rPr lang="hu-HU" dirty="0"/>
              <a:t> </a:t>
            </a:r>
            <a:r>
              <a:rPr lang="it-IT" dirty="0"/>
              <a:t>Erre ad választ az </a:t>
            </a:r>
            <a:r>
              <a:rPr lang="it-IT" b="1" dirty="0"/>
              <a:t>SSO</a:t>
            </a:r>
            <a:r>
              <a:rPr lang="it-IT" dirty="0"/>
              <a:t>, vagyis a </a:t>
            </a:r>
            <a:r>
              <a:rPr lang="it-IT" i="1" dirty="0"/>
              <a:t>Single Sign-On</a:t>
            </a:r>
            <a:r>
              <a:rPr lang="hu-HU" i="1" dirty="0"/>
              <a:t>.</a:t>
            </a:r>
            <a:endParaRPr lang="hu-HU" i="0" dirty="0"/>
          </a:p>
          <a:p>
            <a:endParaRPr lang="hu-HU" i="0" dirty="0"/>
          </a:p>
          <a:p>
            <a:r>
              <a:rPr lang="en-US" dirty="0"/>
              <a:t>Az SSO </a:t>
            </a:r>
            <a:r>
              <a:rPr lang="en-US" dirty="0" err="1"/>
              <a:t>lényege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hu-HU" dirty="0"/>
              <a:t> </a:t>
            </a:r>
            <a:r>
              <a:rPr lang="en-US" b="1" dirty="0" err="1"/>
              <a:t>egyetlen</a:t>
            </a:r>
            <a:r>
              <a:rPr lang="en-US" b="1" dirty="0"/>
              <a:t> </a:t>
            </a:r>
            <a:r>
              <a:rPr lang="en-US" b="1" dirty="0" err="1"/>
              <a:t>bejelentkezéssel</a:t>
            </a:r>
            <a:r>
              <a:rPr lang="en-US" b="1" dirty="0"/>
              <a:t> </a:t>
            </a:r>
            <a:r>
              <a:rPr lang="en-US" b="1" dirty="0" err="1"/>
              <a:t>több</a:t>
            </a:r>
            <a:r>
              <a:rPr lang="en-US" b="1" dirty="0"/>
              <a:t> </a:t>
            </a:r>
            <a:r>
              <a:rPr lang="en-US" b="1" dirty="0" err="1"/>
              <a:t>alkalmazást</a:t>
            </a:r>
            <a:r>
              <a:rPr lang="en-US" b="1" dirty="0"/>
              <a:t> is </a:t>
            </a:r>
            <a:r>
              <a:rPr lang="en-US" b="1" dirty="0" err="1"/>
              <a:t>elérhetünk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Az </a:t>
            </a:r>
            <a:r>
              <a:rPr lang="en-US" dirty="0" err="1"/>
              <a:t>identitás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alkalmazásoknál</a:t>
            </a:r>
            <a:r>
              <a:rPr lang="en-US" dirty="0"/>
              <a:t> van,</a:t>
            </a:r>
            <a:r>
              <a:rPr lang="hu-HU" dirty="0"/>
              <a:t>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b="1" dirty="0" err="1"/>
              <a:t>egy</a:t>
            </a:r>
            <a:r>
              <a:rPr lang="en-US" b="1" dirty="0"/>
              <a:t> </a:t>
            </a:r>
            <a:r>
              <a:rPr lang="en-US" b="1" dirty="0" err="1"/>
              <a:t>központi</a:t>
            </a:r>
            <a:r>
              <a:rPr lang="en-US" b="1" dirty="0"/>
              <a:t> </a:t>
            </a:r>
            <a:r>
              <a:rPr lang="en-US" b="1" dirty="0" err="1"/>
              <a:t>rendszerben</a:t>
            </a:r>
            <a:r>
              <a:rPr lang="en-US" dirty="0"/>
              <a:t>.</a:t>
            </a:r>
            <a:r>
              <a:rPr lang="hu-HU" dirty="0"/>
              <a:t> A</a:t>
            </a:r>
            <a:r>
              <a:rPr lang="en-US" dirty="0"/>
              <a:t>z </a:t>
            </a:r>
            <a:r>
              <a:rPr lang="en-US" dirty="0" err="1"/>
              <a:t>alkalmazások</a:t>
            </a:r>
            <a:r>
              <a:rPr lang="en-US" dirty="0"/>
              <a:t> </a:t>
            </a:r>
            <a:r>
              <a:rPr lang="en-US" dirty="0" err="1"/>
              <a:t>megbíznak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központi</a:t>
            </a:r>
            <a:r>
              <a:rPr lang="en-US" dirty="0"/>
              <a:t> Identity </a:t>
            </a:r>
            <a:r>
              <a:rPr lang="en-US" dirty="0" err="1"/>
              <a:t>Providerben</a:t>
            </a:r>
            <a:r>
              <a:rPr lang="en-US" dirty="0"/>
              <a:t>,</a:t>
            </a:r>
            <a:r>
              <a:rPr lang="hu-HU" dirty="0"/>
              <a:t> </a:t>
            </a:r>
            <a:r>
              <a:rPr lang="en-US" dirty="0" err="1"/>
              <a:t>tokenekkel</a:t>
            </a:r>
            <a:r>
              <a:rPr lang="en-US" dirty="0"/>
              <a:t> </a:t>
            </a:r>
            <a:r>
              <a:rPr lang="en-US" dirty="0" err="1"/>
              <a:t>kommunikálnak</a:t>
            </a:r>
            <a:r>
              <a:rPr lang="en-US" dirty="0"/>
              <a:t>,</a:t>
            </a:r>
            <a:r>
              <a:rPr lang="hu-HU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tárolnak</a:t>
            </a:r>
            <a:r>
              <a:rPr lang="en-US" dirty="0"/>
              <a:t> </a:t>
            </a:r>
            <a:r>
              <a:rPr lang="en-US" dirty="0" err="1"/>
              <a:t>jelszót</a:t>
            </a:r>
            <a:r>
              <a:rPr lang="en-US" dirty="0"/>
              <a:t>.</a:t>
            </a:r>
          </a:p>
          <a:p>
            <a:endParaRPr lang="hu-HU" dirty="0"/>
          </a:p>
          <a:p>
            <a:r>
              <a:rPr lang="hu-HU" dirty="0"/>
              <a:t>- </a:t>
            </a:r>
            <a:r>
              <a:rPr lang="en-US" dirty="0"/>
              <a:t>OAuth2 </a:t>
            </a:r>
            <a:r>
              <a:rPr lang="en-US" dirty="0" err="1"/>
              <a:t>biztosítja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engedélyezést</a:t>
            </a:r>
            <a:r>
              <a:rPr lang="en-US" dirty="0"/>
              <a:t>,</a:t>
            </a:r>
          </a:p>
          <a:p>
            <a:r>
              <a:rPr lang="hu-HU" dirty="0"/>
              <a:t>- </a:t>
            </a:r>
            <a:r>
              <a:rPr lang="en-US" dirty="0"/>
              <a:t>OpenID Connect ad </a:t>
            </a:r>
            <a:r>
              <a:rPr lang="en-US" dirty="0" err="1"/>
              <a:t>identitást</a:t>
            </a:r>
            <a:r>
              <a:rPr lang="en-US" dirty="0"/>
              <a:t>,</a:t>
            </a:r>
          </a:p>
          <a:p>
            <a:r>
              <a:rPr lang="hu-HU" dirty="0"/>
              <a:t>- </a:t>
            </a:r>
            <a:r>
              <a:rPr lang="en-US" dirty="0" err="1"/>
              <a:t>tokenek</a:t>
            </a:r>
            <a:r>
              <a:rPr lang="en-US" dirty="0"/>
              <a:t> </a:t>
            </a:r>
            <a:r>
              <a:rPr lang="en-US" dirty="0" err="1"/>
              <a:t>közvetítenek</a:t>
            </a:r>
            <a:r>
              <a:rPr lang="en-US" dirty="0"/>
              <a:t>.</a:t>
            </a:r>
          </a:p>
          <a:p>
            <a:endParaRPr lang="hu-HU" dirty="0"/>
          </a:p>
          <a:p>
            <a:r>
              <a:rPr lang="hu-HU" dirty="0"/>
              <a:t>A</a:t>
            </a:r>
            <a:r>
              <a:rPr lang="en-US" dirty="0"/>
              <a:t>z SSO </a:t>
            </a:r>
            <a:r>
              <a:rPr lang="en-US" b="1" dirty="0" err="1"/>
              <a:t>nem</a:t>
            </a:r>
            <a:r>
              <a:rPr lang="en-US" b="1" dirty="0"/>
              <a:t> </a:t>
            </a:r>
            <a:r>
              <a:rPr lang="en-US" b="1" dirty="0" err="1"/>
              <a:t>egy</a:t>
            </a:r>
            <a:r>
              <a:rPr lang="en-US" b="1" dirty="0"/>
              <a:t> </a:t>
            </a:r>
            <a:r>
              <a:rPr lang="en-US" b="1" dirty="0" err="1"/>
              <a:t>külön</a:t>
            </a:r>
            <a:r>
              <a:rPr lang="en-US" b="1" dirty="0"/>
              <a:t> </a:t>
            </a:r>
            <a:r>
              <a:rPr lang="en-US" b="1" dirty="0" err="1"/>
              <a:t>protokoll</a:t>
            </a:r>
            <a:r>
              <a:rPr lang="en-US" dirty="0"/>
              <a:t>,</a:t>
            </a:r>
            <a:r>
              <a:rPr lang="hu-HU" dirty="0"/>
              <a:t>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b="1" dirty="0" err="1"/>
              <a:t>architekturális</a:t>
            </a:r>
            <a:r>
              <a:rPr lang="en-US" b="1" dirty="0"/>
              <a:t> </a:t>
            </a:r>
            <a:r>
              <a:rPr lang="en-US" b="1" dirty="0" err="1"/>
              <a:t>minta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Az OAuth2 </a:t>
            </a:r>
            <a:r>
              <a:rPr lang="hu-HU" dirty="0"/>
              <a:t>és az OIDC (</a:t>
            </a:r>
            <a:r>
              <a:rPr lang="hu-HU" dirty="0" err="1"/>
              <a:t>OpenID</a:t>
            </a:r>
            <a:r>
              <a:rPr lang="hu-HU" dirty="0"/>
              <a:t> </a:t>
            </a:r>
            <a:r>
              <a:rPr lang="hu-HU" dirty="0" err="1"/>
              <a:t>Connect</a:t>
            </a:r>
            <a:r>
              <a:rPr lang="hu-HU" dirty="0"/>
              <a:t>)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alap</a:t>
            </a:r>
            <a:r>
              <a:rPr lang="en-US" dirty="0"/>
              <a:t>,</a:t>
            </a:r>
            <a:r>
              <a:rPr lang="hu-HU" dirty="0"/>
              <a:t> </a:t>
            </a:r>
            <a:r>
              <a:rPr lang="en-US" dirty="0" err="1"/>
              <a:t>az</a:t>
            </a:r>
            <a:r>
              <a:rPr lang="en-US" dirty="0"/>
              <a:t> SSO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erre</a:t>
            </a:r>
            <a:r>
              <a:rPr lang="en-US" dirty="0"/>
              <a:t> </a:t>
            </a:r>
            <a:r>
              <a:rPr lang="en-US" dirty="0" err="1"/>
              <a:t>épülő</a:t>
            </a:r>
            <a:r>
              <a:rPr lang="en-US" dirty="0"/>
              <a:t> </a:t>
            </a:r>
            <a:r>
              <a:rPr lang="hu-HU" dirty="0"/>
              <a:t>„</a:t>
            </a:r>
            <a:r>
              <a:rPr lang="en-US" dirty="0" err="1"/>
              <a:t>felhasználói</a:t>
            </a:r>
            <a:r>
              <a:rPr lang="en-US" dirty="0"/>
              <a:t> </a:t>
            </a:r>
            <a:r>
              <a:rPr lang="en-US" dirty="0" err="1"/>
              <a:t>élmény</a:t>
            </a:r>
            <a:r>
              <a:rPr lang="hu-HU" dirty="0"/>
              <a:t>”.</a:t>
            </a:r>
          </a:p>
          <a:p>
            <a:endParaRPr lang="hu-HU" dirty="0"/>
          </a:p>
          <a:p>
            <a:r>
              <a:rPr lang="hu-HU" dirty="0"/>
              <a:t>Összefoglalva: Az SSO egy bejelentkezést ad, több alkalmazáshoz, központi identitással, </a:t>
            </a:r>
            <a:r>
              <a:rPr lang="hu-HU" dirty="0" err="1"/>
              <a:t>token</a:t>
            </a:r>
            <a:r>
              <a:rPr lang="hu-HU" dirty="0"/>
              <a:t> alapú működéssel.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7016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 </a:t>
            </a:r>
            <a:r>
              <a:rPr lang="en-US" dirty="0" err="1"/>
              <a:t>protokoll</a:t>
            </a:r>
            <a:r>
              <a:rPr lang="en-US" dirty="0"/>
              <a:t> </a:t>
            </a:r>
            <a:r>
              <a:rPr lang="en-US" b="0" dirty="0" err="1"/>
              <a:t>nem</a:t>
            </a:r>
            <a:r>
              <a:rPr lang="en-US" b="0" dirty="0"/>
              <a:t> </a:t>
            </a:r>
            <a:r>
              <a:rPr lang="en-US" b="0" dirty="0" err="1"/>
              <a:t>emlékszik</a:t>
            </a:r>
            <a:r>
              <a:rPr lang="en-US" b="0" dirty="0"/>
              <a:t> </a:t>
            </a:r>
            <a:r>
              <a:rPr lang="en-US" b="0" dirty="0" err="1"/>
              <a:t>semmire</a:t>
            </a:r>
            <a:r>
              <a:rPr lang="hu-HU" b="0" dirty="0"/>
              <a:t>, azaz </a:t>
            </a:r>
            <a:r>
              <a:rPr lang="hu-HU" b="1" dirty="0" err="1"/>
              <a:t>stateless</a:t>
            </a:r>
            <a:r>
              <a:rPr lang="hu-HU" b="0" dirty="0"/>
              <a:t> (</a:t>
            </a:r>
            <a:r>
              <a:rPr lang="hu-HU" b="1" dirty="0"/>
              <a:t>állapotmentes</a:t>
            </a:r>
            <a:r>
              <a:rPr lang="hu-HU" b="0" dirty="0"/>
              <a:t>), </a:t>
            </a:r>
            <a:r>
              <a:rPr lang="en-US" dirty="0" err="1"/>
              <a:t>ezért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autentikáció</a:t>
            </a:r>
            <a:r>
              <a:rPr lang="en-US" dirty="0"/>
              <a:t> </a:t>
            </a:r>
            <a:r>
              <a:rPr lang="en-US" b="1" dirty="0" err="1"/>
              <a:t>nem</a:t>
            </a:r>
            <a:r>
              <a:rPr lang="en-US" b="1" dirty="0"/>
              <a:t> </a:t>
            </a:r>
            <a:r>
              <a:rPr lang="en-US" b="1" dirty="0" err="1"/>
              <a:t>magától</a:t>
            </a:r>
            <a:r>
              <a:rPr lang="en-US" b="1" dirty="0"/>
              <a:t> </a:t>
            </a:r>
            <a:r>
              <a:rPr lang="en-US" b="1" dirty="0" err="1"/>
              <a:t>értetődő</a:t>
            </a:r>
            <a:r>
              <a:rPr lang="hu-HU" b="1" dirty="0"/>
              <a:t>.</a:t>
            </a:r>
            <a:endParaRPr lang="hu-HU" b="0" dirty="0"/>
          </a:p>
          <a:p>
            <a:endParaRPr lang="hu-HU" dirty="0"/>
          </a:p>
          <a:p>
            <a:r>
              <a:rPr lang="en-US" dirty="0"/>
              <a:t>Az </a:t>
            </a:r>
            <a:r>
              <a:rPr lang="en-US" dirty="0" err="1"/>
              <a:t>első</a:t>
            </a:r>
            <a:r>
              <a:rPr lang="en-US" dirty="0"/>
              <a:t> </a:t>
            </a:r>
            <a:r>
              <a:rPr lang="en-US" dirty="0" err="1"/>
              <a:t>megoldás</a:t>
            </a:r>
            <a:r>
              <a:rPr lang="en-US" dirty="0"/>
              <a:t> a </a:t>
            </a:r>
            <a:r>
              <a:rPr lang="en-US" b="1" dirty="0"/>
              <a:t>session </a:t>
            </a:r>
            <a:r>
              <a:rPr lang="en-US" b="1" dirty="0" err="1"/>
              <a:t>alapú</a:t>
            </a:r>
            <a:r>
              <a:rPr lang="en-US" b="1" dirty="0"/>
              <a:t> </a:t>
            </a:r>
            <a:r>
              <a:rPr lang="en-US" b="1" dirty="0" err="1"/>
              <a:t>autentikáció</a:t>
            </a:r>
            <a:r>
              <a:rPr lang="en-US" dirty="0"/>
              <a:t> volt,</a:t>
            </a:r>
            <a:r>
              <a:rPr lang="hu-HU" dirty="0"/>
              <a:t> </a:t>
            </a:r>
            <a:r>
              <a:rPr lang="en-US" dirty="0" err="1"/>
              <a:t>ahol</a:t>
            </a:r>
            <a:r>
              <a:rPr lang="en-US" dirty="0"/>
              <a:t> 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emlékezik</a:t>
            </a:r>
            <a:r>
              <a:rPr lang="en-US" dirty="0"/>
              <a:t> a </a:t>
            </a:r>
            <a:r>
              <a:rPr lang="en-US" dirty="0" err="1"/>
              <a:t>felhasználóra</a:t>
            </a:r>
            <a:r>
              <a:rPr lang="hu-HU" dirty="0"/>
              <a:t> (</a:t>
            </a:r>
            <a:r>
              <a:rPr lang="hu-HU" b="1" dirty="0" err="1"/>
              <a:t>stateful</a:t>
            </a:r>
            <a:r>
              <a:rPr lang="hu-HU" dirty="0"/>
              <a:t>)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hu-HU" dirty="0"/>
              <a:t>Második megoldás a </a:t>
            </a:r>
            <a:r>
              <a:rPr lang="hu-HU" dirty="0" err="1"/>
              <a:t>tokenek</a:t>
            </a:r>
            <a:r>
              <a:rPr lang="hu-HU" dirty="0"/>
              <a:t>. </a:t>
            </a:r>
            <a:r>
              <a:rPr lang="en-US" dirty="0"/>
              <a:t>A </a:t>
            </a:r>
            <a:r>
              <a:rPr lang="en-US" b="1" dirty="0"/>
              <a:t>JWT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titkos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aláírt</a:t>
            </a:r>
            <a:r>
              <a:rPr lang="en-US" dirty="0"/>
              <a:t>,</a:t>
            </a:r>
            <a:r>
              <a:rPr lang="hu-HU" dirty="0"/>
              <a:t> </a:t>
            </a:r>
            <a:r>
              <a:rPr lang="en-US" dirty="0"/>
              <a:t>és </a:t>
            </a:r>
            <a:r>
              <a:rPr lang="en-US" dirty="0" err="1"/>
              <a:t>kiválóan</a:t>
            </a:r>
            <a:r>
              <a:rPr lang="en-US" dirty="0"/>
              <a:t> </a:t>
            </a:r>
            <a:r>
              <a:rPr lang="en-US" dirty="0" err="1"/>
              <a:t>alkalmas</a:t>
            </a:r>
            <a:r>
              <a:rPr lang="en-US" dirty="0"/>
              <a:t> </a:t>
            </a:r>
            <a:r>
              <a:rPr lang="en-US" b="1" dirty="0"/>
              <a:t>stateless</a:t>
            </a:r>
            <a:r>
              <a:rPr lang="en-US" dirty="0"/>
              <a:t> </a:t>
            </a:r>
            <a:r>
              <a:rPr lang="en-US" dirty="0" err="1"/>
              <a:t>rendszerekhez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en-US" dirty="0" err="1"/>
              <a:t>Végül</a:t>
            </a:r>
            <a:r>
              <a:rPr lang="en-US" dirty="0"/>
              <a:t> </a:t>
            </a:r>
            <a:r>
              <a:rPr lang="en-US" dirty="0" err="1"/>
              <a:t>eljutottunk</a:t>
            </a:r>
            <a:r>
              <a:rPr lang="en-US" dirty="0"/>
              <a:t> a </a:t>
            </a:r>
            <a:r>
              <a:rPr lang="en-US" dirty="0" err="1"/>
              <a:t>nagyobb</a:t>
            </a:r>
            <a:r>
              <a:rPr lang="en-US" dirty="0"/>
              <a:t> </a:t>
            </a:r>
            <a:r>
              <a:rPr lang="en-US" dirty="0" err="1"/>
              <a:t>rendszerek</a:t>
            </a:r>
            <a:r>
              <a:rPr lang="en-US" dirty="0"/>
              <a:t> </a:t>
            </a:r>
            <a:r>
              <a:rPr lang="en-US" dirty="0" err="1"/>
              <a:t>világába</a:t>
            </a:r>
            <a:r>
              <a:rPr lang="hu-HU" dirty="0"/>
              <a:t>: OAuth2 az engedélyezéshez, SSO az egyszeri belépéshez központi identitás kezeléssel.</a:t>
            </a:r>
          </a:p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0765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Egy döntési táblázat: Mikor melyik megoldást alkalmazzuk.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08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221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24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466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289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86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721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426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212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83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379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327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32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612390-7FD9-3A7E-F78F-3E71606EA9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8" y="1052996"/>
            <a:ext cx="11165482" cy="2425796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 err="1"/>
              <a:t>Autentikáció</a:t>
            </a:r>
            <a:r>
              <a:rPr lang="en-US" sz="4400" dirty="0"/>
              <a:t> és </a:t>
            </a:r>
            <a:r>
              <a:rPr lang="en-US" sz="4400" dirty="0" err="1"/>
              <a:t>jogosultságkezelés</a:t>
            </a:r>
            <a:br>
              <a:rPr lang="en-US" sz="4400" dirty="0"/>
            </a:br>
            <a:br>
              <a:rPr lang="hu-HU" sz="3600" dirty="0"/>
            </a:br>
            <a:br>
              <a:rPr lang="hu-HU" sz="3600" dirty="0"/>
            </a:br>
            <a:r>
              <a:rPr lang="en-US" sz="2400" dirty="0"/>
              <a:t>Cookie, session, JWT, token </a:t>
            </a:r>
            <a:r>
              <a:rPr lang="en-US" sz="2400" dirty="0" err="1"/>
              <a:t>alapú</a:t>
            </a:r>
            <a:r>
              <a:rPr lang="en-US" sz="2400" dirty="0"/>
              <a:t> auth, OAuth2, SSO </a:t>
            </a:r>
            <a:r>
              <a:rPr lang="en-US" sz="2400" dirty="0" err="1"/>
              <a:t>alapjai</a:t>
            </a:r>
            <a:br>
              <a:rPr lang="en-US" sz="2400" dirty="0"/>
            </a:br>
            <a:endParaRPr lang="en-US" sz="220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7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0F56A-BB1E-8DA6-D6F7-07CE02A96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87552"/>
          </a:xfrm>
        </p:spPr>
        <p:txBody>
          <a:bodyPr>
            <a:normAutofit/>
          </a:bodyPr>
          <a:lstStyle/>
          <a:p>
            <a:r>
              <a:rPr lang="en-US" sz="4000" dirty="0" err="1"/>
              <a:t>Bevezetés</a:t>
            </a:r>
            <a:r>
              <a:rPr lang="en-US" sz="4000" dirty="0"/>
              <a:t>: </a:t>
            </a:r>
            <a:r>
              <a:rPr lang="en-US" sz="4000" dirty="0" err="1"/>
              <a:t>Miért</a:t>
            </a:r>
            <a:r>
              <a:rPr lang="en-US" sz="4000" dirty="0"/>
              <a:t> </a:t>
            </a:r>
            <a:r>
              <a:rPr lang="en-US" sz="4000" dirty="0" err="1"/>
              <a:t>fontos</a:t>
            </a:r>
            <a:r>
              <a:rPr lang="en-US" sz="4000" dirty="0"/>
              <a:t> </a:t>
            </a:r>
            <a:r>
              <a:rPr lang="en-US" sz="4000" dirty="0" err="1"/>
              <a:t>az</a:t>
            </a:r>
            <a:r>
              <a:rPr lang="en-US" sz="4000" dirty="0"/>
              <a:t> </a:t>
            </a:r>
            <a:r>
              <a:rPr lang="en-US" sz="4000" dirty="0" err="1"/>
              <a:t>autentikáció</a:t>
            </a:r>
            <a:r>
              <a:rPr lang="en-US" sz="4000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18EF2-0F32-2DE4-361C-973583F45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263430"/>
            <a:ext cx="11155680" cy="376732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u-HU" sz="2400" dirty="0"/>
              <a:t>Ki vagy te?  - </a:t>
            </a:r>
            <a:r>
              <a:rPr lang="hu-HU" sz="2400" b="1" dirty="0"/>
              <a:t>hitelesítés</a:t>
            </a:r>
            <a:endParaRPr lang="en-US" sz="2400" b="1" dirty="0"/>
          </a:p>
          <a:p>
            <a:pPr>
              <a:lnSpc>
                <a:spcPct val="150000"/>
              </a:lnSpc>
            </a:pPr>
            <a:r>
              <a:rPr lang="hu-HU" sz="2400" dirty="0"/>
              <a:t>Mit csinálhatsz? – </a:t>
            </a:r>
            <a:r>
              <a:rPr lang="hu-HU" sz="2400" b="1" dirty="0"/>
              <a:t>jogosultságkezelés</a:t>
            </a:r>
            <a:endParaRPr lang="en-US" sz="2400" b="1" dirty="0"/>
          </a:p>
          <a:p>
            <a:pPr>
              <a:lnSpc>
                <a:spcPct val="150000"/>
              </a:lnSpc>
            </a:pPr>
            <a:r>
              <a:rPr lang="hu-HU" sz="2400" dirty="0"/>
              <a:t>Webes alkalmazások alapbiztonsága</a:t>
            </a:r>
          </a:p>
          <a:p>
            <a:pPr marL="0" indent="0">
              <a:lnSpc>
                <a:spcPct val="250000"/>
              </a:lnSpc>
              <a:buNone/>
            </a:pPr>
            <a:r>
              <a:rPr lang="hu-HU" sz="2400" dirty="0"/>
              <a:t>A hitelesítés és jogosultságkezelés </a:t>
            </a:r>
            <a:r>
              <a:rPr lang="hu-HU" sz="2400" b="1" dirty="0"/>
              <a:t>alapfeltétel</a:t>
            </a:r>
            <a:r>
              <a:rPr lang="hu-HU" sz="2400" dirty="0"/>
              <a:t> minden komoly rendszerben.</a:t>
            </a:r>
          </a:p>
        </p:txBody>
      </p:sp>
    </p:spTree>
    <p:extLst>
      <p:ext uri="{BB962C8B-B14F-4D97-AF65-F5344CB8AC3E}">
        <p14:creationId xmlns:p14="http://schemas.microsoft.com/office/powerpoint/2010/main" val="1963087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6DF5E-28DA-56FA-1728-F982D0894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24012"/>
          </a:xfrm>
        </p:spPr>
        <p:txBody>
          <a:bodyPr/>
          <a:lstStyle/>
          <a:p>
            <a:r>
              <a:rPr lang="en-US" dirty="0" err="1"/>
              <a:t>Autentikáció</a:t>
            </a:r>
            <a:r>
              <a:rPr lang="en-US" dirty="0"/>
              <a:t> vs. </a:t>
            </a:r>
            <a:r>
              <a:rPr lang="en-US" dirty="0" err="1"/>
              <a:t>Autorizáció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5EA848-A086-2BE7-CC5C-5E27008410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7" y="2225945"/>
            <a:ext cx="8402873" cy="2608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Autentikáció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hitelesítés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Autorizáció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Authorization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jogosultságkezelés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Ez </a:t>
            </a:r>
            <a:r>
              <a:rPr lang="hu-HU" altLang="en-US" sz="2800" dirty="0">
                <a:latin typeface="Arial" panose="020B0604020202020204" pitchFamily="34" charset="0"/>
              </a:rPr>
              <a:t>k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külön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probléma</a:t>
            </a:r>
            <a:endParaRPr kumimoji="0" lang="hu-HU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sz="2800" dirty="0"/>
              <a:t> </a:t>
            </a:r>
            <a:r>
              <a:rPr lang="en-US" sz="2800" dirty="0" err="1"/>
              <a:t>Előbb</a:t>
            </a:r>
            <a:r>
              <a:rPr lang="en-US" sz="2800" dirty="0"/>
              <a:t> </a:t>
            </a:r>
            <a:r>
              <a:rPr lang="en-US" sz="2800" dirty="0" err="1"/>
              <a:t>azonosítunk</a:t>
            </a:r>
            <a:r>
              <a:rPr lang="en-US" sz="2800" dirty="0"/>
              <a:t>, </a:t>
            </a:r>
            <a:r>
              <a:rPr lang="en-US" sz="2800" dirty="0" err="1"/>
              <a:t>utána</a:t>
            </a:r>
            <a:r>
              <a:rPr lang="en-US" sz="2800" dirty="0"/>
              <a:t> </a:t>
            </a:r>
            <a:r>
              <a:rPr lang="en-US" sz="2800" dirty="0" err="1"/>
              <a:t>engedélyezünk</a:t>
            </a:r>
            <a:r>
              <a:rPr lang="en-US" sz="2800" dirty="0"/>
              <a:t>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999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46FD6-7006-7196-E9CC-2FDAD8534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77714"/>
          </a:xfrm>
        </p:spPr>
        <p:txBody>
          <a:bodyPr>
            <a:normAutofit/>
          </a:bodyPr>
          <a:lstStyle/>
          <a:p>
            <a:r>
              <a:rPr lang="hu-HU" sz="4000" dirty="0"/>
              <a:t>HTTP </a:t>
            </a:r>
            <a:r>
              <a:rPr lang="hu-HU" sz="4000" dirty="0" err="1"/>
              <a:t>stateless</a:t>
            </a:r>
            <a:r>
              <a:rPr lang="hu-HU" sz="4000" dirty="0"/>
              <a:t> működés problémája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14A77F-B350-8639-81D1-708637CB18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7" y="2217408"/>
            <a:ext cx="10335845" cy="3244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HTTP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protokoll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stateless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szerver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nem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tárol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kliens-állapotot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Minden HTTP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kérés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független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és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önálló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Bejelentkezési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állapot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nem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létezik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alapból</a:t>
            </a:r>
            <a:endParaRPr kumimoji="0" lang="hu-HU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hu-HU" altLang="en-US" sz="2800" b="1" dirty="0">
                <a:latin typeface="Arial" panose="020B0604020202020204" pitchFamily="34" charset="0"/>
              </a:rPr>
              <a:t> Állapotkezelés</a:t>
            </a:r>
            <a:r>
              <a:rPr lang="hu-HU" altLang="en-US" sz="2800" dirty="0">
                <a:latin typeface="Arial" panose="020B0604020202020204" pitchFamily="34" charset="0"/>
              </a:rPr>
              <a:t> bevezetése a </a:t>
            </a:r>
            <a:r>
              <a:rPr lang="hu-HU" altLang="en-US" sz="2800" dirty="0" err="1">
                <a:latin typeface="Arial" panose="020B0604020202020204" pitchFamily="34" charset="0"/>
              </a:rPr>
              <a:t>stateless</a:t>
            </a:r>
            <a:r>
              <a:rPr lang="hu-HU" altLang="en-US" sz="2800" dirty="0">
                <a:latin typeface="Arial" panose="020B0604020202020204" pitchFamily="34" charset="0"/>
              </a:rPr>
              <a:t> HTTP protokoll fölé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435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8027C-1D45-6073-F43C-262A72692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15668"/>
          </a:xfrm>
        </p:spPr>
        <p:txBody>
          <a:bodyPr>
            <a:normAutofit/>
          </a:bodyPr>
          <a:lstStyle/>
          <a:p>
            <a:r>
              <a:rPr lang="en-US" sz="4000" dirty="0"/>
              <a:t>Session </a:t>
            </a:r>
            <a:r>
              <a:rPr lang="en-US" sz="4000" dirty="0" err="1"/>
              <a:t>alapú</a:t>
            </a:r>
            <a:r>
              <a:rPr lang="en-US" sz="4000" dirty="0"/>
              <a:t> </a:t>
            </a:r>
            <a:r>
              <a:rPr lang="en-US" sz="4000" dirty="0" err="1"/>
              <a:t>autentikáció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BBFA45-2B3C-CE9F-06F5-9FFBC3C24B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229257"/>
            <a:ext cx="7916736" cy="2597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Szerver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oldali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állapotkezelés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Session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azonosító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Session ID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Kliens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↔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szerver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kapcsolat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„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emlékezete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Klasszikus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webalkalmazások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megoldása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047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43062-0E26-F448-84C3-267E55A1D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96691"/>
          </a:xfrm>
        </p:spPr>
        <p:txBody>
          <a:bodyPr>
            <a:normAutofit/>
          </a:bodyPr>
          <a:lstStyle/>
          <a:p>
            <a:r>
              <a:rPr lang="en-US" sz="4000" dirty="0"/>
              <a:t>Session </a:t>
            </a:r>
            <a:r>
              <a:rPr lang="en-US" sz="4000" dirty="0" err="1"/>
              <a:t>alapú</a:t>
            </a:r>
            <a:r>
              <a:rPr lang="en-US" sz="4000" dirty="0"/>
              <a:t> </a:t>
            </a:r>
            <a:r>
              <a:rPr lang="en-US" sz="4000" dirty="0" err="1"/>
              <a:t>autentikáció</a:t>
            </a: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E549E9-F8F9-9123-8175-85FE86333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693" y="2161900"/>
            <a:ext cx="7874562" cy="371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23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1E581-37A4-4F21-C440-C24910EBC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19840"/>
          </a:xfrm>
        </p:spPr>
        <p:txBody>
          <a:bodyPr>
            <a:normAutofit/>
          </a:bodyPr>
          <a:lstStyle/>
          <a:p>
            <a:r>
              <a:rPr lang="en-US" sz="4000" dirty="0"/>
              <a:t>Cookie </a:t>
            </a:r>
            <a:r>
              <a:rPr lang="en-US" sz="4000" dirty="0" err="1"/>
              <a:t>szerepe</a:t>
            </a:r>
            <a:r>
              <a:rPr lang="en-US" sz="4000" dirty="0"/>
              <a:t> </a:t>
            </a:r>
            <a:r>
              <a:rPr lang="en-US" sz="4000" dirty="0" err="1"/>
              <a:t>az</a:t>
            </a:r>
            <a:r>
              <a:rPr lang="en-US" sz="4000" dirty="0"/>
              <a:t> </a:t>
            </a:r>
            <a:r>
              <a:rPr lang="en-US" sz="4000" dirty="0" err="1"/>
              <a:t>autentikációban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18C45C-6FF2-12ED-6FB6-69917721BC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130086"/>
            <a:ext cx="8970541" cy="2597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Cookie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kliens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oldali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tároló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s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ession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tipikus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hordozója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Böngésző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automatikusan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küldi</a:t>
            </a: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minden kéréskor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Cookie ≠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autentikáció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827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B1318-5EE3-3E08-6194-E05623F15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54564"/>
          </a:xfrm>
        </p:spPr>
        <p:txBody>
          <a:bodyPr>
            <a:normAutofit/>
          </a:bodyPr>
          <a:lstStyle/>
          <a:p>
            <a:r>
              <a:rPr lang="en-US" sz="4000" dirty="0"/>
              <a:t>Session </a:t>
            </a:r>
            <a:r>
              <a:rPr lang="en-US" sz="4000" dirty="0" err="1"/>
              <a:t>alapú</a:t>
            </a:r>
            <a:r>
              <a:rPr lang="en-US" sz="4000" dirty="0"/>
              <a:t> </a:t>
            </a:r>
            <a:r>
              <a:rPr lang="en-US" sz="4000" dirty="0" err="1"/>
              <a:t>autentikáció</a:t>
            </a:r>
            <a:r>
              <a:rPr lang="en-US" sz="4000" dirty="0"/>
              <a:t> </a:t>
            </a:r>
            <a:r>
              <a:rPr lang="en-US" sz="4000" dirty="0" err="1"/>
              <a:t>hátrányai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68F47F-7FE4-53BB-E0F2-1805EE56AA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232215"/>
            <a:ext cx="9364080" cy="27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Szerver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oldali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állapot</a:t>
            </a:r>
            <a:endParaRPr kumimoji="0" lang="hu-HU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hu-HU" altLang="en-US" sz="2400" dirty="0">
                <a:latin typeface="Arial" panose="020B0604020202020204" pitchFamily="34" charset="0"/>
              </a:rPr>
              <a:t> </a:t>
            </a:r>
            <a:r>
              <a:rPr lang="hu-HU" altLang="en-US" sz="2400" b="1" dirty="0">
                <a:latin typeface="Arial" panose="020B0604020202020204" pitchFamily="34" charset="0"/>
              </a:rPr>
              <a:t>Monolit</a:t>
            </a:r>
            <a:r>
              <a:rPr lang="hu-HU" altLang="en-US" sz="2400" dirty="0">
                <a:latin typeface="Arial" panose="020B0604020202020204" pitchFamily="34" charset="0"/>
              </a:rPr>
              <a:t> </a:t>
            </a:r>
            <a:r>
              <a:rPr lang="hu-HU" altLang="en-US" sz="2400" b="1" dirty="0">
                <a:latin typeface="Arial" panose="020B0604020202020204" pitchFamily="34" charset="0"/>
              </a:rPr>
              <a:t>rendszer</a:t>
            </a:r>
            <a:r>
              <a:rPr lang="hu-HU" altLang="en-US" sz="2400" dirty="0">
                <a:latin typeface="Arial" panose="020B0604020202020204" pitchFamily="34" charset="0"/>
              </a:rPr>
              <a:t> (egy szerver </a:t>
            </a:r>
            <a:r>
              <a:rPr lang="hu-HU" altLang="en-US" sz="2400" dirty="0" err="1">
                <a:latin typeface="Arial" panose="020B0604020202020204" pitchFamily="34" charset="0"/>
              </a:rPr>
              <a:t>process</a:t>
            </a:r>
            <a:r>
              <a:rPr lang="hu-HU" altLang="en-US" sz="2400" dirty="0">
                <a:latin typeface="Arial" panose="020B0604020202020204" pitchFamily="34" charset="0"/>
              </a:rPr>
              <a:t>) esetén megfelelő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hu-HU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Skálázási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problémák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Load balancer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problémák</a:t>
            </a: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Több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szerver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több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gond</a:t>
            </a:r>
            <a:endParaRPr kumimoji="0" lang="hu-HU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en-US" sz="2400" dirty="0">
                <a:latin typeface="Arial" panose="020B0604020202020204" pitchFamily="34" charset="0"/>
              </a:rPr>
              <a:t> M</a:t>
            </a:r>
            <a:r>
              <a:rPr lang="en-US" altLang="en-US" sz="2400" dirty="0" err="1">
                <a:latin typeface="Arial" panose="020B0604020202020204" pitchFamily="34" charset="0"/>
              </a:rPr>
              <a:t>odern</a:t>
            </a: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lang="hu-HU" altLang="en-US" sz="2400" dirty="0">
                <a:latin typeface="Arial" panose="020B0604020202020204" pitchFamily="34" charset="0"/>
              </a:rPr>
              <a:t>(</a:t>
            </a:r>
            <a:r>
              <a:rPr lang="hu-HU" altLang="en-US" sz="2400" dirty="0" err="1">
                <a:latin typeface="Arial" panose="020B0604020202020204" pitchFamily="34" charset="0"/>
              </a:rPr>
              <a:t>microservice</a:t>
            </a:r>
            <a:r>
              <a:rPr lang="hu-HU" altLang="en-US" sz="2400" dirty="0">
                <a:latin typeface="Arial" panose="020B0604020202020204" pitchFamily="34" charset="0"/>
              </a:rPr>
              <a:t>) </a:t>
            </a:r>
            <a:r>
              <a:rPr lang="en-US" altLang="en-US" sz="2400" dirty="0" err="1">
                <a:latin typeface="Arial" panose="020B0604020202020204" pitchFamily="34" charset="0"/>
              </a:rPr>
              <a:t>architektúráknál</a:t>
            </a: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</a:rPr>
              <a:t>nehézkes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339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5986C-AB48-3660-886B-03A80FC85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50392"/>
          </a:xfrm>
        </p:spPr>
        <p:txBody>
          <a:bodyPr>
            <a:normAutofit/>
          </a:bodyPr>
          <a:lstStyle/>
          <a:p>
            <a:r>
              <a:rPr lang="en-US" sz="4000" dirty="0"/>
              <a:t>Token </a:t>
            </a:r>
            <a:r>
              <a:rPr lang="en-US" sz="4000" dirty="0" err="1"/>
              <a:t>alapú</a:t>
            </a:r>
            <a:r>
              <a:rPr lang="en-US" sz="4000" dirty="0"/>
              <a:t> </a:t>
            </a:r>
            <a:r>
              <a:rPr lang="en-US" sz="4000" dirty="0" err="1"/>
              <a:t>autentikáció</a:t>
            </a:r>
            <a:r>
              <a:rPr lang="en-US" sz="4000" dirty="0"/>
              <a:t> </a:t>
            </a:r>
            <a:r>
              <a:rPr lang="en-US" sz="4000" dirty="0" err="1"/>
              <a:t>alapjai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D582496-0881-B586-C9E2-A7BD1CA7E6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255268"/>
            <a:ext cx="7836222" cy="2597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Stateless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megközelítés</a:t>
            </a:r>
            <a:endParaRPr kumimoji="0" lang="hu-HU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kliens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hordozza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állapotot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minden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kérés</a:t>
            </a: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fejlécében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Skálázható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architektúrák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alapja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68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0E165-1801-3BC7-A909-36C06433F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38817"/>
          </a:xfrm>
        </p:spPr>
        <p:txBody>
          <a:bodyPr>
            <a:normAutofit/>
          </a:bodyPr>
          <a:lstStyle/>
          <a:p>
            <a:r>
              <a:rPr lang="en-US" sz="4000" dirty="0"/>
              <a:t>Token </a:t>
            </a:r>
            <a:r>
              <a:rPr lang="en-US" sz="4000" dirty="0" err="1"/>
              <a:t>alapú</a:t>
            </a:r>
            <a:r>
              <a:rPr lang="en-US" sz="4000" dirty="0"/>
              <a:t> </a:t>
            </a:r>
            <a:r>
              <a:rPr lang="en-US" sz="4000" dirty="0" err="1"/>
              <a:t>autentikáció</a:t>
            </a:r>
            <a:r>
              <a:rPr lang="en-US" sz="4000" dirty="0"/>
              <a:t> </a:t>
            </a:r>
            <a:r>
              <a:rPr lang="en-US" sz="4000" dirty="0" err="1"/>
              <a:t>alapjai</a:t>
            </a: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8B4E0B-B657-E27D-1A90-52EE8776F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434" y="2225841"/>
            <a:ext cx="9481252" cy="365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763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16FF1-478F-00DF-CC36-29AE5AD60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27243"/>
          </a:xfrm>
        </p:spPr>
        <p:txBody>
          <a:bodyPr>
            <a:normAutofit/>
          </a:bodyPr>
          <a:lstStyle/>
          <a:p>
            <a:r>
              <a:rPr lang="en-US" sz="4000" dirty="0"/>
              <a:t>JWT (JSON Web Token) </a:t>
            </a:r>
            <a:r>
              <a:rPr lang="en-US" sz="4000" dirty="0" err="1"/>
              <a:t>felépítése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A9750-EE6F-B176-D9CD-824A5DA68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595" y="2530018"/>
            <a:ext cx="5124661" cy="2797260"/>
          </a:xfrm>
        </p:spPr>
        <p:txBody>
          <a:bodyPr/>
          <a:lstStyle/>
          <a:p>
            <a:pPr marL="0" indent="0">
              <a:buNone/>
            </a:pPr>
            <a:r>
              <a:rPr lang="hu-HU" sz="2000" dirty="0"/>
              <a:t>JWT három fő részből áll:</a:t>
            </a:r>
          </a:p>
          <a:p>
            <a:r>
              <a:rPr lang="en-US" sz="2000" dirty="0"/>
              <a:t>Header</a:t>
            </a:r>
          </a:p>
          <a:p>
            <a:r>
              <a:rPr lang="en-US" sz="2000" dirty="0"/>
              <a:t>Payload</a:t>
            </a:r>
          </a:p>
          <a:p>
            <a:r>
              <a:rPr lang="en-US" sz="2000" dirty="0"/>
              <a:t>Signature</a:t>
            </a:r>
          </a:p>
          <a:p>
            <a:r>
              <a:rPr lang="en-US" sz="2000" dirty="0" err="1"/>
              <a:t>Pontokkal</a:t>
            </a:r>
            <a:r>
              <a:rPr lang="en-US" sz="2000" dirty="0"/>
              <a:t> </a:t>
            </a:r>
            <a:r>
              <a:rPr lang="en-US" sz="2000" dirty="0" err="1"/>
              <a:t>elválasztva</a:t>
            </a:r>
            <a:r>
              <a:rPr lang="en-US" sz="2000" dirty="0"/>
              <a:t>: </a:t>
            </a:r>
            <a:r>
              <a:rPr lang="en-US" sz="2000" dirty="0" err="1"/>
              <a:t>xxxxx.yyyyy.zzzzz</a:t>
            </a:r>
            <a:endParaRPr lang="en-US" sz="2000" dirty="0"/>
          </a:p>
          <a:p>
            <a:r>
              <a:rPr lang="hu-HU" sz="2000" dirty="0"/>
              <a:t>BASE64 </a:t>
            </a:r>
            <a:r>
              <a:rPr lang="hu-HU" sz="2000" dirty="0" err="1"/>
              <a:t>encoding</a:t>
            </a:r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8E02B4-97EC-62B5-7FCB-56E2D91E3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880" y="1977704"/>
            <a:ext cx="5124661" cy="390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834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C83D5-EBF8-C283-EED7-0CDA61570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57795"/>
          </a:xfrm>
        </p:spPr>
        <p:txBody>
          <a:bodyPr>
            <a:normAutofit/>
          </a:bodyPr>
          <a:lstStyle/>
          <a:p>
            <a:r>
              <a:rPr lang="en-US" sz="4000" dirty="0"/>
              <a:t>JWT </a:t>
            </a:r>
            <a:r>
              <a:rPr lang="en-US" sz="4000" dirty="0" err="1"/>
              <a:t>előnyei</a:t>
            </a:r>
            <a:r>
              <a:rPr lang="en-US" sz="4000" dirty="0"/>
              <a:t> és </a:t>
            </a:r>
            <a:r>
              <a:rPr lang="en-US" sz="4000" dirty="0" err="1"/>
              <a:t>kockázatai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C25437-0723-B780-C96D-E142801AEF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1964576"/>
            <a:ext cx="8148230" cy="4138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Stateless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működés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Jó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skálázhatóság</a:t>
            </a: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Gyors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ellenőrzés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Biztonsági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kockázatok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helytelen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használat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esetén</a:t>
            </a:r>
            <a:endParaRPr kumimoji="0" lang="hu-HU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en-US" sz="2200" dirty="0">
                <a:latin typeface="Arial" panose="020B0604020202020204" pitchFamily="34" charset="0"/>
              </a:rPr>
              <a:t> ellopott </a:t>
            </a:r>
            <a:r>
              <a:rPr lang="hu-HU" altLang="en-US" sz="2200" dirty="0" err="1">
                <a:latin typeface="Arial" panose="020B0604020202020204" pitchFamily="34" charset="0"/>
              </a:rPr>
              <a:t>token</a:t>
            </a:r>
            <a:r>
              <a:rPr lang="hu-HU" altLang="en-US" sz="2200" dirty="0">
                <a:latin typeface="Arial" panose="020B0604020202020204" pitchFamily="34" charset="0"/>
              </a:rPr>
              <a:t> = hozzáférés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visszavonás nehéz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en-US" sz="2200" dirty="0">
                <a:latin typeface="Arial" panose="020B0604020202020204" pitchFamily="34" charset="0"/>
              </a:rPr>
              <a:t> túl  hosszú élettartam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túl sok adat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781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2537C-1195-1DC5-D543-4D541DA02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897386"/>
            <a:ext cx="11155680" cy="827243"/>
          </a:xfrm>
        </p:spPr>
        <p:txBody>
          <a:bodyPr>
            <a:normAutofit/>
          </a:bodyPr>
          <a:lstStyle/>
          <a:p>
            <a:r>
              <a:rPr lang="en-US" sz="3800" dirty="0"/>
              <a:t>Session </a:t>
            </a:r>
            <a:r>
              <a:rPr lang="en-US" sz="3800" dirty="0" err="1"/>
              <a:t>alapú</a:t>
            </a:r>
            <a:r>
              <a:rPr lang="en-US" sz="3800" dirty="0"/>
              <a:t> vs. Token </a:t>
            </a:r>
            <a:r>
              <a:rPr lang="en-US" sz="3800" dirty="0" err="1"/>
              <a:t>alapú</a:t>
            </a:r>
            <a:r>
              <a:rPr lang="en-US" sz="3800" dirty="0"/>
              <a:t> </a:t>
            </a:r>
            <a:r>
              <a:rPr lang="en-US" sz="3800" dirty="0" err="1"/>
              <a:t>autentikáció</a:t>
            </a:r>
            <a:endParaRPr lang="en-US" sz="3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E1ABD1-272D-4402-1E69-46912DC1AF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121572"/>
              </p:ext>
            </p:extLst>
          </p:nvPr>
        </p:nvGraphicFramePr>
        <p:xfrm>
          <a:off x="518160" y="1866669"/>
          <a:ext cx="10662984" cy="4372088"/>
        </p:xfrm>
        <a:graphic>
          <a:graphicData uri="http://schemas.openxmlformats.org/drawingml/2006/table">
            <a:tbl>
              <a:tblPr/>
              <a:tblGrid>
                <a:gridCol w="3445356">
                  <a:extLst>
                    <a:ext uri="{9D8B030D-6E8A-4147-A177-3AD203B41FA5}">
                      <a16:colId xmlns:a16="http://schemas.microsoft.com/office/drawing/2014/main" val="3742740395"/>
                    </a:ext>
                  </a:extLst>
                </a:gridCol>
                <a:gridCol w="3608814">
                  <a:extLst>
                    <a:ext uri="{9D8B030D-6E8A-4147-A177-3AD203B41FA5}">
                      <a16:colId xmlns:a16="http://schemas.microsoft.com/office/drawing/2014/main" val="1944432000"/>
                    </a:ext>
                  </a:extLst>
                </a:gridCol>
                <a:gridCol w="3608814">
                  <a:extLst>
                    <a:ext uri="{9D8B030D-6E8A-4147-A177-3AD203B41FA5}">
                      <a16:colId xmlns:a16="http://schemas.microsoft.com/office/drawing/2014/main" val="3180066577"/>
                    </a:ext>
                  </a:extLst>
                </a:gridCol>
              </a:tblGrid>
              <a:tr h="323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 err="1"/>
                        <a:t>Szempont</a:t>
                      </a:r>
                      <a:endParaRPr lang="en-US" sz="1400" b="1" dirty="0"/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Session </a:t>
                      </a:r>
                      <a:r>
                        <a:rPr lang="en-US" sz="1400" b="1" dirty="0" err="1"/>
                        <a:t>alapú</a:t>
                      </a:r>
                      <a:r>
                        <a:rPr lang="en-US" sz="1400" b="1" dirty="0"/>
                        <a:t> </a:t>
                      </a:r>
                      <a:r>
                        <a:rPr lang="en-US" sz="1400" b="1" dirty="0" err="1"/>
                        <a:t>autentikáció</a:t>
                      </a:r>
                      <a:endParaRPr lang="en-US" sz="1400" b="1" dirty="0"/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Token </a:t>
                      </a:r>
                      <a:r>
                        <a:rPr lang="en-US" sz="1400" b="1" dirty="0" err="1"/>
                        <a:t>alapú</a:t>
                      </a:r>
                      <a:r>
                        <a:rPr lang="en-US" sz="1400" b="1" dirty="0"/>
                        <a:t> </a:t>
                      </a:r>
                      <a:r>
                        <a:rPr lang="en-US" sz="1400" b="1" dirty="0" err="1"/>
                        <a:t>autentikáció</a:t>
                      </a:r>
                      <a:endParaRPr lang="en-US" sz="1400" b="1" dirty="0"/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388418"/>
                  </a:ext>
                </a:extLst>
              </a:tr>
              <a:tr h="323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Állapot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helye</a:t>
                      </a:r>
                      <a:endParaRPr lang="en-US" sz="1400" dirty="0"/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Szerver oldalon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Kliens oldalon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83212"/>
                  </a:ext>
                </a:extLst>
              </a:tr>
              <a:tr h="323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HTTP </a:t>
                      </a:r>
                      <a:r>
                        <a:rPr lang="en-US" sz="1400" dirty="0" err="1"/>
                        <a:t>modell</a:t>
                      </a:r>
                      <a:endParaRPr lang="en-US" sz="1400" dirty="0"/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Stateful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Stateless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0050644"/>
                  </a:ext>
                </a:extLst>
              </a:tr>
              <a:tr h="323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Azonosító</a:t>
                      </a:r>
                      <a:endParaRPr lang="en-US" sz="1400" dirty="0"/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Session ID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Token (pl. JWT)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837257"/>
                  </a:ext>
                </a:extLst>
              </a:tr>
              <a:tr h="323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Szerver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memóriaterhelés</a:t>
                      </a:r>
                      <a:endParaRPr lang="en-US" sz="1400" dirty="0"/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Növekszik a felhasználók számával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Minimális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867754"/>
                  </a:ext>
                </a:extLst>
              </a:tr>
              <a:tr h="323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Skálázhatóság</a:t>
                      </a:r>
                      <a:endParaRPr lang="en-US" sz="1400" dirty="0"/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Korlátozott</a:t>
                      </a:r>
                      <a:endParaRPr lang="en-US" sz="1400" dirty="0"/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Kiváló</a:t>
                      </a:r>
                      <a:endParaRPr lang="en-US" sz="1400" dirty="0"/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1121870"/>
                  </a:ext>
                </a:extLst>
              </a:tr>
              <a:tr h="567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Több szerver kezelése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Sticky session vagy shared store szükséges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Természetes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módon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támogatott</a:t>
                      </a:r>
                      <a:endParaRPr lang="en-US" sz="1400" dirty="0"/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959808"/>
                  </a:ext>
                </a:extLst>
              </a:tr>
              <a:tr h="323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Load balancer kompatibilitás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Problémás lehet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Teljes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mértékben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kompatibilis</a:t>
                      </a:r>
                      <a:endParaRPr lang="en-US" sz="1400" dirty="0"/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637554"/>
                  </a:ext>
                </a:extLst>
              </a:tr>
              <a:tr h="323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Microservice környezet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Nehézkes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Ideális</a:t>
                      </a:r>
                      <a:endParaRPr lang="en-US" sz="1400" dirty="0"/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046494"/>
                  </a:ext>
                </a:extLst>
              </a:tr>
              <a:tr h="323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API / mobil kliensek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Kényelmetlen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Kifejezetten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ajánlott</a:t>
                      </a:r>
                      <a:endParaRPr lang="en-US" sz="1400" dirty="0"/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5306089"/>
                  </a:ext>
                </a:extLst>
              </a:tr>
              <a:tr h="567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Állapot elvesztése szerver kieséskor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Igen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Nem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316022"/>
                  </a:ext>
                </a:extLst>
              </a:tr>
              <a:tr h="323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Tipikus használat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Klasszikus weboldalak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400" dirty="0"/>
                        <a:t>REST API, SPA, mobil backend</a:t>
                      </a:r>
                    </a:p>
                  </a:txBody>
                  <a:tcPr marL="69762" marR="69762" marT="34881" marB="34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832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9055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F7DCD-7683-CC2C-C39B-C0B9FAAC1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27243"/>
          </a:xfrm>
        </p:spPr>
        <p:txBody>
          <a:bodyPr>
            <a:normAutofit/>
          </a:bodyPr>
          <a:lstStyle/>
          <a:p>
            <a:r>
              <a:rPr lang="en-US" sz="4000" dirty="0"/>
              <a:t>OAuth2 </a:t>
            </a:r>
            <a:r>
              <a:rPr lang="en-US" sz="4000" dirty="0" err="1"/>
              <a:t>alapelvek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97FD2E5-57DA-B0AE-D54E-E844352376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9" y="2015035"/>
            <a:ext cx="4768422" cy="4097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Delegált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hozzáférés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alapú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engedélyezés</a:t>
            </a:r>
            <a:endParaRPr kumimoji="0" lang="hu-HU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en-US" sz="2400" dirty="0">
                <a:latin typeface="Arial" panose="020B0604020202020204" pitchFamily="34" charset="0"/>
              </a:rPr>
              <a:t> </a:t>
            </a:r>
            <a:r>
              <a:rPr lang="en-US" altLang="en-US" sz="2400" b="1" dirty="0" err="1">
                <a:latin typeface="Arial" panose="020B0604020202020204" pitchFamily="34" charset="0"/>
              </a:rPr>
              <a:t>Jelszó</a:t>
            </a:r>
            <a:r>
              <a:rPr lang="en-US" altLang="en-US" sz="2400" b="1" dirty="0">
                <a:latin typeface="Arial" panose="020B0604020202020204" pitchFamily="34" charset="0"/>
              </a:rPr>
              <a:t> </a:t>
            </a:r>
            <a:r>
              <a:rPr lang="en-US" altLang="en-US" sz="2400" b="1" dirty="0" err="1">
                <a:latin typeface="Arial" panose="020B0604020202020204" pitchFamily="34" charset="0"/>
              </a:rPr>
              <a:t>megosztása</a:t>
            </a:r>
            <a:r>
              <a:rPr lang="en-US" altLang="en-US" sz="2400" b="1" dirty="0">
                <a:latin typeface="Arial" panose="020B0604020202020204" pitchFamily="34" charset="0"/>
              </a:rPr>
              <a:t> </a:t>
            </a:r>
            <a:r>
              <a:rPr lang="en-US" altLang="en-US" sz="2400" b="1" dirty="0" err="1">
                <a:latin typeface="Arial" panose="020B0604020202020204" pitchFamily="34" charset="0"/>
              </a:rPr>
              <a:t>nélkül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Több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szereplős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modell</a:t>
            </a:r>
            <a:endParaRPr lang="hu-HU" altLang="en-US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</a:rPr>
              <a:t>User</a:t>
            </a:r>
            <a:r>
              <a:rPr lang="hu-HU" altLang="en-US" sz="2000" dirty="0">
                <a:latin typeface="Arial" panose="020B0604020202020204" pitchFamily="34" charset="0"/>
              </a:rPr>
              <a:t> (</a:t>
            </a:r>
            <a:r>
              <a:rPr lang="hu-HU" altLang="en-US" sz="2000" dirty="0" err="1">
                <a:latin typeface="Arial" panose="020B0604020202020204" pitchFamily="34" charset="0"/>
              </a:rPr>
              <a:t>Resource</a:t>
            </a:r>
            <a:r>
              <a:rPr lang="hu-HU" altLang="en-US" sz="2000" dirty="0">
                <a:latin typeface="Arial" panose="020B0604020202020204" pitchFamily="34" charset="0"/>
              </a:rPr>
              <a:t> </a:t>
            </a:r>
            <a:r>
              <a:rPr lang="hu-HU" altLang="en-US" sz="2000" dirty="0" err="1">
                <a:latin typeface="Arial" panose="020B0604020202020204" pitchFamily="34" charset="0"/>
              </a:rPr>
              <a:t>Owner</a:t>
            </a:r>
            <a:r>
              <a:rPr lang="hu-HU" altLang="en-US" sz="2000" dirty="0">
                <a:latin typeface="Arial" panose="020B0604020202020204" pitchFamily="34" charset="0"/>
              </a:rPr>
              <a:t>)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</a:rPr>
              <a:t>Client</a:t>
            </a:r>
            <a:r>
              <a:rPr lang="hu-HU" altLang="en-US" sz="2000" dirty="0">
                <a:latin typeface="Arial" panose="020B0604020202020204" pitchFamily="34" charset="0"/>
              </a:rPr>
              <a:t> (</a:t>
            </a:r>
            <a:r>
              <a:rPr lang="hu-HU" altLang="en-US" sz="2000" dirty="0" err="1">
                <a:latin typeface="Arial" panose="020B0604020202020204" pitchFamily="34" charset="0"/>
              </a:rPr>
              <a:t>application</a:t>
            </a:r>
            <a:r>
              <a:rPr lang="hu-HU" altLang="en-US" sz="2000" dirty="0">
                <a:latin typeface="Arial" panose="020B0604020202020204" pitchFamily="34" charset="0"/>
              </a:rPr>
              <a:t>)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</a:rPr>
              <a:t>Authorization server</a:t>
            </a:r>
            <a:endParaRPr lang="hu-HU" altLang="en-US" sz="2000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</a:rPr>
              <a:t>Resource server</a:t>
            </a:r>
          </a:p>
        </p:txBody>
      </p:sp>
      <p:pic>
        <p:nvPicPr>
          <p:cNvPr id="2052" name="Picture 4" descr="OAuth 2.0 Roles">
            <a:extLst>
              <a:ext uri="{FF2B5EF4-FFF2-40B4-BE49-F238E27FC236}">
                <a16:creationId xmlns:a16="http://schemas.microsoft.com/office/drawing/2014/main" id="{31790E39-1565-492A-53DB-2F593E6F2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633" y="2015035"/>
            <a:ext cx="5428196" cy="3866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132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15E14-B6A8-38F7-5BF3-C58CECED2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27243"/>
          </a:xfrm>
        </p:spPr>
        <p:txBody>
          <a:bodyPr>
            <a:normAutofit/>
          </a:bodyPr>
          <a:lstStyle/>
          <a:p>
            <a:r>
              <a:rPr lang="en-US" sz="4000" dirty="0"/>
              <a:t>OAuth2 flow-k </a:t>
            </a:r>
            <a:r>
              <a:rPr lang="en-US" sz="4000" dirty="0" err="1"/>
              <a:t>röviden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E4DE2D1-2580-9113-848F-B3B838E250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343060"/>
            <a:ext cx="7673668" cy="2597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Authorization Code Flow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 Credentials Flow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Implicit Flow (deprecated)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Különböző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problémák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különböző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flow-k</a:t>
            </a:r>
          </a:p>
        </p:txBody>
      </p:sp>
    </p:spTree>
    <p:extLst>
      <p:ext uri="{BB962C8B-B14F-4D97-AF65-F5344CB8AC3E}">
        <p14:creationId xmlns:p14="http://schemas.microsoft.com/office/powerpoint/2010/main" val="2239265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FA90A-C957-7FAB-6398-42B77D4D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793213"/>
            <a:ext cx="11155680" cy="746220"/>
          </a:xfrm>
        </p:spPr>
        <p:txBody>
          <a:bodyPr>
            <a:normAutofit/>
          </a:bodyPr>
          <a:lstStyle/>
          <a:p>
            <a:r>
              <a:rPr lang="hu-HU" sz="4000" dirty="0" err="1"/>
              <a:t>Authorization</a:t>
            </a:r>
            <a:r>
              <a:rPr lang="hu-HU" sz="4000" dirty="0"/>
              <a:t> </a:t>
            </a:r>
            <a:r>
              <a:rPr lang="hu-HU" sz="4000" dirty="0" err="1"/>
              <a:t>Code</a:t>
            </a:r>
            <a:r>
              <a:rPr lang="hu-HU" sz="4000" dirty="0"/>
              <a:t> Flow</a:t>
            </a:r>
            <a:endParaRPr lang="en-US" sz="40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D9304A2-A82E-BAE3-D34A-B2E913B57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4619" y="1539433"/>
            <a:ext cx="7237517" cy="507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9367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38BA0-8D01-EDE0-F463-04A53564E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20535"/>
            <a:ext cx="11155680" cy="861967"/>
          </a:xfrm>
        </p:spPr>
        <p:txBody>
          <a:bodyPr>
            <a:normAutofit/>
          </a:bodyPr>
          <a:lstStyle/>
          <a:p>
            <a:r>
              <a:rPr lang="en-US" sz="4000" dirty="0"/>
              <a:t>SSO (Single Sign-On) </a:t>
            </a:r>
            <a:r>
              <a:rPr lang="en-US" sz="4000" dirty="0" err="1"/>
              <a:t>alapjai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1D10F6-24C5-029D-CACB-F946306083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290444"/>
            <a:ext cx="7372726" cy="2597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Egy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bejelentkezés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Több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alkalmazás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Központi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identitáskezelés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OAuth2 / OpenID Connect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alapokon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230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32E2D-F677-B187-DD35-131D6E3E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12438"/>
          </a:xfrm>
        </p:spPr>
        <p:txBody>
          <a:bodyPr>
            <a:normAutofit/>
          </a:bodyPr>
          <a:lstStyle/>
          <a:p>
            <a:r>
              <a:rPr lang="en-US" sz="4000" dirty="0" err="1"/>
              <a:t>Összefoglalás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8042E6-995F-B8E8-9D1D-72C43CB9B3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0067" y="3337750"/>
            <a:ext cx="359988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hu-HU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D8E218E-DC15-A13C-BB33-4713B54DA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208" y="2454526"/>
            <a:ext cx="9363572" cy="223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 stateless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állapotkezelés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szükséges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Session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cookie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klasszikus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megoldás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és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JWT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modern, stateless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megközelítés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OAuth2 és SSO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központi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vállalati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szintű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megoldások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9210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685C8-79B3-166B-9F71-BF92299E9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885810"/>
            <a:ext cx="11155680" cy="757795"/>
          </a:xfrm>
        </p:spPr>
        <p:txBody>
          <a:bodyPr>
            <a:noAutofit/>
          </a:bodyPr>
          <a:lstStyle/>
          <a:p>
            <a:r>
              <a:rPr lang="en-US" sz="3600" dirty="0" err="1"/>
              <a:t>Döntési</a:t>
            </a:r>
            <a:r>
              <a:rPr lang="en-US" sz="3600" dirty="0"/>
              <a:t> </a:t>
            </a:r>
            <a:r>
              <a:rPr lang="en-US" sz="3600" dirty="0" err="1"/>
              <a:t>táblázat</a:t>
            </a:r>
            <a:r>
              <a:rPr lang="hu-HU" sz="3600" dirty="0"/>
              <a:t> – mikor melyiket használjuk?</a:t>
            </a:r>
            <a:endParaRPr lang="en-US" sz="3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4F00D7-C283-61AA-D3AD-19EADF025C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97596"/>
              </p:ext>
            </p:extLst>
          </p:nvPr>
        </p:nvGraphicFramePr>
        <p:xfrm>
          <a:off x="794216" y="1799867"/>
          <a:ext cx="10722593" cy="4624083"/>
        </p:xfrm>
        <a:graphic>
          <a:graphicData uri="http://schemas.openxmlformats.org/drawingml/2006/table">
            <a:tbl>
              <a:tblPr/>
              <a:tblGrid>
                <a:gridCol w="3574198">
                  <a:extLst>
                    <a:ext uri="{9D8B030D-6E8A-4147-A177-3AD203B41FA5}">
                      <a16:colId xmlns:a16="http://schemas.microsoft.com/office/drawing/2014/main" val="2760482518"/>
                    </a:ext>
                  </a:extLst>
                </a:gridCol>
                <a:gridCol w="2909658">
                  <a:extLst>
                    <a:ext uri="{9D8B030D-6E8A-4147-A177-3AD203B41FA5}">
                      <a16:colId xmlns:a16="http://schemas.microsoft.com/office/drawing/2014/main" val="1196775154"/>
                    </a:ext>
                  </a:extLst>
                </a:gridCol>
                <a:gridCol w="4238737">
                  <a:extLst>
                    <a:ext uri="{9D8B030D-6E8A-4147-A177-3AD203B41FA5}">
                      <a16:colId xmlns:a16="http://schemas.microsoft.com/office/drawing/2014/main" val="4238182723"/>
                    </a:ext>
                  </a:extLst>
                </a:gridCol>
              </a:tblGrid>
              <a:tr h="361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Helyzet / Igény</a:t>
                      </a:r>
                    </a:p>
                  </a:txBody>
                  <a:tcPr marL="73865" marR="73865" marT="36933" marB="3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 err="1"/>
                        <a:t>Ajánlott</a:t>
                      </a:r>
                      <a:r>
                        <a:rPr lang="en-US" sz="1500" b="1" dirty="0"/>
                        <a:t> </a:t>
                      </a:r>
                      <a:r>
                        <a:rPr lang="en-US" sz="1500" b="1" dirty="0" err="1"/>
                        <a:t>megoldás</a:t>
                      </a:r>
                      <a:endParaRPr lang="en-US" sz="1500" b="1" dirty="0"/>
                    </a:p>
                  </a:txBody>
                  <a:tcPr marL="73865" marR="73865" marT="36933" marB="3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 err="1"/>
                        <a:t>Miért</a:t>
                      </a:r>
                      <a:r>
                        <a:rPr lang="en-US" sz="1500" b="1" dirty="0"/>
                        <a:t>?</a:t>
                      </a:r>
                    </a:p>
                  </a:txBody>
                  <a:tcPr marL="73865" marR="73865" marT="36933" marB="3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949955"/>
                  </a:ext>
                </a:extLst>
              </a:tr>
              <a:tr h="635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u-HU" sz="1500"/>
                        <a:t>Egyszerű, klasszikus weboldal</a:t>
                      </a:r>
                    </a:p>
                  </a:txBody>
                  <a:tcPr marL="73865" marR="73865" marT="36933" marB="3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Session + Cookie</a:t>
                      </a:r>
                    </a:p>
                  </a:txBody>
                  <a:tcPr marL="73865" marR="73865" marT="36933" marB="3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u-HU" sz="1500"/>
                        <a:t>Könnyű implementáció, szerver oldali kontroll</a:t>
                      </a:r>
                    </a:p>
                  </a:txBody>
                  <a:tcPr marL="73865" marR="73865" marT="36933" marB="3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147526"/>
                  </a:ext>
                </a:extLst>
              </a:tr>
              <a:tr h="635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Egy szerver vagy kevés felhasználó</a:t>
                      </a:r>
                    </a:p>
                  </a:txBody>
                  <a:tcPr marL="73865" marR="73865" marT="36933" marB="3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Session</a:t>
                      </a:r>
                    </a:p>
                  </a:txBody>
                  <a:tcPr marL="73865" marR="73865" marT="36933" marB="3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Nem szükséges bonyolult architektúra</a:t>
                      </a:r>
                    </a:p>
                  </a:txBody>
                  <a:tcPr marL="73865" marR="73865" marT="36933" marB="3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3372861"/>
                  </a:ext>
                </a:extLst>
              </a:tr>
              <a:tr h="361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REST API / SPA frontend</a:t>
                      </a:r>
                    </a:p>
                  </a:txBody>
                  <a:tcPr marL="73865" marR="73865" marT="36933" marB="3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JWT</a:t>
                      </a:r>
                    </a:p>
                  </a:txBody>
                  <a:tcPr marL="73865" marR="73865" marT="36933" marB="3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Stateless, jól skálázható</a:t>
                      </a:r>
                    </a:p>
                  </a:txBody>
                  <a:tcPr marL="73865" marR="73865" marT="36933" marB="3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183802"/>
                  </a:ext>
                </a:extLst>
              </a:tr>
              <a:tr h="361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Mobil alkalmazás backendje</a:t>
                      </a:r>
                    </a:p>
                  </a:txBody>
                  <a:tcPr marL="73865" marR="73865" marT="36933" marB="3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JWT</a:t>
                      </a:r>
                    </a:p>
                  </a:txBody>
                  <a:tcPr marL="73865" marR="73865" marT="36933" marB="3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Cookie-független, API-barát</a:t>
                      </a:r>
                    </a:p>
                  </a:txBody>
                  <a:tcPr marL="73865" marR="73865" marT="36933" marB="3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0486492"/>
                  </a:ext>
                </a:extLst>
              </a:tr>
              <a:tr h="361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Microservice architektúra</a:t>
                      </a:r>
                    </a:p>
                  </a:txBody>
                  <a:tcPr marL="73865" marR="73865" marT="36933" marB="3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JWT</a:t>
                      </a:r>
                    </a:p>
                  </a:txBody>
                  <a:tcPr marL="73865" marR="73865" marT="36933" marB="3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Nincs központi session state</a:t>
                      </a:r>
                    </a:p>
                  </a:txBody>
                  <a:tcPr marL="73865" marR="73865" marT="36933" marB="3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7967232"/>
                  </a:ext>
                </a:extLst>
              </a:tr>
              <a:tr h="635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Külső alkalmazás hozzáfér az adatokhoz</a:t>
                      </a:r>
                    </a:p>
                  </a:txBody>
                  <a:tcPr marL="73865" marR="73865" marT="36933" marB="3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OAuth2</a:t>
                      </a:r>
                    </a:p>
                  </a:txBody>
                  <a:tcPr marL="73865" marR="73865" marT="36933" marB="3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 err="1"/>
                        <a:t>Delegált</a:t>
                      </a:r>
                      <a:r>
                        <a:rPr lang="en-US" sz="1500" dirty="0"/>
                        <a:t> </a:t>
                      </a:r>
                      <a:r>
                        <a:rPr lang="en-US" sz="1500" dirty="0" err="1"/>
                        <a:t>hozzáférés</a:t>
                      </a:r>
                      <a:r>
                        <a:rPr lang="en-US" sz="1500" dirty="0"/>
                        <a:t>, </a:t>
                      </a:r>
                      <a:r>
                        <a:rPr lang="en-US" sz="1500" dirty="0" err="1"/>
                        <a:t>nincs</a:t>
                      </a:r>
                      <a:r>
                        <a:rPr lang="en-US" sz="1500" dirty="0"/>
                        <a:t> </a:t>
                      </a:r>
                      <a:r>
                        <a:rPr lang="en-US" sz="1500" dirty="0" err="1"/>
                        <a:t>jelszómegosztás</a:t>
                      </a:r>
                      <a:endParaRPr lang="en-US" sz="1500" dirty="0"/>
                    </a:p>
                  </a:txBody>
                  <a:tcPr marL="73865" marR="73865" marT="36933" marB="3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70321"/>
                  </a:ext>
                </a:extLst>
              </a:tr>
              <a:tr h="635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 err="1"/>
                        <a:t>Vállalati</a:t>
                      </a:r>
                      <a:r>
                        <a:rPr lang="en-US" sz="1500" dirty="0"/>
                        <a:t> </a:t>
                      </a:r>
                      <a:r>
                        <a:rPr lang="en-US" sz="1500" dirty="0" err="1"/>
                        <a:t>több</a:t>
                      </a:r>
                      <a:r>
                        <a:rPr lang="en-US" sz="1500" dirty="0"/>
                        <a:t> </a:t>
                      </a:r>
                      <a:r>
                        <a:rPr lang="en-US" sz="1500" dirty="0" err="1"/>
                        <a:t>rendszer</a:t>
                      </a:r>
                      <a:r>
                        <a:rPr lang="hu-HU" sz="1500" dirty="0"/>
                        <a:t>/alkalmazás</a:t>
                      </a:r>
                      <a:endParaRPr lang="en-US" sz="1500" dirty="0"/>
                    </a:p>
                  </a:txBody>
                  <a:tcPr marL="73865" marR="73865" marT="36933" marB="3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SSO (OAuth2 + OIDC)</a:t>
                      </a:r>
                    </a:p>
                  </a:txBody>
                  <a:tcPr marL="73865" marR="73865" marT="36933" marB="3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Egy bejelentkezés, központi identitás</a:t>
                      </a:r>
                    </a:p>
                  </a:txBody>
                  <a:tcPr marL="73865" marR="73865" marT="36933" marB="3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273594"/>
                  </a:ext>
                </a:extLst>
              </a:tr>
              <a:tr h="635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Felhasználói kényelem + biztonság</a:t>
                      </a:r>
                    </a:p>
                  </a:txBody>
                  <a:tcPr marL="73865" marR="73865" marT="36933" marB="3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SSO</a:t>
                      </a:r>
                    </a:p>
                  </a:txBody>
                  <a:tcPr marL="73865" marR="73865" marT="36933" marB="3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 err="1"/>
                        <a:t>Kevesebb</a:t>
                      </a:r>
                      <a:r>
                        <a:rPr lang="en-US" sz="1500" dirty="0"/>
                        <a:t> </a:t>
                      </a:r>
                      <a:r>
                        <a:rPr lang="en-US" sz="1500" dirty="0" err="1"/>
                        <a:t>jelszó</a:t>
                      </a:r>
                      <a:r>
                        <a:rPr lang="en-US" sz="1500" dirty="0"/>
                        <a:t>, </a:t>
                      </a:r>
                      <a:r>
                        <a:rPr lang="en-US" sz="1500" dirty="0" err="1"/>
                        <a:t>kisebb</a:t>
                      </a:r>
                      <a:r>
                        <a:rPr lang="en-US" sz="1500" dirty="0"/>
                        <a:t> </a:t>
                      </a:r>
                      <a:r>
                        <a:rPr lang="en-US" sz="1500" dirty="0" err="1"/>
                        <a:t>támadási</a:t>
                      </a:r>
                      <a:r>
                        <a:rPr lang="en-US" sz="1500" dirty="0"/>
                        <a:t> </a:t>
                      </a:r>
                      <a:r>
                        <a:rPr lang="en-US" sz="1500" dirty="0" err="1"/>
                        <a:t>felület</a:t>
                      </a:r>
                      <a:endParaRPr lang="en-US" sz="1500" dirty="0"/>
                    </a:p>
                  </a:txBody>
                  <a:tcPr marL="73865" marR="73865" marT="36933" marB="369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809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7030833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1447</TotalTime>
  <Words>2292</Words>
  <Application>Microsoft Office PowerPoint</Application>
  <PresentationFormat>Widescreen</PresentationFormat>
  <Paragraphs>294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Bierstadt</vt:lpstr>
      <vt:lpstr>GestaltVTI</vt:lpstr>
      <vt:lpstr>Autentikáció és jogosultságkezelés   Cookie, session, JWT, token alapú auth, OAuth2, SSO alapjai </vt:lpstr>
      <vt:lpstr>Bevezetés: Miért fontos az autentikáció?</vt:lpstr>
      <vt:lpstr>Autentikáció vs. Autorizáció</vt:lpstr>
      <vt:lpstr>HTTP stateless működés problémája</vt:lpstr>
      <vt:lpstr>Session alapú autentikáció</vt:lpstr>
      <vt:lpstr>Session alapú autentikáció</vt:lpstr>
      <vt:lpstr>Cookie szerepe az autentikációban</vt:lpstr>
      <vt:lpstr>Session alapú autentikáció hátrányai</vt:lpstr>
      <vt:lpstr>Token alapú autentikáció alapjai</vt:lpstr>
      <vt:lpstr>Token alapú autentikáció alapjai</vt:lpstr>
      <vt:lpstr>JWT (JSON Web Token) felépítése</vt:lpstr>
      <vt:lpstr>JWT előnyei és kockázatai</vt:lpstr>
      <vt:lpstr>Session alapú vs. Token alapú autentikáció</vt:lpstr>
      <vt:lpstr>OAuth2 alapelvek</vt:lpstr>
      <vt:lpstr>OAuth2 flow-k röviden</vt:lpstr>
      <vt:lpstr>Authorization Code Flow</vt:lpstr>
      <vt:lpstr>SSO (Single Sign-On) alapjai</vt:lpstr>
      <vt:lpstr>Összefoglalás</vt:lpstr>
      <vt:lpstr>Döntési táblázat – mikor melyiket használjuk?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Zoltan Balogh</dc:creator>
  <cp:lastModifiedBy>Zoltan Balogh</cp:lastModifiedBy>
  <cp:revision>108</cp:revision>
  <dcterms:created xsi:type="dcterms:W3CDTF">2025-11-30T15:45:28Z</dcterms:created>
  <dcterms:modified xsi:type="dcterms:W3CDTF">2026-04-20T15:52:09Z</dcterms:modified>
</cp:coreProperties>
</file>