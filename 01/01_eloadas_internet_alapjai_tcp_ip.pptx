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257" r:id="rId2"/>
    <p:sldId id="260" r:id="rId3"/>
    <p:sldId id="277" r:id="rId4"/>
    <p:sldId id="256" r:id="rId5"/>
    <p:sldId id="258" r:id="rId6"/>
    <p:sldId id="259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1712" autoAdjust="0"/>
  </p:normalViewPr>
  <p:slideViewPr>
    <p:cSldViewPr snapToGrid="0">
      <p:cViewPr varScale="1">
        <p:scale>
          <a:sx n="103" d="100"/>
          <a:sy n="103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C2C873-67E1-4D74-AD37-A33C2948404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C06EE8-6F0B-42CB-8554-DA8635BBE976}">
      <dgm:prSet/>
      <dgm:spPr/>
      <dgm:t>
        <a:bodyPr/>
        <a:lstStyle/>
        <a:p>
          <a:r>
            <a:rPr lang="hu-HU"/>
            <a:t>2003 és 2008 között tanársegéd az Óbudai Egyetem elődjénél.</a:t>
          </a:r>
          <a:endParaRPr lang="en-US"/>
        </a:p>
      </dgm:t>
    </dgm:pt>
    <dgm:pt modelId="{5879ADE3-5CD7-4689-B662-DD8D620025F2}" type="parTrans" cxnId="{0D5228FE-78C6-49F6-A478-4100E5761BA5}">
      <dgm:prSet/>
      <dgm:spPr/>
      <dgm:t>
        <a:bodyPr/>
        <a:lstStyle/>
        <a:p>
          <a:endParaRPr lang="en-US"/>
        </a:p>
      </dgm:t>
    </dgm:pt>
    <dgm:pt modelId="{D9D561A1-B25C-4384-9DFA-DB4812FFAF45}" type="sibTrans" cxnId="{0D5228FE-78C6-49F6-A478-4100E5761BA5}">
      <dgm:prSet/>
      <dgm:spPr/>
      <dgm:t>
        <a:bodyPr/>
        <a:lstStyle/>
        <a:p>
          <a:endParaRPr lang="en-US"/>
        </a:p>
      </dgm:t>
    </dgm:pt>
    <dgm:pt modelId="{DF333628-6799-4636-940B-D2CD75E1289B}">
      <dgm:prSet/>
      <dgm:spPr/>
      <dgm:t>
        <a:bodyPr/>
        <a:lstStyle/>
        <a:p>
          <a:r>
            <a:rPr lang="hu-HU"/>
            <a:t>2008-tól az Andtek GmbH telekommunikációs mérnöke</a:t>
          </a:r>
          <a:endParaRPr lang="en-US"/>
        </a:p>
      </dgm:t>
    </dgm:pt>
    <dgm:pt modelId="{0179584E-6FAD-484A-8736-6ECC74BB5CFC}" type="parTrans" cxnId="{6126EA0C-DC15-4A75-B641-46E82F488EB2}">
      <dgm:prSet/>
      <dgm:spPr/>
      <dgm:t>
        <a:bodyPr/>
        <a:lstStyle/>
        <a:p>
          <a:endParaRPr lang="en-US"/>
        </a:p>
      </dgm:t>
    </dgm:pt>
    <dgm:pt modelId="{D3EFF9FD-12EF-48B4-B45D-154502FD7C5B}" type="sibTrans" cxnId="{6126EA0C-DC15-4A75-B641-46E82F488EB2}">
      <dgm:prSet/>
      <dgm:spPr/>
      <dgm:t>
        <a:bodyPr/>
        <a:lstStyle/>
        <a:p>
          <a:endParaRPr lang="en-US"/>
        </a:p>
      </dgm:t>
    </dgm:pt>
    <dgm:pt modelId="{14E68B7A-1E36-4B4C-B139-52BFB0B5F7DA}">
      <dgm:prSet/>
      <dgm:spPr/>
      <dgm:t>
        <a:bodyPr/>
        <a:lstStyle/>
        <a:p>
          <a:r>
            <a:rPr lang="hu-HU"/>
            <a:t>2015-tól Az Enghouse Interactive vezető fejlesztője</a:t>
          </a:r>
          <a:endParaRPr lang="en-US"/>
        </a:p>
      </dgm:t>
    </dgm:pt>
    <dgm:pt modelId="{F8BD40E7-5FE7-4853-9BE4-1EE7A7F6EC6E}" type="parTrans" cxnId="{763A1EAC-1AA0-47DC-AECF-4EF2B13209AD}">
      <dgm:prSet/>
      <dgm:spPr/>
      <dgm:t>
        <a:bodyPr/>
        <a:lstStyle/>
        <a:p>
          <a:endParaRPr lang="en-US"/>
        </a:p>
      </dgm:t>
    </dgm:pt>
    <dgm:pt modelId="{744BD08A-505B-442C-9CED-7A95B7957A6A}" type="sibTrans" cxnId="{763A1EAC-1AA0-47DC-AECF-4EF2B13209AD}">
      <dgm:prSet/>
      <dgm:spPr/>
      <dgm:t>
        <a:bodyPr/>
        <a:lstStyle/>
        <a:p>
          <a:endParaRPr lang="en-US"/>
        </a:p>
      </dgm:t>
    </dgm:pt>
    <dgm:pt modelId="{9B0DFCF8-79CC-410A-AF33-3D30847B4F2B}">
      <dgm:prSet/>
      <dgm:spPr/>
      <dgm:t>
        <a:bodyPr/>
        <a:lstStyle/>
        <a:p>
          <a:r>
            <a:rPr lang="hu-HU" dirty="0"/>
            <a:t>Fő fejlesztési területek:</a:t>
          </a:r>
          <a:endParaRPr lang="en-US" dirty="0"/>
        </a:p>
      </dgm:t>
    </dgm:pt>
    <dgm:pt modelId="{05F6F78D-3683-442E-BA2E-2D5EB71C2B70}" type="parTrans" cxnId="{774EAF0B-D7A5-48BB-B866-2827CCF21C23}">
      <dgm:prSet/>
      <dgm:spPr/>
      <dgm:t>
        <a:bodyPr/>
        <a:lstStyle/>
        <a:p>
          <a:endParaRPr lang="en-US"/>
        </a:p>
      </dgm:t>
    </dgm:pt>
    <dgm:pt modelId="{0C154276-212E-456B-9CE0-4DABF836C85B}" type="sibTrans" cxnId="{774EAF0B-D7A5-48BB-B866-2827CCF21C23}">
      <dgm:prSet/>
      <dgm:spPr/>
      <dgm:t>
        <a:bodyPr/>
        <a:lstStyle/>
        <a:p>
          <a:endParaRPr lang="en-US"/>
        </a:p>
      </dgm:t>
    </dgm:pt>
    <dgm:pt modelId="{AA81D3BF-EE90-4BD9-AB7A-15F2A01C273F}">
      <dgm:prSet/>
      <dgm:spPr/>
      <dgm:t>
        <a:bodyPr/>
        <a:lstStyle/>
        <a:p>
          <a:r>
            <a:rPr lang="hu-HU" dirty="0"/>
            <a:t>Cisco </a:t>
          </a:r>
          <a:r>
            <a:rPr lang="hu-HU" dirty="0" err="1"/>
            <a:t>VoIP</a:t>
          </a:r>
          <a:r>
            <a:rPr lang="hu-HU" dirty="0"/>
            <a:t> technológiákra épülő szoftverek fejlesztése</a:t>
          </a:r>
          <a:endParaRPr lang="en-US" dirty="0"/>
        </a:p>
      </dgm:t>
    </dgm:pt>
    <dgm:pt modelId="{7B565295-24D9-4D1B-8EEF-B7CD88C67C57}" type="parTrans" cxnId="{9FDF2249-FCEA-4611-87D5-7F50AFC224FC}">
      <dgm:prSet/>
      <dgm:spPr/>
      <dgm:t>
        <a:bodyPr/>
        <a:lstStyle/>
        <a:p>
          <a:endParaRPr lang="en-US"/>
        </a:p>
      </dgm:t>
    </dgm:pt>
    <dgm:pt modelId="{EB7AEAA3-B460-4E17-A67B-0E14718D96A4}" type="sibTrans" cxnId="{9FDF2249-FCEA-4611-87D5-7F50AFC224FC}">
      <dgm:prSet/>
      <dgm:spPr/>
      <dgm:t>
        <a:bodyPr/>
        <a:lstStyle/>
        <a:p>
          <a:endParaRPr lang="en-US"/>
        </a:p>
      </dgm:t>
    </dgm:pt>
    <dgm:pt modelId="{A9B7B290-0496-45B1-A3D9-5C4C8776293F}">
      <dgm:prSet/>
      <dgm:spPr/>
      <dgm:t>
        <a:bodyPr/>
        <a:lstStyle/>
        <a:p>
          <a:r>
            <a:rPr lang="hu-HU" dirty="0"/>
            <a:t>Linux alapú nagy rendelkezésre állású rendszerek</a:t>
          </a:r>
          <a:endParaRPr lang="en-US" dirty="0"/>
        </a:p>
      </dgm:t>
    </dgm:pt>
    <dgm:pt modelId="{9DFC381C-289B-4C3E-80A8-373EFCEF56A8}" type="parTrans" cxnId="{519FF194-BEAF-4265-857F-43524DB5CB91}">
      <dgm:prSet/>
      <dgm:spPr/>
      <dgm:t>
        <a:bodyPr/>
        <a:lstStyle/>
        <a:p>
          <a:endParaRPr lang="en-US"/>
        </a:p>
      </dgm:t>
    </dgm:pt>
    <dgm:pt modelId="{6FC66D88-1A9D-4779-9487-F2F907EDC64C}" type="sibTrans" cxnId="{519FF194-BEAF-4265-857F-43524DB5CB91}">
      <dgm:prSet/>
      <dgm:spPr/>
      <dgm:t>
        <a:bodyPr/>
        <a:lstStyle/>
        <a:p>
          <a:endParaRPr lang="en-US"/>
        </a:p>
      </dgm:t>
    </dgm:pt>
    <dgm:pt modelId="{315C0BE8-8AB9-4EE4-ABDD-24DC1B5A2AA5}">
      <dgm:prSet/>
      <dgm:spPr/>
      <dgm:t>
        <a:bodyPr/>
        <a:lstStyle/>
        <a:p>
          <a:r>
            <a:rPr lang="hu-HU" dirty="0"/>
            <a:t>Backend szolgáltatások fejlesztése</a:t>
          </a:r>
          <a:endParaRPr lang="en-US" dirty="0"/>
        </a:p>
      </dgm:t>
    </dgm:pt>
    <dgm:pt modelId="{0DE6270C-8E62-4ADD-88F9-85FDA258717C}" type="parTrans" cxnId="{C79D0F3F-4AED-4E49-B5B7-835B1C48423A}">
      <dgm:prSet/>
      <dgm:spPr/>
      <dgm:t>
        <a:bodyPr/>
        <a:lstStyle/>
        <a:p>
          <a:endParaRPr lang="en-US"/>
        </a:p>
      </dgm:t>
    </dgm:pt>
    <dgm:pt modelId="{1808E757-0712-44DE-98A6-EA0DB1592942}" type="sibTrans" cxnId="{C79D0F3F-4AED-4E49-B5B7-835B1C48423A}">
      <dgm:prSet/>
      <dgm:spPr/>
      <dgm:t>
        <a:bodyPr/>
        <a:lstStyle/>
        <a:p>
          <a:endParaRPr lang="en-US"/>
        </a:p>
      </dgm:t>
    </dgm:pt>
    <dgm:pt modelId="{59CDE066-EB17-4AC2-B075-AD30994DB003}" type="pres">
      <dgm:prSet presAssocID="{77C2C873-67E1-4D74-AD37-A33C2948404B}" presName="vert0" presStyleCnt="0">
        <dgm:presLayoutVars>
          <dgm:dir/>
          <dgm:animOne val="branch"/>
          <dgm:animLvl val="lvl"/>
        </dgm:presLayoutVars>
      </dgm:prSet>
      <dgm:spPr/>
    </dgm:pt>
    <dgm:pt modelId="{A8B216FF-F8AE-40CC-B829-C7B94441212C}" type="pres">
      <dgm:prSet presAssocID="{94C06EE8-6F0B-42CB-8554-DA8635BBE976}" presName="thickLine" presStyleLbl="alignNode1" presStyleIdx="0" presStyleCnt="7"/>
      <dgm:spPr/>
    </dgm:pt>
    <dgm:pt modelId="{E596C082-6408-4A49-A38F-7DEB0603FE6A}" type="pres">
      <dgm:prSet presAssocID="{94C06EE8-6F0B-42CB-8554-DA8635BBE976}" presName="horz1" presStyleCnt="0"/>
      <dgm:spPr/>
    </dgm:pt>
    <dgm:pt modelId="{56642E91-3977-46BA-94F7-31D5C8F705A6}" type="pres">
      <dgm:prSet presAssocID="{94C06EE8-6F0B-42CB-8554-DA8635BBE976}" presName="tx1" presStyleLbl="revTx" presStyleIdx="0" presStyleCnt="7"/>
      <dgm:spPr/>
    </dgm:pt>
    <dgm:pt modelId="{A6E5DE47-6EEA-4E0B-9C98-4A1367EE78B2}" type="pres">
      <dgm:prSet presAssocID="{94C06EE8-6F0B-42CB-8554-DA8635BBE976}" presName="vert1" presStyleCnt="0"/>
      <dgm:spPr/>
    </dgm:pt>
    <dgm:pt modelId="{24A93989-CC1A-437D-9C86-376A85D1A76C}" type="pres">
      <dgm:prSet presAssocID="{DF333628-6799-4636-940B-D2CD75E1289B}" presName="thickLine" presStyleLbl="alignNode1" presStyleIdx="1" presStyleCnt="7"/>
      <dgm:spPr/>
    </dgm:pt>
    <dgm:pt modelId="{D94706ED-20D3-48CB-B1D6-A24D0B9C9385}" type="pres">
      <dgm:prSet presAssocID="{DF333628-6799-4636-940B-D2CD75E1289B}" presName="horz1" presStyleCnt="0"/>
      <dgm:spPr/>
    </dgm:pt>
    <dgm:pt modelId="{B1E34756-0A9E-4AD8-B213-F81A1BB61ACB}" type="pres">
      <dgm:prSet presAssocID="{DF333628-6799-4636-940B-D2CD75E1289B}" presName="tx1" presStyleLbl="revTx" presStyleIdx="1" presStyleCnt="7"/>
      <dgm:spPr/>
    </dgm:pt>
    <dgm:pt modelId="{D5424B6D-89E2-49D4-86C6-E667B857B713}" type="pres">
      <dgm:prSet presAssocID="{DF333628-6799-4636-940B-D2CD75E1289B}" presName="vert1" presStyleCnt="0"/>
      <dgm:spPr/>
    </dgm:pt>
    <dgm:pt modelId="{F912F43B-F39A-404E-B4EB-4B646CF39075}" type="pres">
      <dgm:prSet presAssocID="{14E68B7A-1E36-4B4C-B139-52BFB0B5F7DA}" presName="thickLine" presStyleLbl="alignNode1" presStyleIdx="2" presStyleCnt="7"/>
      <dgm:spPr/>
    </dgm:pt>
    <dgm:pt modelId="{B2792F14-5D9B-4C32-BBF0-A8D34A7B7BE1}" type="pres">
      <dgm:prSet presAssocID="{14E68B7A-1E36-4B4C-B139-52BFB0B5F7DA}" presName="horz1" presStyleCnt="0"/>
      <dgm:spPr/>
    </dgm:pt>
    <dgm:pt modelId="{E135C74E-60BF-4123-A900-DC6DE6377FB3}" type="pres">
      <dgm:prSet presAssocID="{14E68B7A-1E36-4B4C-B139-52BFB0B5F7DA}" presName="tx1" presStyleLbl="revTx" presStyleIdx="2" presStyleCnt="7"/>
      <dgm:spPr/>
    </dgm:pt>
    <dgm:pt modelId="{76279A98-0E8A-492D-9AB8-A2C21D51259B}" type="pres">
      <dgm:prSet presAssocID="{14E68B7A-1E36-4B4C-B139-52BFB0B5F7DA}" presName="vert1" presStyleCnt="0"/>
      <dgm:spPr/>
    </dgm:pt>
    <dgm:pt modelId="{0B8C29C0-B158-4144-AFE4-D09C4D217C56}" type="pres">
      <dgm:prSet presAssocID="{9B0DFCF8-79CC-410A-AF33-3D30847B4F2B}" presName="thickLine" presStyleLbl="alignNode1" presStyleIdx="3" presStyleCnt="7"/>
      <dgm:spPr/>
    </dgm:pt>
    <dgm:pt modelId="{9A16B0D2-2DD5-4F85-928D-8ABF1D8228A5}" type="pres">
      <dgm:prSet presAssocID="{9B0DFCF8-79CC-410A-AF33-3D30847B4F2B}" presName="horz1" presStyleCnt="0"/>
      <dgm:spPr/>
    </dgm:pt>
    <dgm:pt modelId="{6BD4B632-7E3F-4AF6-B210-E7BEEF744F9E}" type="pres">
      <dgm:prSet presAssocID="{9B0DFCF8-79CC-410A-AF33-3D30847B4F2B}" presName="tx1" presStyleLbl="revTx" presStyleIdx="3" presStyleCnt="7"/>
      <dgm:spPr/>
    </dgm:pt>
    <dgm:pt modelId="{F74EE4DE-A16E-4D41-A1A5-7C5AF7F224D3}" type="pres">
      <dgm:prSet presAssocID="{9B0DFCF8-79CC-410A-AF33-3D30847B4F2B}" presName="vert1" presStyleCnt="0"/>
      <dgm:spPr/>
    </dgm:pt>
    <dgm:pt modelId="{ADFB53BF-76EB-4683-A3CF-C518309E8291}" type="pres">
      <dgm:prSet presAssocID="{AA81D3BF-EE90-4BD9-AB7A-15F2A01C273F}" presName="thickLine" presStyleLbl="alignNode1" presStyleIdx="4" presStyleCnt="7"/>
      <dgm:spPr/>
    </dgm:pt>
    <dgm:pt modelId="{D3A762C3-4891-4722-AC7B-4AEE22D538BF}" type="pres">
      <dgm:prSet presAssocID="{AA81D3BF-EE90-4BD9-AB7A-15F2A01C273F}" presName="horz1" presStyleCnt="0"/>
      <dgm:spPr/>
    </dgm:pt>
    <dgm:pt modelId="{C91A44A1-EC55-4408-8AB0-48373348193E}" type="pres">
      <dgm:prSet presAssocID="{AA81D3BF-EE90-4BD9-AB7A-15F2A01C273F}" presName="tx1" presStyleLbl="revTx" presStyleIdx="4" presStyleCnt="7"/>
      <dgm:spPr/>
    </dgm:pt>
    <dgm:pt modelId="{E49F17BE-1DF4-41AE-8CCC-A4033FD33B28}" type="pres">
      <dgm:prSet presAssocID="{AA81D3BF-EE90-4BD9-AB7A-15F2A01C273F}" presName="vert1" presStyleCnt="0"/>
      <dgm:spPr/>
    </dgm:pt>
    <dgm:pt modelId="{6F434D94-CBC4-424E-80B7-9F9989379109}" type="pres">
      <dgm:prSet presAssocID="{A9B7B290-0496-45B1-A3D9-5C4C8776293F}" presName="thickLine" presStyleLbl="alignNode1" presStyleIdx="5" presStyleCnt="7"/>
      <dgm:spPr/>
    </dgm:pt>
    <dgm:pt modelId="{D0F67917-BEFE-49ED-83BC-B8CB6255438A}" type="pres">
      <dgm:prSet presAssocID="{A9B7B290-0496-45B1-A3D9-5C4C8776293F}" presName="horz1" presStyleCnt="0"/>
      <dgm:spPr/>
    </dgm:pt>
    <dgm:pt modelId="{5D6FFC0A-4B1C-46FE-B17D-6295FC7457AF}" type="pres">
      <dgm:prSet presAssocID="{A9B7B290-0496-45B1-A3D9-5C4C8776293F}" presName="tx1" presStyleLbl="revTx" presStyleIdx="5" presStyleCnt="7"/>
      <dgm:spPr/>
    </dgm:pt>
    <dgm:pt modelId="{D90ABA87-58CB-4E28-99AD-CF7653DAD3F4}" type="pres">
      <dgm:prSet presAssocID="{A9B7B290-0496-45B1-A3D9-5C4C8776293F}" presName="vert1" presStyleCnt="0"/>
      <dgm:spPr/>
    </dgm:pt>
    <dgm:pt modelId="{0086964E-C54E-42FF-B971-EA6DF5CE7817}" type="pres">
      <dgm:prSet presAssocID="{315C0BE8-8AB9-4EE4-ABDD-24DC1B5A2AA5}" presName="thickLine" presStyleLbl="alignNode1" presStyleIdx="6" presStyleCnt="7"/>
      <dgm:spPr/>
    </dgm:pt>
    <dgm:pt modelId="{42A329BE-FE1F-4A00-A53B-0DF105E002B1}" type="pres">
      <dgm:prSet presAssocID="{315C0BE8-8AB9-4EE4-ABDD-24DC1B5A2AA5}" presName="horz1" presStyleCnt="0"/>
      <dgm:spPr/>
    </dgm:pt>
    <dgm:pt modelId="{7A3D0EA9-2EA3-49EF-841C-1F09F63889D3}" type="pres">
      <dgm:prSet presAssocID="{315C0BE8-8AB9-4EE4-ABDD-24DC1B5A2AA5}" presName="tx1" presStyleLbl="revTx" presStyleIdx="6" presStyleCnt="7"/>
      <dgm:spPr/>
    </dgm:pt>
    <dgm:pt modelId="{5905A0D3-1D75-4B7B-9AC9-C5F5007F1D45}" type="pres">
      <dgm:prSet presAssocID="{315C0BE8-8AB9-4EE4-ABDD-24DC1B5A2AA5}" presName="vert1" presStyleCnt="0"/>
      <dgm:spPr/>
    </dgm:pt>
  </dgm:ptLst>
  <dgm:cxnLst>
    <dgm:cxn modelId="{774EAF0B-D7A5-48BB-B866-2827CCF21C23}" srcId="{77C2C873-67E1-4D74-AD37-A33C2948404B}" destId="{9B0DFCF8-79CC-410A-AF33-3D30847B4F2B}" srcOrd="3" destOrd="0" parTransId="{05F6F78D-3683-442E-BA2E-2D5EB71C2B70}" sibTransId="{0C154276-212E-456B-9CE0-4DABF836C85B}"/>
    <dgm:cxn modelId="{6126EA0C-DC15-4A75-B641-46E82F488EB2}" srcId="{77C2C873-67E1-4D74-AD37-A33C2948404B}" destId="{DF333628-6799-4636-940B-D2CD75E1289B}" srcOrd="1" destOrd="0" parTransId="{0179584E-6FAD-484A-8736-6ECC74BB5CFC}" sibTransId="{D3EFF9FD-12EF-48B4-B45D-154502FD7C5B}"/>
    <dgm:cxn modelId="{6514B33B-7B3E-4C71-A257-7BF193848D39}" type="presOf" srcId="{9B0DFCF8-79CC-410A-AF33-3D30847B4F2B}" destId="{6BD4B632-7E3F-4AF6-B210-E7BEEF744F9E}" srcOrd="0" destOrd="0" presId="urn:microsoft.com/office/officeart/2008/layout/LinedList"/>
    <dgm:cxn modelId="{C79D0F3F-4AED-4E49-B5B7-835B1C48423A}" srcId="{77C2C873-67E1-4D74-AD37-A33C2948404B}" destId="{315C0BE8-8AB9-4EE4-ABDD-24DC1B5A2AA5}" srcOrd="6" destOrd="0" parTransId="{0DE6270C-8E62-4ADD-88F9-85FDA258717C}" sibTransId="{1808E757-0712-44DE-98A6-EA0DB1592942}"/>
    <dgm:cxn modelId="{F3981A5B-EB25-4EAC-AE56-F85E0A09B527}" type="presOf" srcId="{A9B7B290-0496-45B1-A3D9-5C4C8776293F}" destId="{5D6FFC0A-4B1C-46FE-B17D-6295FC7457AF}" srcOrd="0" destOrd="0" presId="urn:microsoft.com/office/officeart/2008/layout/LinedList"/>
    <dgm:cxn modelId="{ACA2C042-BE0C-455F-9419-E8B96B0E60F6}" type="presOf" srcId="{AA81D3BF-EE90-4BD9-AB7A-15F2A01C273F}" destId="{C91A44A1-EC55-4408-8AB0-48373348193E}" srcOrd="0" destOrd="0" presId="urn:microsoft.com/office/officeart/2008/layout/LinedList"/>
    <dgm:cxn modelId="{9FDF2249-FCEA-4611-87D5-7F50AFC224FC}" srcId="{77C2C873-67E1-4D74-AD37-A33C2948404B}" destId="{AA81D3BF-EE90-4BD9-AB7A-15F2A01C273F}" srcOrd="4" destOrd="0" parTransId="{7B565295-24D9-4D1B-8EEF-B7CD88C67C57}" sibTransId="{EB7AEAA3-B460-4E17-A67B-0E14718D96A4}"/>
    <dgm:cxn modelId="{1A411C51-3371-481A-9B8F-EE0A0949B022}" type="presOf" srcId="{94C06EE8-6F0B-42CB-8554-DA8635BBE976}" destId="{56642E91-3977-46BA-94F7-31D5C8F705A6}" srcOrd="0" destOrd="0" presId="urn:microsoft.com/office/officeart/2008/layout/LinedList"/>
    <dgm:cxn modelId="{1DD30D55-32D6-47A6-AA27-A5EA2FFA0164}" type="presOf" srcId="{14E68B7A-1E36-4B4C-B139-52BFB0B5F7DA}" destId="{E135C74E-60BF-4123-A900-DC6DE6377FB3}" srcOrd="0" destOrd="0" presId="urn:microsoft.com/office/officeart/2008/layout/LinedList"/>
    <dgm:cxn modelId="{519FF194-BEAF-4265-857F-43524DB5CB91}" srcId="{77C2C873-67E1-4D74-AD37-A33C2948404B}" destId="{A9B7B290-0496-45B1-A3D9-5C4C8776293F}" srcOrd="5" destOrd="0" parTransId="{9DFC381C-289B-4C3E-80A8-373EFCEF56A8}" sibTransId="{6FC66D88-1A9D-4779-9487-F2F907EDC64C}"/>
    <dgm:cxn modelId="{763A1EAC-1AA0-47DC-AECF-4EF2B13209AD}" srcId="{77C2C873-67E1-4D74-AD37-A33C2948404B}" destId="{14E68B7A-1E36-4B4C-B139-52BFB0B5F7DA}" srcOrd="2" destOrd="0" parTransId="{F8BD40E7-5FE7-4853-9BE4-1EE7A7F6EC6E}" sibTransId="{744BD08A-505B-442C-9CED-7A95B7957A6A}"/>
    <dgm:cxn modelId="{16C0CCBD-ED66-4C43-89F1-093C55A977F1}" type="presOf" srcId="{315C0BE8-8AB9-4EE4-ABDD-24DC1B5A2AA5}" destId="{7A3D0EA9-2EA3-49EF-841C-1F09F63889D3}" srcOrd="0" destOrd="0" presId="urn:microsoft.com/office/officeart/2008/layout/LinedList"/>
    <dgm:cxn modelId="{F7F167D0-855E-4D3D-8825-629DC9F39759}" type="presOf" srcId="{77C2C873-67E1-4D74-AD37-A33C2948404B}" destId="{59CDE066-EB17-4AC2-B075-AD30994DB003}" srcOrd="0" destOrd="0" presId="urn:microsoft.com/office/officeart/2008/layout/LinedList"/>
    <dgm:cxn modelId="{E2AC3DE7-9306-4924-8CFC-F8874ECE11CF}" type="presOf" srcId="{DF333628-6799-4636-940B-D2CD75E1289B}" destId="{B1E34756-0A9E-4AD8-B213-F81A1BB61ACB}" srcOrd="0" destOrd="0" presId="urn:microsoft.com/office/officeart/2008/layout/LinedList"/>
    <dgm:cxn modelId="{0D5228FE-78C6-49F6-A478-4100E5761BA5}" srcId="{77C2C873-67E1-4D74-AD37-A33C2948404B}" destId="{94C06EE8-6F0B-42CB-8554-DA8635BBE976}" srcOrd="0" destOrd="0" parTransId="{5879ADE3-5CD7-4689-B662-DD8D620025F2}" sibTransId="{D9D561A1-B25C-4384-9DFA-DB4812FFAF45}"/>
    <dgm:cxn modelId="{11734056-47D9-483D-9D8B-F9B52340CC41}" type="presParOf" srcId="{59CDE066-EB17-4AC2-B075-AD30994DB003}" destId="{A8B216FF-F8AE-40CC-B829-C7B94441212C}" srcOrd="0" destOrd="0" presId="urn:microsoft.com/office/officeart/2008/layout/LinedList"/>
    <dgm:cxn modelId="{53E79619-29C5-4C0E-9716-38C80FC523EE}" type="presParOf" srcId="{59CDE066-EB17-4AC2-B075-AD30994DB003}" destId="{E596C082-6408-4A49-A38F-7DEB0603FE6A}" srcOrd="1" destOrd="0" presId="urn:microsoft.com/office/officeart/2008/layout/LinedList"/>
    <dgm:cxn modelId="{F510AFE3-F4A8-46FF-8E46-E26D81F23F23}" type="presParOf" srcId="{E596C082-6408-4A49-A38F-7DEB0603FE6A}" destId="{56642E91-3977-46BA-94F7-31D5C8F705A6}" srcOrd="0" destOrd="0" presId="urn:microsoft.com/office/officeart/2008/layout/LinedList"/>
    <dgm:cxn modelId="{1B6E0D5E-0051-49FA-9B74-2A7B6896280C}" type="presParOf" srcId="{E596C082-6408-4A49-A38F-7DEB0603FE6A}" destId="{A6E5DE47-6EEA-4E0B-9C98-4A1367EE78B2}" srcOrd="1" destOrd="0" presId="urn:microsoft.com/office/officeart/2008/layout/LinedList"/>
    <dgm:cxn modelId="{E8964D43-A5C3-4881-BCAD-AB6B007D56E8}" type="presParOf" srcId="{59CDE066-EB17-4AC2-B075-AD30994DB003}" destId="{24A93989-CC1A-437D-9C86-376A85D1A76C}" srcOrd="2" destOrd="0" presId="urn:microsoft.com/office/officeart/2008/layout/LinedList"/>
    <dgm:cxn modelId="{0FCE18BA-6AF0-4A54-83C9-458D63902169}" type="presParOf" srcId="{59CDE066-EB17-4AC2-B075-AD30994DB003}" destId="{D94706ED-20D3-48CB-B1D6-A24D0B9C9385}" srcOrd="3" destOrd="0" presId="urn:microsoft.com/office/officeart/2008/layout/LinedList"/>
    <dgm:cxn modelId="{1F8349D4-4D95-407E-BB84-068929AF27EE}" type="presParOf" srcId="{D94706ED-20D3-48CB-B1D6-A24D0B9C9385}" destId="{B1E34756-0A9E-4AD8-B213-F81A1BB61ACB}" srcOrd="0" destOrd="0" presId="urn:microsoft.com/office/officeart/2008/layout/LinedList"/>
    <dgm:cxn modelId="{95E773EF-C6A5-4427-95A4-AE774A435326}" type="presParOf" srcId="{D94706ED-20D3-48CB-B1D6-A24D0B9C9385}" destId="{D5424B6D-89E2-49D4-86C6-E667B857B713}" srcOrd="1" destOrd="0" presId="urn:microsoft.com/office/officeart/2008/layout/LinedList"/>
    <dgm:cxn modelId="{AE8C71C5-B83C-46DA-88F5-604BB1A083AD}" type="presParOf" srcId="{59CDE066-EB17-4AC2-B075-AD30994DB003}" destId="{F912F43B-F39A-404E-B4EB-4B646CF39075}" srcOrd="4" destOrd="0" presId="urn:microsoft.com/office/officeart/2008/layout/LinedList"/>
    <dgm:cxn modelId="{9D70F8DD-C8D1-4781-9C4E-1F967B9DA832}" type="presParOf" srcId="{59CDE066-EB17-4AC2-B075-AD30994DB003}" destId="{B2792F14-5D9B-4C32-BBF0-A8D34A7B7BE1}" srcOrd="5" destOrd="0" presId="urn:microsoft.com/office/officeart/2008/layout/LinedList"/>
    <dgm:cxn modelId="{2412DAC6-CDBA-4CA4-B532-013CFB270578}" type="presParOf" srcId="{B2792F14-5D9B-4C32-BBF0-A8D34A7B7BE1}" destId="{E135C74E-60BF-4123-A900-DC6DE6377FB3}" srcOrd="0" destOrd="0" presId="urn:microsoft.com/office/officeart/2008/layout/LinedList"/>
    <dgm:cxn modelId="{42D1C4EB-52A9-46B3-B7A9-AEB7D341B659}" type="presParOf" srcId="{B2792F14-5D9B-4C32-BBF0-A8D34A7B7BE1}" destId="{76279A98-0E8A-492D-9AB8-A2C21D51259B}" srcOrd="1" destOrd="0" presId="urn:microsoft.com/office/officeart/2008/layout/LinedList"/>
    <dgm:cxn modelId="{69092702-D36D-401F-8E19-4A67A886A321}" type="presParOf" srcId="{59CDE066-EB17-4AC2-B075-AD30994DB003}" destId="{0B8C29C0-B158-4144-AFE4-D09C4D217C56}" srcOrd="6" destOrd="0" presId="urn:microsoft.com/office/officeart/2008/layout/LinedList"/>
    <dgm:cxn modelId="{83EA97D4-747B-4C28-8DFB-C7E6690171FF}" type="presParOf" srcId="{59CDE066-EB17-4AC2-B075-AD30994DB003}" destId="{9A16B0D2-2DD5-4F85-928D-8ABF1D8228A5}" srcOrd="7" destOrd="0" presId="urn:microsoft.com/office/officeart/2008/layout/LinedList"/>
    <dgm:cxn modelId="{6F833EAC-7321-409F-A8C4-28B9E98C9988}" type="presParOf" srcId="{9A16B0D2-2DD5-4F85-928D-8ABF1D8228A5}" destId="{6BD4B632-7E3F-4AF6-B210-E7BEEF744F9E}" srcOrd="0" destOrd="0" presId="urn:microsoft.com/office/officeart/2008/layout/LinedList"/>
    <dgm:cxn modelId="{93803FD2-01B9-40DE-82C2-36D7FC058C71}" type="presParOf" srcId="{9A16B0D2-2DD5-4F85-928D-8ABF1D8228A5}" destId="{F74EE4DE-A16E-4D41-A1A5-7C5AF7F224D3}" srcOrd="1" destOrd="0" presId="urn:microsoft.com/office/officeart/2008/layout/LinedList"/>
    <dgm:cxn modelId="{C9B855AC-E0D2-4981-BEC6-69A08B262A6F}" type="presParOf" srcId="{59CDE066-EB17-4AC2-B075-AD30994DB003}" destId="{ADFB53BF-76EB-4683-A3CF-C518309E8291}" srcOrd="8" destOrd="0" presId="urn:microsoft.com/office/officeart/2008/layout/LinedList"/>
    <dgm:cxn modelId="{A4835327-C0B0-41FC-85D6-38B9DF108EF6}" type="presParOf" srcId="{59CDE066-EB17-4AC2-B075-AD30994DB003}" destId="{D3A762C3-4891-4722-AC7B-4AEE22D538BF}" srcOrd="9" destOrd="0" presId="urn:microsoft.com/office/officeart/2008/layout/LinedList"/>
    <dgm:cxn modelId="{523A4191-5D88-4492-95DA-DC77831A1DAF}" type="presParOf" srcId="{D3A762C3-4891-4722-AC7B-4AEE22D538BF}" destId="{C91A44A1-EC55-4408-8AB0-48373348193E}" srcOrd="0" destOrd="0" presId="urn:microsoft.com/office/officeart/2008/layout/LinedList"/>
    <dgm:cxn modelId="{12CAA18F-040B-48D5-AA55-82A1C6F8307B}" type="presParOf" srcId="{D3A762C3-4891-4722-AC7B-4AEE22D538BF}" destId="{E49F17BE-1DF4-41AE-8CCC-A4033FD33B28}" srcOrd="1" destOrd="0" presId="urn:microsoft.com/office/officeart/2008/layout/LinedList"/>
    <dgm:cxn modelId="{2F3CB959-C270-4ECE-8314-80558260FFC1}" type="presParOf" srcId="{59CDE066-EB17-4AC2-B075-AD30994DB003}" destId="{6F434D94-CBC4-424E-80B7-9F9989379109}" srcOrd="10" destOrd="0" presId="urn:microsoft.com/office/officeart/2008/layout/LinedList"/>
    <dgm:cxn modelId="{EA860A55-5622-45BC-A17B-AF14F4590A81}" type="presParOf" srcId="{59CDE066-EB17-4AC2-B075-AD30994DB003}" destId="{D0F67917-BEFE-49ED-83BC-B8CB6255438A}" srcOrd="11" destOrd="0" presId="urn:microsoft.com/office/officeart/2008/layout/LinedList"/>
    <dgm:cxn modelId="{74B057A1-3028-492F-AD06-4599C77DDFA1}" type="presParOf" srcId="{D0F67917-BEFE-49ED-83BC-B8CB6255438A}" destId="{5D6FFC0A-4B1C-46FE-B17D-6295FC7457AF}" srcOrd="0" destOrd="0" presId="urn:microsoft.com/office/officeart/2008/layout/LinedList"/>
    <dgm:cxn modelId="{958B7E35-293A-43F3-8528-4363B3022458}" type="presParOf" srcId="{D0F67917-BEFE-49ED-83BC-B8CB6255438A}" destId="{D90ABA87-58CB-4E28-99AD-CF7653DAD3F4}" srcOrd="1" destOrd="0" presId="urn:microsoft.com/office/officeart/2008/layout/LinedList"/>
    <dgm:cxn modelId="{BA1B9BDD-C824-40A1-8AB6-7AF87B94ED89}" type="presParOf" srcId="{59CDE066-EB17-4AC2-B075-AD30994DB003}" destId="{0086964E-C54E-42FF-B971-EA6DF5CE7817}" srcOrd="12" destOrd="0" presId="urn:microsoft.com/office/officeart/2008/layout/LinedList"/>
    <dgm:cxn modelId="{49FCFFE4-95E2-4D35-B2EB-453948B9631E}" type="presParOf" srcId="{59CDE066-EB17-4AC2-B075-AD30994DB003}" destId="{42A329BE-FE1F-4A00-A53B-0DF105E002B1}" srcOrd="13" destOrd="0" presId="urn:microsoft.com/office/officeart/2008/layout/LinedList"/>
    <dgm:cxn modelId="{D2C9BE67-627E-42C0-B846-4A4D787634C9}" type="presParOf" srcId="{42A329BE-FE1F-4A00-A53B-0DF105E002B1}" destId="{7A3D0EA9-2EA3-49EF-841C-1F09F63889D3}" srcOrd="0" destOrd="0" presId="urn:microsoft.com/office/officeart/2008/layout/LinedList"/>
    <dgm:cxn modelId="{3672CAFD-85D6-41DE-B3D6-69C17FCBFD7E}" type="presParOf" srcId="{42A329BE-FE1F-4A00-A53B-0DF105E002B1}" destId="{5905A0D3-1D75-4B7B-9AC9-C5F5007F1D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216FF-F8AE-40CC-B829-C7B94441212C}">
      <dsp:nvSpPr>
        <dsp:cNvPr id="0" name=""/>
        <dsp:cNvSpPr/>
      </dsp:nvSpPr>
      <dsp:spPr>
        <a:xfrm>
          <a:off x="0" y="611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42E91-3977-46BA-94F7-31D5C8F705A6}">
      <dsp:nvSpPr>
        <dsp:cNvPr id="0" name=""/>
        <dsp:cNvSpPr/>
      </dsp:nvSpPr>
      <dsp:spPr>
        <a:xfrm>
          <a:off x="0" y="61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2003 és 2008 között tanársegéd az Óbudai Egyetem elődjénél.</a:t>
          </a:r>
          <a:endParaRPr lang="en-US" sz="2100" kern="1200"/>
        </a:p>
      </dsp:txBody>
      <dsp:txXfrm>
        <a:off x="0" y="611"/>
        <a:ext cx="7306056" cy="715669"/>
      </dsp:txXfrm>
    </dsp:sp>
    <dsp:sp modelId="{24A93989-CC1A-437D-9C86-376A85D1A76C}">
      <dsp:nvSpPr>
        <dsp:cNvPr id="0" name=""/>
        <dsp:cNvSpPr/>
      </dsp:nvSpPr>
      <dsp:spPr>
        <a:xfrm>
          <a:off x="0" y="716281"/>
          <a:ext cx="7306056" cy="0"/>
        </a:xfrm>
        <a:prstGeom prst="line">
          <a:avLst/>
        </a:prstGeom>
        <a:solidFill>
          <a:schemeClr val="accent2">
            <a:hueOff val="-1728168"/>
            <a:satOff val="-3401"/>
            <a:lumOff val="2124"/>
            <a:alphaOff val="0"/>
          </a:schemeClr>
        </a:solidFill>
        <a:ln w="19050" cap="flat" cmpd="sng" algn="ctr">
          <a:solidFill>
            <a:schemeClr val="accent2">
              <a:hueOff val="-1728168"/>
              <a:satOff val="-3401"/>
              <a:lumOff val="21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34756-0A9E-4AD8-B213-F81A1BB61ACB}">
      <dsp:nvSpPr>
        <dsp:cNvPr id="0" name=""/>
        <dsp:cNvSpPr/>
      </dsp:nvSpPr>
      <dsp:spPr>
        <a:xfrm>
          <a:off x="0" y="71628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2008-tól az Andtek GmbH telekommunikációs mérnöke</a:t>
          </a:r>
          <a:endParaRPr lang="en-US" sz="2100" kern="1200"/>
        </a:p>
      </dsp:txBody>
      <dsp:txXfrm>
        <a:off x="0" y="716281"/>
        <a:ext cx="7306056" cy="715669"/>
      </dsp:txXfrm>
    </dsp:sp>
    <dsp:sp modelId="{F912F43B-F39A-404E-B4EB-4B646CF39075}">
      <dsp:nvSpPr>
        <dsp:cNvPr id="0" name=""/>
        <dsp:cNvSpPr/>
      </dsp:nvSpPr>
      <dsp:spPr>
        <a:xfrm>
          <a:off x="0" y="1431951"/>
          <a:ext cx="730605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5C74E-60BF-4123-A900-DC6DE6377FB3}">
      <dsp:nvSpPr>
        <dsp:cNvPr id="0" name=""/>
        <dsp:cNvSpPr/>
      </dsp:nvSpPr>
      <dsp:spPr>
        <a:xfrm>
          <a:off x="0" y="143195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2015-tól Az Enghouse Interactive vezető fejlesztője</a:t>
          </a:r>
          <a:endParaRPr lang="en-US" sz="2100" kern="1200"/>
        </a:p>
      </dsp:txBody>
      <dsp:txXfrm>
        <a:off x="0" y="1431951"/>
        <a:ext cx="7306056" cy="715669"/>
      </dsp:txXfrm>
    </dsp:sp>
    <dsp:sp modelId="{0B8C29C0-B158-4144-AFE4-D09C4D217C56}">
      <dsp:nvSpPr>
        <dsp:cNvPr id="0" name=""/>
        <dsp:cNvSpPr/>
      </dsp:nvSpPr>
      <dsp:spPr>
        <a:xfrm>
          <a:off x="0" y="2147621"/>
          <a:ext cx="7306056" cy="0"/>
        </a:xfrm>
        <a:prstGeom prst="line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4B632-7E3F-4AF6-B210-E7BEEF744F9E}">
      <dsp:nvSpPr>
        <dsp:cNvPr id="0" name=""/>
        <dsp:cNvSpPr/>
      </dsp:nvSpPr>
      <dsp:spPr>
        <a:xfrm>
          <a:off x="0" y="2147621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Fő fejlesztési területek:</a:t>
          </a:r>
          <a:endParaRPr lang="en-US" sz="2100" kern="1200" dirty="0"/>
        </a:p>
      </dsp:txBody>
      <dsp:txXfrm>
        <a:off x="0" y="2147621"/>
        <a:ext cx="7306056" cy="715669"/>
      </dsp:txXfrm>
    </dsp:sp>
    <dsp:sp modelId="{ADFB53BF-76EB-4683-A3CF-C518309E8291}">
      <dsp:nvSpPr>
        <dsp:cNvPr id="0" name=""/>
        <dsp:cNvSpPr/>
      </dsp:nvSpPr>
      <dsp:spPr>
        <a:xfrm>
          <a:off x="0" y="2863290"/>
          <a:ext cx="730605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A44A1-EC55-4408-8AB0-48373348193E}">
      <dsp:nvSpPr>
        <dsp:cNvPr id="0" name=""/>
        <dsp:cNvSpPr/>
      </dsp:nvSpPr>
      <dsp:spPr>
        <a:xfrm>
          <a:off x="0" y="2863290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Cisco </a:t>
          </a:r>
          <a:r>
            <a:rPr lang="hu-HU" sz="2100" kern="1200" dirty="0" err="1"/>
            <a:t>VoIP</a:t>
          </a:r>
          <a:r>
            <a:rPr lang="hu-HU" sz="2100" kern="1200" dirty="0"/>
            <a:t> technológiákra épülő szoftverek fejlesztése</a:t>
          </a:r>
          <a:endParaRPr lang="en-US" sz="2100" kern="1200" dirty="0"/>
        </a:p>
      </dsp:txBody>
      <dsp:txXfrm>
        <a:off x="0" y="2863290"/>
        <a:ext cx="7306056" cy="715669"/>
      </dsp:txXfrm>
    </dsp:sp>
    <dsp:sp modelId="{6F434D94-CBC4-424E-80B7-9F9989379109}">
      <dsp:nvSpPr>
        <dsp:cNvPr id="0" name=""/>
        <dsp:cNvSpPr/>
      </dsp:nvSpPr>
      <dsp:spPr>
        <a:xfrm>
          <a:off x="0" y="3578960"/>
          <a:ext cx="7306056" cy="0"/>
        </a:xfrm>
        <a:prstGeom prst="line">
          <a:avLst/>
        </a:prstGeom>
        <a:solidFill>
          <a:schemeClr val="accent2">
            <a:hueOff val="-8640840"/>
            <a:satOff val="-17007"/>
            <a:lumOff val="10621"/>
            <a:alphaOff val="0"/>
          </a:schemeClr>
        </a:solidFill>
        <a:ln w="19050" cap="flat" cmpd="sng" algn="ctr">
          <a:solidFill>
            <a:schemeClr val="accent2">
              <a:hueOff val="-8640840"/>
              <a:satOff val="-17007"/>
              <a:lumOff val="106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FFC0A-4B1C-46FE-B17D-6295FC7457AF}">
      <dsp:nvSpPr>
        <dsp:cNvPr id="0" name=""/>
        <dsp:cNvSpPr/>
      </dsp:nvSpPr>
      <dsp:spPr>
        <a:xfrm>
          <a:off x="0" y="3578960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Linux alapú nagy rendelkezésre állású rendszerek</a:t>
          </a:r>
          <a:endParaRPr lang="en-US" sz="2100" kern="1200" dirty="0"/>
        </a:p>
      </dsp:txBody>
      <dsp:txXfrm>
        <a:off x="0" y="3578960"/>
        <a:ext cx="7306056" cy="715669"/>
      </dsp:txXfrm>
    </dsp:sp>
    <dsp:sp modelId="{0086964E-C54E-42FF-B971-EA6DF5CE7817}">
      <dsp:nvSpPr>
        <dsp:cNvPr id="0" name=""/>
        <dsp:cNvSpPr/>
      </dsp:nvSpPr>
      <dsp:spPr>
        <a:xfrm>
          <a:off x="0" y="4294630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D0EA9-2EA3-49EF-841C-1F09F63889D3}">
      <dsp:nvSpPr>
        <dsp:cNvPr id="0" name=""/>
        <dsp:cNvSpPr/>
      </dsp:nvSpPr>
      <dsp:spPr>
        <a:xfrm>
          <a:off x="0" y="4294630"/>
          <a:ext cx="7306056" cy="71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Backend szolgáltatások fejlesztése</a:t>
          </a:r>
          <a:endParaRPr lang="en-US" sz="2100" kern="1200" dirty="0"/>
        </a:p>
      </dsp:txBody>
      <dsp:txXfrm>
        <a:off x="0" y="4294630"/>
        <a:ext cx="7306056" cy="71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65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előadás alapozó jellegű, mégis nagyon fontos: megértjük, mi is az Internet valójában, hogyan épül fel a kommunikáció, amely minden modern alkalmazásunk működésének alapja.</a:t>
            </a:r>
            <a:br>
              <a:rPr lang="hu-HU" dirty="0"/>
            </a:br>
            <a:r>
              <a:rPr lang="hu-HU" dirty="0"/>
              <a:t>Megnézzük, hogyan épül fel a TCP/IP protokollcsalád, amit sokszor csak úgy emlegetünk: </a:t>
            </a:r>
            <a:r>
              <a:rPr lang="hu-HU" i="1" dirty="0"/>
              <a:t>az Internet nyelve</a:t>
            </a:r>
            <a:r>
              <a:rPr lang="hu-HU" dirty="0"/>
              <a:t>.</a:t>
            </a:r>
            <a:br>
              <a:rPr lang="hu-HU" dirty="0"/>
            </a:br>
            <a:r>
              <a:rPr lang="hu-HU" dirty="0"/>
              <a:t>Aztán rátérünk arra is, hogyan működik a Web, milyen folyamatok játszódnak le a háttérben, amikor egyszerűen csak beírunk egy URL-t a böngészőbe.</a:t>
            </a:r>
            <a:br>
              <a:rPr lang="hu-HU" dirty="0"/>
            </a:br>
            <a:r>
              <a:rPr lang="hu-HU" dirty="0"/>
              <a:t>Ez azért különösen fontos, mert a későbbi témák – HTTP, REST API-k, </a:t>
            </a:r>
            <a:r>
              <a:rPr lang="hu-HU" dirty="0" err="1"/>
              <a:t>WebSocket</a:t>
            </a:r>
            <a:r>
              <a:rPr lang="hu-HU" dirty="0"/>
              <a:t>, HTTPS – mind ezekre az alapokra épülnek. Ha ezt jól megértjük, a későbbi, bonyolultabb részek sokkal könnyebben érthetőek lesznek.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Internetet sokszor úgy képzeljük el, mint egy nagy valamit: mintha lenne egy központi szerver vagy egy központi tulajdonos. De ez nem így van.</a:t>
            </a:r>
            <a:br>
              <a:rPr lang="hu-HU" dirty="0"/>
            </a:br>
            <a:r>
              <a:rPr lang="hu-HU" dirty="0"/>
              <a:t>Az Internet valójában </a:t>
            </a:r>
            <a:r>
              <a:rPr lang="hu-HU" i="1" dirty="0"/>
              <a:t>hálózatok hálózata</a:t>
            </a:r>
            <a:r>
              <a:rPr lang="hu-HU" dirty="0"/>
              <a:t>. Sok millió kisebb hálózat kapcsolódik össze: szolgáltatók, adatközpontok, vállalati hálózatok, otthoni routerek – és ezek együtt alkotnak egy globális rendszert.</a:t>
            </a:r>
          </a:p>
          <a:p>
            <a:r>
              <a:rPr lang="hu-HU" dirty="0"/>
              <a:t>Fontos megjegyezni, hogy </a:t>
            </a:r>
            <a:r>
              <a:rPr lang="hu-HU" b="1" dirty="0"/>
              <a:t>nincs központi irányítója</a:t>
            </a:r>
            <a:r>
              <a:rPr lang="hu-HU" dirty="0"/>
              <a:t>. Ez egy elosztott, decentralizált rendszer. Ha mondjuk Európában valami kiesik, az Internet többi része ugyanúgy működik tovább. Ez a rugalmasság eredetileg katonai célból született, hogy egy hálózat akkor is </a:t>
            </a:r>
            <a:r>
              <a:rPr lang="hu-HU" dirty="0" err="1"/>
              <a:t>működjön</a:t>
            </a:r>
            <a:r>
              <a:rPr lang="hu-HU" dirty="0"/>
              <a:t>, ha sérül.</a:t>
            </a:r>
          </a:p>
          <a:p>
            <a:r>
              <a:rPr lang="hu-HU" dirty="0"/>
              <a:t>Az Internet működését </a:t>
            </a:r>
            <a:r>
              <a:rPr lang="hu-HU" b="1" dirty="0"/>
              <a:t>nyílt szabványok</a:t>
            </a:r>
            <a:r>
              <a:rPr lang="hu-HU" dirty="0"/>
              <a:t> határozzák meg – ilyen a TCP/IP, a HTTP, a DNS. Ezek teszik lehetővé, hogy különböző gyártók eszközei és különböző fejlesztők alkalmazásai gond nélkül kommunikáljanak egymással.</a:t>
            </a:r>
          </a:p>
          <a:p>
            <a:r>
              <a:rPr lang="hu-HU" dirty="0"/>
              <a:t>Végül pedig fontos: az Internet alapja az </a:t>
            </a:r>
            <a:r>
              <a:rPr lang="hu-HU" b="1" dirty="0"/>
              <a:t>IP címzés</a:t>
            </a:r>
            <a:r>
              <a:rPr lang="hu-HU" dirty="0"/>
              <a:t>, ami tulajdonképpen a hálózat „címrendszere”. A következő diákon megnézzük, hogyan működik mindez részletesebben.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60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legtöbb</a:t>
            </a:r>
            <a:r>
              <a:rPr lang="en-US" dirty="0"/>
              <a:t> </a:t>
            </a:r>
            <a:r>
              <a:rPr lang="en-US" dirty="0" err="1"/>
              <a:t>internetes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 – </a:t>
            </a:r>
            <a:r>
              <a:rPr lang="en-US" dirty="0" err="1"/>
              <a:t>beleértve</a:t>
            </a:r>
            <a:r>
              <a:rPr lang="en-US" dirty="0"/>
              <a:t> a </a:t>
            </a:r>
            <a:r>
              <a:rPr lang="en-US" dirty="0" err="1"/>
              <a:t>weboldalakat</a:t>
            </a:r>
            <a:r>
              <a:rPr lang="en-US" dirty="0"/>
              <a:t>, API-kat, </a:t>
            </a:r>
            <a:r>
              <a:rPr lang="en-US" dirty="0" err="1"/>
              <a:t>mobilalkalmazásokat</a:t>
            </a:r>
            <a:r>
              <a:rPr lang="en-US" dirty="0"/>
              <a:t> – a </a:t>
            </a:r>
            <a:r>
              <a:rPr lang="en-US" dirty="0" err="1"/>
              <a:t>kliens</a:t>
            </a:r>
            <a:r>
              <a:rPr lang="en-US" dirty="0"/>
              <a:t>–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modellre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aki</a:t>
            </a:r>
            <a:r>
              <a:rPr lang="en-US" dirty="0"/>
              <a:t> </a:t>
            </a:r>
            <a:r>
              <a:rPr lang="en-US" dirty="0" err="1"/>
              <a:t>kér</a:t>
            </a:r>
            <a:r>
              <a:rPr lang="en-US" dirty="0"/>
              <a:t>, </a:t>
            </a:r>
            <a:r>
              <a:rPr lang="en-US" dirty="0" err="1"/>
              <a:t>kezdeményez</a:t>
            </a:r>
            <a:r>
              <a:rPr lang="en-US" dirty="0"/>
              <a:t>. Ez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böngésző</a:t>
            </a:r>
            <a:r>
              <a:rPr lang="en-US" dirty="0"/>
              <a:t>,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mobilapp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hu-HU" dirty="0"/>
              <a:t>gépi</a:t>
            </a:r>
            <a:r>
              <a:rPr lang="en-US" dirty="0"/>
              <a:t> </a:t>
            </a:r>
            <a:r>
              <a:rPr lang="en-US" dirty="0" err="1"/>
              <a:t>kliens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script </a:t>
            </a:r>
            <a:r>
              <a:rPr lang="en-US" dirty="0" err="1"/>
              <a:t>vagy</a:t>
            </a:r>
            <a:r>
              <a:rPr lang="en-US" dirty="0"/>
              <a:t> backend </a:t>
            </a:r>
            <a:r>
              <a:rPr lang="en-US" dirty="0" err="1"/>
              <a:t>alkalmazás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aki</a:t>
            </a:r>
            <a:r>
              <a:rPr lang="en-US" dirty="0"/>
              <a:t> </a:t>
            </a:r>
            <a:r>
              <a:rPr lang="en-US" dirty="0" err="1"/>
              <a:t>válaszol</a:t>
            </a:r>
            <a:r>
              <a:rPr lang="en-US" dirty="0"/>
              <a:t>.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általában</a:t>
            </a:r>
            <a:r>
              <a:rPr lang="en-US" dirty="0"/>
              <a:t> </a:t>
            </a:r>
            <a:r>
              <a:rPr lang="en-US" dirty="0" err="1"/>
              <a:t>folyamatosan</a:t>
            </a:r>
            <a:r>
              <a:rPr lang="en-US" dirty="0"/>
              <a:t> </a:t>
            </a:r>
            <a:r>
              <a:rPr lang="en-US" dirty="0" err="1"/>
              <a:t>fut</a:t>
            </a:r>
            <a:r>
              <a:rPr lang="en-US" dirty="0"/>
              <a:t>, és </a:t>
            </a:r>
            <a:r>
              <a:rPr lang="en-US" dirty="0" err="1"/>
              <a:t>várja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érkezzenek</a:t>
            </a:r>
            <a:r>
              <a:rPr lang="en-US" dirty="0"/>
              <a:t> </a:t>
            </a:r>
            <a:r>
              <a:rPr lang="en-US" dirty="0" err="1"/>
              <a:t>hozzá</a:t>
            </a:r>
            <a:r>
              <a:rPr lang="en-US" dirty="0"/>
              <a:t> </a:t>
            </a:r>
            <a:r>
              <a:rPr lang="en-US" dirty="0" err="1"/>
              <a:t>kérések</a:t>
            </a:r>
            <a:r>
              <a:rPr lang="en-US" dirty="0"/>
              <a:t>.</a:t>
            </a:r>
          </a:p>
          <a:p>
            <a:r>
              <a:rPr lang="en-US" dirty="0"/>
              <a:t>És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lép</a:t>
            </a:r>
            <a:r>
              <a:rPr lang="en-US" dirty="0"/>
              <a:t> be a port </a:t>
            </a:r>
            <a:r>
              <a:rPr lang="en-US" dirty="0" err="1"/>
              <a:t>fogalma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Egy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gépnek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b="1" dirty="0" err="1"/>
              <a:t>egy</a:t>
            </a:r>
            <a:r>
              <a:rPr lang="en-US" b="1" dirty="0"/>
              <a:t> IP </a:t>
            </a:r>
            <a:r>
              <a:rPr lang="en-US" b="1" dirty="0" err="1"/>
              <a:t>címe</a:t>
            </a:r>
            <a:r>
              <a:rPr lang="en-US" dirty="0"/>
              <a:t>, de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szolgáltatást</a:t>
            </a:r>
            <a:r>
              <a:rPr lang="en-US" dirty="0"/>
              <a:t> </a:t>
            </a:r>
            <a:r>
              <a:rPr lang="en-US" dirty="0" err="1"/>
              <a:t>futtathat</a:t>
            </a:r>
            <a:r>
              <a:rPr lang="en-US" dirty="0"/>
              <a:t> </a:t>
            </a:r>
            <a:r>
              <a:rPr lang="en-US" dirty="0" err="1"/>
              <a:t>egyszerre</a:t>
            </a:r>
            <a:r>
              <a:rPr lang="en-US" dirty="0"/>
              <a:t>. Hogy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, </a:t>
            </a:r>
            <a:r>
              <a:rPr lang="en-US" dirty="0" err="1"/>
              <a:t>melyiket</a:t>
            </a:r>
            <a:r>
              <a:rPr lang="en-US" dirty="0"/>
              <a:t> </a:t>
            </a:r>
            <a:r>
              <a:rPr lang="en-US" dirty="0" err="1"/>
              <a:t>szeretné</a:t>
            </a:r>
            <a:r>
              <a:rPr lang="en-US" dirty="0"/>
              <a:t> </a:t>
            </a:r>
            <a:r>
              <a:rPr lang="en-US" dirty="0" err="1"/>
              <a:t>elérni</a:t>
            </a:r>
            <a:r>
              <a:rPr lang="en-US" dirty="0"/>
              <a:t>, </a:t>
            </a:r>
            <a:r>
              <a:rPr lang="en-US" dirty="0" err="1"/>
              <a:t>portszámokat</a:t>
            </a:r>
            <a:r>
              <a:rPr lang="en-US" dirty="0"/>
              <a:t> </a:t>
            </a:r>
            <a:r>
              <a:rPr lang="en-US" dirty="0" err="1"/>
              <a:t>használunk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80-as port a HTTP, a 443-as a HTTPS, a 22-es </a:t>
            </a:r>
            <a:r>
              <a:rPr lang="en-US" dirty="0" err="1"/>
              <a:t>az</a:t>
            </a:r>
            <a:r>
              <a:rPr lang="en-US" dirty="0"/>
              <a:t> SSH, a 53-as a DNS.</a:t>
            </a:r>
          </a:p>
          <a:p>
            <a:r>
              <a:rPr lang="en-US" dirty="0"/>
              <a:t>Fontos </a:t>
            </a:r>
            <a:r>
              <a:rPr lang="en-US" dirty="0" err="1"/>
              <a:t>még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Web </a:t>
            </a:r>
            <a:r>
              <a:rPr lang="en-US" dirty="0" err="1"/>
              <a:t>kommunikáció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</a:t>
            </a:r>
            <a:r>
              <a:rPr lang="en-US" dirty="0" err="1"/>
              <a:t>része</a:t>
            </a:r>
            <a:r>
              <a:rPr lang="en-US" dirty="0"/>
              <a:t> </a:t>
            </a:r>
            <a:r>
              <a:rPr lang="en-US" b="1" dirty="0" err="1"/>
              <a:t>állapotmentes</a:t>
            </a:r>
            <a:r>
              <a:rPr lang="en-US" dirty="0"/>
              <a:t>. Ez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független</a:t>
            </a:r>
            <a:r>
              <a:rPr lang="en-US" dirty="0"/>
              <a:t> a </a:t>
            </a:r>
            <a:r>
              <a:rPr lang="en-US" dirty="0" err="1"/>
              <a:t>korábbiaktól</a:t>
            </a:r>
            <a:r>
              <a:rPr lang="en-US" dirty="0"/>
              <a:t> – </a:t>
            </a:r>
            <a:r>
              <a:rPr lang="en-US" dirty="0" err="1"/>
              <a:t>ez</a:t>
            </a:r>
            <a:r>
              <a:rPr lang="en-US" dirty="0"/>
              <a:t> a HTTP </a:t>
            </a:r>
            <a:r>
              <a:rPr lang="en-US" dirty="0" err="1"/>
              <a:t>sajátossága</a:t>
            </a:r>
            <a:r>
              <a:rPr lang="en-US" dirty="0"/>
              <a:t>. Ez </a:t>
            </a:r>
            <a:r>
              <a:rPr lang="en-US" dirty="0" err="1"/>
              <a:t>később</a:t>
            </a:r>
            <a:r>
              <a:rPr lang="en-US" dirty="0"/>
              <a:t> a REST API-k </a:t>
            </a:r>
            <a:r>
              <a:rPr lang="en-US" dirty="0" err="1"/>
              <a:t>megértésénél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en-US" dirty="0"/>
              <a:t> </a:t>
            </a:r>
            <a:r>
              <a:rPr lang="en-US" dirty="0" err="1"/>
              <a:t>kulcsfontosságú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kommunikációt a TCP/IP modell írja le. Sokan ismerik az OSI modellt, ami 7 rétegből áll, de a valóságban a TCP/IP modellt használjuk, ami 4 fő rétegre egyszerűsít.</a:t>
            </a:r>
          </a:p>
          <a:p>
            <a:r>
              <a:rPr lang="hu-HU" b="1" dirty="0"/>
              <a:t>1. Alkalmazási réteg</a:t>
            </a:r>
            <a:br>
              <a:rPr lang="hu-HU" dirty="0"/>
            </a:br>
            <a:r>
              <a:rPr lang="hu-HU" dirty="0"/>
              <a:t>Ide tartoznak azok a protokollok, amelyeket mi fejlesztők jól ismerünk: HTTP, DNS, SMTP, FTP. Ez az a réteg, ahol a programjaink dolgoznak.</a:t>
            </a:r>
          </a:p>
          <a:p>
            <a:r>
              <a:rPr lang="hu-HU" b="1" dirty="0"/>
              <a:t>2. Szállítási réteg</a:t>
            </a:r>
            <a:br>
              <a:rPr lang="hu-HU" dirty="0"/>
            </a:br>
            <a:r>
              <a:rPr lang="hu-HU" dirty="0"/>
              <a:t>Itt található a TCP és az UDP. A TCP a megbízható kommunikáció, az UDP a gyors, de nem megbízható. Fontos megérteni közöttük a különbséget, mert rengeteg technológia egyikre vagy másikra épül.</a:t>
            </a:r>
          </a:p>
          <a:p>
            <a:r>
              <a:rPr lang="hu-HU" b="1" dirty="0"/>
              <a:t>3. Hálózati réteg</a:t>
            </a:r>
            <a:br>
              <a:rPr lang="hu-HU" dirty="0"/>
            </a:br>
            <a:r>
              <a:rPr lang="hu-HU" dirty="0"/>
              <a:t>Ennek a középpontjában az IP protokoll áll – ez felel a címzésért és a csomagok továbbításáért.</a:t>
            </a:r>
          </a:p>
          <a:p>
            <a:r>
              <a:rPr lang="hu-HU" b="1" dirty="0"/>
              <a:t>4. Hálózati hozzáférési réteg</a:t>
            </a:r>
            <a:br>
              <a:rPr lang="hu-HU" dirty="0"/>
            </a:br>
            <a:r>
              <a:rPr lang="hu-HU" dirty="0"/>
              <a:t>Ez foglalkozik azzal, hogyan jut át ténylegesen az adat a fizikai hálózaton: Ethernet, </a:t>
            </a:r>
            <a:r>
              <a:rPr lang="hu-HU" dirty="0" err="1"/>
              <a:t>Wi</a:t>
            </a:r>
            <a:r>
              <a:rPr lang="hu-HU" dirty="0"/>
              <a:t>-Fi, optikai kábel, stb.</a:t>
            </a:r>
          </a:p>
          <a:p>
            <a:r>
              <a:rPr lang="hu-HU" dirty="0"/>
              <a:t>A lényeg: minden réteg egy-egy konkrét feladatkört lát el, és ezek egymásra épülnek. A TCP/IP modell nagyon praktikus, mert kifejezetten a modern internetes kommunikációhoz készült.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2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OSI és TCP/IP modellek összehasonlítása. Az adatok az egyes rétegből beágyazódnak az alatta lévő rétegbe, mindegyik réteg hozzáteszi a maga fejlécét. Végül a fizikai réteg hozzáférési </a:t>
            </a:r>
            <a:r>
              <a:rPr lang="hu-HU" dirty="0" err="1"/>
              <a:t>protokolja</a:t>
            </a:r>
            <a:r>
              <a:rPr lang="hu-HU" dirty="0"/>
              <a:t> továbbítja az adatokat. Tipikusan Ethernet keretek egy lokális hálózatban (LAN). De az Internet gerincén más fizikai hálózati hozzáférési protokollok és technológiák lehetnek. Ez transzparens a felette lévő rétegek számára.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63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IP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Internet </a:t>
            </a:r>
            <a:r>
              <a:rPr lang="en-US" dirty="0" err="1"/>
              <a:t>alapja</a:t>
            </a:r>
            <a:r>
              <a:rPr lang="en-US" dirty="0"/>
              <a:t>. Minden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csomagokra</a:t>
            </a:r>
            <a:r>
              <a:rPr lang="en-US" dirty="0"/>
              <a:t> van </a:t>
            </a:r>
            <a:r>
              <a:rPr lang="en-US" dirty="0" err="1"/>
              <a:t>darabolva</a:t>
            </a:r>
            <a:r>
              <a:rPr lang="en-US" dirty="0"/>
              <a:t>, és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külön-külön</a:t>
            </a:r>
            <a:r>
              <a:rPr lang="en-US" dirty="0"/>
              <a:t> </a:t>
            </a:r>
            <a:r>
              <a:rPr lang="en-US" dirty="0" err="1"/>
              <a:t>találja</a:t>
            </a:r>
            <a:r>
              <a:rPr lang="en-US" dirty="0"/>
              <a:t> meg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útját</a:t>
            </a:r>
            <a:r>
              <a:rPr lang="en-US" dirty="0"/>
              <a:t> a </a:t>
            </a:r>
            <a:r>
              <a:rPr lang="en-US" dirty="0" err="1"/>
              <a:t>célhoz</a:t>
            </a:r>
            <a:r>
              <a:rPr lang="en-US" dirty="0"/>
              <a:t>.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hasonlíthatjuk</a:t>
            </a:r>
            <a:r>
              <a:rPr lang="en-US" dirty="0"/>
              <a:t> a </a:t>
            </a:r>
            <a:r>
              <a:rPr lang="en-US" dirty="0" err="1"/>
              <a:t>postához</a:t>
            </a:r>
            <a:r>
              <a:rPr lang="en-US" dirty="0"/>
              <a:t>: ha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levelet</a:t>
            </a:r>
            <a:r>
              <a:rPr lang="en-US" dirty="0"/>
              <a:t> </a:t>
            </a:r>
            <a:r>
              <a:rPr lang="en-US" dirty="0" err="1"/>
              <a:t>küldesz</a:t>
            </a:r>
            <a:r>
              <a:rPr lang="en-US" dirty="0"/>
              <a:t>, </a:t>
            </a:r>
            <a:r>
              <a:rPr lang="en-US" dirty="0" err="1"/>
              <a:t>azok</a:t>
            </a:r>
            <a:r>
              <a:rPr lang="en-US" dirty="0"/>
              <a:t> </a:t>
            </a:r>
            <a:r>
              <a:rPr lang="en-US" dirty="0" err="1"/>
              <a:t>akár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útvonalon</a:t>
            </a:r>
            <a:r>
              <a:rPr lang="en-US" dirty="0"/>
              <a:t> is </a:t>
            </a:r>
            <a:r>
              <a:rPr lang="en-US" dirty="0" err="1"/>
              <a:t>megérkezhetnek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Az IP </a:t>
            </a:r>
            <a:r>
              <a:rPr lang="en-US" dirty="0" err="1"/>
              <a:t>viszont</a:t>
            </a:r>
            <a:r>
              <a:rPr lang="en-US" dirty="0"/>
              <a:t> </a:t>
            </a:r>
            <a:r>
              <a:rPr lang="en-US" i="1" dirty="0" err="1"/>
              <a:t>nem</a:t>
            </a:r>
            <a:r>
              <a:rPr lang="en-US" i="1" dirty="0"/>
              <a:t> </a:t>
            </a:r>
            <a:r>
              <a:rPr lang="en-US" i="1" dirty="0" err="1"/>
              <a:t>garantálja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:</a:t>
            </a:r>
          </a:p>
          <a:p>
            <a:r>
              <a:rPr lang="hu-HU" dirty="0"/>
              <a:t>- </a:t>
            </a:r>
            <a:r>
              <a:rPr lang="en-US" dirty="0" err="1"/>
              <a:t>megérkezik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jó</a:t>
            </a:r>
            <a:r>
              <a:rPr lang="en-US" dirty="0"/>
              <a:t> </a:t>
            </a:r>
            <a:r>
              <a:rPr lang="en-US" dirty="0" err="1"/>
              <a:t>sorrendben</a:t>
            </a:r>
            <a:r>
              <a:rPr lang="en-US" dirty="0"/>
              <a:t> </a:t>
            </a:r>
            <a:r>
              <a:rPr lang="en-US" dirty="0" err="1"/>
              <a:t>érkezik</a:t>
            </a:r>
            <a:r>
              <a:rPr lang="en-US" dirty="0"/>
              <a:t>,</a:t>
            </a:r>
          </a:p>
          <a:p>
            <a:r>
              <a:rPr lang="hu-HU" dirty="0"/>
              <a:t>-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sérül</a:t>
            </a:r>
            <a:r>
              <a:rPr lang="en-US" dirty="0"/>
              <a:t> meg.</a:t>
            </a:r>
          </a:p>
          <a:p>
            <a:endParaRPr lang="hu-HU" dirty="0"/>
          </a:p>
          <a:p>
            <a:r>
              <a:rPr lang="en-US" dirty="0" err="1"/>
              <a:t>Ettől</a:t>
            </a:r>
            <a:r>
              <a:rPr lang="en-US" dirty="0"/>
              <a:t>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hatékony</a:t>
            </a:r>
            <a:r>
              <a:rPr lang="en-US" dirty="0"/>
              <a:t>, de a </a:t>
            </a:r>
            <a:r>
              <a:rPr lang="en-US" dirty="0" err="1"/>
              <a:t>megbízhatóságot</a:t>
            </a:r>
            <a:r>
              <a:rPr lang="en-US" dirty="0"/>
              <a:t> a </a:t>
            </a:r>
            <a:r>
              <a:rPr lang="en-US" dirty="0" err="1"/>
              <a:t>felette</a:t>
            </a:r>
            <a:r>
              <a:rPr lang="en-US" dirty="0"/>
              <a:t> </a:t>
            </a:r>
            <a:r>
              <a:rPr lang="en-US" dirty="0" err="1"/>
              <a:t>lévő</a:t>
            </a:r>
            <a:r>
              <a:rPr lang="en-US" dirty="0"/>
              <a:t> </a:t>
            </a:r>
            <a:r>
              <a:rPr lang="en-US" dirty="0" err="1"/>
              <a:t>protokollnak</a:t>
            </a:r>
            <a:r>
              <a:rPr lang="en-US" dirty="0"/>
              <a:t> (TCP)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biztosítania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címtípus</a:t>
            </a:r>
            <a:r>
              <a:rPr lang="en-US" dirty="0"/>
              <a:t> </a:t>
            </a:r>
            <a:r>
              <a:rPr lang="en-US" dirty="0" err="1"/>
              <a:t>létezik</a:t>
            </a:r>
            <a:r>
              <a:rPr lang="en-US" dirty="0"/>
              <a:t>:</a:t>
            </a:r>
          </a:p>
          <a:p>
            <a:r>
              <a:rPr lang="en-US" b="1" dirty="0"/>
              <a:t>IPv4:</a:t>
            </a:r>
            <a:r>
              <a:rPr lang="en-US" dirty="0"/>
              <a:t> 32 bites </a:t>
            </a:r>
            <a:r>
              <a:rPr lang="en-US" dirty="0" err="1"/>
              <a:t>címek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192.168.1.10</a:t>
            </a:r>
            <a:br>
              <a:rPr lang="en-US" dirty="0"/>
            </a:br>
            <a:r>
              <a:rPr lang="en-US" dirty="0" err="1"/>
              <a:t>Ezekből</a:t>
            </a:r>
            <a:r>
              <a:rPr lang="en-US" dirty="0"/>
              <a:t> </a:t>
            </a:r>
            <a:r>
              <a:rPr lang="en-US" dirty="0" err="1"/>
              <a:t>egyre</a:t>
            </a:r>
            <a:r>
              <a:rPr lang="en-US" dirty="0"/>
              <a:t> </a:t>
            </a:r>
            <a:r>
              <a:rPr lang="en-US" dirty="0" err="1"/>
              <a:t>kevesebb</a:t>
            </a:r>
            <a:r>
              <a:rPr lang="en-US" dirty="0"/>
              <a:t> van.</a:t>
            </a:r>
          </a:p>
          <a:p>
            <a:endParaRPr lang="hu-HU" b="1" dirty="0"/>
          </a:p>
          <a:p>
            <a:r>
              <a:rPr lang="en-US" b="1" dirty="0"/>
              <a:t>IPv6:</a:t>
            </a:r>
            <a:r>
              <a:rPr lang="en-US" dirty="0"/>
              <a:t> 128 bites </a:t>
            </a:r>
            <a:r>
              <a:rPr lang="en-US" dirty="0" err="1"/>
              <a:t>címek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: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2001:0db8:85a3:0000:0000:8a2e:0370:7334</a:t>
            </a:r>
            <a:br>
              <a:rPr lang="en-US" dirty="0"/>
            </a:br>
            <a:r>
              <a:rPr lang="en-US" dirty="0" err="1"/>
              <a:t>Ebből</a:t>
            </a:r>
            <a:r>
              <a:rPr lang="en-US" dirty="0"/>
              <a:t> </a:t>
            </a:r>
            <a:r>
              <a:rPr lang="en-US" dirty="0" err="1"/>
              <a:t>gyakorlatilag</a:t>
            </a:r>
            <a:r>
              <a:rPr lang="en-US" dirty="0"/>
              <a:t> </a:t>
            </a:r>
            <a:r>
              <a:rPr lang="en-US" dirty="0" err="1"/>
              <a:t>végtelen</a:t>
            </a:r>
            <a:r>
              <a:rPr lang="en-US" dirty="0"/>
              <a:t> </a:t>
            </a:r>
            <a:r>
              <a:rPr lang="en-US" dirty="0" err="1"/>
              <a:t>mennyiség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routing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útvonalválasztó</a:t>
            </a:r>
            <a:r>
              <a:rPr lang="en-US" dirty="0"/>
              <a:t> </a:t>
            </a:r>
            <a:r>
              <a:rPr lang="en-US" dirty="0" err="1"/>
              <a:t>routerek</a:t>
            </a:r>
            <a:r>
              <a:rPr lang="en-US" dirty="0"/>
              <a:t> </a:t>
            </a:r>
            <a:r>
              <a:rPr lang="en-US" dirty="0" err="1"/>
              <a:t>megnézik</a:t>
            </a:r>
            <a:r>
              <a:rPr lang="en-US" dirty="0"/>
              <a:t>, </a:t>
            </a:r>
            <a:r>
              <a:rPr lang="en-US" dirty="0" err="1"/>
              <a:t>merre</a:t>
            </a:r>
            <a:r>
              <a:rPr lang="en-US" dirty="0"/>
              <a:t> </a:t>
            </a:r>
            <a:r>
              <a:rPr lang="en-US" dirty="0" err="1"/>
              <a:t>továbbítsák</a:t>
            </a:r>
            <a:r>
              <a:rPr lang="en-US" dirty="0"/>
              <a:t> a </a:t>
            </a:r>
            <a:r>
              <a:rPr lang="en-US" dirty="0" err="1"/>
              <a:t>csomagot</a:t>
            </a:r>
            <a:r>
              <a:rPr lang="en-US" dirty="0"/>
              <a:t> – </a:t>
            </a:r>
            <a:r>
              <a:rPr lang="en-US" dirty="0" err="1"/>
              <a:t>mindig</a:t>
            </a:r>
            <a:r>
              <a:rPr lang="en-US" dirty="0"/>
              <a:t> a </a:t>
            </a:r>
            <a:r>
              <a:rPr lang="en-US" dirty="0" err="1"/>
              <a:t>következő</a:t>
            </a:r>
            <a:r>
              <a:rPr lang="en-US" dirty="0"/>
              <a:t> „</a:t>
            </a:r>
            <a:r>
              <a:rPr lang="en-US" dirty="0" err="1"/>
              <a:t>ugrás</a:t>
            </a:r>
            <a:r>
              <a:rPr lang="en-US" dirty="0"/>
              <a:t>” </a:t>
            </a:r>
            <a:r>
              <a:rPr lang="en-US" dirty="0" err="1"/>
              <a:t>felé</a:t>
            </a:r>
            <a:r>
              <a:rPr lang="en-US" dirty="0"/>
              <a:t>. Ez a </a:t>
            </a:r>
            <a:r>
              <a:rPr lang="en-US" dirty="0" err="1"/>
              <a:t>folyamat</a:t>
            </a:r>
            <a:r>
              <a:rPr lang="en-US" dirty="0"/>
              <a:t> </a:t>
            </a:r>
            <a:r>
              <a:rPr lang="en-US" dirty="0" err="1"/>
              <a:t>óriási</a:t>
            </a:r>
            <a:r>
              <a:rPr lang="en-US" dirty="0"/>
              <a:t> </a:t>
            </a:r>
            <a:r>
              <a:rPr lang="en-US" dirty="0" err="1"/>
              <a:t>sebességgel</a:t>
            </a:r>
            <a:r>
              <a:rPr lang="en-US" dirty="0"/>
              <a:t> </a:t>
            </a:r>
            <a:r>
              <a:rPr lang="en-US" dirty="0" err="1"/>
              <a:t>zajlik</a:t>
            </a:r>
            <a:r>
              <a:rPr lang="hu-HU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0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IP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fejléce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 a </a:t>
            </a:r>
            <a:r>
              <a:rPr lang="en-US" dirty="0" err="1"/>
              <a:t>következô</a:t>
            </a:r>
            <a:r>
              <a:rPr lang="en-US" dirty="0"/>
              <a:t> </a:t>
            </a:r>
            <a:r>
              <a:rPr lang="en-US" dirty="0" err="1"/>
              <a:t>mezôket</a:t>
            </a:r>
            <a:r>
              <a:rPr lang="en-US" dirty="0"/>
              <a:t>: </a:t>
            </a:r>
            <a:endParaRPr lang="hu-HU" dirty="0"/>
          </a:p>
          <a:p>
            <a:endParaRPr lang="en-US" dirty="0"/>
          </a:p>
          <a:p>
            <a:r>
              <a:rPr lang="hu-HU" dirty="0"/>
              <a:t>- </a:t>
            </a:r>
            <a:r>
              <a:rPr lang="en-US" dirty="0"/>
              <a:t>IP </a:t>
            </a:r>
            <a:r>
              <a:rPr lang="en-US" dirty="0" err="1"/>
              <a:t>verziószámot</a:t>
            </a:r>
            <a:r>
              <a:rPr lang="en-US" dirty="0"/>
              <a:t>, </a:t>
            </a:r>
            <a:r>
              <a:rPr lang="hu-HU" dirty="0"/>
              <a:t>mint például</a:t>
            </a:r>
            <a:r>
              <a:rPr lang="en-US" dirty="0"/>
              <a:t> 4 (IPv4), </a:t>
            </a:r>
          </a:p>
          <a:p>
            <a:r>
              <a:rPr lang="hu-HU" dirty="0"/>
              <a:t>- </a:t>
            </a:r>
            <a:r>
              <a:rPr lang="en-US" dirty="0" err="1"/>
              <a:t>fejléc</a:t>
            </a:r>
            <a:r>
              <a:rPr lang="en-US" dirty="0"/>
              <a:t> </a:t>
            </a:r>
            <a:r>
              <a:rPr lang="en-US" dirty="0" err="1"/>
              <a:t>hosszát</a:t>
            </a:r>
            <a:r>
              <a:rPr lang="en-US" dirty="0"/>
              <a:t> (Header Length), </a:t>
            </a:r>
            <a:r>
              <a:rPr lang="hu-HU" dirty="0"/>
              <a:t>32 bites (4 byte) szavakban megadja a fejléc hosszát</a:t>
            </a:r>
            <a:endParaRPr lang="en-US" dirty="0"/>
          </a:p>
          <a:p>
            <a:r>
              <a:rPr lang="hu-HU" dirty="0"/>
              <a:t>- </a:t>
            </a:r>
            <a:r>
              <a:rPr lang="en-US" dirty="0" err="1"/>
              <a:t>néhány</a:t>
            </a:r>
            <a:r>
              <a:rPr lang="en-US" dirty="0"/>
              <a:t> </a:t>
            </a:r>
            <a:r>
              <a:rPr lang="en-US" dirty="0" err="1"/>
              <a:t>bitet</a:t>
            </a:r>
            <a:r>
              <a:rPr lang="en-US" dirty="0"/>
              <a:t>, </a:t>
            </a:r>
            <a:r>
              <a:rPr lang="en-US" dirty="0" err="1"/>
              <a:t>melyek</a:t>
            </a:r>
            <a:r>
              <a:rPr lang="en-US" dirty="0"/>
              <a:t> a </a:t>
            </a:r>
            <a:r>
              <a:rPr lang="en-US" dirty="0" err="1"/>
              <a:t>szolgáltatás</a:t>
            </a:r>
            <a:r>
              <a:rPr lang="en-US" dirty="0"/>
              <a:t> </a:t>
            </a:r>
            <a:r>
              <a:rPr lang="en-US" dirty="0" err="1"/>
              <a:t>típusát</a:t>
            </a:r>
            <a:r>
              <a:rPr lang="en-US" dirty="0"/>
              <a:t> </a:t>
            </a:r>
            <a:r>
              <a:rPr lang="en-US" dirty="0" err="1"/>
              <a:t>határozzák</a:t>
            </a:r>
            <a:r>
              <a:rPr lang="en-US" dirty="0"/>
              <a:t> meg (Type of Service, TOS)</a:t>
            </a:r>
          </a:p>
          <a:p>
            <a:r>
              <a:rPr lang="hu-HU" dirty="0"/>
              <a:t>-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hosszát</a:t>
            </a:r>
            <a:r>
              <a:rPr lang="en-US" dirty="0"/>
              <a:t>, </a:t>
            </a:r>
          </a:p>
          <a:p>
            <a:r>
              <a:rPr lang="hu-HU" dirty="0"/>
              <a:t>- </a:t>
            </a:r>
            <a:r>
              <a:rPr lang="en-US" dirty="0" err="1"/>
              <a:t>fragmentációhoz</a:t>
            </a:r>
            <a:r>
              <a:rPr lang="en-US" dirty="0"/>
              <a:t> </a:t>
            </a:r>
            <a:r>
              <a:rPr lang="en-US" dirty="0" err="1"/>
              <a:t>szükséges</a:t>
            </a:r>
            <a:r>
              <a:rPr lang="en-US" dirty="0"/>
              <a:t> </a:t>
            </a:r>
            <a:r>
              <a:rPr lang="en-US" dirty="0" err="1"/>
              <a:t>információkat</a:t>
            </a:r>
            <a:r>
              <a:rPr lang="en-US" dirty="0"/>
              <a:t>, </a:t>
            </a:r>
          </a:p>
          <a:p>
            <a:r>
              <a:rPr lang="hu-HU" dirty="0"/>
              <a:t>- </a:t>
            </a:r>
            <a:r>
              <a:rPr lang="en-US" dirty="0"/>
              <a:t>TTL (Time To Live) </a:t>
            </a:r>
            <a:r>
              <a:rPr lang="en-US" dirty="0" err="1"/>
              <a:t>mezôt</a:t>
            </a:r>
            <a:r>
              <a:rPr lang="en-US" dirty="0"/>
              <a:t>, </a:t>
            </a:r>
          </a:p>
          <a:p>
            <a:r>
              <a:rPr lang="hu-HU" dirty="0"/>
              <a:t>- Protokoll mező </a:t>
            </a:r>
            <a:r>
              <a:rPr lang="en-US" dirty="0" err="1"/>
              <a:t>annak</a:t>
            </a:r>
            <a:r>
              <a:rPr lang="en-US" dirty="0"/>
              <a:t> a </a:t>
            </a:r>
            <a:r>
              <a:rPr lang="en-US" dirty="0" err="1"/>
              <a:t>felsôbb</a:t>
            </a:r>
            <a:r>
              <a:rPr lang="en-US" dirty="0"/>
              <a:t> </a:t>
            </a:r>
            <a:r>
              <a:rPr lang="en-US" dirty="0" err="1"/>
              <a:t>szintû</a:t>
            </a:r>
            <a:r>
              <a:rPr lang="en-US" dirty="0"/>
              <a:t> </a:t>
            </a:r>
            <a:r>
              <a:rPr lang="en-US" dirty="0" err="1"/>
              <a:t>protokollnak</a:t>
            </a:r>
            <a:r>
              <a:rPr lang="en-US" dirty="0"/>
              <a:t> a </a:t>
            </a:r>
            <a:r>
              <a:rPr lang="en-US" dirty="0" err="1"/>
              <a:t>számát</a:t>
            </a:r>
            <a:r>
              <a:rPr lang="en-US" dirty="0"/>
              <a:t>, </a:t>
            </a:r>
            <a:r>
              <a:rPr lang="en-US" dirty="0" err="1"/>
              <a:t>amelyik</a:t>
            </a:r>
            <a:r>
              <a:rPr lang="en-US" dirty="0"/>
              <a:t> </a:t>
            </a:r>
            <a:r>
              <a:rPr lang="en-US" dirty="0" err="1"/>
              <a:t>számára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szól</a:t>
            </a:r>
            <a:r>
              <a:rPr lang="en-US" dirty="0"/>
              <a:t>, </a:t>
            </a:r>
          </a:p>
          <a:p>
            <a:r>
              <a:rPr lang="hu-HU" dirty="0"/>
              <a:t>- </a:t>
            </a:r>
            <a:r>
              <a:rPr lang="en-US" dirty="0" err="1"/>
              <a:t>ellenôrzô</a:t>
            </a:r>
            <a:r>
              <a:rPr lang="en-US" dirty="0"/>
              <a:t> </a:t>
            </a:r>
            <a:r>
              <a:rPr lang="en-US" dirty="0" err="1"/>
              <a:t>összeget</a:t>
            </a:r>
            <a:r>
              <a:rPr lang="en-US" dirty="0"/>
              <a:t>, 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küldô</a:t>
            </a:r>
            <a:r>
              <a:rPr lang="en-US" dirty="0"/>
              <a:t> </a:t>
            </a:r>
            <a:r>
              <a:rPr lang="hu-HU" dirty="0"/>
              <a:t>IP </a:t>
            </a:r>
            <a:r>
              <a:rPr lang="en-US" dirty="0" err="1"/>
              <a:t>címét</a:t>
            </a:r>
            <a:r>
              <a:rPr lang="en-US" dirty="0"/>
              <a:t>, </a:t>
            </a:r>
          </a:p>
          <a:p>
            <a:r>
              <a:rPr lang="hu-HU" dirty="0"/>
              <a:t>- </a:t>
            </a:r>
            <a:r>
              <a:rPr lang="en-US" dirty="0"/>
              <a:t>a </a:t>
            </a:r>
            <a:r>
              <a:rPr lang="en-US" dirty="0" err="1"/>
              <a:t>cél</a:t>
            </a:r>
            <a:r>
              <a:rPr lang="en-US" dirty="0"/>
              <a:t> </a:t>
            </a:r>
            <a:r>
              <a:rPr lang="hu-HU" dirty="0"/>
              <a:t>IP </a:t>
            </a:r>
            <a:r>
              <a:rPr lang="en-US" dirty="0" err="1"/>
              <a:t>címét</a:t>
            </a:r>
            <a:r>
              <a:rPr lang="en-US" dirty="0"/>
              <a:t>, </a:t>
            </a:r>
          </a:p>
          <a:p>
            <a:r>
              <a:rPr lang="hu-HU" dirty="0"/>
              <a:t>- </a:t>
            </a:r>
            <a:r>
              <a:rPr lang="en-US" dirty="0" err="1"/>
              <a:t>esetleges</a:t>
            </a:r>
            <a:r>
              <a:rPr lang="en-US" dirty="0"/>
              <a:t> </a:t>
            </a:r>
            <a:r>
              <a:rPr lang="en-US" dirty="0" err="1"/>
              <a:t>opciókat</a:t>
            </a:r>
            <a:r>
              <a:rPr lang="en-US" dirty="0"/>
              <a:t>. 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TOS </a:t>
            </a:r>
            <a:r>
              <a:rPr lang="en-US" b="1" dirty="0" err="1"/>
              <a:t>mezô</a:t>
            </a:r>
            <a:r>
              <a:rPr lang="en-US" b="1" dirty="0"/>
              <a:t>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részbôl</a:t>
            </a:r>
            <a:r>
              <a:rPr lang="en-US" dirty="0"/>
              <a:t> </a:t>
            </a:r>
            <a:r>
              <a:rPr lang="en-US" dirty="0" err="1"/>
              <a:t>áll</a:t>
            </a:r>
            <a:r>
              <a:rPr lang="en-US" dirty="0"/>
              <a:t>. 3 bit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fontosságát</a:t>
            </a:r>
            <a:r>
              <a:rPr lang="en-US" dirty="0"/>
              <a:t> </a:t>
            </a:r>
            <a:r>
              <a:rPr lang="en-US" dirty="0" err="1"/>
              <a:t>határozza</a:t>
            </a:r>
            <a:r>
              <a:rPr lang="en-US" dirty="0"/>
              <a:t> meg. </a:t>
            </a:r>
            <a:r>
              <a:rPr lang="en-US" dirty="0" err="1"/>
              <a:t>Két</a:t>
            </a:r>
            <a:r>
              <a:rPr lang="en-US" dirty="0"/>
              <a:t> bit </a:t>
            </a:r>
            <a:r>
              <a:rPr lang="en-US" dirty="0" err="1"/>
              <a:t>foglalt</a:t>
            </a:r>
            <a:r>
              <a:rPr lang="en-US" dirty="0"/>
              <a:t>, a </a:t>
            </a:r>
            <a:r>
              <a:rPr lang="en-US" dirty="0" err="1"/>
              <a:t>fennmaradó</a:t>
            </a:r>
            <a:r>
              <a:rPr lang="en-US" dirty="0"/>
              <a:t> 3 bit </a:t>
            </a:r>
            <a:r>
              <a:rPr lang="en-US" dirty="0" err="1"/>
              <a:t>valamelyikének</a:t>
            </a:r>
            <a:r>
              <a:rPr lang="en-US" dirty="0"/>
              <a:t> (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mindegyikének</a:t>
            </a:r>
            <a:r>
              <a:rPr lang="en-US" dirty="0"/>
              <a:t>) </a:t>
            </a:r>
            <a:r>
              <a:rPr lang="en-US" dirty="0" err="1"/>
              <a:t>beállításával</a:t>
            </a:r>
            <a:r>
              <a:rPr lang="en-US" dirty="0"/>
              <a:t> </a:t>
            </a:r>
            <a:r>
              <a:rPr lang="en-US" dirty="0" err="1"/>
              <a:t>kérheti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feladója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rendre</a:t>
            </a:r>
            <a:r>
              <a:rPr lang="en-US" dirty="0"/>
              <a:t> </a:t>
            </a:r>
            <a:r>
              <a:rPr lang="en-US" dirty="0" err="1"/>
              <a:t>kisebb</a:t>
            </a:r>
            <a:r>
              <a:rPr lang="en-US" dirty="0"/>
              <a:t> </a:t>
            </a:r>
            <a:r>
              <a:rPr lang="en-US" dirty="0" err="1"/>
              <a:t>késleltetésû</a:t>
            </a:r>
            <a:r>
              <a:rPr lang="en-US" dirty="0"/>
              <a:t> és/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nagyobb</a:t>
            </a:r>
            <a:r>
              <a:rPr lang="en-US" dirty="0"/>
              <a:t> </a:t>
            </a:r>
            <a:r>
              <a:rPr lang="en-US" dirty="0" err="1"/>
              <a:t>sávszélességû</a:t>
            </a:r>
            <a:r>
              <a:rPr lang="en-US" dirty="0"/>
              <a:t> és/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nagyobb</a:t>
            </a:r>
            <a:r>
              <a:rPr lang="en-US" dirty="0"/>
              <a:t> </a:t>
            </a:r>
            <a:r>
              <a:rPr lang="en-US" dirty="0" err="1"/>
              <a:t>megbízhatóságú</a:t>
            </a:r>
            <a:r>
              <a:rPr lang="en-US" dirty="0"/>
              <a:t> </a:t>
            </a:r>
            <a:r>
              <a:rPr lang="en-US" dirty="0" err="1"/>
              <a:t>útvonalon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továbbítsa</a:t>
            </a:r>
            <a:r>
              <a:rPr lang="en-US" dirty="0"/>
              <a:t> a </a:t>
            </a:r>
            <a:r>
              <a:rPr lang="en-US" dirty="0" err="1"/>
              <a:t>hálózat</a:t>
            </a:r>
            <a:r>
              <a:rPr lang="en-US" dirty="0"/>
              <a:t>, </a:t>
            </a:r>
            <a:r>
              <a:rPr lang="en-US" dirty="0" err="1"/>
              <a:t>amennyiben</a:t>
            </a:r>
            <a:r>
              <a:rPr lang="en-US" dirty="0"/>
              <a:t> </a:t>
            </a:r>
            <a:r>
              <a:rPr lang="en-US" dirty="0" err="1"/>
              <a:t>választási</a:t>
            </a:r>
            <a:r>
              <a:rPr lang="en-US" dirty="0"/>
              <a:t> </a:t>
            </a:r>
            <a:r>
              <a:rPr lang="en-US" dirty="0" err="1"/>
              <a:t>lehetôség</a:t>
            </a:r>
            <a:r>
              <a:rPr lang="en-US" dirty="0"/>
              <a:t> </a:t>
            </a:r>
            <a:r>
              <a:rPr lang="en-US" dirty="0" err="1"/>
              <a:t>adódik</a:t>
            </a:r>
            <a:r>
              <a:rPr lang="en-US" dirty="0"/>
              <a:t>. </a:t>
            </a:r>
            <a:r>
              <a:rPr lang="en-US" dirty="0" err="1"/>
              <a:t>Minthogy</a:t>
            </a:r>
            <a:r>
              <a:rPr lang="en-US" dirty="0"/>
              <a:t> a </a:t>
            </a:r>
            <a:r>
              <a:rPr lang="en-US" dirty="0" err="1"/>
              <a:t>specifikáció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követeli</a:t>
            </a:r>
            <a:r>
              <a:rPr lang="en-US" dirty="0"/>
              <a:t> meg </a:t>
            </a:r>
            <a:r>
              <a:rPr lang="en-US" dirty="0" err="1"/>
              <a:t>ezeknek</a:t>
            </a:r>
            <a:r>
              <a:rPr lang="en-US" dirty="0"/>
              <a:t> a </a:t>
            </a:r>
            <a:r>
              <a:rPr lang="en-US" dirty="0" err="1"/>
              <a:t>biteknek</a:t>
            </a:r>
            <a:r>
              <a:rPr lang="en-US" dirty="0"/>
              <a:t> a </a:t>
            </a:r>
            <a:r>
              <a:rPr lang="en-US" dirty="0" err="1"/>
              <a:t>figyelését</a:t>
            </a:r>
            <a:r>
              <a:rPr lang="en-US" dirty="0"/>
              <a:t>, a </a:t>
            </a:r>
            <a:r>
              <a:rPr lang="en-US" dirty="0" err="1"/>
              <a:t>jelenlegi</a:t>
            </a:r>
            <a:r>
              <a:rPr lang="en-US" dirty="0"/>
              <a:t> </a:t>
            </a:r>
            <a:r>
              <a:rPr lang="en-US" dirty="0" err="1"/>
              <a:t>Internetben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sokat</a:t>
            </a:r>
            <a:r>
              <a:rPr lang="en-US" dirty="0"/>
              <a:t> </a:t>
            </a:r>
            <a:r>
              <a:rPr lang="en-US" dirty="0" err="1"/>
              <a:t>számít</a:t>
            </a:r>
            <a:r>
              <a:rPr lang="en-US" dirty="0"/>
              <a:t> a TOS </a:t>
            </a:r>
            <a:r>
              <a:rPr lang="en-US" dirty="0" err="1"/>
              <a:t>bitek</a:t>
            </a:r>
            <a:r>
              <a:rPr lang="en-US" dirty="0"/>
              <a:t> </a:t>
            </a:r>
            <a:r>
              <a:rPr lang="en-US" dirty="0" err="1"/>
              <a:t>beállítása</a:t>
            </a:r>
            <a:r>
              <a:rPr lang="en-US" dirty="0"/>
              <a:t>. 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TTL </a:t>
            </a:r>
            <a:r>
              <a:rPr lang="en-US" b="1" dirty="0" err="1"/>
              <a:t>mezô</a:t>
            </a:r>
            <a:r>
              <a:rPr lang="en-US" b="1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számláló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élettartamának</a:t>
            </a:r>
            <a:r>
              <a:rPr lang="en-US" dirty="0"/>
              <a:t> </a:t>
            </a:r>
            <a:r>
              <a:rPr lang="en-US" dirty="0" err="1"/>
              <a:t>korlátozására</a:t>
            </a:r>
            <a:r>
              <a:rPr lang="en-US" dirty="0"/>
              <a:t> </a:t>
            </a:r>
            <a:r>
              <a:rPr lang="en-US" dirty="0" err="1"/>
              <a:t>használnak</a:t>
            </a:r>
            <a:r>
              <a:rPr lang="en-US" dirty="0"/>
              <a:t>. Ez </a:t>
            </a:r>
            <a:r>
              <a:rPr lang="en-US" dirty="0" err="1"/>
              <a:t>elvileg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időt</a:t>
            </a:r>
            <a:r>
              <a:rPr lang="en-US" dirty="0"/>
              <a:t> </a:t>
            </a:r>
            <a:r>
              <a:rPr lang="en-US" dirty="0" err="1"/>
              <a:t>mérné</a:t>
            </a:r>
            <a:r>
              <a:rPr lang="en-US" dirty="0"/>
              <a:t> </a:t>
            </a:r>
            <a:r>
              <a:rPr lang="en-US" dirty="0" err="1"/>
              <a:t>másodpercekben</a:t>
            </a:r>
            <a:r>
              <a:rPr lang="en-US" dirty="0"/>
              <a:t>, </a:t>
            </a:r>
            <a:r>
              <a:rPr lang="en-US" dirty="0" err="1"/>
              <a:t>ezáltal</a:t>
            </a:r>
            <a:r>
              <a:rPr lang="en-US" dirty="0"/>
              <a:t> </a:t>
            </a:r>
            <a:r>
              <a:rPr lang="en-US" dirty="0" err="1"/>
              <a:t>maximálisan</a:t>
            </a:r>
            <a:r>
              <a:rPr lang="en-US" dirty="0"/>
              <a:t> 255 </a:t>
            </a:r>
            <a:r>
              <a:rPr lang="en-US" dirty="0" err="1"/>
              <a:t>másodperc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életet</a:t>
            </a:r>
            <a:r>
              <a:rPr lang="en-US" dirty="0"/>
              <a:t> tenne </a:t>
            </a:r>
            <a:r>
              <a:rPr lang="en-US" dirty="0" err="1"/>
              <a:t>lehetővé</a:t>
            </a:r>
            <a:r>
              <a:rPr lang="en-US" dirty="0"/>
              <a:t>. Minden </a:t>
            </a:r>
            <a:r>
              <a:rPr lang="en-US" dirty="0" err="1"/>
              <a:t>ugrásnál</a:t>
            </a:r>
            <a:r>
              <a:rPr lang="en-US" dirty="0"/>
              <a:t> </a:t>
            </a:r>
            <a:r>
              <a:rPr lang="en-US" dirty="0" err="1"/>
              <a:t>csökkenteni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, és 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ideig</a:t>
            </a:r>
            <a:r>
              <a:rPr lang="en-US" dirty="0"/>
              <a:t> </a:t>
            </a:r>
            <a:r>
              <a:rPr lang="en-US" dirty="0" err="1"/>
              <a:t>állt</a:t>
            </a:r>
            <a:r>
              <a:rPr lang="en-US" dirty="0"/>
              <a:t> </a:t>
            </a:r>
            <a:r>
              <a:rPr lang="en-US" dirty="0" err="1"/>
              <a:t>sorban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útválasztóban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elvileg</a:t>
            </a:r>
            <a:r>
              <a:rPr lang="en-US" dirty="0"/>
              <a:t> </a:t>
            </a:r>
            <a:r>
              <a:rPr lang="en-US" dirty="0" err="1"/>
              <a:t>többször</a:t>
            </a:r>
            <a:r>
              <a:rPr lang="en-US" dirty="0"/>
              <a:t> is </a:t>
            </a:r>
            <a:r>
              <a:rPr lang="en-US" dirty="0" err="1"/>
              <a:t>csökkenteni</a:t>
            </a:r>
            <a:r>
              <a:rPr lang="en-US" dirty="0"/>
              <a:t> </a:t>
            </a:r>
            <a:r>
              <a:rPr lang="en-US" dirty="0" err="1"/>
              <a:t>kellene</a:t>
            </a:r>
            <a:r>
              <a:rPr lang="en-US" dirty="0"/>
              <a:t>. </a:t>
            </a:r>
            <a:r>
              <a:rPr lang="en-US" dirty="0" err="1"/>
              <a:t>Gyakorlatilag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ugrásokat</a:t>
            </a:r>
            <a:r>
              <a:rPr lang="en-US" dirty="0"/>
              <a:t> </a:t>
            </a:r>
            <a:r>
              <a:rPr lang="en-US" dirty="0" err="1"/>
              <a:t>számolja</a:t>
            </a:r>
            <a:r>
              <a:rPr lang="en-US" dirty="0"/>
              <a:t>.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eléri</a:t>
            </a:r>
            <a:r>
              <a:rPr lang="en-US" dirty="0"/>
              <a:t> a </a:t>
            </a:r>
            <a:r>
              <a:rPr lang="en-US" dirty="0" err="1"/>
              <a:t>nullát</a:t>
            </a:r>
            <a:r>
              <a:rPr lang="en-US" dirty="0"/>
              <a:t>, a </a:t>
            </a:r>
            <a:r>
              <a:rPr lang="en-US" dirty="0" err="1"/>
              <a:t>csomagot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dobni</a:t>
            </a:r>
            <a:r>
              <a:rPr lang="en-US" dirty="0"/>
              <a:t>, és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figyelmeztető</a:t>
            </a:r>
            <a:r>
              <a:rPr lang="en-US" dirty="0"/>
              <a:t> </a:t>
            </a:r>
            <a:r>
              <a:rPr lang="en-US" dirty="0" err="1"/>
              <a:t>csomagot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visszaküldeni</a:t>
            </a:r>
            <a:r>
              <a:rPr lang="en-US" dirty="0"/>
              <a:t> a </a:t>
            </a:r>
            <a:r>
              <a:rPr lang="en-US" dirty="0" err="1"/>
              <a:t>forráshoszthoz</a:t>
            </a:r>
            <a:r>
              <a:rPr lang="en-US" dirty="0"/>
              <a:t>. Ez a </a:t>
            </a:r>
            <a:r>
              <a:rPr lang="en-US" dirty="0" err="1"/>
              <a:t>tulajdonság</a:t>
            </a:r>
            <a:r>
              <a:rPr lang="en-US" dirty="0"/>
              <a:t> </a:t>
            </a:r>
            <a:r>
              <a:rPr lang="en-US" dirty="0" err="1"/>
              <a:t>megelőzi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datagramok</a:t>
            </a:r>
            <a:r>
              <a:rPr lang="en-US" dirty="0"/>
              <a:t> a </a:t>
            </a:r>
            <a:r>
              <a:rPr lang="en-US" dirty="0" err="1"/>
              <a:t>végtelenségig</a:t>
            </a:r>
            <a:r>
              <a:rPr lang="en-US" dirty="0"/>
              <a:t> </a:t>
            </a:r>
            <a:r>
              <a:rPr lang="en-US" dirty="0" err="1"/>
              <a:t>kóboroljanak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egyébként</a:t>
            </a:r>
            <a:r>
              <a:rPr lang="en-US" dirty="0"/>
              <a:t> </a:t>
            </a:r>
            <a:r>
              <a:rPr lang="en-US" dirty="0" err="1"/>
              <a:t>megtörténhetne</a:t>
            </a:r>
            <a:r>
              <a:rPr lang="en-US" dirty="0"/>
              <a:t>, ha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útválasztó</a:t>
            </a:r>
            <a:r>
              <a:rPr lang="en-US" dirty="0"/>
              <a:t> </a:t>
            </a:r>
            <a:r>
              <a:rPr lang="en-US" dirty="0" err="1"/>
              <a:t>táblázatokba</a:t>
            </a:r>
            <a:r>
              <a:rPr lang="en-US" dirty="0"/>
              <a:t> </a:t>
            </a:r>
            <a:r>
              <a:rPr lang="en-US" dirty="0" err="1"/>
              <a:t>valamikor</a:t>
            </a:r>
            <a:r>
              <a:rPr lang="en-US" dirty="0"/>
              <a:t> </a:t>
            </a:r>
            <a:r>
              <a:rPr lang="en-US" dirty="0" err="1"/>
              <a:t>hiba</a:t>
            </a:r>
            <a:r>
              <a:rPr lang="en-US" dirty="0"/>
              <a:t> </a:t>
            </a:r>
            <a:r>
              <a:rPr lang="en-US" dirty="0" err="1"/>
              <a:t>csúszna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</a:t>
            </a:r>
            <a:r>
              <a:rPr lang="en-US" b="1" dirty="0" err="1"/>
              <a:t>fragmentáció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következik</a:t>
            </a:r>
            <a:r>
              <a:rPr lang="en-US" dirty="0"/>
              <a:t> be, ha </a:t>
            </a:r>
            <a:r>
              <a:rPr lang="en-US" dirty="0" err="1"/>
              <a:t>haladási</a:t>
            </a:r>
            <a:r>
              <a:rPr lang="en-US" dirty="0"/>
              <a:t> </a:t>
            </a:r>
            <a:r>
              <a:rPr lang="en-US" dirty="0" err="1"/>
              <a:t>útvonalon</a:t>
            </a:r>
            <a:r>
              <a:rPr lang="en-US" dirty="0"/>
              <a:t> a </a:t>
            </a:r>
            <a:r>
              <a:rPr lang="en-US" dirty="0" err="1"/>
              <a:t>következô</a:t>
            </a:r>
            <a:r>
              <a:rPr lang="en-US" dirty="0"/>
              <a:t> link-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MTU</a:t>
            </a:r>
            <a:r>
              <a:rPr lang="hu-HU" dirty="0"/>
              <a:t> (</a:t>
            </a:r>
            <a:r>
              <a:rPr lang="hu-HU" i="1" dirty="0"/>
              <a:t>Maximum </a:t>
            </a:r>
            <a:r>
              <a:rPr lang="hu-HU" i="1" dirty="0" err="1"/>
              <a:t>Transmission</a:t>
            </a:r>
            <a:r>
              <a:rPr lang="hu-HU" i="1" dirty="0"/>
              <a:t> Unit</a:t>
            </a:r>
            <a:r>
              <a:rPr lang="hu-HU" dirty="0"/>
              <a:t>)</a:t>
            </a:r>
            <a:r>
              <a:rPr lang="en-US" dirty="0"/>
              <a:t> </a:t>
            </a:r>
            <a:r>
              <a:rPr lang="en-US" dirty="0" err="1"/>
              <a:t>kisebb</a:t>
            </a:r>
            <a:r>
              <a:rPr lang="en-US" dirty="0"/>
              <a:t>, mint a </a:t>
            </a:r>
            <a:r>
              <a:rPr lang="en-US" dirty="0" err="1"/>
              <a:t>csomagméret</a:t>
            </a:r>
            <a:r>
              <a:rPr lang="en-US" dirty="0"/>
              <a:t>. </a:t>
            </a:r>
            <a:r>
              <a:rPr lang="en-US" dirty="0" err="1"/>
              <a:t>Ekkor</a:t>
            </a:r>
            <a:r>
              <a:rPr lang="en-US" dirty="0"/>
              <a:t> a router (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maga</a:t>
            </a:r>
            <a:r>
              <a:rPr lang="en-US" dirty="0"/>
              <a:t> a </a:t>
            </a:r>
            <a:r>
              <a:rPr lang="en-US" dirty="0" err="1"/>
              <a:t>feladó</a:t>
            </a:r>
            <a:r>
              <a:rPr lang="en-US" dirty="0"/>
              <a:t>)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darabra</a:t>
            </a:r>
            <a:r>
              <a:rPr lang="en-US" dirty="0"/>
              <a:t> </a:t>
            </a:r>
            <a:r>
              <a:rPr lang="en-US" dirty="0" err="1"/>
              <a:t>tördeli</a:t>
            </a:r>
            <a:r>
              <a:rPr lang="en-US" dirty="0"/>
              <a:t> a </a:t>
            </a:r>
            <a:r>
              <a:rPr lang="en-US" dirty="0" err="1"/>
              <a:t>csomagot</a:t>
            </a:r>
            <a:r>
              <a:rPr lang="en-US" dirty="0"/>
              <a:t>, </a:t>
            </a:r>
            <a:r>
              <a:rPr lang="en-US" dirty="0" err="1"/>
              <a:t>mindegyik</a:t>
            </a:r>
            <a:r>
              <a:rPr lang="en-US" dirty="0"/>
              <a:t> </a:t>
            </a:r>
            <a:r>
              <a:rPr lang="en-US" dirty="0" err="1"/>
              <a:t>darabba</a:t>
            </a:r>
            <a:r>
              <a:rPr lang="en-US" dirty="0"/>
              <a:t> </a:t>
            </a:r>
            <a:r>
              <a:rPr lang="en-US" dirty="0" err="1"/>
              <a:t>beleírja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eredeti</a:t>
            </a:r>
            <a:r>
              <a:rPr lang="en-US" dirty="0"/>
              <a:t>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hányadik</a:t>
            </a:r>
            <a:r>
              <a:rPr lang="en-US" dirty="0"/>
              <a:t> byte-</a:t>
            </a:r>
            <a:r>
              <a:rPr lang="en-US" dirty="0" err="1"/>
              <a:t>jától</a:t>
            </a:r>
            <a:r>
              <a:rPr lang="en-US" dirty="0"/>
              <a:t> </a:t>
            </a:r>
            <a:r>
              <a:rPr lang="en-US" dirty="0" err="1"/>
              <a:t>kezdôdô</a:t>
            </a:r>
            <a:r>
              <a:rPr lang="en-US" dirty="0"/>
              <a:t> </a:t>
            </a:r>
            <a:r>
              <a:rPr lang="en-US" dirty="0" err="1"/>
              <a:t>információkat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 és ad a </a:t>
            </a:r>
            <a:r>
              <a:rPr lang="en-US" dirty="0" err="1"/>
              <a:t>csomagnak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egyedi</a:t>
            </a:r>
            <a:r>
              <a:rPr lang="en-US" dirty="0"/>
              <a:t> </a:t>
            </a:r>
            <a:r>
              <a:rPr lang="en-US" dirty="0" err="1"/>
              <a:t>azonosítót</a:t>
            </a:r>
            <a:r>
              <a:rPr lang="en-US" dirty="0"/>
              <a:t>. Az </a:t>
            </a:r>
            <a:r>
              <a:rPr lang="en-US" dirty="0" err="1"/>
              <a:t>azonosító</a:t>
            </a:r>
            <a:r>
              <a:rPr lang="en-US" dirty="0"/>
              <a:t> </a:t>
            </a:r>
            <a:r>
              <a:rPr lang="en-US" dirty="0" err="1"/>
              <a:t>fragmentbe</a:t>
            </a:r>
            <a:r>
              <a:rPr lang="en-US" dirty="0"/>
              <a:t> </a:t>
            </a:r>
            <a:r>
              <a:rPr lang="en-US" dirty="0" err="1"/>
              <a:t>belekerül</a:t>
            </a:r>
            <a:r>
              <a:rPr lang="en-US" dirty="0"/>
              <a:t> és </a:t>
            </a:r>
            <a:r>
              <a:rPr lang="en-US" dirty="0" err="1"/>
              <a:t>jelzi</a:t>
            </a:r>
            <a:r>
              <a:rPr lang="en-US" dirty="0"/>
              <a:t> a </a:t>
            </a:r>
            <a:r>
              <a:rPr lang="en-US" dirty="0" err="1"/>
              <a:t>vevônek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mely</a:t>
            </a:r>
            <a:r>
              <a:rPr lang="en-US" dirty="0"/>
              <a:t> </a:t>
            </a:r>
            <a:r>
              <a:rPr lang="en-US" dirty="0" err="1"/>
              <a:t>darabok</a:t>
            </a:r>
            <a:r>
              <a:rPr lang="en-US" dirty="0"/>
              <a:t> </a:t>
            </a:r>
            <a:r>
              <a:rPr lang="en-US" dirty="0" err="1"/>
              <a:t>alkotják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eredeti</a:t>
            </a:r>
            <a:r>
              <a:rPr lang="en-US" dirty="0"/>
              <a:t> </a:t>
            </a:r>
            <a:r>
              <a:rPr lang="en-US" dirty="0" err="1"/>
              <a:t>csomagot</a:t>
            </a:r>
            <a:r>
              <a:rPr lang="en-US" dirty="0"/>
              <a:t>. A router a </a:t>
            </a:r>
            <a:r>
              <a:rPr lang="en-US" dirty="0" err="1"/>
              <a:t>kapott</a:t>
            </a:r>
            <a:r>
              <a:rPr lang="en-US" dirty="0"/>
              <a:t> </a:t>
            </a:r>
            <a:r>
              <a:rPr lang="en-US" dirty="0" err="1"/>
              <a:t>darabokat</a:t>
            </a:r>
            <a:r>
              <a:rPr lang="en-US" dirty="0"/>
              <a:t> </a:t>
            </a:r>
            <a:r>
              <a:rPr lang="en-US" dirty="0" err="1"/>
              <a:t>egyesével</a:t>
            </a:r>
            <a:r>
              <a:rPr lang="en-US" dirty="0"/>
              <a:t> </a:t>
            </a:r>
            <a:r>
              <a:rPr lang="en-US" dirty="0" err="1"/>
              <a:t>feladja</a:t>
            </a:r>
            <a:r>
              <a:rPr lang="en-US" dirty="0"/>
              <a:t> és a </a:t>
            </a:r>
            <a:r>
              <a:rPr lang="en-US" dirty="0" err="1"/>
              <a:t>hálózatra</a:t>
            </a:r>
            <a:r>
              <a:rPr lang="en-US" dirty="0"/>
              <a:t> </a:t>
            </a:r>
            <a:r>
              <a:rPr lang="en-US" dirty="0" err="1"/>
              <a:t>bízza</a:t>
            </a:r>
            <a:r>
              <a:rPr lang="en-US" dirty="0"/>
              <a:t> </a:t>
            </a:r>
            <a:r>
              <a:rPr lang="en-US" dirty="0" err="1"/>
              <a:t>ôket</a:t>
            </a:r>
            <a:r>
              <a:rPr lang="en-US" dirty="0"/>
              <a:t>. A </a:t>
            </a:r>
            <a:r>
              <a:rPr lang="en-US" dirty="0" err="1"/>
              <a:t>nagyobb</a:t>
            </a:r>
            <a:r>
              <a:rPr lang="en-US" dirty="0"/>
              <a:t> </a:t>
            </a:r>
            <a:r>
              <a:rPr lang="en-US" dirty="0" err="1"/>
              <a:t>fragmentek</a:t>
            </a:r>
            <a:r>
              <a:rPr lang="en-US" dirty="0"/>
              <a:t> </a:t>
            </a:r>
            <a:r>
              <a:rPr lang="en-US" dirty="0" err="1"/>
              <a:t>esetleg</a:t>
            </a:r>
            <a:r>
              <a:rPr lang="en-US" dirty="0"/>
              <a:t> </a:t>
            </a:r>
            <a:r>
              <a:rPr lang="en-US" dirty="0" err="1"/>
              <a:t>késôbb</a:t>
            </a:r>
            <a:r>
              <a:rPr lang="en-US" dirty="0"/>
              <a:t>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tovább</a:t>
            </a:r>
            <a:r>
              <a:rPr lang="en-US" dirty="0"/>
              <a:t> </a:t>
            </a:r>
            <a:r>
              <a:rPr lang="en-US" dirty="0" err="1"/>
              <a:t>darabolódhatnak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kisebb</a:t>
            </a:r>
            <a:r>
              <a:rPr lang="en-US" dirty="0"/>
              <a:t> MTU-</a:t>
            </a:r>
            <a:r>
              <a:rPr lang="en-US" dirty="0" err="1"/>
              <a:t>jú</a:t>
            </a:r>
            <a:r>
              <a:rPr lang="en-US" dirty="0"/>
              <a:t> link-</a:t>
            </a:r>
            <a:r>
              <a:rPr lang="en-US" dirty="0" err="1"/>
              <a:t>en</a:t>
            </a:r>
            <a:r>
              <a:rPr lang="en-US" dirty="0"/>
              <a:t>. A </a:t>
            </a:r>
            <a:r>
              <a:rPr lang="en-US" dirty="0" err="1"/>
              <a:t>vevô</a:t>
            </a:r>
            <a:r>
              <a:rPr lang="hu-HU" dirty="0"/>
              <a:t> (célállomás)</a:t>
            </a:r>
            <a:r>
              <a:rPr lang="en-US" dirty="0"/>
              <a:t> </a:t>
            </a:r>
            <a:r>
              <a:rPr lang="en-US" dirty="0" err="1"/>
              <a:t>feladata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összevárása</a:t>
            </a:r>
            <a:r>
              <a:rPr lang="en-US" dirty="0"/>
              <a:t> és </a:t>
            </a:r>
            <a:r>
              <a:rPr lang="en-US" dirty="0" err="1"/>
              <a:t>összerakása</a:t>
            </a:r>
            <a:r>
              <a:rPr lang="en-US" dirty="0"/>
              <a:t>. </a:t>
            </a:r>
            <a:endParaRPr lang="hu-H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80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TCP a </a:t>
            </a:r>
            <a:r>
              <a:rPr lang="en-US" dirty="0" err="1"/>
              <a:t>megbízható</a:t>
            </a:r>
            <a:r>
              <a:rPr lang="en-US" dirty="0"/>
              <a:t> </a:t>
            </a:r>
            <a:r>
              <a:rPr lang="en-US" dirty="0" err="1"/>
              <a:t>kommunikációért</a:t>
            </a:r>
            <a:r>
              <a:rPr lang="en-US" dirty="0"/>
              <a:t> </a:t>
            </a:r>
            <a:r>
              <a:rPr lang="en-US" dirty="0" err="1"/>
              <a:t>felel</a:t>
            </a:r>
            <a:r>
              <a:rPr lang="en-US" dirty="0"/>
              <a:t>.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elég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i="1" dirty="0" err="1"/>
              <a:t>talán</a:t>
            </a:r>
            <a:r>
              <a:rPr lang="en-US" dirty="0"/>
              <a:t> </a:t>
            </a:r>
            <a:r>
              <a:rPr lang="en-US" dirty="0" err="1"/>
              <a:t>megérkezik</a:t>
            </a:r>
            <a:r>
              <a:rPr lang="en-US" dirty="0"/>
              <a:t>.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garantálni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cél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pontosan</a:t>
            </a:r>
            <a:r>
              <a:rPr lang="en-US" dirty="0"/>
              <a:t> </a:t>
            </a:r>
            <a:r>
              <a:rPr lang="en-US" dirty="0" err="1"/>
              <a:t>ugyanazt</a:t>
            </a:r>
            <a:r>
              <a:rPr lang="en-US" dirty="0"/>
              <a:t> </a:t>
            </a:r>
            <a:r>
              <a:rPr lang="en-US" dirty="0" err="1"/>
              <a:t>kapja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</a:t>
            </a:r>
            <a:r>
              <a:rPr lang="en-US" dirty="0" err="1"/>
              <a:t>elküldtünk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TCP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épít</a:t>
            </a:r>
            <a:r>
              <a:rPr lang="en-US" dirty="0"/>
              <a:t> ki a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végpont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. Ez a </a:t>
            </a:r>
            <a:r>
              <a:rPr lang="en-US" dirty="0" err="1"/>
              <a:t>híres</a:t>
            </a:r>
            <a:r>
              <a:rPr lang="en-US" dirty="0"/>
              <a:t> </a:t>
            </a:r>
            <a:r>
              <a:rPr lang="en-US" i="1" dirty="0" err="1"/>
              <a:t>háromlépcsős</a:t>
            </a:r>
            <a:r>
              <a:rPr lang="en-US" i="1" dirty="0"/>
              <a:t> </a:t>
            </a:r>
            <a:r>
              <a:rPr lang="en-US" i="1" dirty="0" err="1"/>
              <a:t>kézfogás</a:t>
            </a:r>
            <a:r>
              <a:rPr lang="en-US" dirty="0"/>
              <a:t>:</a:t>
            </a:r>
          </a:p>
          <a:p>
            <a:r>
              <a:rPr lang="en-US" dirty="0"/>
              <a:t>SYN</a:t>
            </a:r>
          </a:p>
          <a:p>
            <a:r>
              <a:rPr lang="en-US" dirty="0"/>
              <a:t>SYN–ACK</a:t>
            </a:r>
          </a:p>
          <a:p>
            <a:r>
              <a:rPr lang="en-US" dirty="0"/>
              <a:t>ACK</a:t>
            </a:r>
          </a:p>
          <a:p>
            <a:r>
              <a:rPr lang="en-US" dirty="0" err="1"/>
              <a:t>Miért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ez</a:t>
            </a:r>
            <a:r>
              <a:rPr lang="en-US" dirty="0"/>
              <a:t>? Hogy </a:t>
            </a:r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fél</a:t>
            </a:r>
            <a:r>
              <a:rPr lang="en-US" dirty="0"/>
              <a:t> </a:t>
            </a:r>
            <a:r>
              <a:rPr lang="en-US" dirty="0" err="1"/>
              <a:t>tudja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másik</a:t>
            </a:r>
            <a:r>
              <a:rPr lang="en-US" dirty="0"/>
              <a:t> </a:t>
            </a:r>
            <a:r>
              <a:rPr lang="en-US" dirty="0" err="1"/>
              <a:t>készen</a:t>
            </a:r>
            <a:r>
              <a:rPr lang="en-US" dirty="0"/>
              <a:t> </a:t>
            </a:r>
            <a:r>
              <a:rPr lang="en-US" dirty="0" err="1"/>
              <a:t>áll</a:t>
            </a:r>
            <a:r>
              <a:rPr lang="en-US" dirty="0"/>
              <a:t> </a:t>
            </a:r>
            <a:r>
              <a:rPr lang="en-US" dirty="0" err="1"/>
              <a:t>kommunikálni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TCP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csomagot</a:t>
            </a:r>
            <a:r>
              <a:rPr lang="en-US" dirty="0"/>
              <a:t> </a:t>
            </a:r>
            <a:r>
              <a:rPr lang="en-US" dirty="0" err="1"/>
              <a:t>sorszámoz</a:t>
            </a:r>
            <a:r>
              <a:rPr lang="en-US" dirty="0"/>
              <a:t>, és ha a </a:t>
            </a:r>
            <a:r>
              <a:rPr lang="en-US" dirty="0" err="1"/>
              <a:t>címzett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nyugtázza</a:t>
            </a:r>
            <a:r>
              <a:rPr lang="en-US" dirty="0"/>
              <a:t>, </a:t>
            </a:r>
            <a:r>
              <a:rPr lang="en-US" dirty="0" err="1"/>
              <a:t>újraküldi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A folyamvezérlés </a:t>
            </a:r>
            <a:r>
              <a:rPr lang="en-US" dirty="0" err="1"/>
              <a:t>megakadályozza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küldő</a:t>
            </a:r>
            <a:r>
              <a:rPr lang="en-US" dirty="0"/>
              <a:t> </a:t>
            </a:r>
            <a:r>
              <a:rPr lang="en-US" dirty="0" err="1"/>
              <a:t>túlterhelje</a:t>
            </a:r>
            <a:r>
              <a:rPr lang="en-US" dirty="0"/>
              <a:t> a </a:t>
            </a:r>
            <a:r>
              <a:rPr lang="en-US" dirty="0" err="1"/>
              <a:t>fogadót</a:t>
            </a:r>
            <a:r>
              <a:rPr lang="hu-HU" dirty="0"/>
              <a:t>, ezt </a:t>
            </a:r>
            <a:r>
              <a:rPr lang="en-US" dirty="0" err="1"/>
              <a:t>csúszóablakos</a:t>
            </a:r>
            <a:r>
              <a:rPr lang="en-US" dirty="0"/>
              <a:t> </a:t>
            </a:r>
            <a:r>
              <a:rPr lang="en-US" dirty="0" err="1"/>
              <a:t>módszerrel</a:t>
            </a:r>
            <a:r>
              <a:rPr lang="hu-HU" dirty="0"/>
              <a:t> valósítja meg.</a:t>
            </a:r>
            <a:br>
              <a:rPr lang="en-US" dirty="0"/>
            </a:br>
            <a:r>
              <a:rPr lang="en-US" dirty="0"/>
              <a:t>Van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torlódásvezérlés</a:t>
            </a:r>
            <a:r>
              <a:rPr lang="en-US" dirty="0"/>
              <a:t> is: ha </a:t>
            </a:r>
            <a:r>
              <a:rPr lang="en-US" dirty="0" err="1"/>
              <a:t>túl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csomag</a:t>
            </a:r>
            <a:r>
              <a:rPr lang="hu-HU" dirty="0" err="1"/>
              <a:t>ot</a:t>
            </a:r>
            <a:r>
              <a:rPr lang="en-US" dirty="0"/>
              <a:t> </a:t>
            </a:r>
            <a:r>
              <a:rPr lang="en-US" dirty="0" err="1"/>
              <a:t>veszít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hálózat</a:t>
            </a:r>
            <a:r>
              <a:rPr lang="en-US" dirty="0"/>
              <a:t>, a TCP </a:t>
            </a:r>
            <a:r>
              <a:rPr lang="en-US" dirty="0" err="1"/>
              <a:t>lassít</a:t>
            </a:r>
            <a:r>
              <a:rPr lang="en-US" dirty="0"/>
              <a:t>.</a:t>
            </a:r>
            <a:r>
              <a:rPr lang="hu-HU" dirty="0"/>
              <a:t> (torlódási ablak használata)</a:t>
            </a:r>
          </a:p>
          <a:p>
            <a:endParaRPr lang="en-US" dirty="0"/>
          </a:p>
          <a:p>
            <a:r>
              <a:rPr lang="en-US" dirty="0" err="1"/>
              <a:t>Weboldalak</a:t>
            </a:r>
            <a:r>
              <a:rPr lang="en-US" dirty="0"/>
              <a:t> </a:t>
            </a:r>
            <a:r>
              <a:rPr lang="en-US" dirty="0" err="1"/>
              <a:t>betöltése</a:t>
            </a:r>
            <a:r>
              <a:rPr lang="hu-HU" dirty="0"/>
              <a:t>, </a:t>
            </a:r>
            <a:r>
              <a:rPr lang="en-US" dirty="0"/>
              <a:t>REST API-</a:t>
            </a:r>
            <a:r>
              <a:rPr lang="en-US" dirty="0" err="1"/>
              <a:t>hívások</a:t>
            </a:r>
            <a:r>
              <a:rPr lang="hu-HU" dirty="0"/>
              <a:t>, </a:t>
            </a:r>
            <a:r>
              <a:rPr lang="en-US" dirty="0"/>
              <a:t>File </a:t>
            </a:r>
            <a:r>
              <a:rPr lang="en-US" dirty="0" err="1"/>
              <a:t>letöltés</a:t>
            </a:r>
            <a:r>
              <a:rPr lang="en-US" dirty="0"/>
              <a:t> / </a:t>
            </a:r>
            <a:r>
              <a:rPr lang="en-US" dirty="0" err="1"/>
              <a:t>feltöltés</a:t>
            </a:r>
            <a:r>
              <a:rPr lang="hu-HU" dirty="0"/>
              <a:t>: </a:t>
            </a:r>
            <a:r>
              <a:rPr lang="en-US" dirty="0" err="1"/>
              <a:t>Mindez</a:t>
            </a:r>
            <a:r>
              <a:rPr lang="en-US" dirty="0"/>
              <a:t> TCP-n </a:t>
            </a:r>
            <a:r>
              <a:rPr lang="en-US" dirty="0" err="1"/>
              <a:t>fut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</a:t>
            </a:r>
            <a:r>
              <a:rPr lang="en-US" dirty="0" err="1"/>
              <a:t>itt</a:t>
            </a:r>
            <a:r>
              <a:rPr lang="en-US" dirty="0"/>
              <a:t> a </a:t>
            </a:r>
            <a:r>
              <a:rPr lang="hu-HU" dirty="0"/>
              <a:t>sorrendhelyesség és a</a:t>
            </a:r>
            <a:r>
              <a:rPr lang="en-US" dirty="0"/>
              <a:t> </a:t>
            </a:r>
            <a:r>
              <a:rPr lang="en-US" dirty="0" err="1"/>
              <a:t>megbízhatóság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hu-HU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65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i="1" dirty="0" err="1"/>
              <a:t>Forrásport</a:t>
            </a:r>
            <a:r>
              <a:rPr lang="en-US" dirty="0"/>
              <a:t> és </a:t>
            </a:r>
            <a:r>
              <a:rPr lang="en-US" i="1" dirty="0" err="1"/>
              <a:t>Célport</a:t>
            </a:r>
            <a:r>
              <a:rPr lang="en-US" dirty="0"/>
              <a:t> </a:t>
            </a:r>
            <a:r>
              <a:rPr lang="en-US" dirty="0" err="1"/>
              <a:t>mezők</a:t>
            </a:r>
            <a:r>
              <a:rPr lang="en-US" dirty="0"/>
              <a:t> </a:t>
            </a:r>
            <a:r>
              <a:rPr lang="en-US" dirty="0" err="1"/>
              <a:t>azonosítják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összeköttetés</a:t>
            </a:r>
            <a:r>
              <a:rPr lang="en-US" dirty="0"/>
              <a:t> </a:t>
            </a:r>
            <a:r>
              <a:rPr lang="en-US" dirty="0" err="1"/>
              <a:t>helyi</a:t>
            </a:r>
            <a:r>
              <a:rPr lang="en-US" dirty="0"/>
              <a:t> </a:t>
            </a:r>
            <a:r>
              <a:rPr lang="en-US" dirty="0" err="1"/>
              <a:t>végpontjait</a:t>
            </a:r>
            <a:r>
              <a:rPr lang="en-US" dirty="0"/>
              <a:t>.</a:t>
            </a:r>
            <a:endParaRPr lang="hu-HU" dirty="0"/>
          </a:p>
          <a:p>
            <a:pPr marL="0" indent="0">
              <a:buFontTx/>
              <a:buNone/>
            </a:pPr>
            <a:endParaRPr lang="hu-HU" dirty="0"/>
          </a:p>
          <a:p>
            <a:pPr marL="171450" indent="-171450">
              <a:buFontTx/>
              <a:buChar char="-"/>
            </a:pPr>
            <a:r>
              <a:rPr lang="en-US" dirty="0"/>
              <a:t>A </a:t>
            </a:r>
            <a:r>
              <a:rPr lang="en-US" i="1" dirty="0" err="1"/>
              <a:t>Sorszám</a:t>
            </a:r>
            <a:r>
              <a:rPr lang="en-US" dirty="0"/>
              <a:t> </a:t>
            </a:r>
            <a:r>
              <a:rPr lang="en-US" i="1" dirty="0"/>
              <a:t>(sequence number) </a:t>
            </a:r>
            <a:r>
              <a:rPr lang="en-US" dirty="0"/>
              <a:t>és </a:t>
            </a:r>
            <a:r>
              <a:rPr lang="en-US" i="1" dirty="0" err="1"/>
              <a:t>Nyugtaszám</a:t>
            </a:r>
            <a:r>
              <a:rPr lang="en-US" dirty="0"/>
              <a:t> </a:t>
            </a:r>
            <a:r>
              <a:rPr lang="en-US" i="1" dirty="0"/>
              <a:t>(acknowledgement number)</a:t>
            </a:r>
            <a:r>
              <a:rPr lang="en-US" dirty="0"/>
              <a:t> </a:t>
            </a:r>
            <a:r>
              <a:rPr lang="en-US" dirty="0" err="1"/>
              <a:t>mezők</a:t>
            </a:r>
            <a:r>
              <a:rPr lang="en-US" dirty="0"/>
              <a:t> </a:t>
            </a:r>
            <a:r>
              <a:rPr lang="en-US" dirty="0" err="1"/>
              <a:t>szerepe</a:t>
            </a:r>
            <a:r>
              <a:rPr lang="en-US" dirty="0"/>
              <a:t> </a:t>
            </a:r>
            <a:r>
              <a:rPr lang="en-US" dirty="0" err="1"/>
              <a:t>szokásos</a:t>
            </a:r>
            <a:r>
              <a:rPr lang="en-US" dirty="0"/>
              <a:t>. </a:t>
            </a:r>
            <a:r>
              <a:rPr lang="en-US" dirty="0" err="1"/>
              <a:t>Jegyezzük</a:t>
            </a:r>
            <a:r>
              <a:rPr lang="en-US" dirty="0"/>
              <a:t> meg,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utóbbi</a:t>
            </a:r>
            <a:r>
              <a:rPr lang="en-US" dirty="0"/>
              <a:t> a </a:t>
            </a:r>
            <a:r>
              <a:rPr lang="en-US" dirty="0" err="1"/>
              <a:t>következő</a:t>
            </a:r>
            <a:r>
              <a:rPr lang="en-US" dirty="0"/>
              <a:t> </a:t>
            </a:r>
            <a:r>
              <a:rPr lang="en-US" dirty="0" err="1"/>
              <a:t>várt</a:t>
            </a:r>
            <a:r>
              <a:rPr lang="en-US" dirty="0"/>
              <a:t> </a:t>
            </a:r>
            <a:r>
              <a:rPr lang="en-US" dirty="0" err="1"/>
              <a:t>bájt</a:t>
            </a:r>
            <a:r>
              <a:rPr lang="en-US" dirty="0"/>
              <a:t> </a:t>
            </a:r>
            <a:r>
              <a:rPr lang="en-US" dirty="0" err="1"/>
              <a:t>sorszámát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utolsó</a:t>
            </a:r>
            <a:r>
              <a:rPr lang="en-US" dirty="0"/>
              <a:t> </a:t>
            </a:r>
            <a:r>
              <a:rPr lang="en-US" dirty="0" err="1"/>
              <a:t>rendben</a:t>
            </a:r>
            <a:r>
              <a:rPr lang="en-US" dirty="0"/>
              <a:t> </a:t>
            </a:r>
            <a:r>
              <a:rPr lang="en-US" dirty="0" err="1"/>
              <a:t>beérkezett</a:t>
            </a:r>
            <a:r>
              <a:rPr lang="en-US" dirty="0"/>
              <a:t> </a:t>
            </a:r>
            <a:r>
              <a:rPr lang="en-US" dirty="0" err="1"/>
              <a:t>bájtét</a:t>
            </a:r>
            <a:r>
              <a:rPr lang="en-US" dirty="0"/>
              <a:t>. </a:t>
            </a:r>
            <a:r>
              <a:rPr lang="en-US" dirty="0" err="1"/>
              <a:t>Mivel</a:t>
            </a:r>
            <a:r>
              <a:rPr lang="en-US" dirty="0"/>
              <a:t> a </a:t>
            </a:r>
            <a:r>
              <a:rPr lang="en-US" dirty="0" err="1"/>
              <a:t>nyugta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számmal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vett</a:t>
            </a:r>
            <a:r>
              <a:rPr lang="en-US" dirty="0"/>
              <a:t> </a:t>
            </a:r>
            <a:r>
              <a:rPr lang="en-US" dirty="0" err="1"/>
              <a:t>adatot</a:t>
            </a:r>
            <a:r>
              <a:rPr lang="en-US" dirty="0"/>
              <a:t> </a:t>
            </a:r>
            <a:r>
              <a:rPr lang="en-US" dirty="0" err="1"/>
              <a:t>nyugtáz</a:t>
            </a:r>
            <a:r>
              <a:rPr lang="en-US" dirty="0"/>
              <a:t>,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b="1" dirty="0" err="1"/>
              <a:t>halmozott</a:t>
            </a:r>
            <a:r>
              <a:rPr lang="en-US" b="1" dirty="0"/>
              <a:t> </a:t>
            </a:r>
            <a:r>
              <a:rPr lang="en-US" b="1" dirty="0" err="1"/>
              <a:t>nyugtáról</a:t>
            </a:r>
            <a:r>
              <a:rPr lang="en-US" dirty="0"/>
              <a:t> (</a:t>
            </a:r>
            <a:r>
              <a:rPr lang="en-US" b="1" dirty="0"/>
              <a:t>cumulative acknowledgement</a:t>
            </a:r>
            <a:r>
              <a:rPr lang="en-US" dirty="0"/>
              <a:t>) van </a:t>
            </a:r>
            <a:r>
              <a:rPr lang="en-US" dirty="0" err="1"/>
              <a:t>szó</a:t>
            </a:r>
            <a:endParaRPr lang="hu-HU" dirty="0"/>
          </a:p>
          <a:p>
            <a:pPr marL="171450" indent="-171450">
              <a:buFontTx/>
              <a:buChar char="-"/>
            </a:pPr>
            <a:endParaRPr lang="hu-HU" dirty="0"/>
          </a:p>
          <a:p>
            <a:pPr marL="0" indent="0">
              <a:buFontTx/>
              <a:buNone/>
            </a:pPr>
            <a:r>
              <a:rPr lang="hu-HU" dirty="0"/>
              <a:t>- </a:t>
            </a:r>
            <a:r>
              <a:rPr lang="en-US" dirty="0"/>
              <a:t>A </a:t>
            </a:r>
            <a:r>
              <a:rPr lang="en-US" i="1" dirty="0"/>
              <a:t>TCP-</a:t>
            </a:r>
            <a:r>
              <a:rPr lang="en-US" i="1" dirty="0" err="1"/>
              <a:t>fejrész</a:t>
            </a:r>
            <a:r>
              <a:rPr lang="en-US" i="1" dirty="0"/>
              <a:t> </a:t>
            </a:r>
            <a:r>
              <a:rPr lang="en-US" i="1" dirty="0" err="1"/>
              <a:t>hossza</a:t>
            </a:r>
            <a:r>
              <a:rPr lang="en-US" i="1" dirty="0"/>
              <a:t> (TCP header length)</a:t>
            </a:r>
            <a:r>
              <a:rPr lang="en-US" dirty="0"/>
              <a:t> </a:t>
            </a:r>
            <a:r>
              <a:rPr lang="en-US" dirty="0" err="1"/>
              <a:t>mondja</a:t>
            </a:r>
            <a:r>
              <a:rPr lang="en-US" dirty="0"/>
              <a:t> meg, </a:t>
            </a:r>
            <a:r>
              <a:rPr lang="en-US" dirty="0" err="1"/>
              <a:t>hány</a:t>
            </a:r>
            <a:r>
              <a:rPr lang="en-US" dirty="0"/>
              <a:t> 32 bites </a:t>
            </a:r>
            <a:r>
              <a:rPr lang="en-US" dirty="0" err="1"/>
              <a:t>szóból</a:t>
            </a:r>
            <a:r>
              <a:rPr lang="en-US" dirty="0"/>
              <a:t> </a:t>
            </a:r>
            <a:r>
              <a:rPr lang="en-US" dirty="0" err="1"/>
              <a:t>áll</a:t>
            </a:r>
            <a:r>
              <a:rPr lang="en-US" dirty="0"/>
              <a:t> a TCP-</a:t>
            </a:r>
            <a:r>
              <a:rPr lang="en-US" dirty="0" err="1"/>
              <a:t>fejrész</a:t>
            </a:r>
            <a:r>
              <a:rPr lang="en-US" dirty="0"/>
              <a:t>. 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információ</a:t>
            </a:r>
            <a:r>
              <a:rPr lang="en-US" dirty="0"/>
              <a:t> </a:t>
            </a:r>
            <a:r>
              <a:rPr lang="en-US" dirty="0" err="1"/>
              <a:t>azért</a:t>
            </a:r>
            <a:r>
              <a:rPr lang="en-US" dirty="0"/>
              <a:t> </a:t>
            </a:r>
            <a:r>
              <a:rPr lang="en-US" dirty="0" err="1"/>
              <a:t>szükséges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a </a:t>
            </a:r>
            <a:r>
              <a:rPr lang="en-US" dirty="0" err="1"/>
              <a:t>fejrész</a:t>
            </a:r>
            <a:r>
              <a:rPr lang="en-US" dirty="0"/>
              <a:t> </a:t>
            </a:r>
            <a:r>
              <a:rPr lang="en-US" dirty="0" err="1"/>
              <a:t>mérete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i="1" dirty="0" err="1"/>
              <a:t>Opciók</a:t>
            </a:r>
            <a:r>
              <a:rPr lang="en-US" dirty="0"/>
              <a:t> </a:t>
            </a:r>
            <a:r>
              <a:rPr lang="en-US" i="1" dirty="0"/>
              <a:t>(options)</a:t>
            </a:r>
            <a:r>
              <a:rPr lang="en-US" dirty="0"/>
              <a:t> </a:t>
            </a:r>
            <a:r>
              <a:rPr lang="en-US" dirty="0" err="1"/>
              <a:t>mező</a:t>
            </a:r>
            <a:r>
              <a:rPr lang="en-US" dirty="0"/>
              <a:t> </a:t>
            </a:r>
            <a:r>
              <a:rPr lang="en-US" dirty="0" err="1"/>
              <a:t>változó</a:t>
            </a:r>
            <a:r>
              <a:rPr lang="en-US" dirty="0"/>
              <a:t> </a:t>
            </a:r>
            <a:r>
              <a:rPr lang="en-US" dirty="0" err="1"/>
              <a:t>hossza</a:t>
            </a:r>
            <a:r>
              <a:rPr lang="en-US" dirty="0"/>
              <a:t> </a:t>
            </a:r>
            <a:r>
              <a:rPr lang="en-US" dirty="0" err="1"/>
              <a:t>miatt</a:t>
            </a:r>
            <a:r>
              <a:rPr lang="en-US" dirty="0"/>
              <a:t> </a:t>
            </a:r>
            <a:r>
              <a:rPr lang="en-US" dirty="0" err="1"/>
              <a:t>szintén</a:t>
            </a:r>
            <a:r>
              <a:rPr lang="en-US" dirty="0"/>
              <a:t> </a:t>
            </a:r>
            <a:r>
              <a:rPr lang="en-US" dirty="0" err="1"/>
              <a:t>változó</a:t>
            </a:r>
            <a:r>
              <a:rPr lang="en-US" dirty="0"/>
              <a:t>.</a:t>
            </a:r>
            <a:endParaRPr lang="hu-HU" dirty="0"/>
          </a:p>
          <a:p>
            <a:pPr marL="171450" indent="-171450">
              <a:buFontTx/>
              <a:buChar char="-"/>
            </a:pPr>
            <a:endParaRPr lang="hu-HU" dirty="0"/>
          </a:p>
          <a:p>
            <a:pPr marL="171450" indent="-171450">
              <a:buFontTx/>
              <a:buChar char="-"/>
            </a:pPr>
            <a:r>
              <a:rPr lang="hu-HU" dirty="0"/>
              <a:t>Nyolc egybites mező különböző jelzésekre (</a:t>
            </a:r>
            <a:r>
              <a:rPr lang="hu-HU" dirty="0" err="1"/>
              <a:t>flags</a:t>
            </a:r>
            <a:r>
              <a:rPr lang="hu-HU" dirty="0"/>
              <a:t>). </a:t>
            </a:r>
            <a:r>
              <a:rPr lang="en-US" dirty="0"/>
              <a:t>A </a:t>
            </a:r>
            <a:r>
              <a:rPr lang="en-US" i="1" dirty="0"/>
              <a:t>CWR</a:t>
            </a:r>
            <a:r>
              <a:rPr lang="en-US" dirty="0"/>
              <a:t> és </a:t>
            </a:r>
            <a:r>
              <a:rPr lang="en-US" i="1" dirty="0"/>
              <a:t>ECE</a:t>
            </a:r>
            <a:r>
              <a:rPr lang="en-US" dirty="0"/>
              <a:t> </a:t>
            </a:r>
            <a:r>
              <a:rPr lang="en-US" dirty="0" err="1"/>
              <a:t>mezőket</a:t>
            </a:r>
            <a:r>
              <a:rPr lang="en-US" dirty="0"/>
              <a:t> </a:t>
            </a:r>
            <a:r>
              <a:rPr lang="en-US" dirty="0" err="1"/>
              <a:t>torlódás</a:t>
            </a:r>
            <a:r>
              <a:rPr lang="en-US" dirty="0"/>
              <a:t> </a:t>
            </a:r>
            <a:r>
              <a:rPr lang="en-US" dirty="0" err="1"/>
              <a:t>jelzésére</a:t>
            </a:r>
            <a:r>
              <a:rPr lang="en-US" dirty="0"/>
              <a:t> </a:t>
            </a:r>
            <a:r>
              <a:rPr lang="en-US" dirty="0" err="1"/>
              <a:t>használják</a:t>
            </a:r>
            <a:r>
              <a:rPr lang="hu-HU" dirty="0"/>
              <a:t>. </a:t>
            </a:r>
            <a:r>
              <a:rPr lang="en-US" dirty="0"/>
              <a:t>Az </a:t>
            </a:r>
            <a:r>
              <a:rPr lang="en-US" i="1" dirty="0"/>
              <a:t>URG</a:t>
            </a:r>
            <a:r>
              <a:rPr lang="en-US" dirty="0"/>
              <a:t> bit </a:t>
            </a:r>
            <a:r>
              <a:rPr lang="en-US" dirty="0" err="1"/>
              <a:t>értéke</a:t>
            </a:r>
            <a:r>
              <a:rPr lang="en-US" dirty="0"/>
              <a:t> 1, ha </a:t>
            </a:r>
            <a:r>
              <a:rPr lang="en-US" i="1" dirty="0" err="1"/>
              <a:t>Sürgősségi</a:t>
            </a:r>
            <a:r>
              <a:rPr lang="en-US" i="1" dirty="0"/>
              <a:t> </a:t>
            </a:r>
            <a:r>
              <a:rPr lang="en-US" i="1" dirty="0" err="1"/>
              <a:t>mutatót</a:t>
            </a:r>
            <a:r>
              <a:rPr lang="en-US" i="1" dirty="0"/>
              <a:t> </a:t>
            </a:r>
            <a:r>
              <a:rPr lang="en-US" dirty="0" err="1"/>
              <a:t>használt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Az </a:t>
            </a:r>
            <a:r>
              <a:rPr lang="en-US" i="1" dirty="0"/>
              <a:t>ACK</a:t>
            </a:r>
            <a:r>
              <a:rPr lang="en-US" dirty="0"/>
              <a:t> bit 1 </a:t>
            </a:r>
            <a:r>
              <a:rPr lang="en-US" dirty="0" err="1"/>
              <a:t>értéke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en-US" dirty="0"/>
              <a:t> a </a:t>
            </a:r>
            <a:r>
              <a:rPr lang="en-US" i="1" dirty="0" err="1"/>
              <a:t>Nyugtaszám</a:t>
            </a:r>
            <a:r>
              <a:rPr lang="en-US" dirty="0"/>
              <a:t> </a:t>
            </a:r>
            <a:r>
              <a:rPr lang="en-US" dirty="0" err="1"/>
              <a:t>mező</a:t>
            </a:r>
            <a:r>
              <a:rPr lang="en-US" dirty="0"/>
              <a:t> </a:t>
            </a:r>
            <a:r>
              <a:rPr lang="en-US" dirty="0" err="1"/>
              <a:t>érvényességét</a:t>
            </a:r>
            <a:r>
              <a:rPr lang="hu-HU" dirty="0"/>
              <a:t>. </a:t>
            </a:r>
            <a:r>
              <a:rPr lang="en-US" dirty="0"/>
              <a:t>A </a:t>
            </a:r>
            <a:r>
              <a:rPr lang="en-US" i="1" dirty="0"/>
              <a:t>PSH</a:t>
            </a:r>
            <a:r>
              <a:rPr lang="en-US" dirty="0"/>
              <a:t> bit </a:t>
            </a:r>
            <a:r>
              <a:rPr lang="en-US" dirty="0" err="1"/>
              <a:t>jelzi</a:t>
            </a:r>
            <a:r>
              <a:rPr lang="en-US" dirty="0"/>
              <a:t> a </a:t>
            </a:r>
            <a:r>
              <a:rPr lang="en-US" dirty="0" err="1"/>
              <a:t>késedelem</a:t>
            </a:r>
            <a:r>
              <a:rPr lang="en-US" dirty="0"/>
              <a:t> </a:t>
            </a:r>
            <a:r>
              <a:rPr lang="en-US" dirty="0" err="1"/>
              <a:t>nélküli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továbbítását</a:t>
            </a:r>
            <a:r>
              <a:rPr lang="hu-HU" dirty="0"/>
              <a:t> (vevő ne pufferelje az adatokat). </a:t>
            </a:r>
            <a:r>
              <a:rPr lang="en-US" dirty="0"/>
              <a:t>Az </a:t>
            </a:r>
            <a:r>
              <a:rPr lang="en-US" i="1" dirty="0"/>
              <a:t>RST</a:t>
            </a:r>
            <a:r>
              <a:rPr lang="en-US" dirty="0"/>
              <a:t> bit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hoszt</a:t>
            </a:r>
            <a:r>
              <a:rPr lang="en-US" dirty="0"/>
              <a:t> </a:t>
            </a:r>
            <a:r>
              <a:rPr lang="en-US" dirty="0" err="1"/>
              <a:t>összeomlása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okból</a:t>
            </a:r>
            <a:r>
              <a:rPr lang="en-US" dirty="0"/>
              <a:t> </a:t>
            </a:r>
            <a:r>
              <a:rPr lang="en-US" dirty="0" err="1"/>
              <a:t>összezavart</a:t>
            </a:r>
            <a:r>
              <a:rPr lang="en-US" dirty="0"/>
              <a:t> </a:t>
            </a:r>
            <a:r>
              <a:rPr lang="en-US" dirty="0" err="1"/>
              <a:t>összeköttetés</a:t>
            </a:r>
            <a:r>
              <a:rPr lang="en-US" dirty="0"/>
              <a:t> </a:t>
            </a:r>
            <a:r>
              <a:rPr lang="en-US" dirty="0" err="1"/>
              <a:t>helyreállítására</a:t>
            </a:r>
            <a:r>
              <a:rPr lang="en-US" dirty="0"/>
              <a:t> </a:t>
            </a:r>
            <a:r>
              <a:rPr lang="en-US" dirty="0" err="1"/>
              <a:t>szolgál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i="1" dirty="0"/>
              <a:t>SYN</a:t>
            </a:r>
            <a:r>
              <a:rPr lang="en-US" dirty="0"/>
              <a:t> bit </a:t>
            </a:r>
            <a:r>
              <a:rPr lang="en-US" dirty="0" err="1"/>
              <a:t>összeköttetés</a:t>
            </a:r>
            <a:r>
              <a:rPr lang="en-US" dirty="0"/>
              <a:t> </a:t>
            </a:r>
            <a:r>
              <a:rPr lang="en-US" dirty="0" err="1"/>
              <a:t>létesítésére</a:t>
            </a:r>
            <a:r>
              <a:rPr lang="en-US" dirty="0"/>
              <a:t> </a:t>
            </a:r>
            <a:r>
              <a:rPr lang="en-US" dirty="0" err="1"/>
              <a:t>szolgál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i="1" dirty="0"/>
              <a:t>FIN</a:t>
            </a:r>
            <a:r>
              <a:rPr lang="en-US" dirty="0"/>
              <a:t> bit </a:t>
            </a:r>
            <a:r>
              <a:rPr lang="en-US" dirty="0" err="1"/>
              <a:t>szolgál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összeköttetés</a:t>
            </a:r>
            <a:r>
              <a:rPr lang="en-US" dirty="0"/>
              <a:t> </a:t>
            </a:r>
            <a:r>
              <a:rPr lang="en-US" dirty="0" err="1"/>
              <a:t>bontására</a:t>
            </a:r>
            <a:r>
              <a:rPr lang="en-US" dirty="0"/>
              <a:t>. </a:t>
            </a:r>
            <a:r>
              <a:rPr lang="en-US" dirty="0" err="1"/>
              <a:t>Jelzi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küldőnek</a:t>
            </a:r>
            <a:r>
              <a:rPr lang="en-US" dirty="0"/>
              <a:t>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továbbítandó</a:t>
            </a:r>
            <a:r>
              <a:rPr lang="en-US" dirty="0"/>
              <a:t> </a:t>
            </a:r>
            <a:r>
              <a:rPr lang="en-US" dirty="0" err="1"/>
              <a:t>adata</a:t>
            </a:r>
            <a:r>
              <a:rPr lang="en-US" dirty="0"/>
              <a:t>.</a:t>
            </a:r>
            <a:endParaRPr lang="hu-HU" dirty="0"/>
          </a:p>
          <a:p>
            <a:pPr marL="171450" indent="-171450">
              <a:buFontTx/>
              <a:buChar char="-"/>
            </a:pPr>
            <a:endParaRPr lang="hu-HU" dirty="0"/>
          </a:p>
          <a:p>
            <a:pPr marL="0" indent="0">
              <a:buFontTx/>
              <a:buNone/>
            </a:pPr>
            <a:r>
              <a:rPr lang="hu-HU" dirty="0"/>
              <a:t>A TCP forgalomszabályozása változó méretű </a:t>
            </a:r>
            <a:r>
              <a:rPr lang="hu-HU" dirty="0" err="1"/>
              <a:t>csúszóablakkal</a:t>
            </a:r>
            <a:r>
              <a:rPr lang="hu-HU" dirty="0"/>
              <a:t> történik. Az </a:t>
            </a:r>
            <a:r>
              <a:rPr lang="hu-HU" i="1" dirty="0"/>
              <a:t>Ablakméret</a:t>
            </a:r>
            <a:r>
              <a:rPr lang="hu-HU" dirty="0"/>
              <a:t> mező határozza meg, hogy a </a:t>
            </a:r>
            <a:r>
              <a:rPr lang="hu-HU" i="1" dirty="0"/>
              <a:t>Nyugtaszám </a:t>
            </a:r>
            <a:r>
              <a:rPr lang="hu-HU" dirty="0"/>
              <a:t>mező által mutatott</a:t>
            </a:r>
            <a:r>
              <a:rPr lang="hu-HU" i="1" dirty="0"/>
              <a:t> </a:t>
            </a:r>
            <a:r>
              <a:rPr lang="hu-HU" dirty="0"/>
              <a:t>bájttal kezdődően hány bájtot lehet elküldeni. Az </a:t>
            </a:r>
            <a:r>
              <a:rPr lang="hu-HU" i="1" dirty="0"/>
              <a:t>Ablakméret</a:t>
            </a:r>
            <a:r>
              <a:rPr lang="hu-HU" dirty="0"/>
              <a:t> 0 értéke is érvényes, és azt jelzi, hogy a </a:t>
            </a:r>
            <a:r>
              <a:rPr lang="hu-HU" i="1" dirty="0"/>
              <a:t>Nyugtaszám</a:t>
            </a:r>
            <a:r>
              <a:rPr lang="hu-HU" dirty="0"/>
              <a:t> bájtnál eggyel kisebb sorszámú bájtok mind rendben megérkeztek, viszont a vevőnek nagy szüksége van egy kis pihenésre és köszöni szépen, több adatot jelenleg nem kér. Később azonos </a:t>
            </a:r>
            <a:r>
              <a:rPr lang="hu-HU" i="1" dirty="0"/>
              <a:t>Nyugtaszám</a:t>
            </a:r>
            <a:r>
              <a:rPr lang="hu-HU" dirty="0"/>
              <a:t> értékkel és nem nulla </a:t>
            </a:r>
            <a:r>
              <a:rPr lang="hu-HU" i="1" dirty="0"/>
              <a:t>Ablakméret</a:t>
            </a:r>
            <a:r>
              <a:rPr lang="hu-HU" dirty="0"/>
              <a:t> mezővel ellátott szegmenssel engedélyezni lehet az adatok küldését.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6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UDP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jó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a </a:t>
            </a:r>
            <a:r>
              <a:rPr lang="en-US" dirty="0" err="1"/>
              <a:t>sebesség</a:t>
            </a:r>
            <a:r>
              <a:rPr lang="en-US" dirty="0"/>
              <a:t> </a:t>
            </a:r>
            <a:r>
              <a:rPr lang="en-US" dirty="0" err="1"/>
              <a:t>fontosabb</a:t>
            </a:r>
            <a:r>
              <a:rPr lang="en-US" dirty="0"/>
              <a:t>, mint a 100%-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megbízhatóság</a:t>
            </a:r>
            <a:r>
              <a:rPr lang="en-US" dirty="0"/>
              <a:t>. Ha 40 </a:t>
            </a:r>
            <a:r>
              <a:rPr lang="en-US" dirty="0" err="1"/>
              <a:t>ms</a:t>
            </a:r>
            <a:r>
              <a:rPr lang="hu-HU" dirty="0"/>
              <a:t>-ot</a:t>
            </a:r>
            <a:r>
              <a:rPr lang="en-US" dirty="0"/>
              <a:t> </a:t>
            </a:r>
            <a:r>
              <a:rPr lang="en-US" dirty="0" err="1"/>
              <a:t>késik</a:t>
            </a:r>
            <a:r>
              <a:rPr lang="en-US" dirty="0"/>
              <a:t> a hang,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torz</a:t>
            </a:r>
            <a:r>
              <a:rPr lang="en-US" dirty="0"/>
              <a:t> le</a:t>
            </a:r>
            <a:r>
              <a:rPr lang="hu-HU" dirty="0" err="1"/>
              <a:t>het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élmény</a:t>
            </a:r>
            <a:r>
              <a:rPr lang="en-US" dirty="0"/>
              <a:t> – </a:t>
            </a:r>
            <a:r>
              <a:rPr lang="en-US" dirty="0" err="1"/>
              <a:t>ezért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UDP-nek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kézfogása</a:t>
            </a:r>
            <a:r>
              <a:rPr lang="en-US" dirty="0"/>
              <a:t>, </a:t>
            </a:r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sorszám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alkalmazásnak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megoldania</a:t>
            </a:r>
            <a:r>
              <a:rPr lang="en-US" dirty="0"/>
              <a:t> a </a:t>
            </a:r>
            <a:r>
              <a:rPr lang="en-US" dirty="0" err="1"/>
              <a:t>hibakezelést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Az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Datagram</a:t>
            </a:r>
            <a:r>
              <a:rPr lang="hu-HU" dirty="0"/>
              <a:t> </a:t>
            </a:r>
            <a:r>
              <a:rPr lang="hu-HU" dirty="0" err="1"/>
              <a:t>Protocol</a:t>
            </a:r>
            <a:r>
              <a:rPr lang="hu-HU" dirty="0"/>
              <a:t> (UDP) sokkal egyszerűbb, mint a TCP. Elsősorban azért, mert itt egyetlen </a:t>
            </a:r>
            <a:r>
              <a:rPr lang="hu-HU" b="1" dirty="0" err="1"/>
              <a:t>datagram</a:t>
            </a:r>
            <a:r>
              <a:rPr lang="hu-HU" dirty="0"/>
              <a:t> küldése történik meg. Míg a TCP-nél a fogadó gépnek válaszolnia kell, addig az UDP-nél a fogadó gépnek ezt nem kell megtennie. </a:t>
            </a:r>
          </a:p>
          <a:p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46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mezők</a:t>
            </a:r>
            <a:r>
              <a:rPr lang="en-US" dirty="0"/>
              <a:t> </a:t>
            </a:r>
            <a:r>
              <a:rPr lang="en-US" dirty="0" err="1"/>
              <a:t>leírása</a:t>
            </a:r>
            <a:endParaRPr lang="en-US" dirty="0"/>
          </a:p>
          <a:p>
            <a:r>
              <a:rPr lang="hu-HU" i="1" dirty="0"/>
              <a:t>- </a:t>
            </a:r>
            <a:r>
              <a:rPr lang="en-US" i="1" dirty="0"/>
              <a:t>Forrás port:</a:t>
            </a:r>
            <a:r>
              <a:rPr lang="en-US" dirty="0"/>
              <a:t> A </a:t>
            </a:r>
            <a:r>
              <a:rPr lang="en-US" dirty="0" err="1"/>
              <a:t>küldő</a:t>
            </a:r>
            <a:r>
              <a:rPr lang="en-US" dirty="0"/>
              <a:t> (</a:t>
            </a:r>
            <a:r>
              <a:rPr lang="en-US" dirty="0" err="1"/>
              <a:t>forrás</a:t>
            </a:r>
            <a:r>
              <a:rPr lang="en-US" dirty="0"/>
              <a:t>)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portjának</a:t>
            </a:r>
            <a:r>
              <a:rPr lang="en-US" dirty="0"/>
              <a:t> </a:t>
            </a:r>
            <a:r>
              <a:rPr lang="en-US" dirty="0" err="1"/>
              <a:t>száma</a:t>
            </a:r>
            <a:r>
              <a:rPr lang="en-US" dirty="0"/>
              <a:t> 16 </a:t>
            </a:r>
            <a:r>
              <a:rPr lang="en-US" dirty="0" err="1"/>
              <a:t>biten</a:t>
            </a:r>
            <a:r>
              <a:rPr lang="en-US" dirty="0"/>
              <a:t> </a:t>
            </a:r>
            <a:r>
              <a:rPr lang="en-US" dirty="0" err="1"/>
              <a:t>ábrázolva</a:t>
            </a:r>
            <a:endParaRPr lang="en-US" dirty="0"/>
          </a:p>
          <a:p>
            <a:r>
              <a:rPr lang="hu-HU" i="1" dirty="0"/>
              <a:t>- </a:t>
            </a:r>
            <a:r>
              <a:rPr lang="en-US" i="1" dirty="0" err="1"/>
              <a:t>Cél</a:t>
            </a:r>
            <a:r>
              <a:rPr lang="en-US" i="1" dirty="0"/>
              <a:t> port:</a:t>
            </a:r>
            <a:r>
              <a:rPr lang="en-US" dirty="0"/>
              <a:t> A </a:t>
            </a:r>
            <a:r>
              <a:rPr lang="en-US" dirty="0" err="1"/>
              <a:t>vevő</a:t>
            </a:r>
            <a:r>
              <a:rPr lang="en-US" dirty="0"/>
              <a:t> </a:t>
            </a:r>
            <a:r>
              <a:rPr lang="en-US" dirty="0" err="1"/>
              <a:t>portjának</a:t>
            </a:r>
            <a:r>
              <a:rPr lang="en-US" dirty="0"/>
              <a:t> </a:t>
            </a:r>
            <a:r>
              <a:rPr lang="en-US" dirty="0" err="1"/>
              <a:t>száma</a:t>
            </a:r>
            <a:r>
              <a:rPr lang="en-US" dirty="0"/>
              <a:t>.</a:t>
            </a:r>
          </a:p>
          <a:p>
            <a:r>
              <a:rPr lang="hu-HU" i="1" dirty="0"/>
              <a:t>- </a:t>
            </a:r>
            <a:r>
              <a:rPr lang="en-US" i="1" dirty="0" err="1"/>
              <a:t>Hossz</a:t>
            </a:r>
            <a:r>
              <a:rPr lang="en-US" i="1" dirty="0"/>
              <a:t>:</a:t>
            </a:r>
            <a:r>
              <a:rPr lang="en-US" dirty="0"/>
              <a:t> A </a:t>
            </a:r>
            <a:r>
              <a:rPr lang="hu-HU" dirty="0"/>
              <a:t>csomag </a:t>
            </a:r>
            <a:r>
              <a:rPr lang="hu-HU" b="1" dirty="0"/>
              <a:t>teljes </a:t>
            </a:r>
            <a:r>
              <a:rPr lang="en-US" b="1" dirty="0" err="1"/>
              <a:t>hosszát</a:t>
            </a:r>
            <a:r>
              <a:rPr lang="en-US" b="1" dirty="0"/>
              <a:t> </a:t>
            </a:r>
            <a:r>
              <a:rPr lang="en-US" dirty="0" err="1"/>
              <a:t>adja</a:t>
            </a:r>
            <a:r>
              <a:rPr lang="en-US" dirty="0"/>
              <a:t> meg (</a:t>
            </a:r>
            <a:r>
              <a:rPr lang="en-US" dirty="0" err="1"/>
              <a:t>fejléc</a:t>
            </a:r>
            <a:r>
              <a:rPr lang="en-US" dirty="0"/>
              <a:t> + </a:t>
            </a:r>
            <a:r>
              <a:rPr lang="en-US" dirty="0" err="1"/>
              <a:t>adatmező</a:t>
            </a:r>
            <a:r>
              <a:rPr lang="en-US" dirty="0"/>
              <a:t>). Az </a:t>
            </a:r>
            <a:r>
              <a:rPr lang="en-US" dirty="0" err="1"/>
              <a:t>adatmező</a:t>
            </a:r>
            <a:r>
              <a:rPr lang="en-US" dirty="0"/>
              <a:t> </a:t>
            </a:r>
            <a:r>
              <a:rPr lang="en-US" dirty="0" err="1"/>
              <a:t>változó</a:t>
            </a:r>
            <a:r>
              <a:rPr lang="en-US" dirty="0"/>
              <a:t> </a:t>
            </a:r>
            <a:r>
              <a:rPr lang="en-US" dirty="0" err="1"/>
              <a:t>hosszúságú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.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minimális</a:t>
            </a:r>
            <a:r>
              <a:rPr lang="en-US" dirty="0"/>
              <a:t> </a:t>
            </a:r>
            <a:r>
              <a:rPr lang="en-US" dirty="0" err="1"/>
              <a:t>mérete</a:t>
            </a:r>
            <a:r>
              <a:rPr lang="en-US" dirty="0"/>
              <a:t> 8 </a:t>
            </a:r>
            <a:r>
              <a:rPr lang="en-US" dirty="0" err="1"/>
              <a:t>bájt</a:t>
            </a:r>
            <a:r>
              <a:rPr lang="en-US" dirty="0"/>
              <a:t>, </a:t>
            </a:r>
            <a:r>
              <a:rPr lang="en-US" dirty="0" err="1"/>
              <a:t>ekkor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fejlécet</a:t>
            </a:r>
            <a:r>
              <a:rPr lang="en-US" dirty="0"/>
              <a:t> </a:t>
            </a:r>
            <a:r>
              <a:rPr lang="en-US" dirty="0" err="1"/>
              <a:t>tartalmaz</a:t>
            </a:r>
            <a:r>
              <a:rPr lang="en-US" dirty="0"/>
              <a:t>.</a:t>
            </a:r>
          </a:p>
          <a:p>
            <a:r>
              <a:rPr lang="hu-HU" i="1" dirty="0"/>
              <a:t>- </a:t>
            </a:r>
            <a:r>
              <a:rPr lang="en-US" i="1" dirty="0" err="1"/>
              <a:t>Ellenőrző</a:t>
            </a:r>
            <a:r>
              <a:rPr lang="en-US" i="1" dirty="0"/>
              <a:t> </a:t>
            </a:r>
            <a:r>
              <a:rPr lang="en-US" i="1" dirty="0" err="1"/>
              <a:t>összeg</a:t>
            </a:r>
            <a:r>
              <a:rPr lang="en-US" i="1" dirty="0"/>
              <a:t>:</a:t>
            </a:r>
            <a:r>
              <a:rPr lang="en-US" dirty="0"/>
              <a:t> A </a:t>
            </a:r>
            <a:r>
              <a:rPr lang="en-US" dirty="0" err="1"/>
              <a:t>csomag</a:t>
            </a:r>
            <a:r>
              <a:rPr lang="en-US" dirty="0"/>
              <a:t> </a:t>
            </a:r>
            <a:r>
              <a:rPr lang="en-US" dirty="0" err="1"/>
              <a:t>tartalmának</a:t>
            </a:r>
            <a:r>
              <a:rPr lang="en-US" dirty="0"/>
              <a:t> </a:t>
            </a:r>
            <a:r>
              <a:rPr lang="en-US" dirty="0" err="1"/>
              <a:t>sértetlenségét</a:t>
            </a:r>
            <a:r>
              <a:rPr lang="en-US" dirty="0"/>
              <a:t> </a:t>
            </a:r>
            <a:r>
              <a:rPr lang="en-US" dirty="0" err="1"/>
              <a:t>ellenőrzi</a:t>
            </a:r>
            <a:r>
              <a:rPr lang="en-US" dirty="0"/>
              <a:t>. </a:t>
            </a:r>
            <a:r>
              <a:rPr lang="en-US" dirty="0" err="1"/>
              <a:t>Kiszámolása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kötelező</a:t>
            </a:r>
            <a:r>
              <a:rPr lang="en-US" dirty="0"/>
              <a:t>, </a:t>
            </a:r>
            <a:r>
              <a:rPr lang="en-US" dirty="0" err="1"/>
              <a:t>ekkor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a </a:t>
            </a:r>
            <a:r>
              <a:rPr lang="en-US" dirty="0" err="1"/>
              <a:t>mezőt</a:t>
            </a:r>
            <a:r>
              <a:rPr lang="en-US" dirty="0"/>
              <a:t> 0-ra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állítani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56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Így képzeld el a </a:t>
            </a:r>
            <a:r>
              <a:rPr lang="hu-HU" dirty="0" err="1"/>
              <a:t>portokat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/>
              <a:t>egy IP cím olyan, mint egy ház címe.</a:t>
            </a:r>
            <a:br>
              <a:rPr lang="hu-HU" dirty="0"/>
            </a:br>
            <a:r>
              <a:rPr lang="hu-HU" dirty="0"/>
              <a:t>A port pedig olyan, mint egy ajtó vagy kapucsengő – jelzi, melyik szolgáltatást akarod elérni a házon belül.</a:t>
            </a:r>
          </a:p>
          <a:p>
            <a:r>
              <a:rPr lang="hu-HU" dirty="0"/>
              <a:t>Például:</a:t>
            </a:r>
          </a:p>
          <a:p>
            <a:r>
              <a:rPr lang="hu-HU" dirty="0"/>
              <a:t>80 → HTTP</a:t>
            </a:r>
          </a:p>
          <a:p>
            <a:r>
              <a:rPr lang="hu-HU" dirty="0"/>
              <a:t>443 → HTTPS</a:t>
            </a:r>
          </a:p>
          <a:p>
            <a:r>
              <a:rPr lang="hu-HU" dirty="0"/>
              <a:t>22 → SSH</a:t>
            </a:r>
          </a:p>
          <a:p>
            <a:r>
              <a:rPr lang="hu-HU" dirty="0"/>
              <a:t>53 → DNS</a:t>
            </a:r>
          </a:p>
          <a:p>
            <a:r>
              <a:rPr lang="hu-HU" dirty="0"/>
              <a:t>Egy szerver működhet úgy, hogy </a:t>
            </a:r>
            <a:r>
              <a:rPr lang="hu-HU" b="1" dirty="0"/>
              <a:t>egyetlen IP-je van</a:t>
            </a:r>
            <a:r>
              <a:rPr lang="hu-HU" dirty="0"/>
              <a:t>, mégis több tucat különböző szolgáltatást kínál, mindegyik más és más </a:t>
            </a:r>
            <a:r>
              <a:rPr lang="hu-HU" dirty="0" err="1"/>
              <a:t>porton</a:t>
            </a:r>
            <a:r>
              <a:rPr lang="hu-HU" dirty="0"/>
              <a:t>.</a:t>
            </a:r>
          </a:p>
          <a:p>
            <a:r>
              <a:rPr lang="hu-HU" dirty="0"/>
              <a:t>A portok fontos szerepet játszanak tűzfalak konfigurálásánál is: ha egy port zárva van, a külső kliensek nem érik el rajta a szolgáltatást.</a:t>
            </a:r>
          </a:p>
          <a:p>
            <a:endParaRPr lang="hu-HU" dirty="0"/>
          </a:p>
          <a:p>
            <a:r>
              <a:rPr lang="hu-HU" dirty="0"/>
              <a:t>Amikor egy kliens program (például a böngésződ) szerverhez szeretne kapcsolódni, az operációs rendszer automatikusan hozzárendel egy rendelkezésre álló, nem használt, "magas" </a:t>
            </a:r>
            <a:r>
              <a:rPr lang="hu-HU" dirty="0" err="1"/>
              <a:t>portszámot</a:t>
            </a:r>
            <a:r>
              <a:rPr lang="hu-HU" dirty="0"/>
              <a:t> (például 49152 és 65535 közöttiek).</a:t>
            </a:r>
          </a:p>
          <a:p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11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DNS-t gyakran a telefonkönyvhöz hasonlítjuk, és ez nagyon jó hasonlat.</a:t>
            </a:r>
            <a:br>
              <a:rPr lang="hu-HU" dirty="0"/>
            </a:br>
            <a:r>
              <a:rPr lang="hu-HU" dirty="0"/>
              <a:t>Az emberek nem szeretnének IP címeket megjegyezni – könnyebb azt mondani: </a:t>
            </a:r>
            <a:r>
              <a:rPr lang="hu-HU" i="1" dirty="0"/>
              <a:t>google.com</a:t>
            </a:r>
            <a:r>
              <a:rPr lang="hu-HU" dirty="0"/>
              <a:t>.</a:t>
            </a:r>
            <a:br>
              <a:rPr lang="hu-HU" dirty="0"/>
            </a:br>
            <a:r>
              <a:rPr lang="hu-HU" dirty="0"/>
              <a:t>A böngésző viszont csak IP címekkel tud kommunikálni.</a:t>
            </a:r>
          </a:p>
          <a:p>
            <a:r>
              <a:rPr lang="hu-HU" dirty="0"/>
              <a:t>Ezért szükséges a DNS, amely a neveket IP címekhez rendeli.</a:t>
            </a:r>
            <a:br>
              <a:rPr lang="hu-HU" dirty="0"/>
            </a:br>
            <a:endParaRPr lang="hu-HU" dirty="0"/>
          </a:p>
          <a:p>
            <a:r>
              <a:rPr lang="hu-HU" dirty="0"/>
              <a:t>A működése hierarchikus:</a:t>
            </a:r>
          </a:p>
          <a:p>
            <a:r>
              <a:rPr lang="hu-HU" dirty="0"/>
              <a:t>- legfelül vannak a </a:t>
            </a:r>
            <a:r>
              <a:rPr lang="hu-HU" dirty="0" err="1"/>
              <a:t>root</a:t>
            </a:r>
            <a:r>
              <a:rPr lang="hu-HU" dirty="0"/>
              <a:t> szerverek,</a:t>
            </a:r>
          </a:p>
          <a:p>
            <a:r>
              <a:rPr lang="hu-HU" dirty="0"/>
              <a:t>- alattuk a TLD-k: .com, .hu, .</a:t>
            </a:r>
            <a:r>
              <a:rPr lang="hu-HU" dirty="0" err="1"/>
              <a:t>org</a:t>
            </a:r>
            <a:r>
              <a:rPr lang="hu-HU" dirty="0"/>
              <a:t>, stb.</a:t>
            </a:r>
          </a:p>
          <a:p>
            <a:r>
              <a:rPr lang="hu-HU" dirty="0"/>
              <a:t>- azután a </a:t>
            </a:r>
            <a:r>
              <a:rPr lang="hu-HU" dirty="0" err="1"/>
              <a:t>domain</a:t>
            </a:r>
            <a:r>
              <a:rPr lang="hu-HU" dirty="0"/>
              <a:t> tulajdonosok DNS-ei.</a:t>
            </a:r>
          </a:p>
          <a:p>
            <a:br>
              <a:rPr lang="hu-HU" dirty="0"/>
            </a:br>
            <a:r>
              <a:rPr lang="hu-HU" dirty="0"/>
              <a:t>A rendszer gyors működéséről cache-</a:t>
            </a:r>
            <a:r>
              <a:rPr lang="hu-HU" dirty="0" err="1"/>
              <a:t>elés</a:t>
            </a:r>
            <a:r>
              <a:rPr lang="hu-HU" dirty="0"/>
              <a:t> gondoskodik. Ez azt jelenti, hogy ha egyszer már lekérdeztél egy címet, a számítógéped, a böngésződ és még a szolgáltatód DNS szervere is eltárolja egy ideig.</a:t>
            </a:r>
          </a:p>
          <a:p>
            <a:r>
              <a:rPr lang="hu-HU" dirty="0"/>
              <a:t>A DNS működése kritikus: ha a DNS hibás, az Internet gyakorlatilag használhatatlan lesz – még akkor is, ha minden szerver működik.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6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hétköznapokban mindenki URL-t használ, de kevesen tudják, hogy mi a különbség az URL és a URI között.</a:t>
            </a:r>
          </a:p>
          <a:p>
            <a:endParaRPr lang="hu-HU" dirty="0"/>
          </a:p>
          <a:p>
            <a:r>
              <a:rPr lang="en-US" dirty="0"/>
              <a:t>A URI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logikai</a:t>
            </a:r>
            <a:r>
              <a:rPr lang="en-US" dirty="0"/>
              <a:t> </a:t>
            </a:r>
            <a:r>
              <a:rPr lang="en-US" dirty="0" err="1"/>
              <a:t>név</a:t>
            </a:r>
            <a:r>
              <a:rPr lang="en-US" dirty="0"/>
              <a:t> is, a URL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</a:t>
            </a:r>
            <a:r>
              <a:rPr lang="en-US" dirty="0" err="1"/>
              <a:t>mutat</a:t>
            </a:r>
            <a:r>
              <a:rPr lang="en-US" dirty="0"/>
              <a:t> </a:t>
            </a:r>
            <a:r>
              <a:rPr lang="en-US" dirty="0" err="1"/>
              <a:t>valamilyen</a:t>
            </a:r>
            <a:r>
              <a:rPr lang="en-US" dirty="0"/>
              <a:t> </a:t>
            </a:r>
            <a:r>
              <a:rPr lang="en-US" dirty="0" err="1"/>
              <a:t>elérési</a:t>
            </a:r>
            <a:r>
              <a:rPr lang="en-US" dirty="0"/>
              <a:t> </a:t>
            </a:r>
            <a:r>
              <a:rPr lang="en-US" dirty="0" err="1"/>
              <a:t>helyet</a:t>
            </a:r>
            <a:r>
              <a:rPr lang="en-US" dirty="0"/>
              <a:t>. A Weben a URL-ek </a:t>
            </a:r>
            <a:r>
              <a:rPr lang="en-US" dirty="0" err="1"/>
              <a:t>határozzák</a:t>
            </a:r>
            <a:r>
              <a:rPr lang="en-US" dirty="0"/>
              <a:t> meg,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pontosan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erőforrást</a:t>
            </a:r>
            <a:r>
              <a:rPr lang="en-US" dirty="0"/>
              <a:t> </a:t>
            </a:r>
            <a:r>
              <a:rPr lang="en-US" dirty="0" err="1"/>
              <a:t>akarunk</a:t>
            </a:r>
            <a:r>
              <a:rPr lang="en-US" dirty="0"/>
              <a:t> </a:t>
            </a:r>
            <a:r>
              <a:rPr lang="en-US" dirty="0" err="1"/>
              <a:t>elérni</a:t>
            </a:r>
            <a:r>
              <a:rPr lang="en-US" dirty="0"/>
              <a:t>. Ez </a:t>
            </a:r>
            <a:r>
              <a:rPr lang="en-US" dirty="0" err="1"/>
              <a:t>később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API </a:t>
            </a:r>
            <a:r>
              <a:rPr lang="en-US" dirty="0" err="1"/>
              <a:t>tervezésben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URI egy azonosító – bármit azonosíthat.</a:t>
            </a:r>
            <a:br>
              <a:rPr lang="hu-HU" dirty="0"/>
            </a:br>
            <a:r>
              <a:rPr lang="hu-HU" dirty="0"/>
              <a:t>Az URL pedig kifejezetten egy erőforrás </a:t>
            </a:r>
            <a:r>
              <a:rPr lang="hu-HU" i="1" dirty="0"/>
              <a:t>helyére</a:t>
            </a:r>
            <a:r>
              <a:rPr lang="hu-HU" dirty="0"/>
              <a:t> mutat.</a:t>
            </a:r>
          </a:p>
          <a:p>
            <a:r>
              <a:rPr lang="hu-HU" dirty="0"/>
              <a:t>Az URN pedig csak névként azonosít. Nem ad meg helyet.</a:t>
            </a:r>
          </a:p>
          <a:p>
            <a:endParaRPr lang="hu-HU" dirty="0"/>
          </a:p>
          <a:p>
            <a:r>
              <a:rPr lang="hu-HU" dirty="0"/>
              <a:t>Egy URL felépítése:</a:t>
            </a:r>
            <a:br>
              <a:rPr lang="hu-HU" dirty="0"/>
            </a:b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scheme://host:port/path?query#fragment</a:t>
            </a:r>
          </a:p>
          <a:p>
            <a:endParaRPr lang="hu-HU" dirty="0"/>
          </a:p>
          <a:p>
            <a:r>
              <a:rPr lang="hu-HU" dirty="0"/>
              <a:t>Példa:</a:t>
            </a:r>
            <a:br>
              <a:rPr lang="hu-HU" dirty="0"/>
            </a:b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https://example.com:443/products?id=5#reviews</a:t>
            </a:r>
          </a:p>
          <a:p>
            <a:endParaRPr lang="hu-HU" dirty="0"/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</a:t>
            </a:r>
            <a:r>
              <a:rPr lang="hu-HU" dirty="0"/>
              <a:t> = milyen protokollon kommunikálunk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example.com</a:t>
            </a:r>
            <a:r>
              <a:rPr lang="hu-HU" dirty="0"/>
              <a:t> = melyik szerver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443</a:t>
            </a:r>
            <a:r>
              <a:rPr lang="hu-HU" dirty="0"/>
              <a:t> = port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</a:t>
            </a:r>
            <a:r>
              <a:rPr lang="hu-HU" dirty="0"/>
              <a:t> = melyik erőforrás</a:t>
            </a:r>
          </a:p>
          <a:p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=5</a:t>
            </a:r>
            <a:r>
              <a:rPr lang="hu-HU" dirty="0"/>
              <a:t> = paraméter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#reviews</a:t>
            </a:r>
            <a:r>
              <a:rPr lang="hu-HU" dirty="0"/>
              <a:t> = a dokumentum egy része</a:t>
            </a:r>
          </a:p>
          <a:p>
            <a:endParaRPr lang="hu-HU" dirty="0"/>
          </a:p>
          <a:p>
            <a:r>
              <a:rPr lang="hu-HU" dirty="0"/>
              <a:t>Ez nagyon fontos lesz API tervezésnél, ahol gyönyörű, logikus URL-</a:t>
            </a:r>
            <a:r>
              <a:rPr lang="hu-HU" dirty="0" err="1"/>
              <a:t>eket</a:t>
            </a:r>
            <a:r>
              <a:rPr lang="hu-HU" dirty="0"/>
              <a:t> kell majd kialakítanunk.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59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beírsz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URL-t, </a:t>
            </a:r>
            <a:r>
              <a:rPr lang="en-US" dirty="0" err="1"/>
              <a:t>valójában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folyamat</a:t>
            </a:r>
            <a:r>
              <a:rPr lang="en-US" dirty="0"/>
              <a:t> </a:t>
            </a:r>
            <a:r>
              <a:rPr lang="en-US" dirty="0" err="1"/>
              <a:t>indul</a:t>
            </a:r>
            <a:r>
              <a:rPr lang="en-US" dirty="0"/>
              <a:t> el. </a:t>
            </a:r>
            <a:r>
              <a:rPr lang="en-US" dirty="0" err="1"/>
              <a:t>Először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DNS-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IP-t </a:t>
            </a:r>
            <a:r>
              <a:rPr lang="en-US" dirty="0" err="1"/>
              <a:t>kér</a:t>
            </a:r>
            <a:r>
              <a:rPr lang="en-US" dirty="0"/>
              <a:t>. </a:t>
            </a:r>
            <a:r>
              <a:rPr lang="en-US" dirty="0" err="1"/>
              <a:t>Ezután</a:t>
            </a:r>
            <a:r>
              <a:rPr lang="en-US" dirty="0"/>
              <a:t> TCP</a:t>
            </a:r>
            <a:r>
              <a:rPr lang="hu-HU" dirty="0"/>
              <a:t> </a:t>
            </a:r>
            <a:r>
              <a:rPr lang="en-US" dirty="0" err="1"/>
              <a:t>kapcsolat</a:t>
            </a:r>
            <a:r>
              <a:rPr lang="en-US" dirty="0"/>
              <a:t> </a:t>
            </a:r>
            <a:r>
              <a:rPr lang="hu-HU" dirty="0"/>
              <a:t>fel</a:t>
            </a:r>
            <a:r>
              <a:rPr lang="en-US" dirty="0" err="1"/>
              <a:t>épül</a:t>
            </a:r>
            <a:r>
              <a:rPr lang="en-US" dirty="0"/>
              <a:t>. Majd </a:t>
            </a:r>
            <a:r>
              <a:rPr lang="en-US" dirty="0" err="1"/>
              <a:t>jön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HTTP GET </a:t>
            </a:r>
            <a:r>
              <a:rPr lang="en-US" dirty="0" err="1"/>
              <a:t>kérés</a:t>
            </a:r>
            <a:r>
              <a:rPr lang="en-US" dirty="0"/>
              <a:t>.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visszaküldi</a:t>
            </a:r>
            <a:r>
              <a:rPr lang="en-US" dirty="0"/>
              <a:t> a HTML-t, </a:t>
            </a:r>
            <a:r>
              <a:rPr lang="en-US" dirty="0" err="1"/>
              <a:t>majd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újabb</a:t>
            </a:r>
            <a:r>
              <a:rPr lang="en-US" dirty="0"/>
              <a:t> </a:t>
            </a:r>
            <a:r>
              <a:rPr lang="en-US" dirty="0" err="1"/>
              <a:t>kéréseket</a:t>
            </a:r>
            <a:r>
              <a:rPr lang="en-US" dirty="0"/>
              <a:t> </a:t>
            </a:r>
            <a:r>
              <a:rPr lang="en-US" dirty="0" err="1"/>
              <a:t>indít</a:t>
            </a:r>
            <a:r>
              <a:rPr lang="en-US" dirty="0"/>
              <a:t> a CSS-re, JS-re, </a:t>
            </a:r>
            <a:r>
              <a:rPr lang="en-US" dirty="0" err="1"/>
              <a:t>képekre</a:t>
            </a:r>
            <a:r>
              <a:rPr lang="en-US" dirty="0"/>
              <a:t>. A </a:t>
            </a:r>
            <a:r>
              <a:rPr lang="en-US" dirty="0" err="1"/>
              <a:t>végén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DOM-</a:t>
            </a:r>
            <a:r>
              <a:rPr lang="en-US" dirty="0" err="1"/>
              <a:t>ot</a:t>
            </a:r>
            <a:r>
              <a:rPr lang="en-US" dirty="0"/>
              <a:t> </a:t>
            </a:r>
            <a:r>
              <a:rPr lang="en-US" dirty="0" err="1"/>
              <a:t>épít</a:t>
            </a:r>
            <a:r>
              <a:rPr lang="en-US" dirty="0"/>
              <a:t> és </a:t>
            </a:r>
            <a:r>
              <a:rPr lang="en-US" dirty="0" err="1"/>
              <a:t>kirendereli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weboldal</a:t>
            </a:r>
            <a:r>
              <a:rPr lang="en-US" dirty="0"/>
              <a:t> </a:t>
            </a:r>
            <a:r>
              <a:rPr lang="en-US" dirty="0" err="1"/>
              <a:t>betöltése</a:t>
            </a:r>
            <a:r>
              <a:rPr lang="en-US" dirty="0"/>
              <a:t>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összetettebb</a:t>
            </a:r>
            <a:r>
              <a:rPr lang="en-US" dirty="0"/>
              <a:t> </a:t>
            </a:r>
            <a:r>
              <a:rPr lang="en-US" dirty="0" err="1"/>
              <a:t>folyamat</a:t>
            </a:r>
            <a:r>
              <a:rPr lang="en-US" dirty="0"/>
              <a:t>, mint </a:t>
            </a:r>
            <a:r>
              <a:rPr lang="en-US" dirty="0" err="1"/>
              <a:t>amilyennek</a:t>
            </a:r>
            <a:r>
              <a:rPr lang="en-US" dirty="0"/>
              <a:t> </a:t>
            </a:r>
            <a:r>
              <a:rPr lang="en-US" dirty="0" err="1"/>
              <a:t>látszik</a:t>
            </a:r>
            <a:r>
              <a:rPr lang="en-US" dirty="0"/>
              <a:t>.</a:t>
            </a:r>
            <a:r>
              <a:rPr lang="hu-HU" dirty="0"/>
              <a:t> A következő történik:</a:t>
            </a:r>
          </a:p>
          <a:p>
            <a:endParaRPr lang="en-US" dirty="0"/>
          </a:p>
          <a:p>
            <a:r>
              <a:rPr lang="en-US" b="1" dirty="0"/>
              <a:t>DNS </a:t>
            </a:r>
            <a:r>
              <a:rPr lang="en-US" b="1" dirty="0" err="1"/>
              <a:t>lekérdezés</a:t>
            </a:r>
            <a:br>
              <a:rPr lang="en-US" dirty="0"/>
            </a:br>
            <a:r>
              <a:rPr lang="en-US" dirty="0" err="1"/>
              <a:t>Megnézi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IP </a:t>
            </a:r>
            <a:r>
              <a:rPr lang="en-US" dirty="0" err="1"/>
              <a:t>cím</a:t>
            </a:r>
            <a:r>
              <a:rPr lang="en-US" dirty="0"/>
              <a:t> </a:t>
            </a:r>
            <a:r>
              <a:rPr lang="en-US" dirty="0" err="1"/>
              <a:t>tartozik</a:t>
            </a:r>
            <a:r>
              <a:rPr lang="en-US" dirty="0"/>
              <a:t> a </a:t>
            </a:r>
            <a:r>
              <a:rPr lang="en-US" dirty="0" err="1"/>
              <a:t>domainhez</a:t>
            </a:r>
            <a:r>
              <a:rPr lang="en-US" dirty="0"/>
              <a:t>.</a:t>
            </a:r>
          </a:p>
          <a:p>
            <a:r>
              <a:rPr lang="en-US" b="1" dirty="0"/>
              <a:t>TCP / TLS </a:t>
            </a:r>
            <a:r>
              <a:rPr lang="en-US" b="1" dirty="0" err="1"/>
              <a:t>kapcsolat</a:t>
            </a:r>
            <a:r>
              <a:rPr lang="en-US" b="1" dirty="0"/>
              <a:t> </a:t>
            </a:r>
            <a:r>
              <a:rPr lang="en-US" b="1" dirty="0" err="1"/>
              <a:t>felépítése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böngésző</a:t>
            </a:r>
            <a:r>
              <a:rPr lang="en-US" dirty="0"/>
              <a:t> TCP </a:t>
            </a:r>
            <a:r>
              <a:rPr lang="en-US" dirty="0" err="1"/>
              <a:t>kapcsolatot</a:t>
            </a:r>
            <a:r>
              <a:rPr lang="en-US" dirty="0"/>
              <a:t> </a:t>
            </a:r>
            <a:r>
              <a:rPr lang="en-US" dirty="0" err="1"/>
              <a:t>épít</a:t>
            </a:r>
            <a:r>
              <a:rPr lang="en-US" dirty="0"/>
              <a:t> a </a:t>
            </a:r>
            <a:r>
              <a:rPr lang="en-US" dirty="0" err="1"/>
              <a:t>szerverrel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ha HTTPS-</a:t>
            </a:r>
            <a:r>
              <a:rPr lang="en-US" dirty="0" err="1"/>
              <a:t>ről</a:t>
            </a:r>
            <a:r>
              <a:rPr lang="en-US" dirty="0"/>
              <a:t> van </a:t>
            </a:r>
            <a:r>
              <a:rPr lang="en-US" dirty="0" err="1"/>
              <a:t>szó</a:t>
            </a:r>
            <a:r>
              <a:rPr lang="en-US" dirty="0"/>
              <a:t>, </a:t>
            </a:r>
            <a:r>
              <a:rPr lang="en-US" dirty="0" err="1"/>
              <a:t>megtörténik</a:t>
            </a:r>
            <a:r>
              <a:rPr lang="en-US" dirty="0"/>
              <a:t> a TLS handshake is.</a:t>
            </a:r>
          </a:p>
          <a:p>
            <a:r>
              <a:rPr lang="en-US" b="1" dirty="0"/>
              <a:t>HTTP </a:t>
            </a:r>
            <a:r>
              <a:rPr lang="en-US" b="1" dirty="0" err="1"/>
              <a:t>kérés</a:t>
            </a:r>
            <a:r>
              <a:rPr lang="en-US" b="1" dirty="0"/>
              <a:t> </a:t>
            </a:r>
            <a:r>
              <a:rPr lang="en-US" b="1" dirty="0" err="1"/>
              <a:t>elküldése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elküld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GET / HTTP/1.1 </a:t>
            </a:r>
            <a:r>
              <a:rPr lang="en-US" dirty="0" err="1"/>
              <a:t>kérést</a:t>
            </a:r>
            <a:r>
              <a:rPr lang="en-US" dirty="0"/>
              <a:t>.</a:t>
            </a:r>
          </a:p>
          <a:p>
            <a:r>
              <a:rPr lang="en-US" b="1" dirty="0"/>
              <a:t>HTTP </a:t>
            </a:r>
            <a:r>
              <a:rPr lang="en-US" b="1" dirty="0" err="1"/>
              <a:t>válasz</a:t>
            </a:r>
            <a:r>
              <a:rPr lang="en-US" b="1" dirty="0"/>
              <a:t> </a:t>
            </a:r>
            <a:r>
              <a:rPr lang="en-US" b="1" dirty="0" err="1"/>
              <a:t>érkezik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visszaküldi</a:t>
            </a:r>
            <a:r>
              <a:rPr lang="en-US" dirty="0"/>
              <a:t> a HTML </a:t>
            </a:r>
            <a:r>
              <a:rPr lang="en-US" dirty="0" err="1"/>
              <a:t>dokumentumot</a:t>
            </a:r>
            <a:r>
              <a:rPr lang="en-US" dirty="0"/>
              <a:t>.</a:t>
            </a:r>
          </a:p>
          <a:p>
            <a:r>
              <a:rPr lang="en-US" b="1" dirty="0" err="1"/>
              <a:t>Források</a:t>
            </a:r>
            <a:r>
              <a:rPr lang="en-US" b="1" dirty="0"/>
              <a:t> </a:t>
            </a:r>
            <a:r>
              <a:rPr lang="en-US" b="1" dirty="0" err="1"/>
              <a:t>betöltése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újabb</a:t>
            </a:r>
            <a:r>
              <a:rPr lang="en-US" dirty="0"/>
              <a:t> </a:t>
            </a:r>
            <a:r>
              <a:rPr lang="en-US" dirty="0" err="1"/>
              <a:t>kéréseket</a:t>
            </a:r>
            <a:r>
              <a:rPr lang="en-US" dirty="0"/>
              <a:t> </a:t>
            </a:r>
            <a:r>
              <a:rPr lang="en-US" dirty="0" err="1"/>
              <a:t>indít</a:t>
            </a:r>
            <a:r>
              <a:rPr lang="en-US" dirty="0"/>
              <a:t>: CSS, JavaScript, </a:t>
            </a:r>
            <a:r>
              <a:rPr lang="en-US" dirty="0" err="1"/>
              <a:t>képek</a:t>
            </a:r>
            <a:r>
              <a:rPr lang="en-US" dirty="0"/>
              <a:t>, </a:t>
            </a:r>
            <a:r>
              <a:rPr lang="en-US" dirty="0" err="1"/>
              <a:t>ikonok</a:t>
            </a:r>
            <a:r>
              <a:rPr lang="en-US" dirty="0"/>
              <a:t>.</a:t>
            </a:r>
          </a:p>
          <a:p>
            <a:r>
              <a:rPr lang="en-US" b="1" dirty="0"/>
              <a:t>DOM + CSSOM + Render Tree </a:t>
            </a:r>
            <a:r>
              <a:rPr lang="en-US" b="1" dirty="0" err="1"/>
              <a:t>felépítése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feldolgozza</a:t>
            </a:r>
            <a:r>
              <a:rPr lang="en-US" dirty="0"/>
              <a:t> a </a:t>
            </a:r>
            <a:r>
              <a:rPr lang="en-US" dirty="0" err="1"/>
              <a:t>dokumentumot</a:t>
            </a:r>
            <a:r>
              <a:rPr lang="en-US" dirty="0"/>
              <a:t> és </a:t>
            </a:r>
            <a:r>
              <a:rPr lang="en-US" dirty="0" err="1"/>
              <a:t>megjeleníti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Ez a </a:t>
            </a:r>
            <a:r>
              <a:rPr lang="en-US" dirty="0" err="1"/>
              <a:t>folyamat</a:t>
            </a:r>
            <a:r>
              <a:rPr lang="en-US" dirty="0"/>
              <a:t> 200–500 </a:t>
            </a:r>
            <a:r>
              <a:rPr lang="en-US" dirty="0" err="1"/>
              <a:t>ms</a:t>
            </a:r>
            <a:r>
              <a:rPr lang="en-US" dirty="0"/>
              <a:t> </a:t>
            </a:r>
            <a:r>
              <a:rPr lang="en-US" dirty="0" err="1"/>
              <a:t>alatt</a:t>
            </a:r>
            <a:r>
              <a:rPr lang="en-US" dirty="0"/>
              <a:t> </a:t>
            </a:r>
            <a:r>
              <a:rPr lang="en-US" dirty="0" err="1"/>
              <a:t>lezajlik</a:t>
            </a:r>
            <a:r>
              <a:rPr lang="en-US" dirty="0"/>
              <a:t>,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webszerver</a:t>
            </a:r>
            <a:r>
              <a:rPr lang="en-US" dirty="0"/>
              <a:t> és </a:t>
            </a:r>
            <a:r>
              <a:rPr lang="en-US" dirty="0" err="1"/>
              <a:t>gyors</a:t>
            </a:r>
            <a:r>
              <a:rPr lang="en-US" dirty="0"/>
              <a:t> internet </a:t>
            </a:r>
            <a:r>
              <a:rPr lang="en-US" dirty="0" err="1"/>
              <a:t>esetén</a:t>
            </a:r>
            <a:r>
              <a:rPr lang="en-US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82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HTTP lesz a félév egyik legfontosabb témája. A HTTP egy szöveges, állapotmentes (</a:t>
            </a:r>
            <a:r>
              <a:rPr lang="hu-HU" dirty="0" err="1"/>
              <a:t>stateless</a:t>
            </a:r>
            <a:r>
              <a:rPr lang="hu-HU" dirty="0"/>
              <a:t>) protokoll. Minden kérés önálló. A Web API-k 95%-a HTTP-n működik.</a:t>
            </a:r>
          </a:p>
          <a:p>
            <a:r>
              <a:rPr lang="hu-HU" dirty="0"/>
              <a:t>A következő órákban külön hangsúlyt kap a HTTP/1.1, HTTP/2 és HTTP/3.</a:t>
            </a:r>
          </a:p>
          <a:p>
            <a:endParaRPr lang="hu-HU" dirty="0"/>
          </a:p>
          <a:p>
            <a:r>
              <a:rPr lang="en-US" dirty="0"/>
              <a:t>A HTTP a Web </a:t>
            </a:r>
            <a:r>
              <a:rPr lang="en-US" dirty="0" err="1"/>
              <a:t>kommunikációs</a:t>
            </a:r>
            <a:r>
              <a:rPr lang="en-US" dirty="0"/>
              <a:t> </a:t>
            </a:r>
            <a:r>
              <a:rPr lang="en-US" dirty="0" err="1"/>
              <a:t>nyelve</a:t>
            </a:r>
            <a:r>
              <a:rPr lang="en-US" dirty="0"/>
              <a:t>. </a:t>
            </a:r>
            <a:r>
              <a:rPr lang="en-US" dirty="0" err="1"/>
              <a:t>Kérés-válasz</a:t>
            </a:r>
            <a:r>
              <a:rPr lang="en-US" dirty="0"/>
              <a:t> </a:t>
            </a:r>
            <a:r>
              <a:rPr lang="en-US" dirty="0" err="1"/>
              <a:t>alapú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</a:t>
            </a:r>
            <a:r>
              <a:rPr lang="en-US" dirty="0" err="1"/>
              <a:t>mindig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kezdeményez</a:t>
            </a:r>
            <a:r>
              <a:rPr lang="en-US" dirty="0"/>
              <a:t>.</a:t>
            </a:r>
          </a:p>
          <a:p>
            <a:r>
              <a:rPr lang="en-US" dirty="0"/>
              <a:t>Fontos </a:t>
            </a:r>
            <a:r>
              <a:rPr lang="en-US" dirty="0" err="1"/>
              <a:t>tulajdonsága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/>
              <a:t>stateless</a:t>
            </a:r>
            <a:r>
              <a:rPr lang="en-US" dirty="0"/>
              <a:t>, </a:t>
            </a:r>
            <a:r>
              <a:rPr lang="en-US" dirty="0" err="1"/>
              <a:t>azaz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kérés</a:t>
            </a:r>
            <a:r>
              <a:rPr lang="en-US" dirty="0"/>
              <a:t> </a:t>
            </a:r>
            <a:r>
              <a:rPr lang="en-US" dirty="0" err="1"/>
              <a:t>önálló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valójában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technológiával</a:t>
            </a:r>
            <a:r>
              <a:rPr lang="en-US" dirty="0"/>
              <a:t> „</a:t>
            </a:r>
            <a:r>
              <a:rPr lang="en-US" dirty="0" err="1"/>
              <a:t>trükközzük</a:t>
            </a:r>
            <a:r>
              <a:rPr lang="en-US" dirty="0"/>
              <a:t> ki”, </a:t>
            </a:r>
            <a:r>
              <a:rPr lang="en-US" dirty="0" err="1"/>
              <a:t>például</a:t>
            </a:r>
            <a:r>
              <a:rPr lang="en-US" dirty="0"/>
              <a:t> cookie-k, session</a:t>
            </a:r>
            <a:r>
              <a:rPr lang="hu-HU" dirty="0"/>
              <a:t>-</a:t>
            </a:r>
            <a:r>
              <a:rPr lang="en-US" dirty="0" err="1"/>
              <a:t>ök</a:t>
            </a:r>
            <a:r>
              <a:rPr lang="en-US" dirty="0"/>
              <a:t>, </a:t>
            </a:r>
            <a:r>
              <a:rPr lang="hu-HU" dirty="0"/>
              <a:t>JWT</a:t>
            </a:r>
            <a:r>
              <a:rPr lang="en-US" dirty="0"/>
              <a:t> </a:t>
            </a:r>
            <a:r>
              <a:rPr lang="en-US" dirty="0" err="1"/>
              <a:t>tokenek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 – </a:t>
            </a:r>
            <a:r>
              <a:rPr lang="en-US" dirty="0" err="1"/>
              <a:t>erről</a:t>
            </a:r>
            <a:r>
              <a:rPr lang="en-US" dirty="0"/>
              <a:t> a </a:t>
            </a:r>
            <a:r>
              <a:rPr lang="en-US" dirty="0" err="1"/>
              <a:t>későbbiekben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en-US" dirty="0"/>
              <a:t> </a:t>
            </a:r>
            <a:r>
              <a:rPr lang="en-US" dirty="0" err="1"/>
              <a:t>szó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HTTP </a:t>
            </a:r>
            <a:r>
              <a:rPr lang="en-US" dirty="0" err="1"/>
              <a:t>módszerei</a:t>
            </a:r>
            <a:r>
              <a:rPr lang="en-US" dirty="0"/>
              <a:t> </a:t>
            </a:r>
            <a:r>
              <a:rPr lang="en-US" dirty="0" err="1"/>
              <a:t>különböző</a:t>
            </a:r>
            <a:r>
              <a:rPr lang="en-US" dirty="0"/>
              <a:t> </a:t>
            </a:r>
            <a:r>
              <a:rPr lang="en-US" dirty="0" err="1"/>
              <a:t>célokat</a:t>
            </a:r>
            <a:r>
              <a:rPr lang="en-US" dirty="0"/>
              <a:t> </a:t>
            </a:r>
            <a:r>
              <a:rPr lang="en-US" dirty="0" err="1"/>
              <a:t>szolgálnak</a:t>
            </a:r>
            <a:r>
              <a:rPr lang="en-US" dirty="0"/>
              <a:t>:</a:t>
            </a:r>
          </a:p>
          <a:p>
            <a:r>
              <a:rPr lang="en-US" dirty="0"/>
              <a:t>GET →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lekérése</a:t>
            </a:r>
            <a:endParaRPr lang="en-US" dirty="0"/>
          </a:p>
          <a:p>
            <a:r>
              <a:rPr lang="en-US" dirty="0"/>
              <a:t>POST →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küldése</a:t>
            </a:r>
            <a:endParaRPr lang="en-US" dirty="0"/>
          </a:p>
          <a:p>
            <a:r>
              <a:rPr lang="en-US" dirty="0"/>
              <a:t>PUT →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erőforrás</a:t>
            </a:r>
            <a:r>
              <a:rPr lang="en-US" dirty="0"/>
              <a:t> </a:t>
            </a:r>
            <a:r>
              <a:rPr lang="en-US" dirty="0" err="1"/>
              <a:t>frissítése</a:t>
            </a:r>
            <a:endParaRPr lang="en-US" dirty="0"/>
          </a:p>
          <a:p>
            <a:r>
              <a:rPr lang="en-US" dirty="0"/>
              <a:t>DELETE → </a:t>
            </a:r>
            <a:r>
              <a:rPr lang="en-US" dirty="0" err="1"/>
              <a:t>törlés</a:t>
            </a:r>
            <a:endParaRPr lang="en-US" dirty="0"/>
          </a:p>
          <a:p>
            <a:endParaRPr lang="hu-HU" dirty="0"/>
          </a:p>
          <a:p>
            <a:r>
              <a:rPr lang="hu-HU" dirty="0"/>
              <a:t>Ezekről később részletesen beszélünk.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75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HTTPS a </a:t>
            </a:r>
            <a:r>
              <a:rPr lang="en-US" dirty="0" err="1"/>
              <a:t>biztonságos</a:t>
            </a:r>
            <a:r>
              <a:rPr lang="en-US" dirty="0"/>
              <a:t> HTTP. A TLS </a:t>
            </a:r>
            <a:r>
              <a:rPr lang="en-US" dirty="0" err="1"/>
              <a:t>titkosítja</a:t>
            </a:r>
            <a:r>
              <a:rPr lang="en-US" dirty="0"/>
              <a:t> a </a:t>
            </a:r>
            <a:r>
              <a:rPr lang="en-US" dirty="0" err="1"/>
              <a:t>forgalmat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ne </a:t>
            </a:r>
            <a:r>
              <a:rPr lang="en-US" dirty="0" err="1"/>
              <a:t>lehessen</a:t>
            </a:r>
            <a:r>
              <a:rPr lang="en-US" dirty="0"/>
              <a:t> </a:t>
            </a:r>
            <a:r>
              <a:rPr lang="en-US" dirty="0" err="1"/>
              <a:t>lehallgatni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manipulálni</a:t>
            </a:r>
            <a:r>
              <a:rPr lang="en-US" dirty="0"/>
              <a:t>. A </a:t>
            </a:r>
            <a:r>
              <a:rPr lang="en-US" dirty="0" err="1"/>
              <a:t>tanúsítványok</a:t>
            </a:r>
            <a:r>
              <a:rPr lang="en-US" dirty="0"/>
              <a:t> </a:t>
            </a:r>
            <a:r>
              <a:rPr lang="en-US" dirty="0" err="1"/>
              <a:t>igazolják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kilétét</a:t>
            </a:r>
            <a:r>
              <a:rPr lang="en-US" dirty="0"/>
              <a:t>. A modern web</a:t>
            </a:r>
            <a:r>
              <a:rPr lang="hu-HU" dirty="0"/>
              <a:t>es</a:t>
            </a:r>
            <a:r>
              <a:rPr lang="en-US" dirty="0"/>
              <a:t> </a:t>
            </a:r>
            <a:r>
              <a:rPr lang="en-US" dirty="0" err="1"/>
              <a:t>alkalmazásoknál</a:t>
            </a:r>
            <a:r>
              <a:rPr lang="en-US" dirty="0"/>
              <a:t> </a:t>
            </a:r>
            <a:r>
              <a:rPr lang="hu-HU" dirty="0"/>
              <a:t>ez </a:t>
            </a:r>
            <a:r>
              <a:rPr lang="en-US" dirty="0" err="1"/>
              <a:t>alapkövetelmény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HTTPS a HTTP </a:t>
            </a:r>
            <a:r>
              <a:rPr lang="en-US" dirty="0" err="1"/>
              <a:t>biztonságos</a:t>
            </a:r>
            <a:r>
              <a:rPr lang="en-US" dirty="0"/>
              <a:t> </a:t>
            </a:r>
            <a:r>
              <a:rPr lang="en-US" dirty="0" err="1"/>
              <a:t>változata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böngésző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között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titkosítva</a:t>
            </a:r>
            <a:r>
              <a:rPr lang="en-US" dirty="0"/>
              <a:t> </a:t>
            </a:r>
            <a:r>
              <a:rPr lang="en-US" dirty="0" err="1"/>
              <a:t>utazik</a:t>
            </a:r>
            <a:r>
              <a:rPr lang="en-US" dirty="0"/>
              <a:t>.</a:t>
            </a:r>
          </a:p>
          <a:p>
            <a:r>
              <a:rPr lang="en-US" dirty="0"/>
              <a:t>Ez </a:t>
            </a:r>
            <a:r>
              <a:rPr lang="en-US" dirty="0" err="1"/>
              <a:t>nemcsak</a:t>
            </a:r>
            <a:r>
              <a:rPr lang="en-US" dirty="0"/>
              <a:t> a </a:t>
            </a:r>
            <a:r>
              <a:rPr lang="en-US" dirty="0" err="1"/>
              <a:t>jelszavak</a:t>
            </a:r>
            <a:r>
              <a:rPr lang="en-US" dirty="0"/>
              <a:t> </a:t>
            </a:r>
            <a:r>
              <a:rPr lang="en-US" dirty="0" err="1"/>
              <a:t>miatt</a:t>
            </a:r>
            <a:r>
              <a:rPr lang="en-US" dirty="0"/>
              <a:t> </a:t>
            </a:r>
            <a:r>
              <a:rPr lang="en-US" dirty="0" err="1"/>
              <a:t>fontos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miatt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banki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személyes</a:t>
            </a:r>
            <a:r>
              <a:rPr lang="en-US" dirty="0"/>
              <a:t> </a:t>
            </a:r>
            <a:r>
              <a:rPr lang="en-US" dirty="0" err="1"/>
              <a:t>információk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• API </a:t>
            </a:r>
            <a:r>
              <a:rPr lang="en-US" dirty="0" err="1"/>
              <a:t>tokenek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• session cookie-k.</a:t>
            </a:r>
            <a:endParaRPr lang="hu-HU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titkosítást</a:t>
            </a:r>
            <a:r>
              <a:rPr lang="en-US" dirty="0"/>
              <a:t> a TLS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dirty="0" err="1"/>
              <a:t>végzi</a:t>
            </a:r>
            <a:r>
              <a:rPr lang="en-US" dirty="0"/>
              <a:t>. A </a:t>
            </a:r>
            <a:r>
              <a:rPr lang="en-US" dirty="0" err="1"/>
              <a:t>kapcsolat</a:t>
            </a:r>
            <a:r>
              <a:rPr lang="en-US" dirty="0"/>
              <a:t> </a:t>
            </a:r>
            <a:r>
              <a:rPr lang="en-US" dirty="0" err="1"/>
              <a:t>elején</a:t>
            </a:r>
            <a:r>
              <a:rPr lang="en-US" dirty="0"/>
              <a:t> </a:t>
            </a:r>
            <a:r>
              <a:rPr lang="en-US" dirty="0" err="1"/>
              <a:t>zajlik</a:t>
            </a:r>
            <a:r>
              <a:rPr lang="en-US" dirty="0"/>
              <a:t> a TLS handshake,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 a </a:t>
            </a:r>
            <a:r>
              <a:rPr lang="en-US" dirty="0" err="1"/>
              <a:t>felek</a:t>
            </a:r>
            <a:r>
              <a:rPr lang="en-US" dirty="0"/>
              <a:t> </a:t>
            </a:r>
            <a:r>
              <a:rPr lang="en-US" dirty="0" err="1"/>
              <a:t>megállapodnak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titkos</a:t>
            </a:r>
            <a:r>
              <a:rPr lang="en-US" dirty="0"/>
              <a:t> </a:t>
            </a:r>
            <a:r>
              <a:rPr lang="en-US" dirty="0" err="1"/>
              <a:t>kulcsban</a:t>
            </a:r>
            <a:r>
              <a:rPr lang="en-US" dirty="0"/>
              <a:t>, és </a:t>
            </a:r>
            <a:r>
              <a:rPr lang="en-US" dirty="0" err="1"/>
              <a:t>ellenőrzik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hitelességét</a:t>
            </a:r>
            <a:r>
              <a:rPr lang="en-US" dirty="0"/>
              <a:t> </a:t>
            </a:r>
            <a:r>
              <a:rPr lang="en-US" dirty="0" err="1"/>
              <a:t>digitális</a:t>
            </a:r>
            <a:r>
              <a:rPr lang="en-US" dirty="0"/>
              <a:t> </a:t>
            </a:r>
            <a:r>
              <a:rPr lang="en-US" dirty="0" err="1"/>
              <a:t>tanúsítványok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mai</a:t>
            </a:r>
            <a:r>
              <a:rPr lang="en-US" dirty="0"/>
              <a:t> Web-</a:t>
            </a:r>
            <a:r>
              <a:rPr lang="en-US" dirty="0" err="1"/>
              <a:t>en</a:t>
            </a:r>
            <a:r>
              <a:rPr lang="en-US" dirty="0"/>
              <a:t> a HTTPS </a:t>
            </a:r>
            <a:r>
              <a:rPr lang="en-US" dirty="0" err="1"/>
              <a:t>alapvető</a:t>
            </a:r>
            <a:r>
              <a:rPr lang="en-US" dirty="0"/>
              <a:t> </a:t>
            </a:r>
            <a:r>
              <a:rPr lang="en-US" dirty="0" err="1"/>
              <a:t>elvárás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figyelmeztetést</a:t>
            </a:r>
            <a:r>
              <a:rPr lang="en-US" dirty="0"/>
              <a:t> </a:t>
            </a:r>
            <a:r>
              <a:rPr lang="en-US" dirty="0" err="1"/>
              <a:t>adnak</a:t>
            </a:r>
            <a:r>
              <a:rPr lang="en-US" dirty="0"/>
              <a:t>, ha </a:t>
            </a:r>
            <a:r>
              <a:rPr lang="en-US" dirty="0" err="1"/>
              <a:t>nem</a:t>
            </a:r>
            <a:r>
              <a:rPr lang="en-US" dirty="0"/>
              <a:t> HTTPS-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kommunikál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oldal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18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Összefoglalva: megértettük, hogy az Internet valójában sok hálózat „szövevényes” összekapcsolódása, és hogy minden kommunikáció a TCP/IP modell </a:t>
            </a:r>
            <a:r>
              <a:rPr lang="hu-HU" dirty="0" err="1"/>
              <a:t>rétegein</a:t>
            </a:r>
            <a:r>
              <a:rPr lang="hu-HU" dirty="0"/>
              <a:t> keresztül zajlik.</a:t>
            </a:r>
          </a:p>
          <a:p>
            <a:r>
              <a:rPr lang="hu-HU" dirty="0"/>
              <a:t>Láttuk az IP szerepét, a TCP és UDP közti különbséget, a portok jelentőségét, valamint azt, hogyan működik a DNS.</a:t>
            </a:r>
          </a:p>
          <a:p>
            <a:r>
              <a:rPr lang="hu-HU" dirty="0"/>
              <a:t>Végül pedig megnéztük, hogy milyen lépésekből áll egy weboldal betöltése, és miért kulcsfontosságú a HTTP és HTTPS működésének ismerete.</a:t>
            </a:r>
          </a:p>
          <a:p>
            <a:r>
              <a:rPr lang="hu-HU" dirty="0"/>
              <a:t>E</a:t>
            </a:r>
            <a:r>
              <a:rPr lang="en-US" dirty="0"/>
              <a:t>zek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alapok</a:t>
            </a:r>
            <a:r>
              <a:rPr lang="en-US" dirty="0"/>
              <a:t> </a:t>
            </a:r>
            <a:r>
              <a:rPr lang="en-US" dirty="0" err="1"/>
              <a:t>nélkülözhetetlenek</a:t>
            </a:r>
            <a:r>
              <a:rPr lang="en-US" dirty="0"/>
              <a:t> </a:t>
            </a:r>
            <a:r>
              <a:rPr lang="en-US" dirty="0" err="1"/>
              <a:t>lesznek</a:t>
            </a:r>
            <a:r>
              <a:rPr lang="en-US" dirty="0"/>
              <a:t> a </a:t>
            </a:r>
            <a:r>
              <a:rPr lang="en-US" dirty="0" err="1"/>
              <a:t>későbbi</a:t>
            </a:r>
            <a:r>
              <a:rPr lang="en-US" dirty="0"/>
              <a:t> </a:t>
            </a:r>
            <a:r>
              <a:rPr lang="en-US" dirty="0" err="1"/>
              <a:t>témákhoz</a:t>
            </a:r>
            <a:r>
              <a:rPr lang="en-US" dirty="0"/>
              <a:t>, mint a REST API-k</a:t>
            </a:r>
            <a:r>
              <a:rPr lang="hu-HU" dirty="0"/>
              <a:t>, vagy a HTTP/1.1, HTTP/2 és HTTP/3 működése.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mailto:baloghzoltan1977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zbalogh/oe-internetes-alkalmazaso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mple.com/path/to/page.php?search=alm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tel:+36123456789" TargetMode="External"/><Relationship Id="rId5" Type="http://schemas.openxmlformats.org/officeDocument/2006/relationships/hyperlink" Target="mailto:info@example.com" TargetMode="External"/><Relationship Id="rId4" Type="http://schemas.openxmlformats.org/officeDocument/2006/relationships/hyperlink" Target="ftp://ftp.example.org/pub/file.zip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C2DDB-F1CC-AEEF-6B4F-FC4BA9A50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400" dirty="0"/>
              <a:t>Balogh Zoltán</a:t>
            </a:r>
            <a:br>
              <a:rPr lang="hu-HU" sz="3400" dirty="0"/>
            </a:br>
            <a:br>
              <a:rPr lang="hu-HU" sz="3400" dirty="0"/>
            </a:br>
            <a:r>
              <a:rPr lang="hu-HU" sz="2400" dirty="0" err="1"/>
              <a:t>Senior</a:t>
            </a:r>
            <a:r>
              <a:rPr lang="hu-HU" sz="2400" dirty="0"/>
              <a:t> Software </a:t>
            </a:r>
            <a:r>
              <a:rPr lang="hu-HU" sz="2400" dirty="0" err="1"/>
              <a:t>Engineer</a:t>
            </a:r>
            <a:br>
              <a:rPr lang="hu-HU" sz="2400" dirty="0"/>
            </a:br>
            <a:br>
              <a:rPr lang="hu-HU" sz="3400" dirty="0"/>
            </a:br>
            <a:r>
              <a:rPr lang="hu-HU" sz="1400" dirty="0"/>
              <a:t>Email: </a:t>
            </a:r>
            <a:br>
              <a:rPr lang="hu-HU" sz="1400" dirty="0"/>
            </a:br>
            <a:br>
              <a:rPr lang="hu-HU" sz="1400" dirty="0"/>
            </a:br>
            <a:r>
              <a:rPr lang="hu-HU" sz="1400" dirty="0">
                <a:hlinkClick r:id="rId2"/>
              </a:rPr>
              <a:t>baloghzoltan1977@gmail.com</a:t>
            </a:r>
            <a:br>
              <a:rPr lang="hu-HU" sz="1400" dirty="0"/>
            </a:br>
            <a:br>
              <a:rPr lang="hu-HU" sz="3400" dirty="0"/>
            </a:br>
            <a:endParaRPr lang="en-US" sz="3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510F8A9-DB9A-88B5-7571-2AD095FFA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02638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320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96EC-3E64-C304-F71C-158351C9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3816"/>
          </a:xfrm>
        </p:spPr>
        <p:txBody>
          <a:bodyPr>
            <a:normAutofit/>
          </a:bodyPr>
          <a:lstStyle/>
          <a:p>
            <a:r>
              <a:rPr lang="en-US" sz="3600" dirty="0" err="1"/>
              <a:t>Internetes</a:t>
            </a:r>
            <a:r>
              <a:rPr lang="en-US" sz="3600" dirty="0"/>
              <a:t> </a:t>
            </a:r>
            <a:r>
              <a:rPr lang="en-US" sz="3600" dirty="0" err="1"/>
              <a:t>alkalmazások</a:t>
            </a:r>
            <a:r>
              <a:rPr lang="en-US" sz="3600" dirty="0"/>
              <a:t> és WEB </a:t>
            </a:r>
            <a:r>
              <a:rPr lang="en-US" sz="3600" dirty="0" err="1"/>
              <a:t>technológiák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29B1-7AAF-197C-6620-80666BE98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76742"/>
            <a:ext cx="11030712" cy="4182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2400" b="1" dirty="0"/>
              <a:t>A félév során érintett témakörök:</a:t>
            </a:r>
          </a:p>
          <a:p>
            <a:r>
              <a:rPr lang="hu-HU" dirty="0"/>
              <a:t>TCP/IP protokollcsalád, Web működése</a:t>
            </a:r>
          </a:p>
          <a:p>
            <a:r>
              <a:rPr lang="hu-HU" dirty="0"/>
              <a:t>HTTP működése: HTTP/1.1, HTTP/2, HTTP3 protokollok</a:t>
            </a:r>
          </a:p>
          <a:p>
            <a:r>
              <a:rPr lang="hu-HU" dirty="0"/>
              <a:t>TLS/SSL, PKI, HTTPS</a:t>
            </a:r>
          </a:p>
          <a:p>
            <a:r>
              <a:rPr lang="hu-HU" dirty="0"/>
              <a:t>MVC, REST, API tervezés</a:t>
            </a:r>
          </a:p>
          <a:p>
            <a:r>
              <a:rPr lang="hu-HU" dirty="0"/>
              <a:t>Kliensoldali webes technikák</a:t>
            </a:r>
          </a:p>
          <a:p>
            <a:r>
              <a:rPr lang="hu-HU" dirty="0" err="1"/>
              <a:t>Autentikáció</a:t>
            </a:r>
            <a:r>
              <a:rPr lang="hu-HU" dirty="0"/>
              <a:t> és jogosultságkezelés</a:t>
            </a:r>
          </a:p>
          <a:p>
            <a:r>
              <a:rPr lang="hu-HU" dirty="0"/>
              <a:t>Webbiztonság alapjai</a:t>
            </a:r>
          </a:p>
          <a:p>
            <a:r>
              <a:rPr lang="hu-HU" dirty="0"/>
              <a:t>SOAP, </a:t>
            </a:r>
            <a:r>
              <a:rPr lang="hu-HU" dirty="0" err="1"/>
              <a:t>gRPC</a:t>
            </a:r>
            <a:r>
              <a:rPr lang="hu-HU" dirty="0"/>
              <a:t>, </a:t>
            </a:r>
            <a:r>
              <a:rPr lang="hu-HU" dirty="0" err="1"/>
              <a:t>WebSocket</a:t>
            </a:r>
            <a:endParaRPr lang="hu-HU" dirty="0"/>
          </a:p>
          <a:p>
            <a:r>
              <a:rPr lang="hu-HU" dirty="0"/>
              <a:t>Protokollok alkalmazása a </a:t>
            </a:r>
            <a:r>
              <a:rPr lang="hu-HU" dirty="0" err="1"/>
              <a:t>MicroService</a:t>
            </a:r>
            <a:r>
              <a:rPr lang="hu-HU" dirty="0"/>
              <a:t> architektúrában</a:t>
            </a:r>
          </a:p>
        </p:txBody>
      </p:sp>
    </p:spTree>
    <p:extLst>
      <p:ext uri="{BB962C8B-B14F-4D97-AF65-F5344CB8AC3E}">
        <p14:creationId xmlns:p14="http://schemas.microsoft.com/office/powerpoint/2010/main" val="175673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888D9-8305-0465-4F3D-7DA29873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hu-HU" dirty="0"/>
              <a:t>GitHub </a:t>
            </a:r>
            <a:r>
              <a:rPr lang="hu-HU" dirty="0" err="1"/>
              <a:t>repository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6470-8D30-EA9B-70C6-C8C1DD303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934" y="2161914"/>
            <a:ext cx="7695849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/>
              <a:t>A tantárgyhoz kapcsolódó anyagok és példaprogramok elérhetők az alábbi GitHub linken: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400" dirty="0">
                <a:hlinkClick r:id="rId2"/>
              </a:rPr>
              <a:t>https://github.com/zbalogh/oe-internetes-alkalmazasok</a:t>
            </a:r>
            <a:endParaRPr lang="hu-HU" sz="2400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CE131-709F-8000-6809-6F51AE690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2246" y="2161914"/>
            <a:ext cx="3178835" cy="317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7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298558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400"/>
              <a:t>Internet alapjai, TCP/IP protokollcsalád, a Web működése</a:t>
            </a:r>
            <a:endParaRPr lang="en-US" sz="34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Computer 3D windows background">
            <a:extLst>
              <a:ext uri="{FF2B5EF4-FFF2-40B4-BE49-F238E27FC236}">
                <a16:creationId xmlns:a16="http://schemas.microsoft.com/office/drawing/2014/main" id="{B5523A56-D096-BC6D-179B-31C286BAC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595" y="1416248"/>
            <a:ext cx="7333488" cy="412508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E35EA-FB9C-AE5F-4AB8-1B3D59CC9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22976" y="611650"/>
            <a:ext cx="614476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938BE-A021-61C0-0F7D-399E2B44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5376672"/>
          </a:xfrm>
        </p:spPr>
        <p:txBody>
          <a:bodyPr>
            <a:normAutofit/>
          </a:bodyPr>
          <a:lstStyle/>
          <a:p>
            <a:r>
              <a:rPr lang="en-US" dirty="0"/>
              <a:t>Mi </a:t>
            </a:r>
            <a:r>
              <a:rPr lang="en-US" dirty="0" err="1"/>
              <a:t>az</a:t>
            </a:r>
            <a:r>
              <a:rPr lang="en-US" dirty="0"/>
              <a:t> Internet?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90F4F3-9B15-624A-8C4D-E7CAE80B81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22976" y="1042416"/>
            <a:ext cx="6144768" cy="53126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Hálózatok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hálózata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hu-HU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globális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infrastruktúra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Elosztott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decentralizált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nincs központi irányítója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címzés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alapja</a:t>
            </a: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Nyílt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protokollok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(TCP/IP, HTTP, DN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S,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használata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Ezekre épülnek azok az átviteli </a:t>
            </a:r>
            <a:r>
              <a:rPr lang="hu-HU" altLang="en-US" dirty="0">
                <a:latin typeface="Arial" panose="020B0604020202020204" pitchFamily="34" charset="0"/>
              </a:rPr>
              <a:t>protokollok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amelyekkel a félév során megismerkedünk.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77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7552"/>
          </a:xfrm>
        </p:spPr>
        <p:txBody>
          <a:bodyPr/>
          <a:lstStyle/>
          <a:p>
            <a:r>
              <a:rPr lang="en-US"/>
              <a:t>Kliens–szerver modell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8EF2-0F32-2DE4-361C-973583F4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29185"/>
            <a:ext cx="10537050" cy="3459765"/>
          </a:xfrm>
        </p:spPr>
        <p:txBody>
          <a:bodyPr>
            <a:noAutofit/>
          </a:bodyPr>
          <a:lstStyle/>
          <a:p>
            <a:r>
              <a:rPr lang="hu-HU" sz="2000" dirty="0"/>
              <a:t>A legtöbb Internetes alkalmazás kliens-szerver modellben működik</a:t>
            </a:r>
          </a:p>
          <a:p>
            <a:r>
              <a:rPr lang="hu-HU" sz="2000" dirty="0"/>
              <a:t>Kliens alkalmazás kéréseket küld</a:t>
            </a:r>
          </a:p>
          <a:p>
            <a:r>
              <a:rPr lang="hu-HU" sz="2000" dirty="0"/>
              <a:t>Szerver alkalmazás válaszol</a:t>
            </a:r>
          </a:p>
          <a:p>
            <a:r>
              <a:rPr lang="hu-HU" sz="2000" dirty="0"/>
              <a:t>Állapotmentes kommunikáció</a:t>
            </a:r>
          </a:p>
          <a:p>
            <a:r>
              <a:rPr lang="hu-HU" sz="2000" dirty="0"/>
              <a:t>Állapottároló kommunikáció (munkamenet tárolás a szerveren)</a:t>
            </a:r>
          </a:p>
          <a:p>
            <a:r>
              <a:rPr lang="hu-HU" sz="2000" dirty="0"/>
              <a:t>Szerver portokon várja a kéréseket (</a:t>
            </a:r>
            <a:r>
              <a:rPr lang="hu-HU" sz="2000" dirty="0" err="1"/>
              <a:t>listening</a:t>
            </a:r>
            <a:r>
              <a:rPr lang="hu-HU" sz="2000" dirty="0"/>
              <a:t>)</a:t>
            </a:r>
          </a:p>
          <a:p>
            <a:r>
              <a:rPr lang="hu-HU" sz="2000" dirty="0"/>
              <a:t>Legismertebb portok: 80 port (HTTP), 443 port (HTTPS), 53 port (DNS), 25 port (SMTP)</a:t>
            </a:r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0DD0C-2A5D-A74C-22C5-1B3AC35D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/>
              <a:t>TCP/IP </a:t>
            </a:r>
            <a:r>
              <a:rPr lang="en-US" err="1"/>
              <a:t>modell</a:t>
            </a:r>
            <a:r>
              <a:rPr lang="en-US"/>
              <a:t> </a:t>
            </a:r>
            <a:r>
              <a:rPr lang="en-US" err="1"/>
              <a:t>áttekintése</a:t>
            </a: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B4AD80C0-83D4-D6CD-F995-EAB8F7FA0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" r="-2" b="194"/>
          <a:stretch>
            <a:fillRect/>
          </a:stretch>
        </p:blipFill>
        <p:spPr>
          <a:xfrm>
            <a:off x="524256" y="2415016"/>
            <a:ext cx="4312664" cy="31301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EAED-0AED-941F-756C-DE43CD1D9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2669" y="2162342"/>
            <a:ext cx="6178694" cy="37172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2000" dirty="0"/>
              <a:t>4 rétegből áll (szemben az OSI </a:t>
            </a:r>
            <a:r>
              <a:rPr lang="hu-HU" sz="2000" dirty="0" err="1"/>
              <a:t>model</a:t>
            </a:r>
            <a:r>
              <a:rPr lang="hu-HU" sz="2000" dirty="0"/>
              <a:t> 7 rétegével):</a:t>
            </a:r>
          </a:p>
          <a:p>
            <a:pPr lvl="1">
              <a:lnSpc>
                <a:spcPct val="100000"/>
              </a:lnSpc>
            </a:pPr>
            <a:r>
              <a:rPr lang="hu-HU" sz="1700" b="1" dirty="0"/>
              <a:t>Alkalmazási</a:t>
            </a:r>
            <a:r>
              <a:rPr lang="hu-HU" sz="1700" dirty="0"/>
              <a:t> réteg (pl. HTTP, DNS, SMTP)</a:t>
            </a:r>
          </a:p>
          <a:p>
            <a:pPr lvl="1">
              <a:lnSpc>
                <a:spcPct val="100000"/>
              </a:lnSpc>
            </a:pPr>
            <a:r>
              <a:rPr lang="hu-HU" sz="1700" b="1" dirty="0"/>
              <a:t>Szállítási</a:t>
            </a:r>
            <a:r>
              <a:rPr lang="hu-HU" sz="1700" dirty="0"/>
              <a:t> réteg (TCP, UDP)</a:t>
            </a:r>
          </a:p>
          <a:p>
            <a:pPr lvl="1">
              <a:lnSpc>
                <a:spcPct val="100000"/>
              </a:lnSpc>
            </a:pPr>
            <a:r>
              <a:rPr lang="hu-HU" sz="1700" b="1" dirty="0"/>
              <a:t>Hálózati</a:t>
            </a:r>
            <a:r>
              <a:rPr lang="hu-HU" sz="1700" dirty="0"/>
              <a:t> réteg (IP)</a:t>
            </a:r>
          </a:p>
          <a:p>
            <a:pPr lvl="1">
              <a:lnSpc>
                <a:spcPct val="100000"/>
              </a:lnSpc>
            </a:pPr>
            <a:r>
              <a:rPr lang="hu-HU" sz="1700" dirty="0"/>
              <a:t>Hálózati </a:t>
            </a:r>
            <a:r>
              <a:rPr lang="hu-HU" sz="1700" b="1" dirty="0"/>
              <a:t>hozzáférési</a:t>
            </a:r>
            <a:r>
              <a:rPr lang="hu-HU" sz="1700" dirty="0"/>
              <a:t> (fizikai) réteg (pl. Ethernet)</a:t>
            </a:r>
          </a:p>
          <a:p>
            <a:pPr>
              <a:lnSpc>
                <a:spcPct val="100000"/>
              </a:lnSpc>
            </a:pPr>
            <a:r>
              <a:rPr lang="hu-HU" sz="2000" dirty="0"/>
              <a:t>M</a:t>
            </a:r>
            <a:r>
              <a:rPr lang="en-US" sz="2000" dirty="0" err="1"/>
              <a:t>inden</a:t>
            </a:r>
            <a:r>
              <a:rPr lang="en-US" sz="2000" dirty="0"/>
              <a:t> </a:t>
            </a:r>
            <a:r>
              <a:rPr lang="en-US" sz="2000" dirty="0" err="1"/>
              <a:t>réteg</a:t>
            </a:r>
            <a:r>
              <a:rPr lang="en-US" sz="2000" dirty="0"/>
              <a:t> </a:t>
            </a:r>
            <a:r>
              <a:rPr lang="en-US" sz="2000" dirty="0" err="1"/>
              <a:t>egy-egy</a:t>
            </a:r>
            <a:r>
              <a:rPr lang="en-US" sz="2000" dirty="0"/>
              <a:t> </a:t>
            </a:r>
            <a:r>
              <a:rPr lang="en-US" sz="2000" dirty="0" err="1"/>
              <a:t>konkrét</a:t>
            </a:r>
            <a:r>
              <a:rPr lang="en-US" sz="2000" dirty="0"/>
              <a:t> </a:t>
            </a:r>
            <a:r>
              <a:rPr lang="en-US" sz="2000" dirty="0" err="1"/>
              <a:t>feladatkört</a:t>
            </a:r>
            <a:r>
              <a:rPr lang="en-US" sz="2000" dirty="0"/>
              <a:t> </a:t>
            </a:r>
            <a:r>
              <a:rPr lang="en-US" sz="2000" dirty="0" err="1"/>
              <a:t>lát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, és </a:t>
            </a:r>
            <a:r>
              <a:rPr lang="en-US" sz="2000" dirty="0" err="1"/>
              <a:t>ezek</a:t>
            </a:r>
            <a:r>
              <a:rPr lang="en-US" sz="2000" dirty="0"/>
              <a:t> </a:t>
            </a:r>
            <a:r>
              <a:rPr lang="en-US" sz="2000" dirty="0" err="1"/>
              <a:t>egymásra</a:t>
            </a:r>
            <a:r>
              <a:rPr lang="en-US" sz="2000" dirty="0"/>
              <a:t> </a:t>
            </a:r>
            <a:r>
              <a:rPr lang="en-US" sz="2000" dirty="0" err="1"/>
              <a:t>épülnek</a:t>
            </a:r>
            <a:r>
              <a:rPr lang="en-US" sz="2000" dirty="0"/>
              <a:t>.</a:t>
            </a:r>
            <a:endParaRPr lang="hu-HU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A TCP/IP </a:t>
            </a:r>
            <a:r>
              <a:rPr lang="en-US" sz="2000" dirty="0" err="1"/>
              <a:t>modell</a:t>
            </a:r>
            <a:r>
              <a:rPr lang="en-US" sz="2000" dirty="0"/>
              <a:t> </a:t>
            </a:r>
            <a:r>
              <a:rPr lang="en-US" sz="2000" dirty="0" err="1"/>
              <a:t>nagyon</a:t>
            </a:r>
            <a:r>
              <a:rPr lang="en-US" sz="2000" dirty="0"/>
              <a:t> </a:t>
            </a:r>
            <a:r>
              <a:rPr lang="en-US" sz="2000" dirty="0" err="1"/>
              <a:t>praktikus</a:t>
            </a:r>
            <a:r>
              <a:rPr lang="en-US" sz="2000" dirty="0"/>
              <a:t>, </a:t>
            </a:r>
            <a:r>
              <a:rPr lang="en-US" sz="2000" dirty="0" err="1"/>
              <a:t>mert</a:t>
            </a:r>
            <a:r>
              <a:rPr lang="en-US" sz="2000" dirty="0"/>
              <a:t> </a:t>
            </a:r>
            <a:r>
              <a:rPr lang="en-US" sz="2000" dirty="0" err="1"/>
              <a:t>kifejezetten</a:t>
            </a:r>
            <a:r>
              <a:rPr lang="en-US" sz="2000" dirty="0"/>
              <a:t> a modern </a:t>
            </a:r>
            <a:r>
              <a:rPr lang="en-US" sz="2000" dirty="0" err="1"/>
              <a:t>internetes</a:t>
            </a:r>
            <a:r>
              <a:rPr lang="en-US" sz="2000" dirty="0"/>
              <a:t> </a:t>
            </a:r>
            <a:r>
              <a:rPr lang="en-US" sz="2000" dirty="0" err="1"/>
              <a:t>kommunikációhoz</a:t>
            </a:r>
            <a:r>
              <a:rPr lang="en-US" sz="2000" dirty="0"/>
              <a:t> </a:t>
            </a:r>
            <a:r>
              <a:rPr lang="en-US" sz="2000" dirty="0" err="1"/>
              <a:t>készült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118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etwork layer&#10;&#10;AI-generated content may be incorrect.">
            <a:extLst>
              <a:ext uri="{FF2B5EF4-FFF2-40B4-BE49-F238E27FC236}">
                <a16:creationId xmlns:a16="http://schemas.microsoft.com/office/drawing/2014/main" id="{C354289E-6106-BEB7-6B97-3C1433488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09" y="768484"/>
            <a:ext cx="6088062" cy="34922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43F82-D444-E50E-55BF-296DE8467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908" y="5188567"/>
            <a:ext cx="8845057" cy="599390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D53C17B2-3E79-60B8-F21A-2F6244A176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984" y="1926077"/>
            <a:ext cx="4517812" cy="16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7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B307-D627-5273-C45A-C6FD2FF2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3816"/>
          </a:xfrm>
        </p:spPr>
        <p:txBody>
          <a:bodyPr>
            <a:normAutofit/>
          </a:bodyPr>
          <a:lstStyle/>
          <a:p>
            <a:r>
              <a:rPr lang="en-US" sz="4000" dirty="0"/>
              <a:t>IP </a:t>
            </a:r>
            <a:r>
              <a:rPr lang="en-US" sz="4000" dirty="0" err="1"/>
              <a:t>protokoll</a:t>
            </a:r>
            <a:r>
              <a:rPr lang="hu-HU" sz="4000" dirty="0"/>
              <a:t> alapjai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BE613-263A-DCEB-8BF8-5915D4B37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593592"/>
          </a:xfrm>
        </p:spPr>
        <p:txBody>
          <a:bodyPr>
            <a:normAutofit/>
          </a:bodyPr>
          <a:lstStyle/>
          <a:p>
            <a:r>
              <a:rPr lang="en-US" b="1" dirty="0"/>
              <a:t>Csomag </a:t>
            </a:r>
            <a:r>
              <a:rPr lang="en-US" b="1" dirty="0" err="1"/>
              <a:t>alapú</a:t>
            </a:r>
            <a:r>
              <a:rPr lang="en-US" b="1" dirty="0"/>
              <a:t> </a:t>
            </a:r>
            <a:r>
              <a:rPr lang="en-US" dirty="0" err="1"/>
              <a:t>továbbítás</a:t>
            </a:r>
            <a:endParaRPr lang="hu-HU" dirty="0"/>
          </a:p>
          <a:p>
            <a:r>
              <a:rPr lang="hu-HU" dirty="0"/>
              <a:t>Best </a:t>
            </a:r>
            <a:r>
              <a:rPr lang="hu-HU" dirty="0" err="1"/>
              <a:t>effort</a:t>
            </a:r>
            <a:r>
              <a:rPr lang="hu-HU" dirty="0"/>
              <a:t> alapú (</a:t>
            </a:r>
            <a:r>
              <a:rPr lang="hu-HU" b="1" dirty="0"/>
              <a:t>legjobb szándék</a:t>
            </a:r>
            <a:r>
              <a:rPr lang="hu-HU" dirty="0"/>
              <a:t>) csomagszállítás a forrástól a célig</a:t>
            </a:r>
          </a:p>
          <a:p>
            <a:r>
              <a:rPr lang="hu-HU" b="1" dirty="0"/>
              <a:t>Összeköttetés mentes</a:t>
            </a:r>
            <a:r>
              <a:rPr lang="hu-HU" dirty="0"/>
              <a:t>: nem épít ki kapcsolatot a végpontok között.</a:t>
            </a:r>
          </a:p>
          <a:p>
            <a:r>
              <a:rPr lang="hu-HU" b="1" dirty="0"/>
              <a:t>Megbízhatatlan</a:t>
            </a:r>
            <a:r>
              <a:rPr lang="hu-HU" dirty="0"/>
              <a:t>: Nem garantálja a csomag kézbesítését, sem a sorrendet.</a:t>
            </a:r>
          </a:p>
          <a:p>
            <a:r>
              <a:rPr lang="hu-HU" dirty="0"/>
              <a:t>A megbízhatóságot a felette lévő protokollnak (TCP) kell biztosítani</a:t>
            </a:r>
          </a:p>
          <a:p>
            <a:r>
              <a:rPr lang="hu-HU" dirty="0"/>
              <a:t>IPv4 (32 bites) címek, IPv6 (128 bites) címek</a:t>
            </a:r>
          </a:p>
          <a:p>
            <a:r>
              <a:rPr lang="hu-HU" b="1" dirty="0"/>
              <a:t>Útválasztás</a:t>
            </a:r>
            <a:r>
              <a:rPr lang="hu-HU" dirty="0"/>
              <a:t> (</a:t>
            </a:r>
            <a:r>
              <a:rPr lang="hu-HU" dirty="0" err="1"/>
              <a:t>routing</a:t>
            </a:r>
            <a:r>
              <a:rPr lang="hu-HU" dirty="0"/>
              <a:t>): Az útválasztók továbbítják a csomagokat az útválasztó táblák segítségével</a:t>
            </a:r>
          </a:p>
        </p:txBody>
      </p:sp>
    </p:spTree>
    <p:extLst>
      <p:ext uri="{BB962C8B-B14F-4D97-AF65-F5344CB8AC3E}">
        <p14:creationId xmlns:p14="http://schemas.microsoft.com/office/powerpoint/2010/main" val="1129605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8041-6188-448D-D587-827D6C8E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5490"/>
          </a:xfrm>
        </p:spPr>
        <p:txBody>
          <a:bodyPr>
            <a:normAutofit/>
          </a:bodyPr>
          <a:lstStyle/>
          <a:p>
            <a:r>
              <a:rPr lang="hu-HU" sz="4000" dirty="0"/>
              <a:t>IP fejléc felépítése</a:t>
            </a:r>
            <a:endParaRPr lang="en-US" sz="4000" dirty="0"/>
          </a:p>
        </p:txBody>
      </p:sp>
      <p:pic>
        <p:nvPicPr>
          <p:cNvPr id="5" name="Picture 4" descr="A table with text and images&#10;&#10;AI-generated content may be incorrect.">
            <a:extLst>
              <a:ext uri="{FF2B5EF4-FFF2-40B4-BE49-F238E27FC236}">
                <a16:creationId xmlns:a16="http://schemas.microsoft.com/office/drawing/2014/main" id="{59B67E71-A2FD-1C41-6BD8-EB52EAFC2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896" y="2234943"/>
            <a:ext cx="7523100" cy="343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0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87C4D-4D2C-2C6B-DB1C-B68F4202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TCP </a:t>
            </a:r>
            <a:r>
              <a:rPr lang="hu-HU" dirty="0"/>
              <a:t>protokoll </a:t>
            </a:r>
            <a:r>
              <a:rPr lang="en-US" dirty="0" err="1"/>
              <a:t>alapjai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EAC4EA-CE79-8AA6-06B0-5C9A40125B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387" y="2238140"/>
            <a:ext cx="1115568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Transmission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Control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Protocol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átvitelvezérlő protokoll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Megbízható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kapcsolat-orientált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Háromlépcsős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kézfogás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(3-way handshake)</a:t>
            </a: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en-US" dirty="0">
                <a:latin typeface="Arial" panose="020B0604020202020204" pitchFamily="34" charset="0"/>
              </a:rPr>
              <a:t> SYN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SYN-AC</a:t>
            </a:r>
            <a:r>
              <a:rPr lang="hu-HU" altLang="en-US" dirty="0">
                <a:latin typeface="Arial" panose="020B0604020202020204" pitchFamily="34" charset="0"/>
              </a:rPr>
              <a:t>K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ACK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en-US" dirty="0">
                <a:latin typeface="Arial" panose="020B0604020202020204" pitchFamily="34" charset="0"/>
              </a:rPr>
              <a:t> Az adatokat TCP szegmensekben viszik át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Sorrend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újraküldés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csomagsorszámozás, nyugták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Folyamvezérlés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hu-HU" altLang="en-US" dirty="0">
                <a:latin typeface="Arial" panose="020B0604020202020204" pitchFamily="34" charset="0"/>
              </a:rPr>
              <a:t>és 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torlódásvezérlés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legtöbb alkalmazási protokoll TCP-t használ a megbízhatóság miatt.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9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F0DB-8984-5601-EA89-6F7E87F2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61677"/>
          </a:xfrm>
        </p:spPr>
        <p:txBody>
          <a:bodyPr/>
          <a:lstStyle/>
          <a:p>
            <a:r>
              <a:rPr lang="hu-HU" dirty="0"/>
              <a:t>TCP fejléc felépítése</a:t>
            </a:r>
            <a:endParaRPr lang="en-US" dirty="0"/>
          </a:p>
        </p:txBody>
      </p:sp>
      <p:pic>
        <p:nvPicPr>
          <p:cNvPr id="5" name="Picture 4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2D777DF9-B072-71AA-E4CB-C8D43EF0F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290" y="2281127"/>
            <a:ext cx="5811908" cy="35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03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2808D-C59C-5EE5-1ABB-5D58C0CC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893121"/>
          </a:xfrm>
        </p:spPr>
        <p:txBody>
          <a:bodyPr>
            <a:normAutofit/>
          </a:bodyPr>
          <a:lstStyle/>
          <a:p>
            <a:r>
              <a:rPr lang="en-US" dirty="0"/>
              <a:t>UDP</a:t>
            </a:r>
            <a:r>
              <a:rPr lang="hu-HU" dirty="0"/>
              <a:t> protokoll alapja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AC0C44-E7E8-0B4D-F518-998DC1BE4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3973" y="2278026"/>
            <a:ext cx="8660313" cy="32254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Megbízhatatlan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k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apcsolatmentes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garantál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semmit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</a:t>
            </a:r>
            <a:r>
              <a:rPr lang="hu-HU" altLang="en-US" sz="2400" b="1" dirty="0">
                <a:latin typeface="Arial" panose="020B0604020202020204" pitchFamily="34" charset="0"/>
              </a:rPr>
              <a:t>Nincs kézfogás</a:t>
            </a:r>
            <a:endParaRPr lang="hu-HU" altLang="en-US" sz="24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en-US" sz="2400" dirty="0">
                <a:latin typeface="Arial" panose="020B0604020202020204" pitchFamily="34" charset="0"/>
              </a:rPr>
              <a:t> Nincs sorszámozás, </a:t>
            </a:r>
            <a:r>
              <a:rPr lang="hu-HU" altLang="en-US" sz="2400" dirty="0" err="1">
                <a:latin typeface="Arial" panose="020B0604020202020204" pitchFamily="34" charset="0"/>
              </a:rPr>
              <a:t>újraküldés</a:t>
            </a:r>
            <a:r>
              <a:rPr lang="hu-HU" altLang="en-US" sz="2400" dirty="0">
                <a:latin typeface="Arial" panose="020B0604020202020204" pitchFamily="34" charset="0"/>
              </a:rPr>
              <a:t>, nyugtázás sem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Nagyon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gyors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Használata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VoIP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(RTP)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videó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gaming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DNS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14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3EE4-7950-5D15-CEC4-557803883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UDP fejléc felépítése</a:t>
            </a:r>
            <a:endParaRPr lang="en-US" dirty="0"/>
          </a:p>
        </p:txBody>
      </p:sp>
      <p:pic>
        <p:nvPicPr>
          <p:cNvPr id="5" name="Picture 4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2ADE39F-B6AF-B7B5-EF1B-A6CC5E49C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441" y="3076594"/>
            <a:ext cx="5811747" cy="219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2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738DD-0220-20FB-41AB-ECEC04E9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hu-HU" dirty="0"/>
              <a:t>Portok szerepe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8C038C-298D-607B-6E71-E7A232AE7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2112264"/>
            <a:ext cx="11155680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ort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Az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alkalmazás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végpontja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Socket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azonosító)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en-US" dirty="0">
                <a:latin typeface="Arial" panose="020B0604020202020204" pitchFamily="34" charset="0"/>
              </a:rPr>
              <a:t> A szerver szolgáltatások a portokon figyelnek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Tipikus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portok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80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(HTTP)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443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(HTTPS)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22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(SSH)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53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(DNS)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en-US" dirty="0">
                <a:latin typeface="Arial" panose="020B0604020202020204" pitchFamily="34" charset="0"/>
              </a:rPr>
              <a:t> Kliensek is </a:t>
            </a:r>
            <a:r>
              <a:rPr lang="hu-HU" altLang="en-US" dirty="0" err="1">
                <a:latin typeface="Arial" panose="020B0604020202020204" pitchFamily="34" charset="0"/>
              </a:rPr>
              <a:t>portot</a:t>
            </a:r>
            <a:r>
              <a:rPr lang="hu-HU" altLang="en-US" dirty="0">
                <a:latin typeface="Arial" panose="020B0604020202020204" pitchFamily="34" charset="0"/>
              </a:rPr>
              <a:t> használnak saját végpontjukhoz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hu-HU" altLang="en-US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kliensek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portjai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véletlenszerűen kerülnek kiosztásra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24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66FCE-BC66-CFF7-E3A6-360AB5E6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308C2F-FA63-5913-9B03-A236C1484C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85282" y="2266142"/>
            <a:ext cx="4920087" cy="3084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Név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IP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cím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feloldás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hu-HU" altLang="en-US" dirty="0">
                <a:latin typeface="Arial" panose="020B0604020202020204" pitchFamily="34" charset="0"/>
              </a:rPr>
              <a:t> A DNS az „Internet telefonkönyve”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Hierarchikus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szerkezet</a:t>
            </a: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en-US" dirty="0">
                <a:latin typeface="Arial" panose="020B0604020202020204" pitchFamily="34" charset="0"/>
              </a:rPr>
              <a:t> </a:t>
            </a:r>
            <a:r>
              <a:rPr lang="hu-HU" altLang="en-US" dirty="0" err="1">
                <a:latin typeface="Arial" panose="020B0604020202020204" pitchFamily="34" charset="0"/>
              </a:rPr>
              <a:t>Root</a:t>
            </a:r>
            <a:r>
              <a:rPr lang="hu-HU" altLang="en-US" dirty="0">
                <a:latin typeface="Arial" panose="020B0604020202020204" pitchFamily="34" charset="0"/>
              </a:rPr>
              <a:t> servers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TLD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(Top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Level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Domains</a:t>
            </a: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.com, .hu, .org</a:t>
            </a:r>
            <a:endParaRPr kumimoji="0" lang="hu-HU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en-US" dirty="0">
                <a:latin typeface="Arial" panose="020B0604020202020204" pitchFamily="34" charset="0"/>
              </a:rPr>
              <a:t> </a:t>
            </a:r>
            <a:r>
              <a:rPr lang="hu-HU" altLang="en-US" dirty="0" err="1">
                <a:latin typeface="Arial" panose="020B0604020202020204" pitchFamily="34" charset="0"/>
              </a:rPr>
              <a:t>second</a:t>
            </a:r>
            <a:r>
              <a:rPr lang="hu-HU" altLang="en-US" dirty="0">
                <a:latin typeface="Arial" panose="020B0604020202020204" pitchFamily="34" charset="0"/>
              </a:rPr>
              <a:t> </a:t>
            </a:r>
            <a:r>
              <a:rPr lang="hu-HU" altLang="en-US" dirty="0" err="1">
                <a:latin typeface="Arial" panose="020B0604020202020204" pitchFamily="34" charset="0"/>
              </a:rPr>
              <a:t>level</a:t>
            </a:r>
            <a:r>
              <a:rPr lang="hu-HU" altLang="en-US" dirty="0">
                <a:latin typeface="Arial" panose="020B0604020202020204" pitchFamily="34" charset="0"/>
              </a:rPr>
              <a:t> </a:t>
            </a:r>
            <a:r>
              <a:rPr lang="hu-HU" altLang="en-US" dirty="0" err="1">
                <a:latin typeface="Arial" panose="020B0604020202020204" pitchFamily="34" charset="0"/>
              </a:rPr>
              <a:t>domains</a:t>
            </a:r>
            <a:endParaRPr lang="hu-HU" altLang="en-US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subdomains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Cache-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elés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diagram of a network with Great Pyramid of Giza in the background&#10;&#10;AI-generated content may be incorrect.">
            <a:extLst>
              <a:ext uri="{FF2B5EF4-FFF2-40B4-BE49-F238E27FC236}">
                <a16:creationId xmlns:a16="http://schemas.microsoft.com/office/drawing/2014/main" id="{A940C013-B62D-ECE0-8E8E-7F842F3A7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31" y="2378029"/>
            <a:ext cx="4473794" cy="297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1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35B1-9324-8F1C-1F2B-A30769EB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4575"/>
          </a:xfrm>
        </p:spPr>
        <p:txBody>
          <a:bodyPr>
            <a:normAutofit/>
          </a:bodyPr>
          <a:lstStyle/>
          <a:p>
            <a:r>
              <a:rPr lang="hu-HU" sz="4000" dirty="0"/>
              <a:t>Mi az URL / URI / URN ?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1DDACE-1D8B-6FD4-38D3-AF0E06777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970577"/>
            <a:ext cx="1072874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(Uniform </a:t>
            </a:r>
            <a:r>
              <a:rPr kumimoji="0" lang="hu-H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Identifier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az erőforrás univerzális azonosítója (Lehet URL vagy URN)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hu-HU" altLang="en-US" dirty="0">
                <a:latin typeface="Arial" panose="020B0604020202020204" pitchFamily="34" charset="0"/>
              </a:rPr>
              <a:t>Uniform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Identifier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dirty="0" err="1"/>
              <a:t>olyan</a:t>
            </a:r>
            <a:r>
              <a:rPr lang="en-US" dirty="0"/>
              <a:t> URI,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megadja</a:t>
            </a:r>
            <a:r>
              <a:rPr lang="en-US" dirty="0"/>
              <a:t>, </a:t>
            </a:r>
            <a:r>
              <a:rPr lang="en-US" i="1" dirty="0" err="1"/>
              <a:t>hol</a:t>
            </a:r>
            <a:r>
              <a:rPr lang="en-US" dirty="0"/>
              <a:t> és </a:t>
            </a:r>
            <a:r>
              <a:rPr lang="en-US" i="1" dirty="0" err="1"/>
              <a:t>hogyan</a:t>
            </a:r>
            <a:r>
              <a:rPr lang="en-US" dirty="0"/>
              <a:t> </a:t>
            </a:r>
            <a:r>
              <a:rPr lang="en-US" dirty="0" err="1"/>
              <a:t>érjük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erőforrást</a:t>
            </a:r>
            <a:endParaRPr lang="hu-H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n-US" dirty="0">
                <a:latin typeface="Arial" panose="020B0604020202020204" pitchFamily="34" charset="0"/>
              </a:rPr>
              <a:t> </a:t>
            </a:r>
            <a:r>
              <a:rPr lang="hu-HU" altLang="en-US" b="1" dirty="0">
                <a:latin typeface="Arial" panose="020B0604020202020204" pitchFamily="34" charset="0"/>
              </a:rPr>
              <a:t>URN</a:t>
            </a:r>
            <a:r>
              <a:rPr lang="hu-HU" altLang="en-US" dirty="0">
                <a:latin typeface="Arial" panose="020B0604020202020204" pitchFamily="34" charset="0"/>
              </a:rPr>
              <a:t> (Uniform </a:t>
            </a:r>
            <a:r>
              <a:rPr lang="hu-HU" altLang="en-US" dirty="0" err="1">
                <a:latin typeface="Arial" panose="020B0604020202020204" pitchFamily="34" charset="0"/>
              </a:rPr>
              <a:t>Resource</a:t>
            </a:r>
            <a:r>
              <a:rPr lang="hu-HU" altLang="en-US" dirty="0">
                <a:latin typeface="Arial" panose="020B0604020202020204" pitchFamily="34" charset="0"/>
              </a:rPr>
              <a:t> </a:t>
            </a:r>
            <a:r>
              <a:rPr lang="hu-HU" altLang="en-US" dirty="0" err="1">
                <a:latin typeface="Arial" panose="020B0604020202020204" pitchFamily="34" charset="0"/>
              </a:rPr>
              <a:t>Name</a:t>
            </a:r>
            <a:r>
              <a:rPr lang="hu-HU" altLang="en-US" dirty="0">
                <a:latin typeface="Arial" panose="020B0604020202020204" pitchFamily="34" charset="0"/>
              </a:rPr>
              <a:t>): olyan URI,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névként</a:t>
            </a:r>
            <a:r>
              <a:rPr lang="en-US" dirty="0"/>
              <a:t> </a:t>
            </a:r>
            <a:r>
              <a:rPr lang="en-US" dirty="0" err="1"/>
              <a:t>azonosít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ad </a:t>
            </a:r>
            <a:r>
              <a:rPr lang="en-US" dirty="0" err="1"/>
              <a:t>elérési</a:t>
            </a:r>
            <a:r>
              <a:rPr lang="en-US" dirty="0"/>
              <a:t> </a:t>
            </a:r>
            <a:r>
              <a:rPr lang="en-US" dirty="0" err="1"/>
              <a:t>utasítást</a:t>
            </a:r>
            <a:endParaRPr lang="hu-HU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 </a:t>
            </a:r>
            <a:r>
              <a:rPr lang="hu-HU" altLang="en-US" dirty="0">
                <a:latin typeface="Arial" panose="020B0604020202020204" pitchFamily="34" charset="0"/>
              </a:rPr>
              <a:t>f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elépítés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scheme://host:port/path?query#fragment</a:t>
            </a:r>
            <a:endParaRPr kumimoji="0" lang="hu-HU" altLang="en-US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Példák: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https://www.example.com/path/to/page.php?search=alma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ftp://ftp.example.org/pub/file.zip</a:t>
            </a:r>
            <a:endParaRPr lang="hu-H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mailto:info@example.com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tel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:+36123456789</a:t>
            </a:r>
            <a:endParaRPr lang="hu-H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urn:isbn:9780306406157</a:t>
            </a:r>
            <a:endParaRPr lang="hu-H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83084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DBF4-D902-E36C-F46E-1801024A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Hogyan</a:t>
            </a:r>
            <a:r>
              <a:rPr lang="en-US" sz="3600" dirty="0"/>
              <a:t> </a:t>
            </a:r>
            <a:r>
              <a:rPr lang="en-US" sz="3600" dirty="0" err="1"/>
              <a:t>tölt</a:t>
            </a:r>
            <a:r>
              <a:rPr lang="en-US" sz="3600" dirty="0"/>
              <a:t> be </a:t>
            </a:r>
            <a:r>
              <a:rPr lang="en-US" sz="3600" dirty="0" err="1"/>
              <a:t>egy</a:t>
            </a:r>
            <a:r>
              <a:rPr lang="en-US" sz="3600" dirty="0"/>
              <a:t> </a:t>
            </a:r>
            <a:r>
              <a:rPr lang="en-US" sz="3600" dirty="0" err="1"/>
              <a:t>weboldal</a:t>
            </a:r>
            <a:r>
              <a:rPr lang="en-US" sz="3600" dirty="0"/>
              <a:t>? (high-level)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690E05-8A91-45A8-432D-1FA04F9171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127" y="2320110"/>
            <a:ext cx="48113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lekérdezés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kapcsolat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válasz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→ CSS → JS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betöltése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 felépítése,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Renderelés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443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B0E4-FBA2-DB55-0941-3A8EE860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röviden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DE57E6-B4C8-C12C-BC3A-9A2477A2C4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2" y="2229936"/>
            <a:ext cx="984056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Kliens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szerver</a:t>
            </a:r>
            <a:r>
              <a:rPr lang="hu-HU" altLang="en-US" sz="2000" b="1" dirty="0">
                <a:latin typeface="Arial" panose="020B0604020202020204" pitchFamily="34" charset="0"/>
              </a:rPr>
              <a:t> </a:t>
            </a:r>
            <a:r>
              <a:rPr lang="hu-HU" altLang="en-US" sz="2000" dirty="0">
                <a:latin typeface="Arial" panose="020B0604020202020204" pitchFamily="34" charset="0"/>
              </a:rPr>
              <a:t>alapú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Kérések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válaszok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Állapotmentes</a:t>
            </a:r>
            <a:r>
              <a:rPr lang="hu-HU" altLang="en-US" sz="2000" dirty="0">
                <a:latin typeface="Arial" panose="020B0604020202020204" pitchFamily="34" charset="0"/>
              </a:rPr>
              <a:t>: minden kérés önálló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Módszerek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GET, POST, PUT</a:t>
            </a: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hu-HU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stb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u-HU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u-HU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Megjegyzés: A következő órákban erről részletesebben beszélünk majd!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910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E44A-DFF7-202F-4094-79B5D1D2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95671"/>
          </a:xfrm>
        </p:spPr>
        <p:txBody>
          <a:bodyPr>
            <a:normAutofit/>
          </a:bodyPr>
          <a:lstStyle/>
          <a:p>
            <a:r>
              <a:rPr lang="en-US" sz="4000" dirty="0"/>
              <a:t>HTTPS és TLS </a:t>
            </a:r>
            <a:r>
              <a:rPr lang="en-US" sz="4000" dirty="0" err="1"/>
              <a:t>nagyon</a:t>
            </a:r>
            <a:r>
              <a:rPr lang="en-US" sz="4000" dirty="0"/>
              <a:t> </a:t>
            </a:r>
            <a:r>
              <a:rPr lang="en-US" sz="4000" dirty="0" err="1"/>
              <a:t>röviden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7E5EFC-80A0-9707-9806-815B4B525C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1765" y="2184867"/>
            <a:ext cx="956387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Titkosítás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Digitális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tanúsítványok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TLS handshake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Miért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fontos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hu-HU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u-HU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u-HU" altLang="en-US" sz="2000" dirty="0">
                <a:latin typeface="Arial" panose="020B0604020202020204" pitchFamily="34" charset="0"/>
              </a:rPr>
              <a:t>Megjegyzés: A következő órákban erről részletesebben beszélünk majd!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369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B49D-F2C6-B899-F989-929E9C63F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Összefoglalás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E9383C-D7F4-CB34-4926-9974E57FFB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212" y="2332124"/>
            <a:ext cx="707600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nternet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hálózat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kapcsolata</a:t>
            </a:r>
            <a:r>
              <a:rPr lang="hu-HU" altLang="en-US" dirty="0">
                <a:latin typeface="Arial" panose="020B0604020202020204" pitchFamily="34" charset="0"/>
              </a:rPr>
              <a:t> (</a:t>
            </a: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decentralizált)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TCP/IP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rétegei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IP, TCP, UDP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alapjai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DNS, URL, HTTP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működése</a:t>
            </a:r>
            <a:endParaRPr kumimoji="0" lang="hu-H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Hogyan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weboldal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832322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3852</Words>
  <Application>Microsoft Office PowerPoint</Application>
  <PresentationFormat>Widescreen</PresentationFormat>
  <Paragraphs>328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Bierstadt</vt:lpstr>
      <vt:lpstr>Calibri</vt:lpstr>
      <vt:lpstr>GestaltVTI</vt:lpstr>
      <vt:lpstr>Balogh Zoltán  Senior Software Engineer  Email:   baloghzoltan1977@gmail.com  </vt:lpstr>
      <vt:lpstr>Internetes alkalmazások és WEB technológiák</vt:lpstr>
      <vt:lpstr>GitHub repository</vt:lpstr>
      <vt:lpstr>Internet alapjai, TCP/IP protokollcsalád, a Web működése</vt:lpstr>
      <vt:lpstr>Mi az Internet?</vt:lpstr>
      <vt:lpstr>Kliens–szerver modell</vt:lpstr>
      <vt:lpstr>TCP/IP modell áttekintése</vt:lpstr>
      <vt:lpstr>PowerPoint Presentation</vt:lpstr>
      <vt:lpstr>IP protokoll alapjai</vt:lpstr>
      <vt:lpstr>IP fejléc felépítése</vt:lpstr>
      <vt:lpstr>TCP protokoll alapjai</vt:lpstr>
      <vt:lpstr>TCP fejléc felépítése</vt:lpstr>
      <vt:lpstr>UDP protokoll alapja</vt:lpstr>
      <vt:lpstr>UDP fejléc felépítése</vt:lpstr>
      <vt:lpstr>Portok szerepe</vt:lpstr>
      <vt:lpstr>DNS: Domain Name System</vt:lpstr>
      <vt:lpstr>Mi az URL / URI / URN ?</vt:lpstr>
      <vt:lpstr>Hogyan tölt be egy weboldal? (high-level)</vt:lpstr>
      <vt:lpstr>HTTP nagyon röviden</vt:lpstr>
      <vt:lpstr>HTTPS és TLS nagyon röviden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67</cp:revision>
  <dcterms:created xsi:type="dcterms:W3CDTF">2025-11-30T15:45:28Z</dcterms:created>
  <dcterms:modified xsi:type="dcterms:W3CDTF">2026-02-15T18:20:43Z</dcterms:modified>
</cp:coreProperties>
</file>