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sldIdLst>
    <p:sldId id="256" r:id="rId2"/>
    <p:sldId id="259" r:id="rId3"/>
    <p:sldId id="275" r:id="rId4"/>
    <p:sldId id="276" r:id="rId5"/>
    <p:sldId id="277" r:id="rId6"/>
    <p:sldId id="279" r:id="rId7"/>
    <p:sldId id="27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Ebben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előadásban</a:t>
            </a:r>
            <a:r>
              <a:rPr lang="en-US" dirty="0"/>
              <a:t> a backend </a:t>
            </a:r>
            <a:r>
              <a:rPr lang="en-US" dirty="0" err="1"/>
              <a:t>oldali</a:t>
            </a:r>
            <a:r>
              <a:rPr lang="en-US" dirty="0"/>
              <a:t> REST API </a:t>
            </a:r>
            <a:r>
              <a:rPr lang="en-US" dirty="0" err="1"/>
              <a:t>fejlesztésével</a:t>
            </a:r>
            <a:r>
              <a:rPr lang="en-US" dirty="0"/>
              <a:t> </a:t>
            </a:r>
            <a:r>
              <a:rPr lang="en-US" dirty="0" err="1"/>
              <a:t>foglalkozunk</a:t>
            </a:r>
            <a:r>
              <a:rPr lang="en-US" dirty="0"/>
              <a:t>. Az </a:t>
            </a:r>
            <a:r>
              <a:rPr lang="en-US" dirty="0" err="1"/>
              <a:t>előző</a:t>
            </a:r>
            <a:r>
              <a:rPr lang="en-US" dirty="0"/>
              <a:t> </a:t>
            </a:r>
            <a:r>
              <a:rPr lang="hu-HU" dirty="0"/>
              <a:t>előadásban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beszéltünk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MVC </a:t>
            </a:r>
            <a:r>
              <a:rPr lang="en-US" dirty="0" err="1"/>
              <a:t>architektúráról</a:t>
            </a:r>
            <a:r>
              <a:rPr lang="en-US" dirty="0"/>
              <a:t> és a REST </a:t>
            </a:r>
            <a:r>
              <a:rPr lang="en-US" dirty="0" err="1"/>
              <a:t>alapelveiről</a:t>
            </a:r>
            <a:r>
              <a:rPr lang="en-US" dirty="0"/>
              <a:t>, most </a:t>
            </a:r>
            <a:r>
              <a:rPr lang="en-US" dirty="0" err="1"/>
              <a:t>ezekre</a:t>
            </a:r>
            <a:r>
              <a:rPr lang="en-US" dirty="0"/>
              <a:t> </a:t>
            </a:r>
            <a:r>
              <a:rPr lang="en-US" dirty="0" err="1"/>
              <a:t>építve</a:t>
            </a:r>
            <a:r>
              <a:rPr lang="en-US" dirty="0"/>
              <a:t> </a:t>
            </a:r>
            <a:r>
              <a:rPr lang="en-US" dirty="0" err="1"/>
              <a:t>megnézzük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néz</a:t>
            </a:r>
            <a:r>
              <a:rPr lang="en-US" dirty="0"/>
              <a:t> ki </a:t>
            </a:r>
            <a:r>
              <a:rPr lang="en-US" dirty="0" err="1"/>
              <a:t>mindez</a:t>
            </a:r>
            <a:r>
              <a:rPr lang="en-US" dirty="0"/>
              <a:t> a </a:t>
            </a:r>
            <a:r>
              <a:rPr lang="en-US" dirty="0" err="1"/>
              <a:t>gyakorlatban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szerveroldali</a:t>
            </a:r>
            <a:r>
              <a:rPr lang="en-US" dirty="0"/>
              <a:t> </a:t>
            </a:r>
            <a:r>
              <a:rPr lang="en-US" dirty="0" err="1"/>
              <a:t>alkalmazásban</a:t>
            </a:r>
            <a:r>
              <a:rPr lang="en-US" dirty="0"/>
              <a:t>.</a:t>
            </a:r>
            <a:r>
              <a:rPr lang="hu-HU" dirty="0"/>
              <a:t> (A prezentációban lesznek visszautalások az előző előadás anyagára.)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cél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hu-HU" dirty="0"/>
              <a:t>Java </a:t>
            </a:r>
            <a:r>
              <a:rPr lang="en-US" dirty="0"/>
              <a:t>Spring Boot </a:t>
            </a:r>
            <a:r>
              <a:rPr lang="hu-HU" dirty="0"/>
              <a:t>vagy Python </a:t>
            </a:r>
            <a:r>
              <a:rPr lang="en-US" dirty="0" err="1"/>
              <a:t>fejlesztőket</a:t>
            </a:r>
            <a:r>
              <a:rPr lang="en-US" dirty="0"/>
              <a:t> </a:t>
            </a:r>
            <a:r>
              <a:rPr lang="en-US" dirty="0" err="1"/>
              <a:t>képezzünk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megértsük</a:t>
            </a:r>
            <a:r>
              <a:rPr lang="en-US" b="1" dirty="0"/>
              <a:t> a </a:t>
            </a:r>
            <a:r>
              <a:rPr lang="en-US" b="1" dirty="0" err="1"/>
              <a:t>mögöttes</a:t>
            </a:r>
            <a:r>
              <a:rPr lang="en-US" b="1" dirty="0"/>
              <a:t> </a:t>
            </a:r>
            <a:r>
              <a:rPr lang="en-US" b="1" dirty="0" err="1"/>
              <a:t>koncepciókat</a:t>
            </a:r>
            <a:r>
              <a:rPr lang="en-US" dirty="0"/>
              <a:t>: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HTTP </a:t>
            </a:r>
            <a:r>
              <a:rPr lang="en-US" dirty="0" err="1"/>
              <a:t>kérés</a:t>
            </a:r>
            <a:r>
              <a:rPr lang="en-US" dirty="0"/>
              <a:t> a </a:t>
            </a:r>
            <a:r>
              <a:rPr lang="en-US" dirty="0" err="1"/>
              <a:t>szerverre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dolgozza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a backend, és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válaszol</a:t>
            </a:r>
            <a:r>
              <a:rPr lang="en-US" dirty="0"/>
              <a:t> </a:t>
            </a:r>
            <a:r>
              <a:rPr lang="en-US" dirty="0" err="1"/>
              <a:t>strukturált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formájában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Java és a Spring Boot</a:t>
            </a:r>
            <a:r>
              <a:rPr lang="hu-HU" dirty="0"/>
              <a:t> (vagy a akár a Python)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konkrét</a:t>
            </a:r>
            <a:r>
              <a:rPr lang="en-US" b="1" dirty="0"/>
              <a:t>, </a:t>
            </a:r>
            <a:r>
              <a:rPr lang="en-US" b="1" dirty="0" err="1"/>
              <a:t>jól</a:t>
            </a:r>
            <a:r>
              <a:rPr lang="en-US" b="1" dirty="0"/>
              <a:t> </a:t>
            </a:r>
            <a:r>
              <a:rPr lang="en-US" b="1" dirty="0" err="1"/>
              <a:t>érthető</a:t>
            </a:r>
            <a:r>
              <a:rPr lang="en-US" b="1" dirty="0"/>
              <a:t> </a:t>
            </a:r>
            <a:r>
              <a:rPr lang="en-US" b="1" dirty="0" err="1"/>
              <a:t>eszköz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en-US" dirty="0"/>
              <a:t> a </a:t>
            </a:r>
            <a:r>
              <a:rPr lang="en-US" dirty="0" err="1"/>
              <a:t>kezünkben</a:t>
            </a:r>
            <a:r>
              <a:rPr lang="en-US" dirty="0"/>
              <a:t>, </a:t>
            </a:r>
            <a:r>
              <a:rPr lang="en-US" dirty="0" err="1"/>
              <a:t>amivel</a:t>
            </a:r>
            <a:r>
              <a:rPr lang="en-US" dirty="0"/>
              <a:t> </a:t>
            </a:r>
            <a:r>
              <a:rPr lang="en-US" dirty="0" err="1"/>
              <a:t>ezeket</a:t>
            </a:r>
            <a:r>
              <a:rPr lang="en-US" dirty="0"/>
              <a:t> a </a:t>
            </a:r>
            <a:r>
              <a:rPr lang="en-US" dirty="0" err="1"/>
              <a:t>fogalmakat</a:t>
            </a:r>
            <a:r>
              <a:rPr lang="en-US" dirty="0"/>
              <a:t> </a:t>
            </a:r>
            <a:r>
              <a:rPr lang="en-US" dirty="0" err="1"/>
              <a:t>szemléltetni</a:t>
            </a:r>
            <a:r>
              <a:rPr lang="en-US" dirty="0"/>
              <a:t> </a:t>
            </a:r>
            <a:r>
              <a:rPr lang="hu-HU" dirty="0"/>
              <a:t>és végső soron implementálni </a:t>
            </a:r>
            <a:r>
              <a:rPr lang="en-US" dirty="0" err="1"/>
              <a:t>tudjuk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backend REST API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köztes</a:t>
            </a:r>
            <a:r>
              <a:rPr lang="en-US" dirty="0"/>
              <a:t> </a:t>
            </a:r>
            <a:r>
              <a:rPr lang="en-US" dirty="0" err="1"/>
              <a:t>réteg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adatforrások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. A frontend – </a:t>
            </a:r>
            <a:r>
              <a:rPr lang="en-US" dirty="0" err="1"/>
              <a:t>legyen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böngésző</a:t>
            </a:r>
            <a:r>
              <a:rPr lang="en-US" dirty="0"/>
              <a:t>, </a:t>
            </a:r>
            <a:r>
              <a:rPr lang="en-US" dirty="0" err="1"/>
              <a:t>mobilapp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másik</a:t>
            </a:r>
            <a:r>
              <a:rPr lang="en-US" dirty="0"/>
              <a:t> </a:t>
            </a:r>
            <a:r>
              <a:rPr lang="en-US" dirty="0" err="1"/>
              <a:t>szolgáltatás</a:t>
            </a:r>
            <a:r>
              <a:rPr lang="en-US" dirty="0"/>
              <a:t> –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közvetlenül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adatbázissal</a:t>
            </a:r>
            <a:r>
              <a:rPr lang="en-US" b="1" dirty="0"/>
              <a:t> </a:t>
            </a:r>
            <a:r>
              <a:rPr lang="en-US" b="1" dirty="0" err="1"/>
              <a:t>beszél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a </a:t>
            </a:r>
            <a:r>
              <a:rPr lang="en-US" dirty="0" err="1"/>
              <a:t>backenddel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hu-HU" dirty="0"/>
              <a:t>Ez a</a:t>
            </a:r>
            <a:r>
              <a:rPr lang="en-US" dirty="0"/>
              <a:t> backend </a:t>
            </a:r>
            <a:r>
              <a:rPr lang="hu-HU" dirty="0"/>
              <a:t>(server) </a:t>
            </a:r>
            <a:r>
              <a:rPr lang="en-US" dirty="0" err="1"/>
              <a:t>biztosítja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szabályokat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adatellenőrzést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biztonságot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/>
              <a:t>és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egységes</a:t>
            </a:r>
            <a:r>
              <a:rPr lang="en-US" dirty="0"/>
              <a:t> </a:t>
            </a:r>
            <a:r>
              <a:rPr lang="en-US" dirty="0" err="1"/>
              <a:t>kommunikációs</a:t>
            </a:r>
            <a:r>
              <a:rPr lang="en-US" dirty="0"/>
              <a:t> </a:t>
            </a:r>
            <a:r>
              <a:rPr lang="en-US" dirty="0" err="1"/>
              <a:t>felületet</a:t>
            </a:r>
            <a:r>
              <a:rPr lang="hu-HU" dirty="0"/>
              <a:t> és adatcserét.</a:t>
            </a:r>
          </a:p>
          <a:p>
            <a:endParaRPr lang="en-US" dirty="0"/>
          </a:p>
          <a:p>
            <a:r>
              <a:rPr lang="en-US" dirty="0"/>
              <a:t>A REST API </a:t>
            </a:r>
            <a:r>
              <a:rPr lang="en-US" dirty="0" err="1"/>
              <a:t>egyfajta</a:t>
            </a:r>
            <a:r>
              <a:rPr lang="en-US" dirty="0"/>
              <a:t> </a:t>
            </a:r>
            <a:r>
              <a:rPr lang="en-US" b="1" dirty="0" err="1"/>
              <a:t>szerződés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: </a:t>
            </a:r>
            <a:r>
              <a:rPr lang="en-US" dirty="0" err="1"/>
              <a:t>meghatározza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URL-</a:t>
            </a:r>
            <a:r>
              <a:rPr lang="en-US" dirty="0" err="1"/>
              <a:t>en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HTTP </a:t>
            </a:r>
            <a:r>
              <a:rPr lang="en-US" dirty="0" err="1"/>
              <a:t>metódussal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formátumban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kérni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küldeni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14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MVC </a:t>
            </a:r>
            <a:r>
              <a:rPr lang="en-US" dirty="0" err="1"/>
              <a:t>architektúrát</a:t>
            </a:r>
            <a:r>
              <a:rPr lang="en-US" dirty="0"/>
              <a:t> </a:t>
            </a:r>
            <a:r>
              <a:rPr lang="en-US" dirty="0" err="1"/>
              <a:t>gyakran</a:t>
            </a:r>
            <a:r>
              <a:rPr lang="en-US" dirty="0"/>
              <a:t> </a:t>
            </a:r>
            <a:r>
              <a:rPr lang="en-US" dirty="0" err="1"/>
              <a:t>weboldalakhoz</a:t>
            </a:r>
            <a:r>
              <a:rPr lang="en-US" dirty="0"/>
              <a:t> </a:t>
            </a:r>
            <a:r>
              <a:rPr lang="en-US" dirty="0" err="1"/>
              <a:t>kötjük</a:t>
            </a:r>
            <a:r>
              <a:rPr lang="en-US" dirty="0"/>
              <a:t>, de backend REST API </a:t>
            </a:r>
            <a:r>
              <a:rPr lang="en-US" dirty="0" err="1"/>
              <a:t>esetén</a:t>
            </a:r>
            <a:r>
              <a:rPr lang="en-US" dirty="0"/>
              <a:t> is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alkalmazható</a:t>
            </a:r>
            <a:r>
              <a:rPr lang="en-US" dirty="0"/>
              <a:t> – </a:t>
            </a:r>
            <a:r>
              <a:rPr lang="en-US" dirty="0" err="1"/>
              <a:t>csak</a:t>
            </a:r>
            <a:r>
              <a:rPr lang="en-US" dirty="0"/>
              <a:t> a </a:t>
            </a:r>
            <a:r>
              <a:rPr lang="en-US" b="1" dirty="0"/>
              <a:t>View </a:t>
            </a:r>
            <a:r>
              <a:rPr lang="en-US" b="1" dirty="0" err="1"/>
              <a:t>szerepe</a:t>
            </a:r>
            <a:r>
              <a:rPr lang="en-US" b="1" dirty="0"/>
              <a:t> </a:t>
            </a:r>
            <a:r>
              <a:rPr lang="en-US" b="1" dirty="0" err="1"/>
              <a:t>megváltozik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Model</a:t>
            </a:r>
            <a:r>
              <a:rPr lang="en-US" dirty="0"/>
              <a:t> </a:t>
            </a:r>
            <a:r>
              <a:rPr lang="en-US" dirty="0" err="1"/>
              <a:t>továbbra</a:t>
            </a:r>
            <a:r>
              <a:rPr lang="en-US" dirty="0"/>
              <a:t> is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és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logikát</a:t>
            </a:r>
            <a:r>
              <a:rPr lang="en-US" dirty="0"/>
              <a:t> </a:t>
            </a:r>
            <a:r>
              <a:rPr lang="en-US" dirty="0" err="1"/>
              <a:t>képviseli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Controller</a:t>
            </a:r>
            <a:r>
              <a:rPr lang="en-US" dirty="0"/>
              <a:t> </a:t>
            </a:r>
            <a:r>
              <a:rPr lang="en-US" dirty="0" err="1"/>
              <a:t>fogadja</a:t>
            </a:r>
            <a:r>
              <a:rPr lang="en-US" dirty="0"/>
              <a:t> a HTTP </a:t>
            </a:r>
            <a:r>
              <a:rPr lang="en-US" dirty="0" err="1"/>
              <a:t>kéréseket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View</a:t>
            </a:r>
            <a:r>
              <a:rPr lang="en-US" dirty="0"/>
              <a:t> </a:t>
            </a:r>
            <a:r>
              <a:rPr lang="en-US" dirty="0" err="1"/>
              <a:t>viszont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HTML </a:t>
            </a:r>
            <a:r>
              <a:rPr lang="en-US" dirty="0" err="1"/>
              <a:t>oldal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tipikusan</a:t>
            </a:r>
            <a:r>
              <a:rPr lang="en-US" dirty="0"/>
              <a:t> </a:t>
            </a:r>
            <a:r>
              <a:rPr lang="en-US" b="1" dirty="0"/>
              <a:t>JSON </a:t>
            </a:r>
            <a:r>
              <a:rPr lang="en-US" b="1" dirty="0" err="1"/>
              <a:t>válasz</a:t>
            </a:r>
            <a:r>
              <a:rPr lang="hu-HU" b="1" dirty="0"/>
              <a:t> (JSON adat)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 err="1"/>
              <a:t>Tehát</a:t>
            </a:r>
            <a:r>
              <a:rPr lang="en-US" dirty="0"/>
              <a:t> a backend REST API </a:t>
            </a:r>
            <a:r>
              <a:rPr lang="en-US" dirty="0" err="1"/>
              <a:t>tulajdonképpen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MVC </a:t>
            </a:r>
            <a:r>
              <a:rPr lang="en-US" dirty="0" err="1"/>
              <a:t>alkalmazás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a </a:t>
            </a:r>
            <a:r>
              <a:rPr lang="en-US" b="1" dirty="0" err="1"/>
              <a:t>kimenet</a:t>
            </a:r>
            <a:r>
              <a:rPr lang="en-US" b="1" dirty="0"/>
              <a:t> </a:t>
            </a:r>
            <a:r>
              <a:rPr lang="en-US" b="1" dirty="0" err="1"/>
              <a:t>strukturált</a:t>
            </a:r>
            <a:r>
              <a:rPr lang="en-US" b="1" dirty="0"/>
              <a:t> </a:t>
            </a:r>
            <a:r>
              <a:rPr lang="en-US" b="1" dirty="0" err="1"/>
              <a:t>adat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felület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01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Egy REST API működésének alapja a </a:t>
            </a:r>
            <a:r>
              <a:rPr lang="hu-HU" dirty="0" err="1"/>
              <a:t>request</a:t>
            </a:r>
            <a:r>
              <a:rPr lang="hu-HU" dirty="0"/>
              <a:t>–</a:t>
            </a:r>
            <a:r>
              <a:rPr lang="hu-HU" dirty="0" err="1"/>
              <a:t>response</a:t>
            </a:r>
            <a:r>
              <a:rPr lang="hu-HU" dirty="0"/>
              <a:t> modell.</a:t>
            </a:r>
          </a:p>
          <a:p>
            <a:endParaRPr lang="hu-HU" dirty="0"/>
          </a:p>
          <a:p>
            <a:r>
              <a:rPr lang="hu-HU" dirty="0"/>
              <a:t>A folyamat lépései:</a:t>
            </a:r>
          </a:p>
          <a:p>
            <a:r>
              <a:rPr lang="hu-HU" dirty="0"/>
              <a:t>1) A kliens elküld egy </a:t>
            </a:r>
            <a:r>
              <a:rPr lang="hu-HU" b="1" dirty="0"/>
              <a:t>HTTP </a:t>
            </a:r>
            <a:r>
              <a:rPr lang="hu-HU" b="1" dirty="0" err="1"/>
              <a:t>requestet</a:t>
            </a:r>
            <a:r>
              <a:rPr lang="hu-HU" b="1" dirty="0"/>
              <a:t> </a:t>
            </a:r>
            <a:r>
              <a:rPr lang="hu-HU" dirty="0"/>
              <a:t>(URL, metódus, </a:t>
            </a:r>
            <a:r>
              <a:rPr lang="hu-HU" dirty="0" err="1"/>
              <a:t>header</a:t>
            </a:r>
            <a:r>
              <a:rPr lang="hu-HU" dirty="0"/>
              <a:t>, body).</a:t>
            </a:r>
          </a:p>
          <a:p>
            <a:r>
              <a:rPr lang="hu-HU" dirty="0"/>
              <a:t>2) A backend a kérést egy adott </a:t>
            </a:r>
            <a:r>
              <a:rPr lang="hu-HU" b="1" dirty="0" err="1"/>
              <a:t>Controller</a:t>
            </a:r>
            <a:r>
              <a:rPr lang="hu-HU" dirty="0"/>
              <a:t> metódushoz irányítja.</a:t>
            </a:r>
          </a:p>
          <a:p>
            <a:r>
              <a:rPr lang="hu-HU" dirty="0"/>
              <a:t>3) A szerveroldalon a </a:t>
            </a:r>
            <a:r>
              <a:rPr lang="hu-HU" b="1" dirty="0" err="1"/>
              <a:t>Model</a:t>
            </a:r>
            <a:r>
              <a:rPr lang="hu-HU" dirty="0"/>
              <a:t> rétegben üzleti logika fut le.</a:t>
            </a:r>
          </a:p>
          <a:p>
            <a:r>
              <a:rPr lang="hu-HU" dirty="0"/>
              <a:t>4) A backend visszaküld egy </a:t>
            </a:r>
            <a:r>
              <a:rPr lang="hu-HU" b="1" dirty="0"/>
              <a:t>HTTP </a:t>
            </a:r>
            <a:r>
              <a:rPr lang="hu-HU" b="1" dirty="0" err="1"/>
              <a:t>response</a:t>
            </a:r>
            <a:r>
              <a:rPr lang="hu-HU" b="1" dirty="0"/>
              <a:t>-t</a:t>
            </a:r>
            <a:r>
              <a:rPr lang="hu-HU" dirty="0"/>
              <a:t>, státuszkóddal és adattal. (A </a:t>
            </a:r>
            <a:r>
              <a:rPr lang="hu-HU" dirty="0" err="1"/>
              <a:t>View</a:t>
            </a:r>
            <a:r>
              <a:rPr lang="hu-HU" dirty="0"/>
              <a:t> itt JSON adat.)</a:t>
            </a:r>
          </a:p>
          <a:p>
            <a:endParaRPr lang="hu-HU" dirty="0"/>
          </a:p>
          <a:p>
            <a:r>
              <a:rPr lang="hu-HU" dirty="0"/>
              <a:t>Ez egy </a:t>
            </a:r>
            <a:r>
              <a:rPr lang="hu-HU" b="1" dirty="0"/>
              <a:t>egyszeri, </a:t>
            </a:r>
            <a:r>
              <a:rPr lang="hu-HU" b="1" dirty="0" err="1"/>
              <a:t>stateless</a:t>
            </a:r>
            <a:r>
              <a:rPr lang="hu-HU" b="1" dirty="0"/>
              <a:t> (állapotnélküli) interakció</a:t>
            </a:r>
            <a:r>
              <a:rPr lang="hu-HU" dirty="0"/>
              <a:t>, ahol minden kérés önálló. REST API-k esetén tipikusan ilyen interakciókról beszélünk.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18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0" dirty="0"/>
              <a:t>REST</a:t>
            </a:r>
            <a:r>
              <a:rPr lang="hu-HU" dirty="0"/>
              <a:t> egyik alapelve a </a:t>
            </a:r>
            <a:r>
              <a:rPr lang="hu-HU" b="1" dirty="0" err="1"/>
              <a:t>stateless</a:t>
            </a:r>
            <a:r>
              <a:rPr lang="hu-HU" dirty="0"/>
              <a:t> működés.</a:t>
            </a:r>
          </a:p>
          <a:p>
            <a:endParaRPr lang="hu-HU" dirty="0"/>
          </a:p>
          <a:p>
            <a:r>
              <a:rPr lang="hu-HU" dirty="0"/>
              <a:t>Ez azt jelenti, hogy:</a:t>
            </a:r>
          </a:p>
          <a:p>
            <a:r>
              <a:rPr lang="hu-HU" dirty="0"/>
              <a:t>- A szerver nem tárol kliens-specifikus állapotot.</a:t>
            </a:r>
          </a:p>
          <a:p>
            <a:r>
              <a:rPr lang="hu-HU" dirty="0"/>
              <a:t>- Minden </a:t>
            </a:r>
            <a:r>
              <a:rPr lang="hu-HU" dirty="0" err="1"/>
              <a:t>request</a:t>
            </a:r>
            <a:r>
              <a:rPr lang="hu-HU" dirty="0"/>
              <a:t> tartalmaz minden szükséges információt. </a:t>
            </a:r>
            <a:r>
              <a:rPr lang="hu-HU" b="1" dirty="0"/>
              <a:t>Minden </a:t>
            </a:r>
            <a:r>
              <a:rPr lang="hu-HU" b="1" dirty="0" err="1"/>
              <a:t>request</a:t>
            </a:r>
            <a:r>
              <a:rPr lang="hu-HU" b="1" dirty="0"/>
              <a:t> önálló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Ez elsőre furcsának tűnhet, de cserébe:</a:t>
            </a:r>
          </a:p>
          <a:p>
            <a:r>
              <a:rPr lang="hu-HU" dirty="0"/>
              <a:t>- könnyen </a:t>
            </a:r>
            <a:r>
              <a:rPr lang="hu-HU" b="1" dirty="0"/>
              <a:t>skálázható</a:t>
            </a:r>
            <a:r>
              <a:rPr lang="hu-HU" dirty="0"/>
              <a:t> a rendszer, akár több példány szolgálhat ki kéréseket.</a:t>
            </a:r>
          </a:p>
          <a:p>
            <a:r>
              <a:rPr lang="hu-HU" dirty="0"/>
              <a:t>- </a:t>
            </a:r>
            <a:r>
              <a:rPr lang="hu-HU" dirty="0" err="1"/>
              <a:t>load</a:t>
            </a:r>
            <a:r>
              <a:rPr lang="hu-HU" dirty="0"/>
              <a:t> </a:t>
            </a:r>
            <a:r>
              <a:rPr lang="hu-HU" dirty="0" err="1"/>
              <a:t>balancer</a:t>
            </a:r>
            <a:r>
              <a:rPr lang="hu-HU" dirty="0"/>
              <a:t> mögött is jól működik.</a:t>
            </a:r>
          </a:p>
          <a:p>
            <a:r>
              <a:rPr lang="hu-HU" dirty="0"/>
              <a:t>- egyszerűbb a hibatűrés: ha több példány van, és ez egyik kiesik, a többi továbbra is kiszolgálja a kéréseket.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REST API egyik legfontosabb eleme a HTTP metódusok helyes használata.</a:t>
            </a:r>
          </a:p>
          <a:p>
            <a:r>
              <a:rPr lang="hu-HU" dirty="0"/>
              <a:t>Fontos hangsúlyozni:</a:t>
            </a:r>
          </a:p>
          <a:p>
            <a:r>
              <a:rPr lang="hu-HU" dirty="0"/>
              <a:t>A metódus </a:t>
            </a:r>
            <a:r>
              <a:rPr lang="hu-HU" b="1" dirty="0"/>
              <a:t>nem csak technikai részlet</a:t>
            </a:r>
            <a:r>
              <a:rPr lang="hu-HU" dirty="0"/>
              <a:t>, hanem jelentéssel bír. A kliens ebből érti meg a művelet célját.</a:t>
            </a:r>
          </a:p>
          <a:p>
            <a:r>
              <a:rPr lang="hu-HU" dirty="0"/>
              <a:t>Például:</a:t>
            </a:r>
          </a:p>
          <a:p>
            <a:r>
              <a:rPr lang="hu-HU" dirty="0"/>
              <a:t>- GET nem módosíthat állapotot. Csak az erőforrás lekérdezésére szolgál.</a:t>
            </a:r>
          </a:p>
          <a:p>
            <a:pPr marL="0" indent="0">
              <a:buFontTx/>
              <a:buNone/>
            </a:pPr>
            <a:r>
              <a:rPr lang="hu-HU" dirty="0"/>
              <a:t>- POST új erőforrást hoz létre.</a:t>
            </a:r>
          </a:p>
          <a:p>
            <a:pPr marL="0" indent="0">
              <a:buFontTx/>
              <a:buNone/>
            </a:pPr>
            <a:r>
              <a:rPr lang="hu-HU" dirty="0"/>
              <a:t>- PUT meglévő erőforrást módosítja.</a:t>
            </a:r>
          </a:p>
          <a:p>
            <a:pPr marL="0" indent="0">
              <a:buFontTx/>
              <a:buNone/>
            </a:pPr>
            <a:r>
              <a:rPr lang="hu-HU" dirty="0"/>
              <a:t>- DELETE törli az erőforrást.</a:t>
            </a:r>
          </a:p>
          <a:p>
            <a:pPr marL="171450" indent="-171450">
              <a:buFontTx/>
              <a:buChar char="-"/>
            </a:pPr>
            <a:endParaRPr lang="hu-HU" dirty="0"/>
          </a:p>
          <a:p>
            <a:r>
              <a:rPr lang="hu-HU" dirty="0"/>
              <a:t>Ez segíti az API olvashatóságát, karbantarthatóságát és szabványosságát.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20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REST-ben nem műveleteket, hanem </a:t>
            </a:r>
            <a:r>
              <a:rPr lang="hu-HU" b="1" dirty="0"/>
              <a:t>erőforrásokat</a:t>
            </a:r>
            <a:r>
              <a:rPr lang="hu-HU" dirty="0"/>
              <a:t> címzünk. A URL-ben az erőforrások címzése (megnevezése) van, ezért főneveket használunk.</a:t>
            </a:r>
          </a:p>
          <a:p>
            <a:endParaRPr lang="hu-HU" dirty="0"/>
          </a:p>
          <a:p>
            <a:r>
              <a:rPr lang="hu-HU" dirty="0"/>
              <a:t>Jó példa: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endParaRPr lang="hu-HU" dirty="0"/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/42/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</a:t>
            </a:r>
            <a:endParaRPr lang="hu-H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hu-HU" dirty="0"/>
          </a:p>
          <a:p>
            <a:r>
              <a:rPr lang="hu-HU" dirty="0"/>
              <a:t>Rossz példa: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getUser</a:t>
            </a:r>
            <a:endParaRPr lang="hu-HU" dirty="0"/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deleteOrder</a:t>
            </a:r>
            <a:endParaRPr lang="hu-H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hu-HU" dirty="0"/>
          </a:p>
          <a:p>
            <a:r>
              <a:rPr lang="hu-HU" dirty="0"/>
              <a:t>Az URI </a:t>
            </a:r>
            <a:r>
              <a:rPr lang="hu-HU" b="1" dirty="0"/>
              <a:t>mit</a:t>
            </a:r>
            <a:r>
              <a:rPr lang="hu-HU" dirty="0"/>
              <a:t>-</a:t>
            </a:r>
            <a:r>
              <a:rPr lang="hu-HU" dirty="0" err="1"/>
              <a:t>et</a:t>
            </a:r>
            <a:r>
              <a:rPr lang="hu-HU" dirty="0"/>
              <a:t> jelöl, a HTTP metódus mondja meg, </a:t>
            </a:r>
            <a:r>
              <a:rPr lang="hu-HU" b="1" dirty="0"/>
              <a:t>mit csinálunk vele</a:t>
            </a:r>
            <a:r>
              <a:rPr lang="hu-HU" dirty="0"/>
              <a:t>. Ez egy nagyon fontos szemléletváltás. Ez az erőforrás-orientált gondolkodás A REST API tervezésben.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70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HTTP </a:t>
            </a:r>
            <a:r>
              <a:rPr lang="en-US" dirty="0" err="1"/>
              <a:t>státuszkód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dirty="0" err="1"/>
              <a:t>dísz</a:t>
            </a:r>
            <a:r>
              <a:rPr lang="hu-HU" dirty="0"/>
              <a:t>”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információ</a:t>
            </a:r>
            <a:r>
              <a:rPr lang="hu-HU" dirty="0"/>
              <a:t>: állapot visszajelzés a kért művelet eredményéről.</a:t>
            </a:r>
          </a:p>
          <a:p>
            <a:endParaRPr lang="en-US" dirty="0"/>
          </a:p>
          <a:p>
            <a:r>
              <a:rPr lang="en-US" dirty="0"/>
              <a:t>Egy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megtervezett</a:t>
            </a:r>
            <a:r>
              <a:rPr lang="en-US" dirty="0"/>
              <a:t> API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pontos</a:t>
            </a:r>
            <a:r>
              <a:rPr lang="en-US" dirty="0"/>
              <a:t> </a:t>
            </a:r>
            <a:r>
              <a:rPr lang="en-US" dirty="0" err="1"/>
              <a:t>visszajelzést</a:t>
            </a:r>
            <a:r>
              <a:rPr lang="en-US" dirty="0"/>
              <a:t> ad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eredményről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segíti</a:t>
            </a:r>
            <a:r>
              <a:rPr lang="en-US" dirty="0"/>
              <a:t> a frontend </a:t>
            </a:r>
            <a:r>
              <a:rPr lang="en-US" dirty="0" err="1"/>
              <a:t>fejlesztőket</a:t>
            </a:r>
            <a:r>
              <a:rPr lang="en-US" dirty="0"/>
              <a:t> és a </a:t>
            </a:r>
            <a:r>
              <a:rPr lang="en-US" dirty="0" err="1"/>
              <a:t>hibakeresést</a:t>
            </a:r>
            <a:r>
              <a:rPr lang="en-US" dirty="0"/>
              <a:t> is.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38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REST API-k </a:t>
            </a:r>
            <a:r>
              <a:rPr lang="en-US" dirty="0" err="1"/>
              <a:t>leggyakrabban</a:t>
            </a:r>
            <a:r>
              <a:rPr lang="en-US" dirty="0"/>
              <a:t> JSON-t </a:t>
            </a:r>
            <a:r>
              <a:rPr lang="en-US" dirty="0" err="1"/>
              <a:t>használnak</a:t>
            </a:r>
            <a:r>
              <a:rPr lang="en-US" dirty="0"/>
              <a:t> </a:t>
            </a:r>
            <a:r>
              <a:rPr lang="en-US" dirty="0" err="1"/>
              <a:t>adatcserére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Miért</a:t>
            </a:r>
            <a:r>
              <a:rPr lang="en-US" dirty="0"/>
              <a:t>?</a:t>
            </a:r>
          </a:p>
          <a:p>
            <a:r>
              <a:rPr lang="hu-HU" dirty="0"/>
              <a:t>- </a:t>
            </a:r>
            <a:r>
              <a:rPr lang="en-US" dirty="0" err="1"/>
              <a:t>Könnyen</a:t>
            </a:r>
            <a:r>
              <a:rPr lang="en-US" dirty="0"/>
              <a:t> </a:t>
            </a:r>
            <a:r>
              <a:rPr lang="en-US" dirty="0" err="1"/>
              <a:t>feldolgozható</a:t>
            </a:r>
            <a:r>
              <a:rPr lang="en-US" dirty="0"/>
              <a:t> frontend és backend </a:t>
            </a:r>
            <a:r>
              <a:rPr lang="en-US" dirty="0" err="1"/>
              <a:t>oldalon</a:t>
            </a:r>
            <a:r>
              <a:rPr lang="en-US" dirty="0"/>
              <a:t> is.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 err="1"/>
              <a:t>Nyelvfüggetlen</a:t>
            </a:r>
            <a:r>
              <a:rPr lang="en-US" dirty="0"/>
              <a:t>.</a:t>
            </a:r>
            <a:endParaRPr lang="hu-HU" dirty="0"/>
          </a:p>
          <a:p>
            <a:pPr marL="0" indent="0">
              <a:buFontTx/>
              <a:buNone/>
            </a:pPr>
            <a:r>
              <a:rPr lang="hu-HU" dirty="0"/>
              <a:t>- Platform független</a:t>
            </a:r>
            <a:endParaRPr lang="en-US" dirty="0"/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illeszkedik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objektum-orientált</a:t>
            </a:r>
            <a:r>
              <a:rPr lang="en-US" dirty="0"/>
              <a:t> </a:t>
            </a:r>
            <a:r>
              <a:rPr lang="en-US" dirty="0" err="1"/>
              <a:t>modellekhez</a:t>
            </a:r>
            <a:r>
              <a:rPr lang="en-US" dirty="0"/>
              <a:t>.</a:t>
            </a:r>
            <a:endParaRPr lang="hu-HU" dirty="0"/>
          </a:p>
          <a:p>
            <a:pPr marL="0" indent="0">
              <a:buFontTx/>
              <a:buNone/>
            </a:pPr>
            <a:endParaRPr lang="en-US" dirty="0"/>
          </a:p>
          <a:p>
            <a:r>
              <a:rPr lang="en-US" dirty="0"/>
              <a:t>A backend </a:t>
            </a:r>
            <a:r>
              <a:rPr lang="en-US" dirty="0" err="1"/>
              <a:t>feladata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 err="1"/>
              <a:t>objektumokat</a:t>
            </a:r>
            <a:r>
              <a:rPr lang="en-US" b="1" dirty="0"/>
              <a:t> JSON</a:t>
            </a:r>
            <a:r>
              <a:rPr lang="hu-HU" b="1" dirty="0"/>
              <a:t> formátumba</a:t>
            </a:r>
            <a:r>
              <a:rPr lang="en-US" b="1" dirty="0"/>
              <a:t> </a:t>
            </a:r>
            <a:r>
              <a:rPr lang="en-US" b="1" dirty="0" err="1"/>
              <a:t>alakítsa</a:t>
            </a:r>
            <a:r>
              <a:rPr lang="en-US" dirty="0"/>
              <a:t>, és </a:t>
            </a:r>
            <a:r>
              <a:rPr lang="en-US" dirty="0" err="1"/>
              <a:t>visszafelé</a:t>
            </a:r>
            <a:r>
              <a:rPr lang="en-US" dirty="0"/>
              <a:t> is </a:t>
            </a:r>
            <a:r>
              <a:rPr lang="en-US" dirty="0" err="1"/>
              <a:t>képes</a:t>
            </a:r>
            <a:r>
              <a:rPr lang="en-US" dirty="0"/>
              <a:t> </a:t>
            </a:r>
            <a:r>
              <a:rPr lang="en-US" dirty="0" err="1"/>
              <a:t>legyen</a:t>
            </a:r>
            <a:r>
              <a:rPr lang="en-US" dirty="0"/>
              <a:t> </a:t>
            </a:r>
            <a:r>
              <a:rPr lang="en-US" dirty="0" err="1"/>
              <a:t>erre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00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REST API-ban </a:t>
            </a:r>
            <a:r>
              <a:rPr lang="en-US" dirty="0" err="1"/>
              <a:t>többféle</a:t>
            </a:r>
            <a:r>
              <a:rPr lang="en-US" dirty="0"/>
              <a:t> </a:t>
            </a:r>
            <a:r>
              <a:rPr lang="en-US" dirty="0" err="1"/>
              <a:t>módon</a:t>
            </a:r>
            <a:r>
              <a:rPr lang="en-US" dirty="0"/>
              <a:t> </a:t>
            </a:r>
            <a:r>
              <a:rPr lang="en-US" dirty="0" err="1"/>
              <a:t>érkezhet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URL-ben</a:t>
            </a:r>
            <a:r>
              <a:rPr lang="hu-HU" dirty="0"/>
              <a:t> mint </a:t>
            </a:r>
            <a:r>
              <a:rPr lang="hu-HU" dirty="0" err="1"/>
              <a:t>Path</a:t>
            </a:r>
            <a:r>
              <a:rPr lang="hu-HU" dirty="0"/>
              <a:t> paraméter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/>
              <a:t>query </a:t>
            </a:r>
            <a:r>
              <a:rPr lang="en-US" dirty="0" err="1"/>
              <a:t>paraméterként</a:t>
            </a:r>
            <a:r>
              <a:rPr lang="en-US" dirty="0"/>
              <a:t>,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 err="1"/>
              <a:t>vagy</a:t>
            </a:r>
            <a:r>
              <a:rPr lang="en-US" dirty="0"/>
              <a:t> request body-ban JSON </a:t>
            </a:r>
            <a:r>
              <a:rPr lang="en-US" dirty="0" err="1"/>
              <a:t>formában</a:t>
            </a:r>
            <a:r>
              <a:rPr lang="en-US" dirty="0"/>
              <a:t>.</a:t>
            </a:r>
            <a:endParaRPr lang="hu-HU" dirty="0"/>
          </a:p>
          <a:p>
            <a:pPr marL="0" indent="0">
              <a:buFontTx/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backendnek</a:t>
            </a:r>
            <a:r>
              <a:rPr lang="en-US" dirty="0"/>
              <a:t> </a:t>
            </a:r>
            <a:r>
              <a:rPr lang="en-US" dirty="0" err="1"/>
              <a:t>mindezt</a:t>
            </a:r>
            <a:r>
              <a:rPr lang="en-US" dirty="0"/>
              <a:t> </a:t>
            </a:r>
            <a:r>
              <a:rPr lang="en-US" b="1" dirty="0" err="1"/>
              <a:t>konzisztensen</a:t>
            </a:r>
            <a:r>
              <a:rPr lang="en-US" b="1" dirty="0"/>
              <a:t> és </a:t>
            </a:r>
            <a:r>
              <a:rPr lang="en-US" b="1" dirty="0" err="1"/>
              <a:t>validáltan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kezelnie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80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</a:t>
            </a:r>
            <a:r>
              <a:rPr lang="hu-HU" dirty="0"/>
              <a:t>z egyszerű</a:t>
            </a:r>
            <a:r>
              <a:rPr lang="en-US" dirty="0"/>
              <a:t> </a:t>
            </a:r>
            <a:r>
              <a:rPr lang="en-US" dirty="0" err="1"/>
              <a:t>példa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szemléltetés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Controller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tartalmaz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logikát</a:t>
            </a:r>
            <a:r>
              <a:rPr lang="en-US" dirty="0"/>
              <a:t>, </a:t>
            </a:r>
            <a:r>
              <a:rPr lang="en-US" dirty="0" err="1"/>
              <a:t>csak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fogadja</a:t>
            </a:r>
            <a:r>
              <a:rPr lang="en-US" dirty="0"/>
              <a:t> a </a:t>
            </a:r>
            <a:r>
              <a:rPr lang="en-US" dirty="0" err="1"/>
              <a:t>kérést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delegálja</a:t>
            </a:r>
            <a:r>
              <a:rPr lang="en-US" dirty="0"/>
              <a:t> a </a:t>
            </a:r>
            <a:r>
              <a:rPr lang="en-US" dirty="0" err="1"/>
              <a:t>feldolgozást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visszaadja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eredményt</a:t>
            </a:r>
            <a:r>
              <a:rPr lang="hu-HU" dirty="0"/>
              <a:t> 200 OK státusszal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tiszta</a:t>
            </a:r>
            <a:r>
              <a:rPr lang="en-US" dirty="0"/>
              <a:t> </a:t>
            </a:r>
            <a:r>
              <a:rPr lang="en-US" dirty="0" err="1"/>
              <a:t>felelősségszétválasztást</a:t>
            </a:r>
            <a:r>
              <a:rPr lang="en-US" dirty="0"/>
              <a:t> </a:t>
            </a:r>
            <a:r>
              <a:rPr lang="en-US" dirty="0" err="1"/>
              <a:t>eredményez</a:t>
            </a:r>
            <a:r>
              <a:rPr lang="en-US" dirty="0"/>
              <a:t>.</a:t>
            </a:r>
            <a:r>
              <a:rPr lang="hu-HU" dirty="0"/>
              <a:t> Hiszen a </a:t>
            </a:r>
            <a:r>
              <a:rPr lang="hu-HU" dirty="0" err="1"/>
              <a:t>Controller</a:t>
            </a:r>
            <a:r>
              <a:rPr lang="hu-HU" dirty="0"/>
              <a:t> a belépési pont és a kérés kezelésért felelős, A </a:t>
            </a:r>
            <a:r>
              <a:rPr lang="hu-HU" dirty="0" err="1"/>
              <a:t>Model</a:t>
            </a:r>
            <a:r>
              <a:rPr lang="hu-HU" dirty="0"/>
              <a:t> rétegben lévő szolgáltatások feladata az üzleti logika. A </a:t>
            </a:r>
            <a:r>
              <a:rPr lang="hu-HU" dirty="0" err="1"/>
              <a:t>Response</a:t>
            </a:r>
            <a:r>
              <a:rPr lang="hu-HU" dirty="0"/>
              <a:t> JSON adat (</a:t>
            </a:r>
            <a:r>
              <a:rPr lang="hu-HU" dirty="0" err="1"/>
              <a:t>View</a:t>
            </a:r>
            <a:r>
              <a:rPr lang="hu-HU" dirty="0"/>
              <a:t>).</a:t>
            </a:r>
          </a:p>
          <a:p>
            <a:endParaRPr lang="hu-HU" dirty="0"/>
          </a:p>
          <a:p>
            <a:r>
              <a:rPr lang="hu-HU" b="1" dirty="0"/>
              <a:t>@RestController </a:t>
            </a:r>
            <a:r>
              <a:rPr lang="hu-HU" dirty="0"/>
              <a:t>annotáció fontos szerepe van, ezzel jelezzük, hogy a </a:t>
            </a:r>
            <a:r>
              <a:rPr lang="hu-HU" dirty="0" err="1"/>
              <a:t>UserController</a:t>
            </a:r>
            <a:r>
              <a:rPr lang="hu-HU" dirty="0"/>
              <a:t> osztály egy REST API kontroller lesz.</a:t>
            </a:r>
          </a:p>
          <a:p>
            <a:r>
              <a:rPr lang="hu-HU" b="1" dirty="0"/>
              <a:t>@RequestMapping </a:t>
            </a:r>
            <a:r>
              <a:rPr lang="hu-HU" b="0" dirty="0"/>
              <a:t>annotáció köti rá a kontrollerre az elérési </a:t>
            </a:r>
            <a:r>
              <a:rPr lang="hu-HU" b="0" dirty="0" err="1"/>
              <a:t>útat</a:t>
            </a:r>
            <a:r>
              <a:rPr lang="hu-HU" b="0" dirty="0"/>
              <a:t> (</a:t>
            </a:r>
            <a:r>
              <a:rPr lang="hu-HU" b="0" dirty="0" err="1"/>
              <a:t>Path</a:t>
            </a:r>
            <a:r>
              <a:rPr lang="hu-HU" b="0" dirty="0"/>
              <a:t>)</a:t>
            </a:r>
            <a:endParaRPr lang="hu-HU" b="1" dirty="0"/>
          </a:p>
          <a:p>
            <a:r>
              <a:rPr lang="hu-HU" b="1" dirty="0"/>
              <a:t>@GetMapping </a:t>
            </a:r>
            <a:r>
              <a:rPr lang="hu-HU" dirty="0"/>
              <a:t>annotáció jelzi, hogy a metódus egy GET kérés kiszolgálója az adott </a:t>
            </a:r>
            <a:r>
              <a:rPr lang="hu-HU" dirty="0" err="1"/>
              <a:t>Path-on</a:t>
            </a:r>
            <a:r>
              <a:rPr lang="hu-HU" dirty="0"/>
              <a:t>: ebben az esetben /</a:t>
            </a:r>
            <a:r>
              <a:rPr lang="hu-HU" dirty="0" err="1"/>
              <a:t>api</a:t>
            </a:r>
            <a:r>
              <a:rPr lang="hu-HU" dirty="0"/>
              <a:t>/v1/</a:t>
            </a:r>
            <a:r>
              <a:rPr lang="hu-HU" dirty="0" err="1"/>
              <a:t>users</a:t>
            </a:r>
            <a:r>
              <a:rPr lang="hu-HU" dirty="0"/>
              <a:t>/{</a:t>
            </a:r>
            <a:r>
              <a:rPr lang="hu-HU" dirty="0" err="1"/>
              <a:t>id</a:t>
            </a:r>
            <a:r>
              <a:rPr lang="hu-HU" dirty="0"/>
              <a:t>}</a:t>
            </a:r>
          </a:p>
          <a:p>
            <a:r>
              <a:rPr lang="en-US" b="1" dirty="0" err="1"/>
              <a:t>ResponseEntity</a:t>
            </a:r>
            <a:r>
              <a:rPr lang="hu-HU" dirty="0"/>
              <a:t> l</a:t>
            </a:r>
            <a:r>
              <a:rPr lang="en-US" dirty="0" err="1"/>
              <a:t>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a </a:t>
            </a:r>
            <a:r>
              <a:rPr lang="en-US" b="0" dirty="0"/>
              <a:t>HTTP </a:t>
            </a:r>
            <a:r>
              <a:rPr lang="en-US" b="0" dirty="0" err="1"/>
              <a:t>státuszkód</a:t>
            </a:r>
            <a:r>
              <a:rPr lang="en-US" b="0" dirty="0"/>
              <a:t> </a:t>
            </a:r>
            <a:r>
              <a:rPr lang="en-US" dirty="0"/>
              <a:t>és a </a:t>
            </a:r>
            <a:r>
              <a:rPr lang="en-US" b="0" dirty="0"/>
              <a:t>response body </a:t>
            </a:r>
            <a:r>
              <a:rPr lang="hu-HU" b="0" dirty="0"/>
              <a:t>külön </a:t>
            </a:r>
            <a:r>
              <a:rPr lang="en-US" dirty="0" err="1"/>
              <a:t>kezelését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2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dia egy </a:t>
            </a:r>
            <a:r>
              <a:rPr lang="hu-HU" b="1" dirty="0"/>
              <a:t>klasszikus POST végpontot</a:t>
            </a:r>
            <a:r>
              <a:rPr lang="hu-HU" dirty="0"/>
              <a:t> mutat be, amelynek célja egy új erőforrás – jelen esetben egy felhasználó – létrehozása.</a:t>
            </a:r>
          </a:p>
          <a:p>
            <a:r>
              <a:rPr lang="hu-HU" dirty="0"/>
              <a:t>Fontos megfigyelések:</a:t>
            </a:r>
          </a:p>
          <a:p>
            <a:r>
              <a:rPr lang="hu-HU" dirty="0"/>
              <a:t>- Az URL nem tartalmaz műveletnevet, egyszerűen 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/v1/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hu-HU" dirty="0"/>
              <a:t>.</a:t>
            </a:r>
          </a:p>
          <a:p>
            <a:r>
              <a:rPr lang="hu-HU" dirty="0"/>
              <a:t>- Maga a művelet jelentése a </a:t>
            </a:r>
            <a:r>
              <a:rPr lang="hu-HU" b="1" dirty="0"/>
              <a:t>HTTP POST metódusból</a:t>
            </a:r>
            <a:r>
              <a:rPr lang="hu-HU" dirty="0"/>
              <a:t> következik.</a:t>
            </a:r>
          </a:p>
          <a:p>
            <a:r>
              <a:rPr lang="hu-HU" dirty="0"/>
              <a:t>- Az adat nem az URL-ben érkezik, hanem a </a:t>
            </a:r>
            <a:r>
              <a:rPr lang="hu-HU" dirty="0" err="1"/>
              <a:t>request</a:t>
            </a:r>
            <a:r>
              <a:rPr lang="hu-HU" dirty="0"/>
              <a:t> body-ban, JSON formátumban.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@RequestBody</a:t>
            </a:r>
            <a:r>
              <a:rPr lang="hu-HU" b="1" dirty="0"/>
              <a:t> </a:t>
            </a:r>
            <a:r>
              <a:rPr lang="hu-HU" dirty="0"/>
              <a:t>annotáció azt jelenti, hogy a backend:</a:t>
            </a:r>
          </a:p>
          <a:p>
            <a:r>
              <a:rPr lang="hu-HU" dirty="0"/>
              <a:t>- elolvassa a JSON tartalmat,</a:t>
            </a:r>
          </a:p>
          <a:p>
            <a:r>
              <a:rPr lang="hu-HU" dirty="0"/>
              <a:t>- objektummá alakítja,</a:t>
            </a:r>
          </a:p>
          <a:p>
            <a:r>
              <a:rPr lang="hu-HU" dirty="0"/>
              <a:t>- és ezt adja át az üzleti logikának.</a:t>
            </a:r>
          </a:p>
          <a:p>
            <a:endParaRPr lang="hu-HU" dirty="0"/>
          </a:p>
          <a:p>
            <a:r>
              <a:rPr lang="hu-HU" dirty="0"/>
              <a:t>Ez nagyon jól szemlélteti a REST egyik alapelvét:</a:t>
            </a:r>
            <a:br>
              <a:rPr lang="hu-HU" dirty="0"/>
            </a:br>
            <a:r>
              <a:rPr lang="en-US" dirty="0"/>
              <a:t>👉 </a:t>
            </a:r>
            <a:r>
              <a:rPr lang="hu-HU" i="1" dirty="0"/>
              <a:t>a kliens adatot küld, a szerver dönt arról, hogyan jön létre az erőforrás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válasz általában a létrehozott </a:t>
            </a:r>
            <a:r>
              <a:rPr lang="hu-HU" dirty="0" err="1"/>
              <a:t>user</a:t>
            </a:r>
            <a:r>
              <a:rPr lang="hu-HU" dirty="0"/>
              <a:t> adatait tartalmazza, és ideális esetben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</a:t>
            </a:r>
            <a:r>
              <a:rPr lang="hu-HU" dirty="0"/>
              <a:t> státuszkóddal tér vissza. (De ez nem kötelező, ez lehet akár 200 OK is.)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57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</a:t>
            </a:r>
            <a:r>
              <a:rPr lang="en-US" dirty="0" err="1"/>
              <a:t>dia</a:t>
            </a:r>
            <a:r>
              <a:rPr lang="en-US" dirty="0"/>
              <a:t> a </a:t>
            </a:r>
            <a:r>
              <a:rPr lang="en-US" b="1" dirty="0"/>
              <a:t>PUT </a:t>
            </a:r>
            <a:r>
              <a:rPr lang="en-US" b="1" dirty="0" err="1"/>
              <a:t>metódus</a:t>
            </a:r>
            <a:r>
              <a:rPr lang="en-US" dirty="0"/>
              <a:t> </a:t>
            </a:r>
            <a:r>
              <a:rPr lang="en-US" dirty="0" err="1"/>
              <a:t>használatát</a:t>
            </a:r>
            <a:r>
              <a:rPr lang="en-US" dirty="0"/>
              <a:t> </a:t>
            </a:r>
            <a:r>
              <a:rPr lang="en-US" dirty="0" err="1"/>
              <a:t>mutatja</a:t>
            </a:r>
            <a:r>
              <a:rPr lang="en-US" dirty="0"/>
              <a:t> be,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dirty="0" err="1"/>
              <a:t>tipikusan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meglévő</a:t>
            </a:r>
            <a:r>
              <a:rPr lang="en-US" dirty="0"/>
              <a:t>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módosítására</a:t>
            </a:r>
            <a:r>
              <a:rPr lang="en-US" dirty="0"/>
              <a:t> </a:t>
            </a:r>
            <a:r>
              <a:rPr lang="en-US" dirty="0" err="1"/>
              <a:t>használunk</a:t>
            </a:r>
            <a:r>
              <a:rPr lang="en-US" dirty="0"/>
              <a:t>.</a:t>
            </a:r>
          </a:p>
          <a:p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adatforrás</a:t>
            </a:r>
            <a:r>
              <a:rPr lang="en-US" dirty="0"/>
              <a:t> </a:t>
            </a:r>
            <a:r>
              <a:rPr lang="en-US" dirty="0" err="1"/>
              <a:t>jelenik</a:t>
            </a:r>
            <a:r>
              <a:rPr lang="en-US" dirty="0"/>
              <a:t> meg:</a:t>
            </a:r>
            <a:r>
              <a:rPr lang="hu-HU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ID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URL path </a:t>
            </a:r>
            <a:r>
              <a:rPr lang="en-US" dirty="0" err="1"/>
              <a:t>része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/>
              <a:t>és a </a:t>
            </a:r>
            <a:r>
              <a:rPr lang="en-US" b="1" dirty="0" err="1"/>
              <a:t>módosított</a:t>
            </a:r>
            <a:r>
              <a:rPr lang="en-US" b="1" dirty="0"/>
              <a:t> </a:t>
            </a:r>
            <a:r>
              <a:rPr lang="en-US" b="1" dirty="0" err="1"/>
              <a:t>adatok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a request body-ban </a:t>
            </a:r>
            <a:r>
              <a:rPr lang="en-US" dirty="0" err="1"/>
              <a:t>érkeznek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REST-</a:t>
            </a:r>
            <a:r>
              <a:rPr lang="en-US" dirty="0" err="1"/>
              <a:t>kompatibilis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az</a:t>
            </a:r>
            <a:r>
              <a:rPr lang="en-US" dirty="0"/>
              <a:t> URL </a:t>
            </a:r>
            <a:r>
              <a:rPr lang="en-US" dirty="0" err="1"/>
              <a:t>azonosítja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erőforrást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/users/42</a:t>
            </a:r>
            <a:r>
              <a:rPr lang="en-US" dirty="0"/>
              <a:t>),</a:t>
            </a:r>
          </a:p>
          <a:p>
            <a:r>
              <a:rPr lang="hu-HU" dirty="0"/>
              <a:t>- </a:t>
            </a:r>
            <a:r>
              <a:rPr lang="en-US" dirty="0"/>
              <a:t>a PUT </a:t>
            </a:r>
            <a:r>
              <a:rPr lang="en-US" dirty="0" err="1"/>
              <a:t>metódus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módosítás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 err="1"/>
              <a:t>Érdemes</a:t>
            </a:r>
            <a:r>
              <a:rPr lang="en-US" dirty="0"/>
              <a:t> </a:t>
            </a:r>
            <a:r>
              <a:rPr lang="en-US" dirty="0" err="1"/>
              <a:t>hangsúlyozni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/>
              <a:t>a PUT </a:t>
            </a:r>
            <a:r>
              <a:rPr lang="en-US" dirty="0" err="1"/>
              <a:t>általában</a:t>
            </a:r>
            <a:r>
              <a:rPr lang="en-US" dirty="0"/>
              <a:t> </a:t>
            </a:r>
            <a:r>
              <a:rPr lang="en-US" i="1" dirty="0" err="1"/>
              <a:t>teljes</a:t>
            </a:r>
            <a:r>
              <a:rPr lang="en-US" i="1" dirty="0"/>
              <a:t> </a:t>
            </a:r>
            <a:r>
              <a:rPr lang="en-US" i="1" dirty="0" err="1"/>
              <a:t>állapotot</a:t>
            </a:r>
            <a:r>
              <a:rPr lang="en-US" dirty="0"/>
              <a:t> </a:t>
            </a:r>
            <a:r>
              <a:rPr lang="en-US" dirty="0" err="1"/>
              <a:t>vár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,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mezőt</a:t>
            </a:r>
            <a:r>
              <a:rPr lang="en-US" dirty="0"/>
              <a:t> </a:t>
            </a:r>
            <a:r>
              <a:rPr lang="en-US" dirty="0" err="1"/>
              <a:t>módosítunk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a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erőforrást</a:t>
            </a:r>
            <a:r>
              <a:rPr lang="en-US" dirty="0"/>
              <a:t> </a:t>
            </a:r>
            <a:r>
              <a:rPr lang="en-US" dirty="0" err="1"/>
              <a:t>újradefiniáljuk</a:t>
            </a:r>
            <a:r>
              <a:rPr lang="en-US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24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1" dirty="0"/>
              <a:t>DELETE</a:t>
            </a:r>
            <a:r>
              <a:rPr lang="hu-HU" dirty="0"/>
              <a:t> végpont a legegyszerűbb REST műveletek egyike, mégis nagyon beszédes.</a:t>
            </a:r>
          </a:p>
          <a:p>
            <a:r>
              <a:rPr lang="hu-HU" dirty="0"/>
              <a:t>Fontos megfigyelni:</a:t>
            </a:r>
          </a:p>
          <a:p>
            <a:r>
              <a:rPr lang="hu-HU" dirty="0"/>
              <a:t>- nincs </a:t>
            </a:r>
            <a:r>
              <a:rPr lang="hu-HU" dirty="0" err="1"/>
              <a:t>request</a:t>
            </a:r>
            <a:r>
              <a:rPr lang="hu-HU" dirty="0"/>
              <a:t> body,</a:t>
            </a:r>
          </a:p>
          <a:p>
            <a:r>
              <a:rPr lang="hu-HU" dirty="0"/>
              <a:t>- az URL önmagában azonosítja az erőforrást a </a:t>
            </a:r>
            <a:r>
              <a:rPr lang="hu-HU" dirty="0" err="1"/>
              <a:t>Path</a:t>
            </a:r>
            <a:r>
              <a:rPr lang="hu-HU" dirty="0"/>
              <a:t>-ban lévő ID alapján,</a:t>
            </a:r>
          </a:p>
          <a:p>
            <a:r>
              <a:rPr lang="hu-HU" dirty="0"/>
              <a:t>- a metódus neve egyértelműen kifejezi a szándékot.</a:t>
            </a:r>
          </a:p>
          <a:p>
            <a:endParaRPr lang="hu-HU" dirty="0"/>
          </a:p>
          <a:p>
            <a:r>
              <a:rPr lang="hu-HU" dirty="0"/>
              <a:t>A válasz gyakran:</a:t>
            </a:r>
          </a:p>
          <a:p>
            <a:r>
              <a:rPr lang="hu-HU" dirty="0"/>
              <a:t>- üres body,</a:t>
            </a:r>
          </a:p>
          <a:p>
            <a:pPr marL="0" indent="0">
              <a:buFontTx/>
              <a:buNone/>
            </a:pP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- 204 No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</a:t>
            </a:r>
            <a:r>
              <a:rPr lang="hu-HU" dirty="0"/>
              <a:t> (vagy 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 OK)</a:t>
            </a:r>
            <a:r>
              <a:rPr lang="hu-HU" dirty="0"/>
              <a:t> státuszkóddal.</a:t>
            </a:r>
          </a:p>
          <a:p>
            <a:pPr marL="171450" indent="-171450">
              <a:buFontTx/>
              <a:buChar char="-"/>
            </a:pPr>
            <a:endParaRPr lang="hu-HU" dirty="0"/>
          </a:p>
          <a:p>
            <a:r>
              <a:rPr lang="hu-HU" dirty="0"/>
              <a:t>Ez a dia jól rávilágít arra, hogy a REST API-k nem mindig „adatot adnak vissza”, sokszor csak </a:t>
            </a:r>
            <a:r>
              <a:rPr lang="hu-HU" b="1" dirty="0"/>
              <a:t>állapotváltozást jeleznek</a:t>
            </a:r>
            <a:r>
              <a:rPr lang="hu-HU" dirty="0"/>
              <a:t>. Ez különösen fontos, amikor frontenddel vagy más szolgáltatással integrálunk.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73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dia azt a célt szolgálja, hogy megmutassuk: </a:t>
            </a:r>
            <a:r>
              <a:rPr lang="hu-HU" b="1" dirty="0"/>
              <a:t>a REST nem Java vagy Spring specifikus</a:t>
            </a:r>
            <a:r>
              <a:rPr lang="hu-HU" dirty="0"/>
              <a:t>.</a:t>
            </a:r>
          </a:p>
          <a:p>
            <a:r>
              <a:rPr lang="hu-HU" dirty="0"/>
              <a:t>Itt egy Python </a:t>
            </a:r>
            <a:r>
              <a:rPr lang="hu-HU" dirty="0" err="1"/>
              <a:t>FastAPI</a:t>
            </a:r>
            <a:r>
              <a:rPr lang="hu-HU" dirty="0"/>
              <a:t> példa látható, ahol néhány sor kóddal egy teljes értékű REST végpontot hozunk létre.</a:t>
            </a:r>
          </a:p>
          <a:p>
            <a:endParaRPr lang="hu-HU" dirty="0"/>
          </a:p>
          <a:p>
            <a:r>
              <a:rPr lang="hu-HU" dirty="0"/>
              <a:t>Sok a hasonlóság:</a:t>
            </a:r>
          </a:p>
          <a:p>
            <a:r>
              <a:rPr lang="hu-HU" dirty="0"/>
              <a:t>- URL útvonal paraméterrel,</a:t>
            </a:r>
          </a:p>
          <a:p>
            <a:r>
              <a:rPr lang="hu-HU" dirty="0"/>
              <a:t>- HTTP metódus (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hu-HU" dirty="0"/>
              <a:t>),</a:t>
            </a:r>
          </a:p>
          <a:p>
            <a:r>
              <a:rPr lang="hu-HU" dirty="0"/>
              <a:t>- JSON válasz objektum formájában.</a:t>
            </a:r>
          </a:p>
          <a:p>
            <a:endParaRPr lang="hu-HU" dirty="0"/>
          </a:p>
          <a:p>
            <a:r>
              <a:rPr lang="hu-HU" dirty="0"/>
              <a:t>A koncepciók </a:t>
            </a:r>
            <a:r>
              <a:rPr lang="hu-HU" b="1" dirty="0"/>
              <a:t>pontosan ugyanazok</a:t>
            </a:r>
            <a:r>
              <a:rPr lang="hu-HU" dirty="0"/>
              <a:t>, mint Spring Boot esetén:</a:t>
            </a:r>
          </a:p>
          <a:p>
            <a:r>
              <a:rPr lang="hu-HU" dirty="0"/>
              <a:t>- </a:t>
            </a:r>
            <a:r>
              <a:rPr lang="hu-HU" dirty="0" err="1"/>
              <a:t>request</a:t>
            </a:r>
            <a:r>
              <a:rPr lang="hu-HU" dirty="0"/>
              <a:t> → feldolgozás → </a:t>
            </a:r>
            <a:r>
              <a:rPr lang="hu-HU" dirty="0" err="1"/>
              <a:t>response</a:t>
            </a:r>
            <a:r>
              <a:rPr lang="hu-HU" dirty="0"/>
              <a:t>,</a:t>
            </a:r>
          </a:p>
          <a:p>
            <a:r>
              <a:rPr lang="hu-HU" dirty="0"/>
              <a:t>- strukturált adat,</a:t>
            </a:r>
          </a:p>
          <a:p>
            <a:r>
              <a:rPr lang="hu-HU" dirty="0"/>
              <a:t>- </a:t>
            </a:r>
            <a:r>
              <a:rPr lang="hu-HU" dirty="0" err="1"/>
              <a:t>stateless</a:t>
            </a:r>
            <a:r>
              <a:rPr lang="hu-HU" dirty="0"/>
              <a:t> működés.</a:t>
            </a:r>
          </a:p>
          <a:p>
            <a:endParaRPr lang="hu-HU" dirty="0"/>
          </a:p>
          <a:p>
            <a:r>
              <a:rPr lang="hu-HU" dirty="0"/>
              <a:t>Ha a REST elveket értjük, akkor bármilyen modern backend technológiában gyorsan tudunk dolgozni.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41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Ebben az előadásban megalapoztuk a backend REST API-k működését.</a:t>
            </a:r>
          </a:p>
          <a:p>
            <a:endParaRPr lang="hu-HU" dirty="0"/>
          </a:p>
          <a:p>
            <a:r>
              <a:rPr lang="hu-HU" dirty="0"/>
              <a:t>Most már képesek vagyunk REST API-t tervezni, és a gyakorlatokon mindezt:</a:t>
            </a:r>
          </a:p>
          <a:p>
            <a:r>
              <a:rPr lang="hu-HU" dirty="0"/>
              <a:t>- konkrét végpontokon,</a:t>
            </a:r>
          </a:p>
          <a:p>
            <a:r>
              <a:rPr lang="hu-HU" dirty="0"/>
              <a:t>- </a:t>
            </a:r>
            <a:r>
              <a:rPr lang="hu-HU" dirty="0" err="1"/>
              <a:t>requestekkel</a:t>
            </a:r>
            <a:r>
              <a:rPr lang="hu-HU" dirty="0"/>
              <a:t>,</a:t>
            </a:r>
          </a:p>
          <a:p>
            <a:r>
              <a:rPr lang="hu-HU" dirty="0"/>
              <a:t>- JSON válaszokkal,</a:t>
            </a:r>
          </a:p>
          <a:p>
            <a:pPr marL="0" indent="0">
              <a:buFontTx/>
              <a:buNone/>
            </a:pPr>
            <a:r>
              <a:rPr lang="hu-HU" dirty="0"/>
              <a:t>- és hibakezeléssel fogjuk kipróbálni.</a:t>
            </a:r>
          </a:p>
          <a:p>
            <a:pPr marL="0" indent="0">
              <a:buFontTx/>
              <a:buNone/>
            </a:pP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Backend REST API </a:t>
            </a:r>
            <a:r>
              <a:rPr lang="en-US" sz="4400" dirty="0" err="1"/>
              <a:t>fejlesztés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r>
              <a:rPr lang="en-US" sz="2400" dirty="0"/>
              <a:t>MVC-re </a:t>
            </a:r>
            <a:r>
              <a:rPr lang="en-US" sz="2400" dirty="0" err="1"/>
              <a:t>épülő</a:t>
            </a:r>
            <a:r>
              <a:rPr lang="en-US" sz="2400" dirty="0"/>
              <a:t> backend REST API </a:t>
            </a:r>
            <a:r>
              <a:rPr lang="en-US" sz="2400" dirty="0" err="1"/>
              <a:t>tervezése</a:t>
            </a:r>
            <a:r>
              <a:rPr lang="en-US" sz="2400" dirty="0"/>
              <a:t> és </a:t>
            </a:r>
            <a:r>
              <a:rPr lang="en-US" sz="2400" dirty="0" err="1"/>
              <a:t>fejlesztése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7552"/>
          </a:xfrm>
        </p:spPr>
        <p:txBody>
          <a:bodyPr>
            <a:normAutofit/>
          </a:bodyPr>
          <a:lstStyle/>
          <a:p>
            <a:r>
              <a:rPr lang="hu-HU" sz="4000" dirty="0"/>
              <a:t>Bevezetés és célkitűzések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D452FA-50AB-B018-0F16-2BB605BADC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32117"/>
            <a:ext cx="7905669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nevezünk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REST API-nak?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Kapcsolat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MVC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architektúrával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Elmélet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gyakorlati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szemlélet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fogunk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megérteni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0135-5518-3835-5B57-6DB371EAA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4564"/>
          </a:xfrm>
        </p:spPr>
        <p:txBody>
          <a:bodyPr>
            <a:normAutofit/>
          </a:bodyPr>
          <a:lstStyle/>
          <a:p>
            <a:r>
              <a:rPr lang="en-US" sz="4000" dirty="0"/>
              <a:t>Hol </a:t>
            </a:r>
            <a:r>
              <a:rPr lang="en-US" sz="4000" dirty="0" err="1"/>
              <a:t>helyezkedik</a:t>
            </a:r>
            <a:r>
              <a:rPr lang="en-US" sz="4000" dirty="0"/>
              <a:t> </a:t>
            </a:r>
            <a:r>
              <a:rPr lang="en-US" sz="4000" dirty="0" err="1"/>
              <a:t>el</a:t>
            </a:r>
            <a:r>
              <a:rPr lang="en-US" sz="4000" dirty="0"/>
              <a:t> a Backend REST API?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DDAEFA-CEDE-6C77-5A85-F4C41BE033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48086"/>
            <a:ext cx="4388120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↔ Backend 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Adatbázis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mint „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üzleti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mint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szerződés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Understanding Rest Architecture">
            <a:extLst>
              <a:ext uri="{FF2B5EF4-FFF2-40B4-BE49-F238E27FC236}">
                <a16:creationId xmlns:a16="http://schemas.microsoft.com/office/drawing/2014/main" id="{F3962871-2CB4-E103-FE25-B98E54278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187" y="2248086"/>
            <a:ext cx="7076433" cy="371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37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99B0-2BE4-B7EA-BF14-7FDC825F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1415"/>
          </a:xfrm>
        </p:spPr>
        <p:txBody>
          <a:bodyPr>
            <a:normAutofit/>
          </a:bodyPr>
          <a:lstStyle/>
          <a:p>
            <a:r>
              <a:rPr lang="en-US" sz="4000" dirty="0"/>
              <a:t>MVC </a:t>
            </a:r>
            <a:r>
              <a:rPr lang="en-US" sz="4000" dirty="0" err="1"/>
              <a:t>architektúra</a:t>
            </a:r>
            <a:r>
              <a:rPr lang="en-US" sz="4000" dirty="0"/>
              <a:t> </a:t>
            </a:r>
            <a:r>
              <a:rPr lang="en-US" sz="4000" dirty="0" err="1"/>
              <a:t>szerepe</a:t>
            </a:r>
            <a:r>
              <a:rPr lang="en-US" sz="4000" dirty="0"/>
              <a:t> Backend </a:t>
            </a:r>
            <a:r>
              <a:rPr lang="en-US" sz="4000" dirty="0" err="1"/>
              <a:t>oldalon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C71B83-FE95-F69F-ED90-436CFFC47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2162" y="3226669"/>
            <a:ext cx="4028653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üzleti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logika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belépési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–</a:t>
            </a: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</a:t>
            </a: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adatok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Spring Mvc Rest Api Using Spring Boot Example Using Spring Mvc Spring Rest  Repository Example Mvc">
            <a:extLst>
              <a:ext uri="{FF2B5EF4-FFF2-40B4-BE49-F238E27FC236}">
                <a16:creationId xmlns:a16="http://schemas.microsoft.com/office/drawing/2014/main" id="{9A914F53-E5BA-E5F2-5D78-8E0999D28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607" y="2064239"/>
            <a:ext cx="6370597" cy="424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15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917B-2E6E-BF49-A2AC-B6A48868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fr-FR" sz="4000" dirty="0" err="1"/>
              <a:t>Request</a:t>
            </a:r>
            <a:r>
              <a:rPr lang="fr-FR" sz="4000" dirty="0"/>
              <a:t>–</a:t>
            </a:r>
            <a:r>
              <a:rPr lang="fr-FR" sz="4000" dirty="0" err="1"/>
              <a:t>Response</a:t>
            </a:r>
            <a:r>
              <a:rPr lang="fr-FR" sz="4000" dirty="0"/>
              <a:t> </a:t>
            </a:r>
            <a:r>
              <a:rPr lang="fr-FR" sz="4000" dirty="0" err="1"/>
              <a:t>életciklus</a:t>
            </a:r>
            <a:r>
              <a:rPr lang="fr-FR" sz="4000" dirty="0"/>
              <a:t> REST API-ban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CEA11-BEC9-C17F-5977-4916B49853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020" y="2587836"/>
            <a:ext cx="429437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Request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 / Controller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Feldolgozás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Response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95FD144D-46B9-514F-C9B8-CA4483906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826" y="2279141"/>
            <a:ext cx="5501780" cy="388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46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F657-0A2A-FB77-EEBD-1105CAA3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hu-HU" sz="4000" dirty="0" err="1"/>
              <a:t>Stateless</a:t>
            </a:r>
            <a:r>
              <a:rPr lang="hu-HU" sz="4000" dirty="0"/>
              <a:t> működés jelentése a gyakorlatban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5D7D74-2EF7-257C-9E10-DB6F2E9625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09078"/>
            <a:ext cx="9421446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Nincs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szerveroldali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 request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önálló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A backend nem tárol kliens specifikus állapotot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Skálázhatóság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több backend példány szolgálhat ki kéréseket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2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77F4-80FE-0F7D-4628-14E4015F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HTTP </a:t>
            </a:r>
            <a:r>
              <a:rPr lang="en-US" sz="4000" dirty="0" err="1"/>
              <a:t>metódusok</a:t>
            </a:r>
            <a:r>
              <a:rPr lang="en-US" sz="4000" dirty="0"/>
              <a:t> </a:t>
            </a:r>
            <a:r>
              <a:rPr lang="en-US" sz="4000" dirty="0" err="1"/>
              <a:t>szerepe</a:t>
            </a:r>
            <a:r>
              <a:rPr lang="en-US" sz="4000" dirty="0"/>
              <a:t> a Backend API-ban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2B8B3C-167A-5234-DD8A-0FCEEAF30D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2188855"/>
            <a:ext cx="10486664" cy="391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lekérdezés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létrehozás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 / PATCH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módosítás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törlés</a:t>
            </a:r>
            <a:endParaRPr lang="hu-HU" altLang="en-US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hu-HU" sz="2400" dirty="0"/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2400" dirty="0"/>
              <a:t>A metódus </a:t>
            </a:r>
            <a:r>
              <a:rPr lang="hu-HU" sz="2400" b="1" dirty="0"/>
              <a:t>nem csak technikai részlet</a:t>
            </a:r>
            <a:r>
              <a:rPr lang="hu-HU" sz="2400" dirty="0"/>
              <a:t>, hanem jelentéssel bír. A kliens ebből érti meg a művelet célját.</a:t>
            </a:r>
          </a:p>
        </p:txBody>
      </p:sp>
    </p:spTree>
    <p:extLst>
      <p:ext uri="{BB962C8B-B14F-4D97-AF65-F5344CB8AC3E}">
        <p14:creationId xmlns:p14="http://schemas.microsoft.com/office/powerpoint/2010/main" val="219987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53BA-8DCD-B2BF-316A-1BDAE50D9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3600" dirty="0"/>
              <a:t>URI design és </a:t>
            </a:r>
            <a:r>
              <a:rPr lang="en-US" sz="3600" dirty="0" err="1"/>
              <a:t>erőforrás-orientált</a:t>
            </a:r>
            <a:r>
              <a:rPr lang="en-US" sz="3600" dirty="0"/>
              <a:t> </a:t>
            </a:r>
            <a:r>
              <a:rPr lang="en-US" sz="3600" dirty="0" err="1"/>
              <a:t>gondolkodás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C89194-42AE-EA34-25FB-4196F9645B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872" y="2449500"/>
            <a:ext cx="8993690" cy="2802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Erőforrások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(resources)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címzése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Főnevek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használata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pedig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igék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-ek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használata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u-HU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2400" dirty="0"/>
              <a:t>REST-ben nem műveleteket, hanem </a:t>
            </a:r>
            <a:r>
              <a:rPr lang="hu-HU" sz="2400" b="1" dirty="0"/>
              <a:t>erőforrásokat</a:t>
            </a:r>
            <a:r>
              <a:rPr lang="hu-HU" sz="2400" dirty="0"/>
              <a:t> címzünk.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8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84A71-1471-6E87-1ECE-7757CB37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9"/>
            <a:ext cx="11155680" cy="757794"/>
          </a:xfrm>
        </p:spPr>
        <p:txBody>
          <a:bodyPr>
            <a:normAutofit/>
          </a:bodyPr>
          <a:lstStyle/>
          <a:p>
            <a:r>
              <a:rPr lang="hu-HU" sz="4000" dirty="0"/>
              <a:t>URI design és HTTP metódusok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71F4A-CF98-0035-C270-FBBADCD7B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823" y="1904455"/>
            <a:ext cx="7500395" cy="4643427"/>
          </a:xfrm>
        </p:spPr>
      </p:pic>
    </p:spTree>
    <p:extLst>
      <p:ext uri="{BB962C8B-B14F-4D97-AF65-F5344CB8AC3E}">
        <p14:creationId xmlns:p14="http://schemas.microsoft.com/office/powerpoint/2010/main" val="155965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C781-9EBD-D05D-6BF0-ACF5FF36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>
            <a:normAutofit/>
          </a:bodyPr>
          <a:lstStyle/>
          <a:p>
            <a:r>
              <a:rPr lang="hu-HU" sz="4000" dirty="0"/>
              <a:t>HTTP státuszkódok szerepe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82083F-2FEC-2E99-2F6F-B37102814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179" y="1927661"/>
            <a:ext cx="7857574" cy="4568048"/>
          </a:xfrm>
        </p:spPr>
      </p:pic>
    </p:spTree>
    <p:extLst>
      <p:ext uri="{BB962C8B-B14F-4D97-AF65-F5344CB8AC3E}">
        <p14:creationId xmlns:p14="http://schemas.microsoft.com/office/powerpoint/2010/main" val="3588425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3153-4825-2811-0DD0-DABF4B4F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1415"/>
          </a:xfrm>
        </p:spPr>
        <p:txBody>
          <a:bodyPr>
            <a:normAutofit/>
          </a:bodyPr>
          <a:lstStyle/>
          <a:p>
            <a:r>
              <a:rPr lang="en-US" sz="4000" dirty="0"/>
              <a:t>JSON mint </a:t>
            </a:r>
            <a:r>
              <a:rPr lang="en-US" sz="4000" dirty="0" err="1"/>
              <a:t>adatcsere-formátum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8D47A5-D5CB-BF9B-0515-ECD46312E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924" y="2309078"/>
            <a:ext cx="6334099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Strukturált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felépítésű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</a:rPr>
              <a:t> Platform és programozási nyelv független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Emberileg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olvasható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szöveges formátum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Könnyen feldolgozható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5C1DA-DD77-1B9F-A70A-6DDD63C9C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862" y="2679068"/>
            <a:ext cx="4178075" cy="198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27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14051-B017-8CFE-440E-0FFE1824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en-US" sz="4000" dirty="0"/>
              <a:t>Request </a:t>
            </a:r>
            <a:r>
              <a:rPr lang="en-US" sz="4000" dirty="0" err="1"/>
              <a:t>adatok</a:t>
            </a:r>
            <a:r>
              <a:rPr lang="en-US" sz="4000" dirty="0"/>
              <a:t> </a:t>
            </a:r>
            <a:r>
              <a:rPr lang="en-US" sz="4000" dirty="0" err="1"/>
              <a:t>kezelése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1B122F-7B6A-D6DB-8419-CD7520168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03663"/>
            <a:ext cx="7175829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Egy REST API-ban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többféle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módon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érkezhet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adat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paraméter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hu-HU" altLang="en-US" sz="240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paraméter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users?userid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 body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1E738-C1AB-8F35-13A5-34165ACD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064" y="4132491"/>
            <a:ext cx="4354973" cy="20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32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FC71-A7B7-122D-60A4-0E40839CF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01557"/>
            <a:ext cx="11155680" cy="931415"/>
          </a:xfrm>
        </p:spPr>
        <p:txBody>
          <a:bodyPr>
            <a:normAutofit/>
          </a:bodyPr>
          <a:lstStyle/>
          <a:p>
            <a:r>
              <a:rPr lang="en-US" sz="4000" dirty="0"/>
              <a:t>Controller </a:t>
            </a:r>
            <a:r>
              <a:rPr lang="en-US" sz="4000" dirty="0" err="1"/>
              <a:t>szerepe</a:t>
            </a:r>
            <a:r>
              <a:rPr lang="en-US" sz="4000" dirty="0"/>
              <a:t> (Spring Boot </a:t>
            </a:r>
            <a:r>
              <a:rPr lang="en-US" sz="4000" dirty="0" err="1"/>
              <a:t>példa</a:t>
            </a:r>
            <a:r>
              <a:rPr lang="en-US" sz="4000" dirty="0"/>
              <a:t>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8D69E3-DCCB-93A1-FE38-17A90988D1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526" y="1814560"/>
            <a:ext cx="4255442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Felhasználó lekérése ID alapján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</a:t>
            </a:r>
            <a:r>
              <a:rPr kumimoji="0" lang="hu-HU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hu-HU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/v1/</a:t>
            </a:r>
            <a:r>
              <a:rPr kumimoji="0" lang="hu-HU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hu-HU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/{</a:t>
            </a:r>
            <a:r>
              <a:rPr kumimoji="0" lang="hu-HU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hu-HU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Belépési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paraméterek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kezelése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hu-HU" altLang="en-US" sz="2000" dirty="0" err="1">
                <a:latin typeface="Arial" panose="020B0604020202020204" pitchFamily="34" charset="0"/>
              </a:rPr>
              <a:t>Model</a:t>
            </a:r>
            <a:r>
              <a:rPr lang="hu-HU" altLang="en-US" sz="2000" dirty="0">
                <a:latin typeface="Arial" panose="020B0604020202020204" pitchFamily="34" charset="0"/>
              </a:rPr>
              <a:t> réteg szolgáltatási hívása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visszaadása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6A126-C5F8-F3C2-9871-20B1453F6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492" y="2381459"/>
            <a:ext cx="6668916" cy="307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C97C-3055-F11E-85EE-8B4BD90F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4564"/>
          </a:xfrm>
        </p:spPr>
        <p:txBody>
          <a:bodyPr>
            <a:normAutofit/>
          </a:bodyPr>
          <a:lstStyle/>
          <a:p>
            <a:r>
              <a:rPr lang="en-US" sz="4000" dirty="0"/>
              <a:t>POST: User </a:t>
            </a:r>
            <a:r>
              <a:rPr lang="en-US" sz="4000" dirty="0" err="1"/>
              <a:t>létrehozása</a:t>
            </a:r>
            <a:r>
              <a:rPr lang="en-US" sz="4000" dirty="0"/>
              <a:t> (Spring Boot)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12D3-DCF7-F88E-09B8-6EE62D75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932972"/>
            <a:ext cx="6405476" cy="11574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 err="1"/>
              <a:t>Új</a:t>
            </a:r>
            <a:r>
              <a:rPr lang="en-US" sz="2000" dirty="0"/>
              <a:t> </a:t>
            </a:r>
            <a:r>
              <a:rPr lang="en-US" sz="2000" dirty="0" err="1"/>
              <a:t>felhasználó</a:t>
            </a:r>
            <a:r>
              <a:rPr lang="en-US" sz="2000" dirty="0"/>
              <a:t> </a:t>
            </a:r>
            <a:r>
              <a:rPr lang="en-US" sz="2000" dirty="0" err="1"/>
              <a:t>létrehozása</a:t>
            </a:r>
            <a:r>
              <a:rPr lang="en-US" sz="2000" dirty="0"/>
              <a:t> JSON request body </a:t>
            </a:r>
            <a:r>
              <a:rPr lang="en-US" sz="2000" dirty="0" err="1"/>
              <a:t>alapján</a:t>
            </a:r>
            <a:endParaRPr lang="hu-HU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POST /</a:t>
            </a:r>
            <a:r>
              <a:rPr lang="en-US" sz="2000" b="1" dirty="0" err="1"/>
              <a:t>api</a:t>
            </a:r>
            <a:r>
              <a:rPr lang="hu-HU" sz="2000" b="1" dirty="0"/>
              <a:t>/v1</a:t>
            </a:r>
            <a:r>
              <a:rPr lang="en-US" sz="2000" b="1" dirty="0"/>
              <a:t>/users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C9E846-B1D0-187D-D266-4A06197E7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03" y="2910338"/>
            <a:ext cx="7471416" cy="296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05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CCC84-568D-731D-A7EB-C9F6BCC9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42989"/>
          </a:xfrm>
        </p:spPr>
        <p:txBody>
          <a:bodyPr>
            <a:normAutofit/>
          </a:bodyPr>
          <a:lstStyle/>
          <a:p>
            <a:r>
              <a:rPr lang="en-US" sz="4000" dirty="0"/>
              <a:t>PUT: User </a:t>
            </a:r>
            <a:r>
              <a:rPr lang="en-US" sz="4000" dirty="0" err="1"/>
              <a:t>módosítása</a:t>
            </a:r>
            <a:r>
              <a:rPr lang="en-US" sz="4000" dirty="0"/>
              <a:t> (Spring Boot)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8F994-207F-E1FD-D8E5-0E4B4DF15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23022"/>
            <a:ext cx="5161962" cy="122946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600" dirty="0" err="1"/>
              <a:t>Meglévő</a:t>
            </a:r>
            <a:r>
              <a:rPr lang="en-US" sz="2600" dirty="0"/>
              <a:t> </a:t>
            </a:r>
            <a:r>
              <a:rPr lang="en-US" sz="2600" dirty="0" err="1"/>
              <a:t>felhasználó</a:t>
            </a:r>
            <a:r>
              <a:rPr lang="en-US" sz="2600" dirty="0"/>
              <a:t> </a:t>
            </a:r>
            <a:r>
              <a:rPr lang="en-US" sz="2600" dirty="0" err="1"/>
              <a:t>teljes</a:t>
            </a:r>
            <a:r>
              <a:rPr lang="en-US" sz="2600" dirty="0"/>
              <a:t> </a:t>
            </a:r>
            <a:r>
              <a:rPr lang="en-US" sz="2600" dirty="0" err="1"/>
              <a:t>módosítása</a:t>
            </a:r>
            <a:endParaRPr lang="hu-HU" sz="2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600" b="1" dirty="0"/>
              <a:t>PUT /</a:t>
            </a:r>
            <a:r>
              <a:rPr lang="en-US" sz="2600" b="1" dirty="0" err="1"/>
              <a:t>api</a:t>
            </a:r>
            <a:r>
              <a:rPr lang="hu-HU" sz="2600" b="1" dirty="0"/>
              <a:t>/v1</a:t>
            </a:r>
            <a:r>
              <a:rPr lang="en-US" sz="2600" b="1" dirty="0"/>
              <a:t>/users/{id}</a:t>
            </a:r>
            <a:endParaRPr lang="hu-HU" sz="26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592EB-70FC-388F-755A-75BD67E12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63" y="2847422"/>
            <a:ext cx="6311356" cy="283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8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CB29-6FA9-E0B4-0E60-90916C1CA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92519"/>
          </a:xfrm>
        </p:spPr>
        <p:txBody>
          <a:bodyPr>
            <a:normAutofit/>
          </a:bodyPr>
          <a:lstStyle/>
          <a:p>
            <a:r>
              <a:rPr lang="en-US" sz="4000" dirty="0"/>
              <a:t>DELETE: User </a:t>
            </a:r>
            <a:r>
              <a:rPr lang="en-US" sz="4000" dirty="0" err="1"/>
              <a:t>törlése</a:t>
            </a:r>
            <a:r>
              <a:rPr lang="en-US" sz="4000" dirty="0"/>
              <a:t> (Spring Boot)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B33B-DB1C-749F-4B07-1FAC02E24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4609425" cy="1093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Felhasználó</a:t>
            </a:r>
            <a:r>
              <a:rPr lang="en-US" sz="2000" dirty="0"/>
              <a:t> </a:t>
            </a:r>
            <a:r>
              <a:rPr lang="en-US" sz="2000" dirty="0" err="1"/>
              <a:t>törlése</a:t>
            </a:r>
            <a:r>
              <a:rPr lang="en-US" sz="2000" dirty="0"/>
              <a:t> </a:t>
            </a:r>
            <a:r>
              <a:rPr lang="en-US" sz="2000" dirty="0" err="1"/>
              <a:t>azonosító</a:t>
            </a:r>
            <a:r>
              <a:rPr lang="en-US" sz="2000" dirty="0"/>
              <a:t> </a:t>
            </a:r>
            <a:r>
              <a:rPr lang="en-US" sz="2000" dirty="0" err="1"/>
              <a:t>alapján</a:t>
            </a:r>
            <a:endParaRPr lang="hu-HU" sz="2000" b="1" dirty="0"/>
          </a:p>
          <a:p>
            <a:pPr marL="0" indent="0">
              <a:buNone/>
            </a:pPr>
            <a:r>
              <a:rPr lang="en-US" sz="2000" b="1" dirty="0"/>
              <a:t>DELETE /</a:t>
            </a:r>
            <a:r>
              <a:rPr lang="en-US" sz="2000" b="1" dirty="0" err="1"/>
              <a:t>api</a:t>
            </a:r>
            <a:r>
              <a:rPr lang="hu-HU" sz="2000" b="1" dirty="0"/>
              <a:t>/v1</a:t>
            </a:r>
            <a:r>
              <a:rPr lang="en-US" sz="2000" b="1" dirty="0"/>
              <a:t>/users/{id}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2D15F-9E94-5BE5-845D-F6D82D576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219" y="3286042"/>
            <a:ext cx="7202557" cy="182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97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EB2D-679C-1BB3-E431-A31CA02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8817"/>
          </a:xfrm>
        </p:spPr>
        <p:txBody>
          <a:bodyPr>
            <a:normAutofit/>
          </a:bodyPr>
          <a:lstStyle/>
          <a:p>
            <a:r>
              <a:rPr lang="en-US" sz="4000" dirty="0"/>
              <a:t>REST </a:t>
            </a:r>
            <a:r>
              <a:rPr lang="en-US" sz="4000" dirty="0" err="1"/>
              <a:t>végpont</a:t>
            </a:r>
            <a:r>
              <a:rPr lang="en-US" sz="4000" dirty="0"/>
              <a:t> </a:t>
            </a:r>
            <a:r>
              <a:rPr lang="en-US" sz="4000" dirty="0" err="1"/>
              <a:t>FastAPI-val</a:t>
            </a:r>
            <a:r>
              <a:rPr lang="en-US" sz="4000" dirty="0"/>
              <a:t>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58481-7162-BEEB-4C38-F4F93A98A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58686"/>
            <a:ext cx="4953617" cy="662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000" dirty="0"/>
              <a:t>Python </a:t>
            </a:r>
            <a:r>
              <a:rPr lang="hu-HU" sz="2000" dirty="0" err="1"/>
              <a:t>FastAPI</a:t>
            </a:r>
            <a:r>
              <a:rPr lang="hu-HU" sz="2000" dirty="0"/>
              <a:t> – egyszerű REST API példa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B68F9-E5B2-303E-23D0-F26F555D3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58686"/>
            <a:ext cx="3904527" cy="392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9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8868FD-9B33-8BA8-DA6C-27229DDC6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86077"/>
            <a:ext cx="8229761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REST API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koncepciók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technológia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tovább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backendben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Következő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lépés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gyakorlati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építés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1831</Words>
  <Application>Microsoft Office PowerPoint</Application>
  <PresentationFormat>Widescreen</PresentationFormat>
  <Paragraphs>235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Bierstadt</vt:lpstr>
      <vt:lpstr>GestaltVTI</vt:lpstr>
      <vt:lpstr>Backend REST API fejlesztés   MVC-re épülő backend REST API tervezése és fejlesztése </vt:lpstr>
      <vt:lpstr>Bevezetés és célkitűzések</vt:lpstr>
      <vt:lpstr>Hol helyezkedik el a Backend REST API?</vt:lpstr>
      <vt:lpstr>MVC architektúra szerepe Backend oldalon</vt:lpstr>
      <vt:lpstr>Request–Response életciklus REST API-ban</vt:lpstr>
      <vt:lpstr>Stateless működés jelentése a gyakorlatban</vt:lpstr>
      <vt:lpstr>HTTP metódusok szerepe a Backend API-ban</vt:lpstr>
      <vt:lpstr>URI design és erőforrás-orientált gondolkodás</vt:lpstr>
      <vt:lpstr>URI design és HTTP metódusok</vt:lpstr>
      <vt:lpstr>HTTP státuszkódok szerepe</vt:lpstr>
      <vt:lpstr>JSON mint adatcsere-formátum</vt:lpstr>
      <vt:lpstr>Request adatok kezelése</vt:lpstr>
      <vt:lpstr>Controller szerepe (Spring Boot példa)</vt:lpstr>
      <vt:lpstr>POST: User létrehozása (Spring Boot)</vt:lpstr>
      <vt:lpstr>PUT: User módosítása (Spring Boot)</vt:lpstr>
      <vt:lpstr>DELETE: User törlése (Spring Boot)</vt:lpstr>
      <vt:lpstr>REST végpont FastAPI-val (Python)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112</cp:revision>
  <dcterms:created xsi:type="dcterms:W3CDTF">2025-11-30T15:45:28Z</dcterms:created>
  <dcterms:modified xsi:type="dcterms:W3CDTF">2026-03-08T15:10:50Z</dcterms:modified>
</cp:coreProperties>
</file>