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0"/>
  </p:notesMasterIdLst>
  <p:sldIdLst>
    <p:sldId id="256" r:id="rId2"/>
    <p:sldId id="259" r:id="rId3"/>
    <p:sldId id="275" r:id="rId4"/>
    <p:sldId id="276" r:id="rId5"/>
    <p:sldId id="277" r:id="rId6"/>
    <p:sldId id="279" r:id="rId7"/>
    <p:sldId id="278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7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75182" autoAdjust="0"/>
  </p:normalViewPr>
  <p:slideViewPr>
    <p:cSldViewPr snapToGrid="0">
      <p:cViewPr varScale="1">
        <p:scale>
          <a:sx n="95" d="100"/>
          <a:sy n="95" d="100"/>
        </p:scale>
        <p:origin x="108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82E4E-5CEC-44A9-BF2B-512FB3B5604F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D23EBC-67FA-4278-B97C-82D0A52FD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096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838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Ebben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előadásban</a:t>
            </a:r>
            <a:r>
              <a:rPr lang="en-US" dirty="0"/>
              <a:t> a backend </a:t>
            </a:r>
            <a:r>
              <a:rPr lang="en-US" dirty="0" err="1"/>
              <a:t>oldali</a:t>
            </a:r>
            <a:r>
              <a:rPr lang="en-US" dirty="0"/>
              <a:t> REST API </a:t>
            </a:r>
            <a:r>
              <a:rPr lang="en-US" dirty="0" err="1"/>
              <a:t>fejlesztésével</a:t>
            </a:r>
            <a:r>
              <a:rPr lang="en-US" dirty="0"/>
              <a:t> </a:t>
            </a:r>
            <a:r>
              <a:rPr lang="en-US" dirty="0" err="1"/>
              <a:t>foglalkozunk</a:t>
            </a:r>
            <a:r>
              <a:rPr lang="en-US" dirty="0"/>
              <a:t>. Az </a:t>
            </a:r>
            <a:r>
              <a:rPr lang="en-US" dirty="0" err="1"/>
              <a:t>előző</a:t>
            </a:r>
            <a:r>
              <a:rPr lang="en-US" dirty="0"/>
              <a:t> </a:t>
            </a:r>
            <a:r>
              <a:rPr lang="hu-HU" dirty="0"/>
              <a:t>előadásban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beszéltünk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MVC </a:t>
            </a:r>
            <a:r>
              <a:rPr lang="en-US" dirty="0" err="1"/>
              <a:t>architektúráról</a:t>
            </a:r>
            <a:r>
              <a:rPr lang="en-US" dirty="0"/>
              <a:t> és a REST </a:t>
            </a:r>
            <a:r>
              <a:rPr lang="en-US" dirty="0" err="1"/>
              <a:t>alapelveiről</a:t>
            </a:r>
            <a:r>
              <a:rPr lang="en-US" dirty="0"/>
              <a:t>, most </a:t>
            </a:r>
            <a:r>
              <a:rPr lang="en-US" dirty="0" err="1"/>
              <a:t>ezekre</a:t>
            </a:r>
            <a:r>
              <a:rPr lang="en-US" dirty="0"/>
              <a:t> </a:t>
            </a:r>
            <a:r>
              <a:rPr lang="en-US" dirty="0" err="1"/>
              <a:t>építve</a:t>
            </a:r>
            <a:r>
              <a:rPr lang="en-US" dirty="0"/>
              <a:t> </a:t>
            </a:r>
            <a:r>
              <a:rPr lang="en-US" dirty="0" err="1"/>
              <a:t>megnézzük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néz</a:t>
            </a:r>
            <a:r>
              <a:rPr lang="en-US" dirty="0"/>
              <a:t> ki </a:t>
            </a:r>
            <a:r>
              <a:rPr lang="en-US" dirty="0" err="1"/>
              <a:t>mindez</a:t>
            </a:r>
            <a:r>
              <a:rPr lang="en-US" dirty="0"/>
              <a:t> a </a:t>
            </a:r>
            <a:r>
              <a:rPr lang="en-US" dirty="0" err="1"/>
              <a:t>gyakorlatban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szerveroldali</a:t>
            </a:r>
            <a:r>
              <a:rPr lang="en-US" dirty="0"/>
              <a:t> </a:t>
            </a:r>
            <a:r>
              <a:rPr lang="en-US" dirty="0" err="1"/>
              <a:t>alkalmazásban</a:t>
            </a:r>
            <a:r>
              <a:rPr lang="en-US" dirty="0"/>
              <a:t>.</a:t>
            </a:r>
            <a:r>
              <a:rPr lang="hu-HU" dirty="0"/>
              <a:t> (A prezentációban lesznek visszautalások az előző előadás anyagára.)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dirty="0" err="1"/>
              <a:t>cél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hu-HU" dirty="0"/>
              <a:t>Java </a:t>
            </a:r>
            <a:r>
              <a:rPr lang="en-US" dirty="0"/>
              <a:t>Spring Boot </a:t>
            </a:r>
            <a:r>
              <a:rPr lang="hu-HU" dirty="0"/>
              <a:t>vagy Python </a:t>
            </a:r>
            <a:r>
              <a:rPr lang="en-US" dirty="0" err="1"/>
              <a:t>fejlesztőket</a:t>
            </a:r>
            <a:r>
              <a:rPr lang="en-US" dirty="0"/>
              <a:t> </a:t>
            </a:r>
            <a:r>
              <a:rPr lang="en-US" dirty="0" err="1"/>
              <a:t>képezzünk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1" dirty="0" err="1"/>
              <a:t>megértsük</a:t>
            </a:r>
            <a:r>
              <a:rPr lang="en-US" b="1" dirty="0"/>
              <a:t> a </a:t>
            </a:r>
            <a:r>
              <a:rPr lang="en-US" b="1" dirty="0" err="1"/>
              <a:t>mögöttes</a:t>
            </a:r>
            <a:r>
              <a:rPr lang="en-US" b="1" dirty="0"/>
              <a:t> </a:t>
            </a:r>
            <a:r>
              <a:rPr lang="en-US" b="1" dirty="0" err="1"/>
              <a:t>koncepciókat</a:t>
            </a:r>
            <a:r>
              <a:rPr lang="en-US" dirty="0"/>
              <a:t>: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érkezik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HTTP </a:t>
            </a:r>
            <a:r>
              <a:rPr lang="en-US" dirty="0" err="1"/>
              <a:t>kérés</a:t>
            </a:r>
            <a:r>
              <a:rPr lang="en-US" dirty="0"/>
              <a:t> a </a:t>
            </a:r>
            <a:r>
              <a:rPr lang="en-US" dirty="0" err="1"/>
              <a:t>szerverre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dolgozza</a:t>
            </a:r>
            <a:r>
              <a:rPr lang="en-US" dirty="0"/>
              <a:t> </a:t>
            </a:r>
            <a:r>
              <a:rPr lang="en-US" dirty="0" err="1"/>
              <a:t>fel</a:t>
            </a:r>
            <a:r>
              <a:rPr lang="en-US" dirty="0"/>
              <a:t> a backend, és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válaszol</a:t>
            </a:r>
            <a:r>
              <a:rPr lang="en-US" dirty="0"/>
              <a:t> </a:t>
            </a:r>
            <a:r>
              <a:rPr lang="en-US" dirty="0" err="1"/>
              <a:t>strukturált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formájában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Java és a Spring Boot</a:t>
            </a:r>
            <a:r>
              <a:rPr lang="hu-HU" dirty="0"/>
              <a:t> (vagy a akár a Python)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b="1" dirty="0" err="1"/>
              <a:t>konkrét</a:t>
            </a:r>
            <a:r>
              <a:rPr lang="en-US" b="1" dirty="0"/>
              <a:t>, </a:t>
            </a:r>
            <a:r>
              <a:rPr lang="en-US" b="1" dirty="0" err="1"/>
              <a:t>jól</a:t>
            </a:r>
            <a:r>
              <a:rPr lang="en-US" b="1" dirty="0"/>
              <a:t> </a:t>
            </a:r>
            <a:r>
              <a:rPr lang="en-US" b="1" dirty="0" err="1"/>
              <a:t>érthető</a:t>
            </a:r>
            <a:r>
              <a:rPr lang="en-US" b="1" dirty="0"/>
              <a:t> </a:t>
            </a:r>
            <a:r>
              <a:rPr lang="en-US" b="1" dirty="0" err="1"/>
              <a:t>eszköz</a:t>
            </a:r>
            <a:r>
              <a:rPr lang="en-US" dirty="0"/>
              <a:t> </a:t>
            </a:r>
            <a:r>
              <a:rPr lang="en-US" dirty="0" err="1"/>
              <a:t>lesz</a:t>
            </a:r>
            <a:r>
              <a:rPr lang="en-US" dirty="0"/>
              <a:t> a </a:t>
            </a:r>
            <a:r>
              <a:rPr lang="en-US" dirty="0" err="1"/>
              <a:t>kezünkben</a:t>
            </a:r>
            <a:r>
              <a:rPr lang="en-US" dirty="0"/>
              <a:t>, </a:t>
            </a:r>
            <a:r>
              <a:rPr lang="en-US" dirty="0" err="1"/>
              <a:t>amivel</a:t>
            </a:r>
            <a:r>
              <a:rPr lang="en-US" dirty="0"/>
              <a:t> </a:t>
            </a:r>
            <a:r>
              <a:rPr lang="en-US" dirty="0" err="1"/>
              <a:t>ezeket</a:t>
            </a:r>
            <a:r>
              <a:rPr lang="en-US" dirty="0"/>
              <a:t> a </a:t>
            </a:r>
            <a:r>
              <a:rPr lang="en-US" dirty="0" err="1"/>
              <a:t>fogalmakat</a:t>
            </a:r>
            <a:r>
              <a:rPr lang="en-US" dirty="0"/>
              <a:t> </a:t>
            </a:r>
            <a:r>
              <a:rPr lang="en-US" dirty="0" err="1"/>
              <a:t>szemléltetni</a:t>
            </a:r>
            <a:r>
              <a:rPr lang="en-US" dirty="0"/>
              <a:t> </a:t>
            </a:r>
            <a:r>
              <a:rPr lang="hu-HU" dirty="0"/>
              <a:t>és végső soron implementálni </a:t>
            </a:r>
            <a:r>
              <a:rPr lang="en-US" dirty="0" err="1"/>
              <a:t>tudjuk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605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backend REST API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köztes</a:t>
            </a:r>
            <a:r>
              <a:rPr lang="en-US" dirty="0"/>
              <a:t> </a:t>
            </a:r>
            <a:r>
              <a:rPr lang="en-US" dirty="0" err="1"/>
              <a:t>réteg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és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adatforrások</a:t>
            </a:r>
            <a:r>
              <a:rPr lang="en-US" dirty="0"/>
              <a:t> </a:t>
            </a:r>
            <a:r>
              <a:rPr lang="en-US" dirty="0" err="1"/>
              <a:t>között</a:t>
            </a:r>
            <a:r>
              <a:rPr lang="en-US" dirty="0"/>
              <a:t>. A frontend – </a:t>
            </a:r>
            <a:r>
              <a:rPr lang="en-US" dirty="0" err="1"/>
              <a:t>legyen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böngésző</a:t>
            </a:r>
            <a:r>
              <a:rPr lang="en-US" dirty="0"/>
              <a:t>, </a:t>
            </a:r>
            <a:r>
              <a:rPr lang="en-US" dirty="0" err="1"/>
              <a:t>mobilapp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másik</a:t>
            </a:r>
            <a:r>
              <a:rPr lang="en-US" dirty="0"/>
              <a:t> </a:t>
            </a:r>
            <a:r>
              <a:rPr lang="en-US" dirty="0" err="1"/>
              <a:t>szolgáltatás</a:t>
            </a:r>
            <a:r>
              <a:rPr lang="en-US" dirty="0"/>
              <a:t> –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közvetlenül</a:t>
            </a:r>
            <a:r>
              <a:rPr lang="en-US" b="1" dirty="0"/>
              <a:t> </a:t>
            </a:r>
            <a:r>
              <a:rPr lang="en-US" b="1" dirty="0" err="1"/>
              <a:t>az</a:t>
            </a:r>
            <a:r>
              <a:rPr lang="en-US" b="1" dirty="0"/>
              <a:t> </a:t>
            </a:r>
            <a:r>
              <a:rPr lang="en-US" b="1" dirty="0" err="1"/>
              <a:t>adatbázissal</a:t>
            </a:r>
            <a:r>
              <a:rPr lang="en-US" b="1" dirty="0"/>
              <a:t> </a:t>
            </a:r>
            <a:r>
              <a:rPr lang="en-US" b="1" dirty="0" err="1"/>
              <a:t>beszél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a </a:t>
            </a:r>
            <a:r>
              <a:rPr lang="en-US" dirty="0" err="1"/>
              <a:t>backenddel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hu-HU" dirty="0"/>
              <a:t>Ez a</a:t>
            </a:r>
            <a:r>
              <a:rPr lang="en-US" dirty="0"/>
              <a:t> backend </a:t>
            </a:r>
            <a:r>
              <a:rPr lang="hu-HU" dirty="0"/>
              <a:t>(server) </a:t>
            </a:r>
            <a:r>
              <a:rPr lang="en-US" dirty="0" err="1"/>
              <a:t>biztosítja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üzleti</a:t>
            </a:r>
            <a:r>
              <a:rPr lang="en-US" dirty="0"/>
              <a:t> </a:t>
            </a:r>
            <a:r>
              <a:rPr lang="en-US" dirty="0" err="1"/>
              <a:t>szabályokat</a:t>
            </a:r>
            <a:r>
              <a:rPr lang="en-US" dirty="0"/>
              <a:t>,</a:t>
            </a:r>
          </a:p>
          <a:p>
            <a:r>
              <a:rPr lang="hu-HU" dirty="0"/>
              <a:t>-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adatellenőrzést</a:t>
            </a:r>
            <a:r>
              <a:rPr lang="en-US" dirty="0"/>
              <a:t>,</a:t>
            </a:r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dirty="0" err="1"/>
              <a:t>biztonságot</a:t>
            </a:r>
            <a:r>
              <a:rPr lang="en-US" dirty="0"/>
              <a:t>,</a:t>
            </a:r>
          </a:p>
          <a:p>
            <a:r>
              <a:rPr lang="hu-HU" dirty="0"/>
              <a:t>- </a:t>
            </a:r>
            <a:r>
              <a:rPr lang="en-US" dirty="0"/>
              <a:t>és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egységes</a:t>
            </a:r>
            <a:r>
              <a:rPr lang="en-US" dirty="0"/>
              <a:t> </a:t>
            </a:r>
            <a:r>
              <a:rPr lang="en-US" dirty="0" err="1"/>
              <a:t>kommunikációs</a:t>
            </a:r>
            <a:r>
              <a:rPr lang="en-US" dirty="0"/>
              <a:t> </a:t>
            </a:r>
            <a:r>
              <a:rPr lang="en-US" dirty="0" err="1"/>
              <a:t>felületet</a:t>
            </a:r>
            <a:r>
              <a:rPr lang="hu-HU" dirty="0"/>
              <a:t> és adatcserét.</a:t>
            </a:r>
          </a:p>
          <a:p>
            <a:endParaRPr lang="en-US" dirty="0"/>
          </a:p>
          <a:p>
            <a:r>
              <a:rPr lang="en-US" dirty="0"/>
              <a:t>A REST API </a:t>
            </a:r>
            <a:r>
              <a:rPr lang="en-US" dirty="0" err="1"/>
              <a:t>egyfajta</a:t>
            </a:r>
            <a:r>
              <a:rPr lang="en-US" dirty="0"/>
              <a:t> </a:t>
            </a:r>
            <a:r>
              <a:rPr lang="en-US" b="1" dirty="0" err="1"/>
              <a:t>szerződés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és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között</a:t>
            </a:r>
            <a:r>
              <a:rPr lang="en-US" dirty="0"/>
              <a:t>: </a:t>
            </a:r>
            <a:r>
              <a:rPr lang="en-US" dirty="0" err="1"/>
              <a:t>meghatározza</a:t>
            </a:r>
            <a:r>
              <a:rPr lang="en-US" dirty="0"/>
              <a:t>, </a:t>
            </a:r>
            <a:r>
              <a:rPr lang="en-US" dirty="0" err="1"/>
              <a:t>milyen</a:t>
            </a:r>
            <a:r>
              <a:rPr lang="en-US" dirty="0"/>
              <a:t> URL-</a:t>
            </a:r>
            <a:r>
              <a:rPr lang="en-US" dirty="0" err="1"/>
              <a:t>en</a:t>
            </a:r>
            <a:r>
              <a:rPr lang="en-US" dirty="0"/>
              <a:t>, </a:t>
            </a:r>
            <a:r>
              <a:rPr lang="en-US" dirty="0" err="1"/>
              <a:t>milyen</a:t>
            </a:r>
            <a:r>
              <a:rPr lang="en-US" dirty="0"/>
              <a:t> HTTP </a:t>
            </a:r>
            <a:r>
              <a:rPr lang="en-US" dirty="0" err="1"/>
              <a:t>metódussal</a:t>
            </a:r>
            <a:r>
              <a:rPr lang="en-US" dirty="0"/>
              <a:t>,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formátumban</a:t>
            </a:r>
            <a:r>
              <a:rPr lang="en-US" dirty="0"/>
              <a:t>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 </a:t>
            </a:r>
            <a:r>
              <a:rPr lang="en-US" dirty="0" err="1"/>
              <a:t>kérni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küldeni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8142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 MVC </a:t>
            </a:r>
            <a:r>
              <a:rPr lang="en-US" dirty="0" err="1"/>
              <a:t>architektúrát</a:t>
            </a:r>
            <a:r>
              <a:rPr lang="en-US" dirty="0"/>
              <a:t> </a:t>
            </a:r>
            <a:r>
              <a:rPr lang="en-US" dirty="0" err="1"/>
              <a:t>gyakran</a:t>
            </a:r>
            <a:r>
              <a:rPr lang="en-US" dirty="0"/>
              <a:t> </a:t>
            </a:r>
            <a:r>
              <a:rPr lang="en-US" dirty="0" err="1"/>
              <a:t>weboldalakhoz</a:t>
            </a:r>
            <a:r>
              <a:rPr lang="en-US" dirty="0"/>
              <a:t> </a:t>
            </a:r>
            <a:r>
              <a:rPr lang="en-US" dirty="0" err="1"/>
              <a:t>kötjük</a:t>
            </a:r>
            <a:r>
              <a:rPr lang="en-US" dirty="0"/>
              <a:t>, de backend REST API </a:t>
            </a:r>
            <a:r>
              <a:rPr lang="en-US" dirty="0" err="1"/>
              <a:t>esetén</a:t>
            </a:r>
            <a:r>
              <a:rPr lang="en-US" dirty="0"/>
              <a:t> is </a:t>
            </a:r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alkalmazható</a:t>
            </a:r>
            <a:r>
              <a:rPr lang="en-US" dirty="0"/>
              <a:t> – </a:t>
            </a:r>
            <a:r>
              <a:rPr lang="en-US" dirty="0" err="1"/>
              <a:t>csak</a:t>
            </a:r>
            <a:r>
              <a:rPr lang="en-US" dirty="0"/>
              <a:t> a </a:t>
            </a:r>
            <a:r>
              <a:rPr lang="en-US" b="1" dirty="0"/>
              <a:t>View </a:t>
            </a:r>
            <a:r>
              <a:rPr lang="en-US" b="1" dirty="0" err="1"/>
              <a:t>szerepe</a:t>
            </a:r>
            <a:r>
              <a:rPr lang="en-US" b="1" dirty="0"/>
              <a:t> </a:t>
            </a:r>
            <a:r>
              <a:rPr lang="en-US" b="1" dirty="0" err="1"/>
              <a:t>megváltozik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b="1" dirty="0"/>
              <a:t>Model</a:t>
            </a:r>
            <a:r>
              <a:rPr lang="en-US" dirty="0"/>
              <a:t> </a:t>
            </a:r>
            <a:r>
              <a:rPr lang="en-US" dirty="0" err="1"/>
              <a:t>továbbra</a:t>
            </a:r>
            <a:r>
              <a:rPr lang="en-US" dirty="0"/>
              <a:t> is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 és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üzleti</a:t>
            </a:r>
            <a:r>
              <a:rPr lang="en-US" dirty="0"/>
              <a:t> </a:t>
            </a:r>
            <a:r>
              <a:rPr lang="en-US" dirty="0" err="1"/>
              <a:t>logikát</a:t>
            </a:r>
            <a:r>
              <a:rPr lang="en-US" dirty="0"/>
              <a:t> </a:t>
            </a:r>
            <a:r>
              <a:rPr lang="en-US" dirty="0" err="1"/>
              <a:t>képviseli</a:t>
            </a:r>
            <a:r>
              <a:rPr lang="en-US" dirty="0"/>
              <a:t>.</a:t>
            </a:r>
          </a:p>
          <a:p>
            <a:r>
              <a:rPr lang="en-US" dirty="0"/>
              <a:t>A </a:t>
            </a:r>
            <a:r>
              <a:rPr lang="en-US" b="1" dirty="0"/>
              <a:t>Controller</a:t>
            </a:r>
            <a:r>
              <a:rPr lang="en-US" dirty="0"/>
              <a:t> </a:t>
            </a:r>
            <a:r>
              <a:rPr lang="en-US" dirty="0" err="1"/>
              <a:t>fogadja</a:t>
            </a:r>
            <a:r>
              <a:rPr lang="en-US" dirty="0"/>
              <a:t> a HTTP </a:t>
            </a:r>
            <a:r>
              <a:rPr lang="en-US" dirty="0" err="1"/>
              <a:t>kéréseket</a:t>
            </a:r>
            <a:r>
              <a:rPr lang="en-US" dirty="0"/>
              <a:t>.</a:t>
            </a:r>
          </a:p>
          <a:p>
            <a:r>
              <a:rPr lang="en-US" dirty="0"/>
              <a:t>A </a:t>
            </a:r>
            <a:r>
              <a:rPr lang="en-US" b="1" dirty="0"/>
              <a:t>View</a:t>
            </a:r>
            <a:r>
              <a:rPr lang="en-US" dirty="0"/>
              <a:t> </a:t>
            </a:r>
            <a:r>
              <a:rPr lang="en-US" dirty="0" err="1"/>
              <a:t>viszont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HTML </a:t>
            </a:r>
            <a:r>
              <a:rPr lang="en-US" dirty="0" err="1"/>
              <a:t>oldal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tipikusan</a:t>
            </a:r>
            <a:r>
              <a:rPr lang="en-US" dirty="0"/>
              <a:t> </a:t>
            </a:r>
            <a:r>
              <a:rPr lang="en-US" b="1" dirty="0"/>
              <a:t>JSON </a:t>
            </a:r>
            <a:r>
              <a:rPr lang="en-US" b="1" dirty="0" err="1"/>
              <a:t>válasz</a:t>
            </a:r>
            <a:r>
              <a:rPr lang="hu-HU" b="1" dirty="0"/>
              <a:t> (JSON adat)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 err="1"/>
              <a:t>Tehát</a:t>
            </a:r>
            <a:r>
              <a:rPr lang="en-US" dirty="0"/>
              <a:t> a backend REST API </a:t>
            </a:r>
            <a:r>
              <a:rPr lang="en-US" dirty="0" err="1"/>
              <a:t>tulajdonképpen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MVC </a:t>
            </a:r>
            <a:r>
              <a:rPr lang="en-US" dirty="0" err="1"/>
              <a:t>alkalmazás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 a </a:t>
            </a:r>
            <a:r>
              <a:rPr lang="en-US" b="1" dirty="0" err="1"/>
              <a:t>kimenet</a:t>
            </a:r>
            <a:r>
              <a:rPr lang="en-US" b="1" dirty="0"/>
              <a:t> </a:t>
            </a:r>
            <a:r>
              <a:rPr lang="en-US" b="1" dirty="0" err="1"/>
              <a:t>strukturált</a:t>
            </a:r>
            <a:r>
              <a:rPr lang="en-US" b="1" dirty="0"/>
              <a:t> </a:t>
            </a:r>
            <a:r>
              <a:rPr lang="en-US" b="1" dirty="0" err="1"/>
              <a:t>adat</a:t>
            </a:r>
            <a:r>
              <a:rPr lang="en-US" dirty="0"/>
              <a:t>,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felhasználói</a:t>
            </a:r>
            <a:r>
              <a:rPr lang="en-US" dirty="0"/>
              <a:t> </a:t>
            </a:r>
            <a:r>
              <a:rPr lang="en-US" dirty="0" err="1"/>
              <a:t>felület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6011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Egy REST API működésének alapja a </a:t>
            </a:r>
            <a:r>
              <a:rPr lang="hu-HU" dirty="0" err="1"/>
              <a:t>request</a:t>
            </a:r>
            <a:r>
              <a:rPr lang="hu-HU" dirty="0"/>
              <a:t>–</a:t>
            </a:r>
            <a:r>
              <a:rPr lang="hu-HU" dirty="0" err="1"/>
              <a:t>response</a:t>
            </a:r>
            <a:r>
              <a:rPr lang="hu-HU" dirty="0"/>
              <a:t> modell.</a:t>
            </a:r>
          </a:p>
          <a:p>
            <a:endParaRPr lang="hu-HU" dirty="0"/>
          </a:p>
          <a:p>
            <a:r>
              <a:rPr lang="hu-HU" dirty="0"/>
              <a:t>A folyamat lépései:</a:t>
            </a:r>
          </a:p>
          <a:p>
            <a:r>
              <a:rPr lang="hu-HU" dirty="0"/>
              <a:t>1) A kliens elküld egy </a:t>
            </a:r>
            <a:r>
              <a:rPr lang="hu-HU" b="1" dirty="0"/>
              <a:t>HTTP </a:t>
            </a:r>
            <a:r>
              <a:rPr lang="hu-HU" b="1" dirty="0" err="1"/>
              <a:t>requestet</a:t>
            </a:r>
            <a:r>
              <a:rPr lang="hu-HU" b="1" dirty="0"/>
              <a:t> </a:t>
            </a:r>
            <a:r>
              <a:rPr lang="hu-HU" dirty="0"/>
              <a:t>(URL, metódus, </a:t>
            </a:r>
            <a:r>
              <a:rPr lang="hu-HU" dirty="0" err="1"/>
              <a:t>header</a:t>
            </a:r>
            <a:r>
              <a:rPr lang="hu-HU" dirty="0"/>
              <a:t>, body).</a:t>
            </a:r>
          </a:p>
          <a:p>
            <a:r>
              <a:rPr lang="hu-HU" dirty="0"/>
              <a:t>2) A backend a kérést egy adott </a:t>
            </a:r>
            <a:r>
              <a:rPr lang="hu-HU" b="1" dirty="0" err="1"/>
              <a:t>Controller</a:t>
            </a:r>
            <a:r>
              <a:rPr lang="hu-HU" dirty="0"/>
              <a:t> metódushoz irányítja.</a:t>
            </a:r>
          </a:p>
          <a:p>
            <a:r>
              <a:rPr lang="hu-HU" dirty="0"/>
              <a:t>3) A szerveroldalon a </a:t>
            </a:r>
            <a:r>
              <a:rPr lang="hu-HU" b="1" dirty="0" err="1"/>
              <a:t>Model</a:t>
            </a:r>
            <a:r>
              <a:rPr lang="hu-HU" dirty="0"/>
              <a:t> rétegben üzleti logika fut le.</a:t>
            </a:r>
          </a:p>
          <a:p>
            <a:r>
              <a:rPr lang="hu-HU" dirty="0"/>
              <a:t>4) A backend visszaküld egy </a:t>
            </a:r>
            <a:r>
              <a:rPr lang="hu-HU" b="1" dirty="0"/>
              <a:t>HTTP </a:t>
            </a:r>
            <a:r>
              <a:rPr lang="hu-HU" b="1" dirty="0" err="1"/>
              <a:t>response</a:t>
            </a:r>
            <a:r>
              <a:rPr lang="hu-HU" b="1" dirty="0"/>
              <a:t>-t</a:t>
            </a:r>
            <a:r>
              <a:rPr lang="hu-HU" dirty="0"/>
              <a:t>, státuszkóddal és adattal. (A </a:t>
            </a:r>
            <a:r>
              <a:rPr lang="hu-HU" dirty="0" err="1"/>
              <a:t>View</a:t>
            </a:r>
            <a:r>
              <a:rPr lang="hu-HU" dirty="0"/>
              <a:t> itt JSON adat.)</a:t>
            </a:r>
          </a:p>
          <a:p>
            <a:endParaRPr lang="hu-HU" dirty="0"/>
          </a:p>
          <a:p>
            <a:r>
              <a:rPr lang="hu-HU" dirty="0"/>
              <a:t>Ez egy </a:t>
            </a:r>
            <a:r>
              <a:rPr lang="hu-HU" b="1" dirty="0"/>
              <a:t>egyszeri, </a:t>
            </a:r>
            <a:r>
              <a:rPr lang="hu-HU" b="1" dirty="0" err="1"/>
              <a:t>stateless</a:t>
            </a:r>
            <a:r>
              <a:rPr lang="hu-HU" b="1" dirty="0"/>
              <a:t> (állapotnélküli) interakció</a:t>
            </a:r>
            <a:r>
              <a:rPr lang="hu-HU" dirty="0"/>
              <a:t>, ahol minden kérés önálló. REST API-k esetén tipikusan ilyen interakciókról beszélünk.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2186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</a:t>
            </a:r>
            <a:r>
              <a:rPr lang="hu-HU" b="0" dirty="0"/>
              <a:t>REST</a:t>
            </a:r>
            <a:r>
              <a:rPr lang="hu-HU" dirty="0"/>
              <a:t> egyik alapelve a </a:t>
            </a:r>
            <a:r>
              <a:rPr lang="hu-HU" b="1" dirty="0" err="1"/>
              <a:t>stateless</a:t>
            </a:r>
            <a:r>
              <a:rPr lang="hu-HU" dirty="0"/>
              <a:t> működés.</a:t>
            </a:r>
          </a:p>
          <a:p>
            <a:endParaRPr lang="hu-HU" dirty="0"/>
          </a:p>
          <a:p>
            <a:r>
              <a:rPr lang="hu-HU" dirty="0"/>
              <a:t>Ez azt jelenti, hogy:</a:t>
            </a:r>
          </a:p>
          <a:p>
            <a:r>
              <a:rPr lang="hu-HU" dirty="0"/>
              <a:t>- A szerver nem tárol kliens-specifikus állapotot.</a:t>
            </a:r>
          </a:p>
          <a:p>
            <a:r>
              <a:rPr lang="hu-HU" dirty="0"/>
              <a:t>- Minden </a:t>
            </a:r>
            <a:r>
              <a:rPr lang="hu-HU" dirty="0" err="1"/>
              <a:t>request</a:t>
            </a:r>
            <a:r>
              <a:rPr lang="hu-HU" dirty="0"/>
              <a:t> tartalmaz minden szükséges információt. </a:t>
            </a:r>
            <a:r>
              <a:rPr lang="hu-HU" b="1" dirty="0"/>
              <a:t>Minden </a:t>
            </a:r>
            <a:r>
              <a:rPr lang="hu-HU" b="1" dirty="0" err="1"/>
              <a:t>request</a:t>
            </a:r>
            <a:r>
              <a:rPr lang="hu-HU" b="1" dirty="0"/>
              <a:t> önálló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Ez elsőre furcsának tűnhet, de cserébe:</a:t>
            </a:r>
          </a:p>
          <a:p>
            <a:r>
              <a:rPr lang="hu-HU" dirty="0"/>
              <a:t>- könnyen </a:t>
            </a:r>
            <a:r>
              <a:rPr lang="hu-HU" b="1" dirty="0"/>
              <a:t>skálázható</a:t>
            </a:r>
            <a:r>
              <a:rPr lang="hu-HU" dirty="0"/>
              <a:t> a rendszer, akár több példány szolgálhat ki kéréseket.</a:t>
            </a:r>
          </a:p>
          <a:p>
            <a:r>
              <a:rPr lang="hu-HU" dirty="0"/>
              <a:t>- </a:t>
            </a:r>
            <a:r>
              <a:rPr lang="hu-HU" dirty="0" err="1"/>
              <a:t>load</a:t>
            </a:r>
            <a:r>
              <a:rPr lang="hu-HU" dirty="0"/>
              <a:t> </a:t>
            </a:r>
            <a:r>
              <a:rPr lang="hu-HU" dirty="0" err="1"/>
              <a:t>balancer</a:t>
            </a:r>
            <a:r>
              <a:rPr lang="hu-HU" dirty="0"/>
              <a:t> mögött is jól működik.</a:t>
            </a:r>
          </a:p>
          <a:p>
            <a:r>
              <a:rPr lang="hu-HU" dirty="0"/>
              <a:t>- egyszerűbb a hibatűrés: ha több példány van, és ez egyik kiesik, a többi továbbra is kiszolgálja a kéréseket.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688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REST API egyik legfontosabb eleme a HTTP metódusok helyes használata.</a:t>
            </a:r>
          </a:p>
          <a:p>
            <a:r>
              <a:rPr lang="hu-HU" dirty="0"/>
              <a:t>Fontos hangsúlyozni:</a:t>
            </a:r>
          </a:p>
          <a:p>
            <a:r>
              <a:rPr lang="hu-HU" dirty="0"/>
              <a:t>A metódus </a:t>
            </a:r>
            <a:r>
              <a:rPr lang="hu-HU" b="1" dirty="0"/>
              <a:t>nem csak technikai részlet</a:t>
            </a:r>
            <a:r>
              <a:rPr lang="hu-HU" dirty="0"/>
              <a:t>, hanem jelentéssel bír. A kliens ebből érti meg a művelet célját.</a:t>
            </a:r>
          </a:p>
          <a:p>
            <a:r>
              <a:rPr lang="hu-HU" dirty="0"/>
              <a:t>Például:</a:t>
            </a:r>
          </a:p>
          <a:p>
            <a:r>
              <a:rPr lang="hu-HU" dirty="0"/>
              <a:t>- GET nem módosíthat állapotot. Csak az erőforrás lekérdezésére szolgál.</a:t>
            </a:r>
          </a:p>
          <a:p>
            <a:pPr marL="0" indent="0">
              <a:buFontTx/>
              <a:buNone/>
            </a:pPr>
            <a:r>
              <a:rPr lang="hu-HU" dirty="0"/>
              <a:t>- POST új erőforrást hoz létre.</a:t>
            </a:r>
          </a:p>
          <a:p>
            <a:pPr marL="0" indent="0">
              <a:buFontTx/>
              <a:buNone/>
            </a:pPr>
            <a:r>
              <a:rPr lang="hu-HU" dirty="0"/>
              <a:t>- PUT meglévő erőforrást módosítja.</a:t>
            </a:r>
          </a:p>
          <a:p>
            <a:pPr marL="0" indent="0">
              <a:buFontTx/>
              <a:buNone/>
            </a:pPr>
            <a:r>
              <a:rPr lang="hu-HU" dirty="0"/>
              <a:t>- DELETE törli az erőforrást.</a:t>
            </a:r>
          </a:p>
          <a:p>
            <a:pPr marL="171450" indent="-171450">
              <a:buFontTx/>
              <a:buChar char="-"/>
            </a:pPr>
            <a:endParaRPr lang="hu-HU" dirty="0"/>
          </a:p>
          <a:p>
            <a:r>
              <a:rPr lang="hu-HU" dirty="0"/>
              <a:t>Ez segíti az API olvashatóságát, karbantarthatóságát és szabványosságát.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8200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REST-ben nem műveleteket, hanem </a:t>
            </a:r>
            <a:r>
              <a:rPr lang="hu-HU" b="1" dirty="0"/>
              <a:t>erőforrásokat</a:t>
            </a:r>
            <a:r>
              <a:rPr lang="hu-HU" dirty="0"/>
              <a:t> címzünk. A URL-ben az erőforrások címzése (megnevezése) van, ezért főneveket használunk.</a:t>
            </a:r>
          </a:p>
          <a:p>
            <a:endParaRPr lang="hu-HU" dirty="0"/>
          </a:p>
          <a:p>
            <a:r>
              <a:rPr lang="hu-HU" dirty="0"/>
              <a:t>Jó példa:</a:t>
            </a:r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api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users</a:t>
            </a:r>
            <a:endParaRPr lang="hu-HU" dirty="0"/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api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users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/42/</a:t>
            </a:r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orders</a:t>
            </a:r>
            <a:endParaRPr lang="hu-H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hu-HU" dirty="0"/>
          </a:p>
          <a:p>
            <a:r>
              <a:rPr lang="hu-HU" dirty="0"/>
              <a:t>Rossz példa:</a:t>
            </a:r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getUser</a:t>
            </a:r>
            <a:endParaRPr lang="hu-HU" dirty="0"/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deleteOrder</a:t>
            </a:r>
            <a:endParaRPr lang="hu-H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hu-HU" dirty="0"/>
          </a:p>
          <a:p>
            <a:r>
              <a:rPr lang="hu-HU" dirty="0"/>
              <a:t>Az URI </a:t>
            </a:r>
            <a:r>
              <a:rPr lang="hu-HU" b="1" dirty="0"/>
              <a:t>mit</a:t>
            </a:r>
            <a:r>
              <a:rPr lang="hu-HU" dirty="0"/>
              <a:t>-</a:t>
            </a:r>
            <a:r>
              <a:rPr lang="hu-HU" dirty="0" err="1"/>
              <a:t>et</a:t>
            </a:r>
            <a:r>
              <a:rPr lang="hu-HU" dirty="0"/>
              <a:t> jelöl, a HTTP metódus mondja meg, </a:t>
            </a:r>
            <a:r>
              <a:rPr lang="hu-HU" b="1" dirty="0"/>
              <a:t>mit csinálunk vele</a:t>
            </a:r>
            <a:r>
              <a:rPr lang="hu-HU" dirty="0"/>
              <a:t>. Ez egy nagyon fontos szemléletváltás. Ez az erőforrás-orientált gondolkodás A REST API tervezésben.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7700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HTTP </a:t>
            </a:r>
            <a:r>
              <a:rPr lang="en-US" dirty="0" err="1"/>
              <a:t>státuszkód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hu-HU" dirty="0"/>
              <a:t>„</a:t>
            </a:r>
            <a:r>
              <a:rPr lang="en-US" dirty="0" err="1"/>
              <a:t>dísz</a:t>
            </a:r>
            <a:r>
              <a:rPr lang="hu-HU" dirty="0"/>
              <a:t>”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információ</a:t>
            </a:r>
            <a:r>
              <a:rPr lang="hu-HU" dirty="0"/>
              <a:t>: állapot visszajelzés a kért művelet eredményéről.</a:t>
            </a:r>
          </a:p>
          <a:p>
            <a:endParaRPr lang="en-US" dirty="0"/>
          </a:p>
          <a:p>
            <a:r>
              <a:rPr lang="en-US" dirty="0"/>
              <a:t>Egy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megtervezett</a:t>
            </a:r>
            <a:r>
              <a:rPr lang="en-US" dirty="0"/>
              <a:t> API</a:t>
            </a:r>
            <a:r>
              <a:rPr lang="hu-HU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 </a:t>
            </a:r>
            <a:r>
              <a:rPr lang="en-US" dirty="0" err="1"/>
              <a:t>küld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pontos</a:t>
            </a:r>
            <a:r>
              <a:rPr lang="en-US" dirty="0"/>
              <a:t> </a:t>
            </a:r>
            <a:r>
              <a:rPr lang="en-US" dirty="0" err="1"/>
              <a:t>visszajelzést</a:t>
            </a:r>
            <a:r>
              <a:rPr lang="en-US" dirty="0"/>
              <a:t> ad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eredményről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Ez </a:t>
            </a:r>
            <a:r>
              <a:rPr lang="en-US" dirty="0" err="1"/>
              <a:t>segíti</a:t>
            </a:r>
            <a:r>
              <a:rPr lang="en-US" dirty="0"/>
              <a:t> a frontend </a:t>
            </a:r>
            <a:r>
              <a:rPr lang="en-US" dirty="0" err="1"/>
              <a:t>fejlesztőket</a:t>
            </a:r>
            <a:r>
              <a:rPr lang="en-US" dirty="0"/>
              <a:t> és a </a:t>
            </a:r>
            <a:r>
              <a:rPr lang="en-US" dirty="0" err="1"/>
              <a:t>hibakeresést</a:t>
            </a:r>
            <a:r>
              <a:rPr lang="en-US" dirty="0"/>
              <a:t> is.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0384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REST API-k </a:t>
            </a:r>
            <a:r>
              <a:rPr lang="en-US" dirty="0" err="1"/>
              <a:t>leggyakrabban</a:t>
            </a:r>
            <a:r>
              <a:rPr lang="en-US" dirty="0"/>
              <a:t> JSON-t </a:t>
            </a:r>
            <a:r>
              <a:rPr lang="en-US" dirty="0" err="1"/>
              <a:t>használnak</a:t>
            </a:r>
            <a:r>
              <a:rPr lang="en-US" dirty="0"/>
              <a:t> </a:t>
            </a:r>
            <a:r>
              <a:rPr lang="en-US" dirty="0" err="1"/>
              <a:t>adatcserére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 err="1"/>
              <a:t>Miért</a:t>
            </a:r>
            <a:r>
              <a:rPr lang="en-US" dirty="0"/>
              <a:t>?</a:t>
            </a:r>
          </a:p>
          <a:p>
            <a:r>
              <a:rPr lang="hu-HU" dirty="0"/>
              <a:t>- </a:t>
            </a:r>
            <a:r>
              <a:rPr lang="en-US" dirty="0" err="1"/>
              <a:t>Könnyen</a:t>
            </a:r>
            <a:r>
              <a:rPr lang="en-US" dirty="0"/>
              <a:t> </a:t>
            </a:r>
            <a:r>
              <a:rPr lang="en-US" dirty="0" err="1"/>
              <a:t>feldolgozható</a:t>
            </a:r>
            <a:r>
              <a:rPr lang="en-US" dirty="0"/>
              <a:t> frontend és backend </a:t>
            </a:r>
            <a:r>
              <a:rPr lang="en-US" dirty="0" err="1"/>
              <a:t>oldalon</a:t>
            </a:r>
            <a:r>
              <a:rPr lang="en-US" dirty="0"/>
              <a:t> is.</a:t>
            </a:r>
          </a:p>
          <a:p>
            <a:pPr marL="0" indent="0">
              <a:buFontTx/>
              <a:buNone/>
            </a:pPr>
            <a:r>
              <a:rPr lang="hu-HU" dirty="0"/>
              <a:t>- </a:t>
            </a:r>
            <a:r>
              <a:rPr lang="en-US" dirty="0" err="1"/>
              <a:t>Nyelvfüggetlen</a:t>
            </a:r>
            <a:r>
              <a:rPr lang="en-US" dirty="0"/>
              <a:t>.</a:t>
            </a:r>
            <a:endParaRPr lang="hu-HU" dirty="0"/>
          </a:p>
          <a:p>
            <a:pPr marL="0" indent="0">
              <a:buFontTx/>
              <a:buNone/>
            </a:pPr>
            <a:r>
              <a:rPr lang="hu-HU" dirty="0"/>
              <a:t>- Platform független</a:t>
            </a:r>
            <a:endParaRPr lang="en-US" dirty="0"/>
          </a:p>
          <a:p>
            <a:pPr marL="0" indent="0">
              <a:buFontTx/>
              <a:buNone/>
            </a:pPr>
            <a:r>
              <a:rPr lang="hu-HU" dirty="0"/>
              <a:t>-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illeszkedik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objektum-orientált</a:t>
            </a:r>
            <a:r>
              <a:rPr lang="en-US" dirty="0"/>
              <a:t> </a:t>
            </a:r>
            <a:r>
              <a:rPr lang="en-US" dirty="0" err="1"/>
              <a:t>modellekhez</a:t>
            </a:r>
            <a:r>
              <a:rPr lang="en-US" dirty="0"/>
              <a:t>.</a:t>
            </a:r>
            <a:endParaRPr lang="hu-HU" dirty="0"/>
          </a:p>
          <a:p>
            <a:pPr marL="0" indent="0">
              <a:buFontTx/>
              <a:buNone/>
            </a:pPr>
            <a:endParaRPr lang="en-US" dirty="0"/>
          </a:p>
          <a:p>
            <a:r>
              <a:rPr lang="en-US" dirty="0"/>
              <a:t>A backend </a:t>
            </a:r>
            <a:r>
              <a:rPr lang="en-US" dirty="0" err="1"/>
              <a:t>feladata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 err="1"/>
              <a:t>objektumokat</a:t>
            </a:r>
            <a:r>
              <a:rPr lang="en-US" b="1" dirty="0"/>
              <a:t> JSON</a:t>
            </a:r>
            <a:r>
              <a:rPr lang="hu-HU" b="1" dirty="0"/>
              <a:t> formátumba</a:t>
            </a:r>
            <a:r>
              <a:rPr lang="en-US" b="1" dirty="0"/>
              <a:t> </a:t>
            </a:r>
            <a:r>
              <a:rPr lang="en-US" b="1" dirty="0" err="1"/>
              <a:t>alakítsa</a:t>
            </a:r>
            <a:r>
              <a:rPr lang="en-US" dirty="0"/>
              <a:t>, és </a:t>
            </a:r>
            <a:r>
              <a:rPr lang="en-US" dirty="0" err="1"/>
              <a:t>visszafelé</a:t>
            </a:r>
            <a:r>
              <a:rPr lang="en-US" dirty="0"/>
              <a:t> is </a:t>
            </a:r>
            <a:r>
              <a:rPr lang="en-US" dirty="0" err="1"/>
              <a:t>képes</a:t>
            </a:r>
            <a:r>
              <a:rPr lang="en-US" dirty="0"/>
              <a:t> </a:t>
            </a:r>
            <a:r>
              <a:rPr lang="en-US" dirty="0" err="1"/>
              <a:t>legyen</a:t>
            </a:r>
            <a:r>
              <a:rPr lang="en-US" dirty="0"/>
              <a:t> </a:t>
            </a:r>
            <a:r>
              <a:rPr lang="en-US" dirty="0" err="1"/>
              <a:t>erre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3008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Egy REST API-ban </a:t>
            </a:r>
            <a:r>
              <a:rPr lang="en-US" dirty="0" err="1"/>
              <a:t>többféle</a:t>
            </a:r>
            <a:r>
              <a:rPr lang="en-US" dirty="0"/>
              <a:t> </a:t>
            </a:r>
            <a:r>
              <a:rPr lang="en-US" dirty="0" err="1"/>
              <a:t>módon</a:t>
            </a:r>
            <a:r>
              <a:rPr lang="en-US" dirty="0"/>
              <a:t> </a:t>
            </a:r>
            <a:r>
              <a:rPr lang="en-US" dirty="0" err="1"/>
              <a:t>érkezhet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/>
              <a:t>URL-ben</a:t>
            </a:r>
            <a:r>
              <a:rPr lang="hu-HU" dirty="0"/>
              <a:t> mint </a:t>
            </a:r>
            <a:r>
              <a:rPr lang="hu-HU" dirty="0" err="1"/>
              <a:t>Path</a:t>
            </a:r>
            <a:r>
              <a:rPr lang="hu-HU" dirty="0"/>
              <a:t> paraméter</a:t>
            </a:r>
            <a:r>
              <a:rPr lang="en-US" dirty="0"/>
              <a:t>,</a:t>
            </a:r>
          </a:p>
          <a:p>
            <a:r>
              <a:rPr lang="hu-HU" dirty="0"/>
              <a:t>- </a:t>
            </a:r>
            <a:r>
              <a:rPr lang="en-US" dirty="0"/>
              <a:t>query </a:t>
            </a:r>
            <a:r>
              <a:rPr lang="en-US" dirty="0" err="1"/>
              <a:t>paraméterként</a:t>
            </a:r>
            <a:r>
              <a:rPr lang="en-US" dirty="0"/>
              <a:t>,</a:t>
            </a:r>
          </a:p>
          <a:p>
            <a:pPr marL="0" indent="0">
              <a:buFontTx/>
              <a:buNone/>
            </a:pPr>
            <a:r>
              <a:rPr lang="hu-HU" dirty="0"/>
              <a:t>- </a:t>
            </a:r>
            <a:r>
              <a:rPr lang="en-US" dirty="0" err="1"/>
              <a:t>vagy</a:t>
            </a:r>
            <a:r>
              <a:rPr lang="en-US" dirty="0"/>
              <a:t> request body-ban JSON </a:t>
            </a:r>
            <a:r>
              <a:rPr lang="en-US" dirty="0" err="1"/>
              <a:t>formában</a:t>
            </a:r>
            <a:r>
              <a:rPr lang="en-US" dirty="0"/>
              <a:t>.</a:t>
            </a:r>
            <a:endParaRPr lang="hu-HU" dirty="0"/>
          </a:p>
          <a:p>
            <a:pPr marL="0" indent="0">
              <a:buFontTx/>
              <a:buNone/>
            </a:pPr>
            <a:endParaRPr lang="en-US" dirty="0"/>
          </a:p>
          <a:p>
            <a:r>
              <a:rPr lang="en-US" dirty="0"/>
              <a:t>A </a:t>
            </a:r>
            <a:r>
              <a:rPr lang="en-US" dirty="0" err="1"/>
              <a:t>backendnek</a:t>
            </a:r>
            <a:r>
              <a:rPr lang="en-US" dirty="0"/>
              <a:t> </a:t>
            </a:r>
            <a:r>
              <a:rPr lang="en-US" dirty="0" err="1"/>
              <a:t>mindezt</a:t>
            </a:r>
            <a:r>
              <a:rPr lang="en-US" dirty="0"/>
              <a:t> </a:t>
            </a:r>
            <a:r>
              <a:rPr lang="en-US" b="1" dirty="0" err="1"/>
              <a:t>konzisztensen</a:t>
            </a:r>
            <a:r>
              <a:rPr lang="en-US" b="1" dirty="0"/>
              <a:t> és </a:t>
            </a:r>
            <a:r>
              <a:rPr lang="en-US" b="1" dirty="0" err="1"/>
              <a:t>validáltan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kezelnie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4804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Ez a</a:t>
            </a:r>
            <a:r>
              <a:rPr lang="hu-HU" dirty="0"/>
              <a:t>z egyszerű</a:t>
            </a:r>
            <a:r>
              <a:rPr lang="en-US" dirty="0"/>
              <a:t> </a:t>
            </a:r>
            <a:r>
              <a:rPr lang="en-US" dirty="0" err="1"/>
              <a:t>példa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szemléltetés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A Controller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tartalmaz</a:t>
            </a:r>
            <a:r>
              <a:rPr lang="en-US" dirty="0"/>
              <a:t> </a:t>
            </a:r>
            <a:r>
              <a:rPr lang="en-US" dirty="0" err="1"/>
              <a:t>üzleti</a:t>
            </a:r>
            <a:r>
              <a:rPr lang="en-US" dirty="0"/>
              <a:t> </a:t>
            </a:r>
            <a:r>
              <a:rPr lang="en-US" dirty="0" err="1"/>
              <a:t>logikát</a:t>
            </a:r>
            <a:r>
              <a:rPr lang="en-US" dirty="0"/>
              <a:t>, </a:t>
            </a:r>
            <a:r>
              <a:rPr lang="en-US" dirty="0" err="1"/>
              <a:t>csak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 err="1"/>
              <a:t>fogadja</a:t>
            </a:r>
            <a:r>
              <a:rPr lang="en-US" dirty="0"/>
              <a:t> a </a:t>
            </a:r>
            <a:r>
              <a:rPr lang="en-US" dirty="0" err="1"/>
              <a:t>kérést</a:t>
            </a:r>
            <a:r>
              <a:rPr lang="en-US" dirty="0"/>
              <a:t>,</a:t>
            </a:r>
          </a:p>
          <a:p>
            <a:r>
              <a:rPr lang="hu-HU" dirty="0"/>
              <a:t>- </a:t>
            </a:r>
            <a:r>
              <a:rPr lang="en-US" dirty="0" err="1"/>
              <a:t>delegálja</a:t>
            </a:r>
            <a:r>
              <a:rPr lang="en-US" dirty="0"/>
              <a:t> a </a:t>
            </a:r>
            <a:r>
              <a:rPr lang="en-US" dirty="0" err="1"/>
              <a:t>feldolgozást</a:t>
            </a:r>
            <a:r>
              <a:rPr lang="en-US" dirty="0"/>
              <a:t>,</a:t>
            </a:r>
          </a:p>
          <a:p>
            <a:r>
              <a:rPr lang="hu-HU" dirty="0"/>
              <a:t>- </a:t>
            </a:r>
            <a:r>
              <a:rPr lang="en-US" dirty="0" err="1"/>
              <a:t>visszaadja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eredményt</a:t>
            </a:r>
            <a:r>
              <a:rPr lang="hu-HU" dirty="0"/>
              <a:t> 200 OK státusszal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Ez </a:t>
            </a:r>
            <a:r>
              <a:rPr lang="en-US" dirty="0" err="1"/>
              <a:t>tiszta</a:t>
            </a:r>
            <a:r>
              <a:rPr lang="en-US" dirty="0"/>
              <a:t> </a:t>
            </a:r>
            <a:r>
              <a:rPr lang="en-US" dirty="0" err="1"/>
              <a:t>felelősségszétválasztást</a:t>
            </a:r>
            <a:r>
              <a:rPr lang="en-US" dirty="0"/>
              <a:t> </a:t>
            </a:r>
            <a:r>
              <a:rPr lang="en-US" dirty="0" err="1"/>
              <a:t>eredményez</a:t>
            </a:r>
            <a:r>
              <a:rPr lang="en-US" dirty="0"/>
              <a:t>.</a:t>
            </a:r>
            <a:r>
              <a:rPr lang="hu-HU" dirty="0"/>
              <a:t> Hiszen a </a:t>
            </a:r>
            <a:r>
              <a:rPr lang="hu-HU" dirty="0" err="1"/>
              <a:t>Controller</a:t>
            </a:r>
            <a:r>
              <a:rPr lang="hu-HU" dirty="0"/>
              <a:t> a belépési pont és a kérés kezelésért felelős, A </a:t>
            </a:r>
            <a:r>
              <a:rPr lang="hu-HU" dirty="0" err="1"/>
              <a:t>Model</a:t>
            </a:r>
            <a:r>
              <a:rPr lang="hu-HU" dirty="0"/>
              <a:t> rétegben lévő szolgáltatások feladata az üzleti logika. A </a:t>
            </a:r>
            <a:r>
              <a:rPr lang="hu-HU" dirty="0" err="1"/>
              <a:t>Response</a:t>
            </a:r>
            <a:r>
              <a:rPr lang="hu-HU" dirty="0"/>
              <a:t> JSON adat (</a:t>
            </a:r>
            <a:r>
              <a:rPr lang="hu-HU" dirty="0" err="1"/>
              <a:t>View</a:t>
            </a:r>
            <a:r>
              <a:rPr lang="hu-HU" dirty="0"/>
              <a:t>).</a:t>
            </a:r>
          </a:p>
          <a:p>
            <a:endParaRPr lang="hu-HU" dirty="0"/>
          </a:p>
          <a:p>
            <a:r>
              <a:rPr lang="hu-HU" b="1" dirty="0"/>
              <a:t>@RestController </a:t>
            </a:r>
            <a:r>
              <a:rPr lang="hu-HU" dirty="0"/>
              <a:t>annotáció fontos szerepe van, ezzel jelezzük, hogy a </a:t>
            </a:r>
            <a:r>
              <a:rPr lang="hu-HU" dirty="0" err="1"/>
              <a:t>UserController</a:t>
            </a:r>
            <a:r>
              <a:rPr lang="hu-HU" dirty="0"/>
              <a:t> osztály egy REST API kontroller lesz.</a:t>
            </a:r>
          </a:p>
          <a:p>
            <a:r>
              <a:rPr lang="hu-HU" b="1" dirty="0"/>
              <a:t>@RequestMapping </a:t>
            </a:r>
            <a:r>
              <a:rPr lang="hu-HU" b="0" dirty="0"/>
              <a:t>annotáció köti rá a kontrollerre az elérési </a:t>
            </a:r>
            <a:r>
              <a:rPr lang="hu-HU" b="0" dirty="0" err="1"/>
              <a:t>útat</a:t>
            </a:r>
            <a:r>
              <a:rPr lang="hu-HU" b="0" dirty="0"/>
              <a:t> (</a:t>
            </a:r>
            <a:r>
              <a:rPr lang="hu-HU" b="0" dirty="0" err="1"/>
              <a:t>Path</a:t>
            </a:r>
            <a:r>
              <a:rPr lang="hu-HU" b="0" dirty="0"/>
              <a:t>)</a:t>
            </a:r>
            <a:endParaRPr lang="hu-HU" b="1" dirty="0"/>
          </a:p>
          <a:p>
            <a:r>
              <a:rPr lang="hu-HU" b="1" dirty="0"/>
              <a:t>@GetMapping </a:t>
            </a:r>
            <a:r>
              <a:rPr lang="hu-HU" dirty="0"/>
              <a:t>annotáció jelzi, hogy a metódus egy GET kérés kiszolgálója az adott </a:t>
            </a:r>
            <a:r>
              <a:rPr lang="hu-HU" dirty="0" err="1"/>
              <a:t>Path-on</a:t>
            </a:r>
            <a:r>
              <a:rPr lang="hu-HU" dirty="0"/>
              <a:t>: ebben az esetben /</a:t>
            </a:r>
            <a:r>
              <a:rPr lang="hu-HU" dirty="0" err="1"/>
              <a:t>api</a:t>
            </a:r>
            <a:r>
              <a:rPr lang="hu-HU" dirty="0"/>
              <a:t>/</a:t>
            </a:r>
            <a:r>
              <a:rPr lang="hu-HU" dirty="0" err="1"/>
              <a:t>users</a:t>
            </a:r>
            <a:r>
              <a:rPr lang="hu-HU" dirty="0"/>
              <a:t>/{</a:t>
            </a:r>
            <a:r>
              <a:rPr lang="hu-HU" dirty="0" err="1"/>
              <a:t>id</a:t>
            </a:r>
            <a:r>
              <a:rPr lang="hu-HU" dirty="0"/>
              <a:t>}</a:t>
            </a:r>
          </a:p>
          <a:p>
            <a:r>
              <a:rPr lang="en-US" b="1" dirty="0" err="1"/>
              <a:t>ResponseEntity</a:t>
            </a:r>
            <a:r>
              <a:rPr lang="hu-HU" dirty="0"/>
              <a:t> l</a:t>
            </a:r>
            <a:r>
              <a:rPr lang="en-US" dirty="0" err="1"/>
              <a:t>ehetővé</a:t>
            </a:r>
            <a:r>
              <a:rPr lang="en-US" dirty="0"/>
              <a:t> </a:t>
            </a:r>
            <a:r>
              <a:rPr lang="en-US" dirty="0" err="1"/>
              <a:t>teszi</a:t>
            </a:r>
            <a:r>
              <a:rPr lang="en-US" dirty="0"/>
              <a:t> a </a:t>
            </a:r>
            <a:r>
              <a:rPr lang="en-US" b="0" dirty="0"/>
              <a:t>HTTP </a:t>
            </a:r>
            <a:r>
              <a:rPr lang="en-US" b="0" dirty="0" err="1"/>
              <a:t>státuszkód</a:t>
            </a:r>
            <a:r>
              <a:rPr lang="en-US" b="0" dirty="0"/>
              <a:t> </a:t>
            </a:r>
            <a:r>
              <a:rPr lang="en-US" dirty="0"/>
              <a:t>és a </a:t>
            </a:r>
            <a:r>
              <a:rPr lang="en-US" b="0" dirty="0"/>
              <a:t>response body </a:t>
            </a:r>
            <a:r>
              <a:rPr lang="hu-HU" b="0" dirty="0"/>
              <a:t>külön </a:t>
            </a:r>
            <a:r>
              <a:rPr lang="en-US" dirty="0" err="1"/>
              <a:t>kezelését</a:t>
            </a:r>
            <a:r>
              <a:rPr lang="hu-H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08247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 dia egy </a:t>
            </a:r>
            <a:r>
              <a:rPr lang="hu-HU" b="1" dirty="0"/>
              <a:t>klasszikus POST végpontot</a:t>
            </a:r>
            <a:r>
              <a:rPr lang="hu-HU" dirty="0"/>
              <a:t> mutat be, amelynek célja egy új erőforrás – jelen esetben egy felhasználó – létrehozása.</a:t>
            </a:r>
          </a:p>
          <a:p>
            <a:r>
              <a:rPr lang="hu-HU" dirty="0"/>
              <a:t>Fontos megfigyelések:</a:t>
            </a:r>
          </a:p>
          <a:p>
            <a:r>
              <a:rPr lang="hu-HU" dirty="0"/>
              <a:t>- Az URL nem tartalmaz műveletnevet, egyszerűen </a:t>
            </a:r>
            <a:r>
              <a:rPr lang="hu-H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hu-H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api</a:t>
            </a:r>
            <a:r>
              <a:rPr lang="hu-H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hu-H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users</a:t>
            </a:r>
            <a:r>
              <a:rPr lang="hu-HU" dirty="0"/>
              <a:t>.</a:t>
            </a:r>
          </a:p>
          <a:p>
            <a:r>
              <a:rPr lang="hu-HU" dirty="0"/>
              <a:t>- Maga a művelet jelentése a </a:t>
            </a:r>
            <a:r>
              <a:rPr lang="hu-HU" b="1" dirty="0"/>
              <a:t>HTTP POST metódusból</a:t>
            </a:r>
            <a:r>
              <a:rPr lang="hu-HU" dirty="0"/>
              <a:t> következik.</a:t>
            </a:r>
          </a:p>
          <a:p>
            <a:r>
              <a:rPr lang="hu-HU" dirty="0"/>
              <a:t>- Az adat nem az URL-ben érkezik, hanem a </a:t>
            </a:r>
            <a:r>
              <a:rPr lang="hu-HU" dirty="0" err="1"/>
              <a:t>request</a:t>
            </a:r>
            <a:r>
              <a:rPr lang="hu-HU" dirty="0"/>
              <a:t> body-ban, JSON formátumban.</a:t>
            </a:r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@RequestBody</a:t>
            </a:r>
            <a:r>
              <a:rPr lang="hu-HU" b="1" dirty="0"/>
              <a:t> </a:t>
            </a:r>
            <a:r>
              <a:rPr lang="hu-HU" dirty="0"/>
              <a:t>annotáció azt jelenti, hogy a backend:</a:t>
            </a:r>
          </a:p>
          <a:p>
            <a:r>
              <a:rPr lang="hu-HU" dirty="0"/>
              <a:t>- elolvassa a JSON tartalmat,</a:t>
            </a:r>
          </a:p>
          <a:p>
            <a:r>
              <a:rPr lang="hu-HU" dirty="0"/>
              <a:t>- objektummá alakítja,</a:t>
            </a:r>
          </a:p>
          <a:p>
            <a:r>
              <a:rPr lang="hu-HU" dirty="0"/>
              <a:t>- és ezt adja át az üzleti logikának.</a:t>
            </a:r>
          </a:p>
          <a:p>
            <a:endParaRPr lang="hu-HU" dirty="0"/>
          </a:p>
          <a:p>
            <a:r>
              <a:rPr lang="hu-HU" dirty="0"/>
              <a:t>Ez nagyon jól szemlélteti a REST egyik alapelvét:</a:t>
            </a:r>
            <a:br>
              <a:rPr lang="hu-HU" dirty="0"/>
            </a:br>
            <a:r>
              <a:rPr lang="en-US" dirty="0"/>
              <a:t>👉 </a:t>
            </a:r>
            <a:r>
              <a:rPr lang="hu-HU" i="1" dirty="0"/>
              <a:t>a kliens adatot küld, a szerver dönt arról, hogyan jön létre az erőforrás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 válasz általában a létrehozott </a:t>
            </a:r>
            <a:r>
              <a:rPr lang="hu-HU" dirty="0" err="1"/>
              <a:t>user</a:t>
            </a:r>
            <a:r>
              <a:rPr lang="hu-HU" dirty="0"/>
              <a:t> adatait tartalmazza, és ideális esetben 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201 </a:t>
            </a:r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Created</a:t>
            </a:r>
            <a:r>
              <a:rPr lang="hu-HU" dirty="0"/>
              <a:t> státuszkóddal tér vissza. (De ez nem kötelező, ez lehet akár 200 OK is.)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7575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Ez a </a:t>
            </a:r>
            <a:r>
              <a:rPr lang="en-US" dirty="0" err="1"/>
              <a:t>dia</a:t>
            </a:r>
            <a:r>
              <a:rPr lang="en-US" dirty="0"/>
              <a:t> a </a:t>
            </a:r>
            <a:r>
              <a:rPr lang="en-US" b="1" dirty="0"/>
              <a:t>PUT </a:t>
            </a:r>
            <a:r>
              <a:rPr lang="en-US" b="1" dirty="0" err="1"/>
              <a:t>metódus</a:t>
            </a:r>
            <a:r>
              <a:rPr lang="en-US" dirty="0"/>
              <a:t> </a:t>
            </a:r>
            <a:r>
              <a:rPr lang="en-US" dirty="0" err="1"/>
              <a:t>használatát</a:t>
            </a:r>
            <a:r>
              <a:rPr lang="en-US" dirty="0"/>
              <a:t> </a:t>
            </a:r>
            <a:r>
              <a:rPr lang="en-US" dirty="0" err="1"/>
              <a:t>mutatja</a:t>
            </a:r>
            <a:r>
              <a:rPr lang="en-US" dirty="0"/>
              <a:t> be, </a:t>
            </a:r>
            <a:r>
              <a:rPr lang="en-US" dirty="0" err="1"/>
              <a:t>amelyet</a:t>
            </a:r>
            <a:r>
              <a:rPr lang="en-US" dirty="0"/>
              <a:t> </a:t>
            </a:r>
            <a:r>
              <a:rPr lang="en-US" dirty="0" err="1"/>
              <a:t>tipikusan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meglévő</a:t>
            </a:r>
            <a:r>
              <a:rPr lang="en-US" dirty="0"/>
              <a:t> </a:t>
            </a:r>
            <a:r>
              <a:rPr lang="en-US" dirty="0" err="1"/>
              <a:t>erőforrás</a:t>
            </a:r>
            <a:r>
              <a:rPr lang="en-US" dirty="0"/>
              <a:t> </a:t>
            </a:r>
            <a:r>
              <a:rPr lang="en-US" dirty="0" err="1"/>
              <a:t>módosítására</a:t>
            </a:r>
            <a:r>
              <a:rPr lang="en-US" dirty="0"/>
              <a:t> </a:t>
            </a:r>
            <a:r>
              <a:rPr lang="en-US" dirty="0" err="1"/>
              <a:t>használunk</a:t>
            </a:r>
            <a:r>
              <a:rPr lang="en-US" dirty="0"/>
              <a:t>.</a:t>
            </a:r>
          </a:p>
          <a:p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két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</a:t>
            </a:r>
            <a:r>
              <a:rPr lang="en-US" dirty="0" err="1"/>
              <a:t>adatforrás</a:t>
            </a:r>
            <a:r>
              <a:rPr lang="en-US" dirty="0"/>
              <a:t> </a:t>
            </a:r>
            <a:r>
              <a:rPr lang="en-US" dirty="0" err="1"/>
              <a:t>jelenik</a:t>
            </a:r>
            <a:r>
              <a:rPr lang="en-US" dirty="0"/>
              <a:t> meg:</a:t>
            </a:r>
            <a:r>
              <a:rPr lang="hu-HU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/>
              <a:t>ID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URL path </a:t>
            </a:r>
            <a:r>
              <a:rPr lang="en-US" dirty="0" err="1"/>
              <a:t>része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/>
              <a:t>és a </a:t>
            </a:r>
            <a:r>
              <a:rPr lang="en-US" b="1" dirty="0" err="1"/>
              <a:t>módosított</a:t>
            </a:r>
            <a:r>
              <a:rPr lang="en-US" b="1" dirty="0"/>
              <a:t> </a:t>
            </a:r>
            <a:r>
              <a:rPr lang="en-US" b="1" dirty="0" err="1"/>
              <a:t>adatok</a:t>
            </a:r>
            <a:r>
              <a:rPr lang="en-US" dirty="0"/>
              <a:t>, </a:t>
            </a:r>
            <a:r>
              <a:rPr lang="en-US" dirty="0" err="1"/>
              <a:t>amelyek</a:t>
            </a:r>
            <a:r>
              <a:rPr lang="en-US" dirty="0"/>
              <a:t> a request body-ban </a:t>
            </a:r>
            <a:r>
              <a:rPr lang="en-US" dirty="0" err="1"/>
              <a:t>érkeznek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Ez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nagyon</a:t>
            </a:r>
            <a:r>
              <a:rPr lang="en-US" dirty="0"/>
              <a:t> REST-</a:t>
            </a:r>
            <a:r>
              <a:rPr lang="en-US" dirty="0" err="1"/>
              <a:t>kompatibilis</a:t>
            </a:r>
            <a:r>
              <a:rPr lang="en-US" dirty="0"/>
              <a:t> </a:t>
            </a:r>
            <a:r>
              <a:rPr lang="en-US" dirty="0" err="1"/>
              <a:t>megoldás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 err="1"/>
              <a:t>az</a:t>
            </a:r>
            <a:r>
              <a:rPr lang="en-US" dirty="0"/>
              <a:t> URL </a:t>
            </a:r>
            <a:r>
              <a:rPr lang="en-US" dirty="0" err="1"/>
              <a:t>azonosítja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erőforrást</a:t>
            </a:r>
            <a:r>
              <a:rPr lang="en-US" dirty="0"/>
              <a:t> (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/users/42</a:t>
            </a:r>
            <a:r>
              <a:rPr lang="en-US" dirty="0"/>
              <a:t>),</a:t>
            </a:r>
          </a:p>
          <a:p>
            <a:r>
              <a:rPr lang="hu-HU" dirty="0"/>
              <a:t>- </a:t>
            </a:r>
            <a:r>
              <a:rPr lang="en-US" dirty="0"/>
              <a:t>a PUT </a:t>
            </a:r>
            <a:r>
              <a:rPr lang="en-US" dirty="0" err="1"/>
              <a:t>metódus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módosítás</a:t>
            </a:r>
            <a:r>
              <a:rPr lang="en-US" dirty="0"/>
              <a:t> </a:t>
            </a:r>
            <a:r>
              <a:rPr lang="en-US" dirty="0" err="1"/>
              <a:t>történik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 err="1"/>
              <a:t>Érdemes</a:t>
            </a:r>
            <a:r>
              <a:rPr lang="en-US" dirty="0"/>
              <a:t> </a:t>
            </a:r>
            <a:r>
              <a:rPr lang="en-US" dirty="0" err="1"/>
              <a:t>hangsúlyozni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/>
              <a:t>a PUT </a:t>
            </a:r>
            <a:r>
              <a:rPr lang="en-US" dirty="0" err="1"/>
              <a:t>általában</a:t>
            </a:r>
            <a:r>
              <a:rPr lang="en-US" dirty="0"/>
              <a:t> </a:t>
            </a:r>
            <a:r>
              <a:rPr lang="en-US" i="1" dirty="0" err="1"/>
              <a:t>teljes</a:t>
            </a:r>
            <a:r>
              <a:rPr lang="en-US" i="1" dirty="0"/>
              <a:t> </a:t>
            </a:r>
            <a:r>
              <a:rPr lang="en-US" i="1" dirty="0" err="1"/>
              <a:t>állapotot</a:t>
            </a:r>
            <a:r>
              <a:rPr lang="en-US" dirty="0"/>
              <a:t> </a:t>
            </a:r>
            <a:r>
              <a:rPr lang="en-US" dirty="0" err="1"/>
              <a:t>vár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,</a:t>
            </a:r>
          </a:p>
          <a:p>
            <a:pPr marL="0" indent="0">
              <a:buFontTx/>
              <a:buNone/>
            </a:pPr>
            <a:r>
              <a:rPr lang="hu-HU" dirty="0"/>
              <a:t>-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mezőt</a:t>
            </a:r>
            <a:r>
              <a:rPr lang="en-US" dirty="0"/>
              <a:t> </a:t>
            </a:r>
            <a:r>
              <a:rPr lang="en-US" dirty="0" err="1"/>
              <a:t>módosítunk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a </a:t>
            </a:r>
            <a:r>
              <a:rPr lang="en-US" dirty="0" err="1"/>
              <a:t>teljes</a:t>
            </a:r>
            <a:r>
              <a:rPr lang="en-US" dirty="0"/>
              <a:t> </a:t>
            </a:r>
            <a:r>
              <a:rPr lang="en-US" dirty="0" err="1"/>
              <a:t>erőforrást</a:t>
            </a:r>
            <a:r>
              <a:rPr lang="en-US" dirty="0"/>
              <a:t> </a:t>
            </a:r>
            <a:r>
              <a:rPr lang="en-US" dirty="0" err="1"/>
              <a:t>újradefiniáljuk</a:t>
            </a:r>
            <a:r>
              <a:rPr lang="en-US" dirty="0"/>
              <a:t>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1246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</a:t>
            </a:r>
            <a:r>
              <a:rPr lang="hu-HU" b="1" dirty="0"/>
              <a:t>DELETE</a:t>
            </a:r>
            <a:r>
              <a:rPr lang="hu-HU" dirty="0"/>
              <a:t> végpont a legegyszerűbb REST műveletek egyike, mégis nagyon beszédes.</a:t>
            </a:r>
          </a:p>
          <a:p>
            <a:r>
              <a:rPr lang="hu-HU" dirty="0"/>
              <a:t>Fontos megfigyelni:</a:t>
            </a:r>
          </a:p>
          <a:p>
            <a:r>
              <a:rPr lang="hu-HU" dirty="0"/>
              <a:t>- nincs </a:t>
            </a:r>
            <a:r>
              <a:rPr lang="hu-HU" dirty="0" err="1"/>
              <a:t>request</a:t>
            </a:r>
            <a:r>
              <a:rPr lang="hu-HU" dirty="0"/>
              <a:t> body,</a:t>
            </a:r>
          </a:p>
          <a:p>
            <a:r>
              <a:rPr lang="hu-HU" dirty="0"/>
              <a:t>- az URL önmagában azonosítja az erőforrást a </a:t>
            </a:r>
            <a:r>
              <a:rPr lang="hu-HU" dirty="0" err="1"/>
              <a:t>Path</a:t>
            </a:r>
            <a:r>
              <a:rPr lang="hu-HU" dirty="0"/>
              <a:t>-ban lévő ID alapján,</a:t>
            </a:r>
          </a:p>
          <a:p>
            <a:r>
              <a:rPr lang="hu-HU" dirty="0"/>
              <a:t>- a metódus neve egyértelműen kifejezi a szándékot.</a:t>
            </a:r>
          </a:p>
          <a:p>
            <a:endParaRPr lang="hu-HU" dirty="0"/>
          </a:p>
          <a:p>
            <a:r>
              <a:rPr lang="hu-HU" dirty="0"/>
              <a:t>A válasz gyakran:</a:t>
            </a:r>
          </a:p>
          <a:p>
            <a:r>
              <a:rPr lang="hu-HU" dirty="0"/>
              <a:t>- üres body,</a:t>
            </a:r>
          </a:p>
          <a:p>
            <a:pPr marL="0" indent="0">
              <a:buFontTx/>
              <a:buNone/>
            </a:pP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- 204 No </a:t>
            </a:r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Content</a:t>
            </a:r>
            <a:r>
              <a:rPr lang="hu-HU" dirty="0"/>
              <a:t> (vagy 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200 OK)</a:t>
            </a:r>
            <a:r>
              <a:rPr lang="hu-HU" dirty="0"/>
              <a:t> státuszkóddal.</a:t>
            </a:r>
          </a:p>
          <a:p>
            <a:pPr marL="171450" indent="-171450">
              <a:buFontTx/>
              <a:buChar char="-"/>
            </a:pPr>
            <a:endParaRPr lang="hu-HU" dirty="0"/>
          </a:p>
          <a:p>
            <a:r>
              <a:rPr lang="hu-HU" dirty="0"/>
              <a:t>Ez a dia jól rávilágít arra, hogy a REST API-k nem mindig „adatot adnak vissza”, sokszor csak </a:t>
            </a:r>
            <a:r>
              <a:rPr lang="hu-HU" b="1" dirty="0"/>
              <a:t>állapotváltozást jeleznek</a:t>
            </a:r>
            <a:r>
              <a:rPr lang="hu-HU" dirty="0"/>
              <a:t>. Ez különösen fontos, amikor frontenddel vagy más szolgáltatással integrálunk.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1736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 dia azt a célt szolgálja, hogy megmutassuk: </a:t>
            </a:r>
            <a:r>
              <a:rPr lang="hu-HU" b="1" dirty="0"/>
              <a:t>a REST nem Java vagy Spring specifikus</a:t>
            </a:r>
            <a:r>
              <a:rPr lang="hu-HU" dirty="0"/>
              <a:t>.</a:t>
            </a:r>
          </a:p>
          <a:p>
            <a:r>
              <a:rPr lang="hu-HU" dirty="0"/>
              <a:t>Itt egy Python </a:t>
            </a:r>
            <a:r>
              <a:rPr lang="hu-HU" dirty="0" err="1"/>
              <a:t>FastAPI</a:t>
            </a:r>
            <a:r>
              <a:rPr lang="hu-HU" dirty="0"/>
              <a:t> példa látható, ahol néhány sor kóddal egy teljes értékű REST végpontot hozunk létre.</a:t>
            </a:r>
          </a:p>
          <a:p>
            <a:endParaRPr lang="hu-HU" dirty="0"/>
          </a:p>
          <a:p>
            <a:r>
              <a:rPr lang="hu-HU" dirty="0"/>
              <a:t>Sok a hasonlóság:</a:t>
            </a:r>
          </a:p>
          <a:p>
            <a:r>
              <a:rPr lang="hu-HU" dirty="0"/>
              <a:t>- URL útvonal paraméterrel,</a:t>
            </a:r>
          </a:p>
          <a:p>
            <a:r>
              <a:rPr lang="hu-HU" dirty="0"/>
              <a:t>- HTTP metódus (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hu-HU" dirty="0"/>
              <a:t>),</a:t>
            </a:r>
          </a:p>
          <a:p>
            <a:r>
              <a:rPr lang="hu-HU" dirty="0"/>
              <a:t>- JSON válasz objektum formájában.</a:t>
            </a:r>
          </a:p>
          <a:p>
            <a:endParaRPr lang="hu-HU" dirty="0"/>
          </a:p>
          <a:p>
            <a:r>
              <a:rPr lang="hu-HU" dirty="0"/>
              <a:t>A koncepciók </a:t>
            </a:r>
            <a:r>
              <a:rPr lang="hu-HU" b="1" dirty="0"/>
              <a:t>pontosan ugyanazok</a:t>
            </a:r>
            <a:r>
              <a:rPr lang="hu-HU" dirty="0"/>
              <a:t>, mint Spring Boot esetén:</a:t>
            </a:r>
          </a:p>
          <a:p>
            <a:r>
              <a:rPr lang="hu-HU" dirty="0"/>
              <a:t>- </a:t>
            </a:r>
            <a:r>
              <a:rPr lang="hu-HU" dirty="0" err="1"/>
              <a:t>request</a:t>
            </a:r>
            <a:r>
              <a:rPr lang="hu-HU" dirty="0"/>
              <a:t> → feldolgozás → </a:t>
            </a:r>
            <a:r>
              <a:rPr lang="hu-HU" dirty="0" err="1"/>
              <a:t>response</a:t>
            </a:r>
            <a:r>
              <a:rPr lang="hu-HU" dirty="0"/>
              <a:t>,</a:t>
            </a:r>
          </a:p>
          <a:p>
            <a:r>
              <a:rPr lang="hu-HU" dirty="0"/>
              <a:t>- strukturált adat,</a:t>
            </a:r>
          </a:p>
          <a:p>
            <a:r>
              <a:rPr lang="hu-HU" dirty="0"/>
              <a:t>- </a:t>
            </a:r>
            <a:r>
              <a:rPr lang="hu-HU" dirty="0" err="1"/>
              <a:t>stateless</a:t>
            </a:r>
            <a:r>
              <a:rPr lang="hu-HU" dirty="0"/>
              <a:t> működés.</a:t>
            </a:r>
          </a:p>
          <a:p>
            <a:endParaRPr lang="hu-HU" dirty="0"/>
          </a:p>
          <a:p>
            <a:r>
              <a:rPr lang="hu-HU" dirty="0"/>
              <a:t>Ha a REST elveket értjük, akkor bármilyen modern backend technológiában gyorsan tudunk dolgozni.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84152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Ebben az előadásban megalapoztuk a backend REST API-k működését.</a:t>
            </a:r>
          </a:p>
          <a:p>
            <a:endParaRPr lang="hu-HU" dirty="0"/>
          </a:p>
          <a:p>
            <a:r>
              <a:rPr lang="hu-HU" dirty="0"/>
              <a:t>Most már képesek vagyunk REST API-t tervezni, és a gyakorlatokon mindezt:</a:t>
            </a:r>
          </a:p>
          <a:p>
            <a:r>
              <a:rPr lang="hu-HU" dirty="0"/>
              <a:t>- konkrét végpontokon,</a:t>
            </a:r>
          </a:p>
          <a:p>
            <a:r>
              <a:rPr lang="hu-HU" dirty="0"/>
              <a:t>- </a:t>
            </a:r>
            <a:r>
              <a:rPr lang="hu-HU" dirty="0" err="1"/>
              <a:t>requestekkel</a:t>
            </a:r>
            <a:r>
              <a:rPr lang="hu-HU" dirty="0"/>
              <a:t>,</a:t>
            </a:r>
          </a:p>
          <a:p>
            <a:r>
              <a:rPr lang="hu-HU" dirty="0"/>
              <a:t>- JSON válaszokkal,</a:t>
            </a:r>
          </a:p>
          <a:p>
            <a:pPr marL="0" indent="0">
              <a:buFontTx/>
              <a:buNone/>
            </a:pPr>
            <a:r>
              <a:rPr lang="hu-HU" dirty="0"/>
              <a:t>- és hibakezeléssel fogjuk kipróbálni.</a:t>
            </a:r>
          </a:p>
          <a:p>
            <a:pPr marL="0" indent="0">
              <a:buFontTx/>
              <a:buNone/>
            </a:pPr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076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2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24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66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289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986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721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426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12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883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79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327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32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12390-7FD9-3A7E-F78F-3E71606EA9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68" y="1052996"/>
            <a:ext cx="11165482" cy="2425796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400" dirty="0"/>
              <a:t>Backend REST API </a:t>
            </a:r>
            <a:r>
              <a:rPr lang="en-US" sz="4400" dirty="0" err="1"/>
              <a:t>fejlesztés</a:t>
            </a:r>
            <a:br>
              <a:rPr lang="en-US" sz="4400" dirty="0"/>
            </a:br>
            <a:br>
              <a:rPr lang="hu-HU" sz="3600" dirty="0"/>
            </a:br>
            <a:br>
              <a:rPr lang="hu-HU" sz="3600" dirty="0"/>
            </a:br>
            <a:r>
              <a:rPr lang="en-US" sz="2400" dirty="0"/>
              <a:t>MVC-re </a:t>
            </a:r>
            <a:r>
              <a:rPr lang="en-US" sz="2400" dirty="0" err="1"/>
              <a:t>épülő</a:t>
            </a:r>
            <a:r>
              <a:rPr lang="en-US" sz="2400" dirty="0"/>
              <a:t> backend REST API </a:t>
            </a:r>
            <a:r>
              <a:rPr lang="en-US" sz="2400" dirty="0" err="1"/>
              <a:t>tervezése</a:t>
            </a:r>
            <a:r>
              <a:rPr lang="en-US" sz="2400" dirty="0"/>
              <a:t> és </a:t>
            </a:r>
            <a:r>
              <a:rPr lang="en-US" sz="2400" dirty="0" err="1"/>
              <a:t>fejlesztése</a:t>
            </a:r>
            <a:br>
              <a:rPr lang="en-US" sz="2400" dirty="0"/>
            </a:br>
            <a:endParaRPr lang="en-US" sz="2200" dirty="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0C058D-27D4-3139-E199-E2C11099B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94E0531-D614-3CB6-996E-FF0184A33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7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0F56A-BB1E-8DA6-D6F7-07CE02A96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87552"/>
          </a:xfrm>
        </p:spPr>
        <p:txBody>
          <a:bodyPr>
            <a:normAutofit/>
          </a:bodyPr>
          <a:lstStyle/>
          <a:p>
            <a:r>
              <a:rPr lang="hu-HU" sz="4000" dirty="0"/>
              <a:t>Bevezetés és célkitűzések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DD452FA-50AB-B018-0F16-2BB605BADCC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332117"/>
            <a:ext cx="7905669" cy="25978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Mit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nevezünk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backend REST API-nak?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Kapcsolat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az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MVC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architektúrával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Elmélet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+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gyakorlati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szemlélet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Mit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fogunk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ma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megérteni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963087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60135-5518-3835-5B57-6DB371EAA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54564"/>
          </a:xfrm>
        </p:spPr>
        <p:txBody>
          <a:bodyPr>
            <a:normAutofit/>
          </a:bodyPr>
          <a:lstStyle/>
          <a:p>
            <a:r>
              <a:rPr lang="en-US" sz="4000" dirty="0"/>
              <a:t>Hol </a:t>
            </a:r>
            <a:r>
              <a:rPr lang="en-US" sz="4000" dirty="0" err="1"/>
              <a:t>helyezkedik</a:t>
            </a:r>
            <a:r>
              <a:rPr lang="en-US" sz="4000" dirty="0"/>
              <a:t> </a:t>
            </a:r>
            <a:r>
              <a:rPr lang="en-US" sz="4000" dirty="0" err="1"/>
              <a:t>el</a:t>
            </a:r>
            <a:r>
              <a:rPr lang="en-US" sz="4000" dirty="0"/>
              <a:t> a Backend REST API?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1DDAEFA-CEDE-6C77-5A85-F4C41BE0339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248086"/>
            <a:ext cx="4388120" cy="1420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Frontend ↔ Backend ↔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Adatbázis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Backend mint „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üzleti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logika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kapu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”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REST API mint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szerződés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51" name="Picture 3" descr="Understanding Rest Architecture">
            <a:extLst>
              <a:ext uri="{FF2B5EF4-FFF2-40B4-BE49-F238E27FC236}">
                <a16:creationId xmlns:a16="http://schemas.microsoft.com/office/drawing/2014/main" id="{F3962871-2CB4-E103-FE25-B98E54278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8187" y="2248086"/>
            <a:ext cx="7076433" cy="3715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23719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C99B0-2BE4-B7EA-BF14-7FDC825FB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31415"/>
          </a:xfrm>
        </p:spPr>
        <p:txBody>
          <a:bodyPr>
            <a:normAutofit/>
          </a:bodyPr>
          <a:lstStyle/>
          <a:p>
            <a:r>
              <a:rPr lang="en-US" sz="4000" dirty="0"/>
              <a:t>MVC </a:t>
            </a:r>
            <a:r>
              <a:rPr lang="en-US" sz="4000" dirty="0" err="1"/>
              <a:t>architektúra</a:t>
            </a:r>
            <a:r>
              <a:rPr lang="en-US" sz="4000" dirty="0"/>
              <a:t> </a:t>
            </a:r>
            <a:r>
              <a:rPr lang="en-US" sz="4000" dirty="0" err="1"/>
              <a:t>szerepe</a:t>
            </a:r>
            <a:r>
              <a:rPr lang="en-US" sz="4000" dirty="0"/>
              <a:t> Backend </a:t>
            </a:r>
            <a:r>
              <a:rPr lang="en-US" sz="4000" dirty="0" err="1"/>
              <a:t>oldalon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1C71B83-FE95-F69F-ED90-436CFFC4700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02162" y="3226669"/>
            <a:ext cx="4028653" cy="1420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Model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adat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és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üzleti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logika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Controller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belépési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pont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View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altLang="en-US" sz="2000" dirty="0">
                <a:latin typeface="Arial" panose="020B0604020202020204" pitchFamily="34" charset="0"/>
              </a:rPr>
              <a:t>–</a:t>
            </a:r>
            <a:r>
              <a:rPr lang="hu-HU" altLang="en-US" sz="2000" dirty="0"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JSON </a:t>
            </a: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adatok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075" name="Picture 3" descr="Spring Mvc Rest Api Using Spring Boot Example Using Spring Mvc Spring Rest  Repository Example Mvc">
            <a:extLst>
              <a:ext uri="{FF2B5EF4-FFF2-40B4-BE49-F238E27FC236}">
                <a16:creationId xmlns:a16="http://schemas.microsoft.com/office/drawing/2014/main" id="{9A914F53-E5BA-E5F2-5D78-8E0999D28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8607" y="2064239"/>
            <a:ext cx="6370597" cy="4249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7156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4917B-2E6E-BF49-A2AC-B6A488688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19840"/>
          </a:xfrm>
        </p:spPr>
        <p:txBody>
          <a:bodyPr>
            <a:normAutofit/>
          </a:bodyPr>
          <a:lstStyle/>
          <a:p>
            <a:r>
              <a:rPr lang="fr-FR" sz="4000" dirty="0" err="1"/>
              <a:t>Request</a:t>
            </a:r>
            <a:r>
              <a:rPr lang="fr-FR" sz="4000" dirty="0"/>
              <a:t>–</a:t>
            </a:r>
            <a:r>
              <a:rPr lang="fr-FR" sz="4000" dirty="0" err="1"/>
              <a:t>Response</a:t>
            </a:r>
            <a:r>
              <a:rPr lang="fr-FR" sz="4000" dirty="0"/>
              <a:t> </a:t>
            </a:r>
            <a:r>
              <a:rPr lang="fr-FR" sz="4000" dirty="0" err="1"/>
              <a:t>életciklus</a:t>
            </a:r>
            <a:r>
              <a:rPr lang="fr-FR" sz="4000" dirty="0"/>
              <a:t> REST API-ban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0CEA11-BEC9-C17F-5977-4916B49853B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48020" y="2587836"/>
            <a:ext cx="4294370" cy="22398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 Request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Routing / Controller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Feldolgozás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 Response</a:t>
            </a:r>
          </a:p>
        </p:txBody>
      </p:sp>
      <p:pic>
        <p:nvPicPr>
          <p:cNvPr id="4099" name="Picture 3">
            <a:extLst>
              <a:ext uri="{FF2B5EF4-FFF2-40B4-BE49-F238E27FC236}">
                <a16:creationId xmlns:a16="http://schemas.microsoft.com/office/drawing/2014/main" id="{95FD144D-46B9-514F-C9B8-CA4483906E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74826" y="2279141"/>
            <a:ext cx="5501780" cy="3887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8460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DF657-0A2A-FB77-EEBD-1105CAA36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85116"/>
          </a:xfrm>
        </p:spPr>
        <p:txBody>
          <a:bodyPr>
            <a:normAutofit/>
          </a:bodyPr>
          <a:lstStyle/>
          <a:p>
            <a:r>
              <a:rPr lang="hu-HU" sz="4000" dirty="0" err="1"/>
              <a:t>Stateless</a:t>
            </a:r>
            <a:r>
              <a:rPr lang="hu-HU" sz="4000" dirty="0"/>
              <a:t> működés jelentése a gyakorlatban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45D7D74-2EF7-257C-9E10-DB6F2E9625F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309078"/>
            <a:ext cx="9421446" cy="22398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Nincs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szerveroldali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session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Minden request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önálló</a:t>
            </a:r>
            <a:endParaRPr kumimoji="0" lang="hu-HU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en-US" sz="2400" dirty="0">
                <a:latin typeface="Arial" panose="020B0604020202020204" pitchFamily="34" charset="0"/>
              </a:rPr>
              <a:t> A backend nem tárol kliens specifikus állapotot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Skálázhatóság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több backend példány szolgálhat ki kéréseket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17293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77F4-80FE-0F7D-4628-14E4015FB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HTTP </a:t>
            </a:r>
            <a:r>
              <a:rPr lang="en-US" sz="4000" dirty="0" err="1"/>
              <a:t>metódusok</a:t>
            </a:r>
            <a:r>
              <a:rPr lang="en-US" sz="4000" dirty="0"/>
              <a:t> </a:t>
            </a:r>
            <a:r>
              <a:rPr lang="en-US" sz="4000" dirty="0" err="1"/>
              <a:t>szerepe</a:t>
            </a:r>
            <a:r>
              <a:rPr lang="en-US" sz="4000" dirty="0"/>
              <a:t> a Backend API-ban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02B8B3C-167A-5234-DD8A-0FCEEAF30D3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5112" y="2188855"/>
            <a:ext cx="10486664" cy="39127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GET –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lekérdezés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POST –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létrehozás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PUT / PATCH –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módosítás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DELETE –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törlés</a:t>
            </a:r>
            <a:endParaRPr lang="hu-HU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hu-HU" sz="2400" dirty="0"/>
          </a:p>
          <a:p>
            <a:pPr mar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hu-HU" sz="2400" dirty="0"/>
              <a:t>A metódus </a:t>
            </a:r>
            <a:r>
              <a:rPr lang="hu-HU" sz="2400" b="1" dirty="0"/>
              <a:t>nem csak technikai részlet</a:t>
            </a:r>
            <a:r>
              <a:rPr lang="hu-HU" sz="2400" dirty="0"/>
              <a:t>, hanem jelentéssel bír. A kliens ebből érti meg a művelet célját.</a:t>
            </a:r>
          </a:p>
        </p:txBody>
      </p:sp>
    </p:spTree>
    <p:extLst>
      <p:ext uri="{BB962C8B-B14F-4D97-AF65-F5344CB8AC3E}">
        <p14:creationId xmlns:p14="http://schemas.microsoft.com/office/powerpoint/2010/main" val="21998781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153BA-8DCD-B2BF-316A-1BDAE50D9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85116"/>
          </a:xfrm>
        </p:spPr>
        <p:txBody>
          <a:bodyPr>
            <a:normAutofit/>
          </a:bodyPr>
          <a:lstStyle/>
          <a:p>
            <a:r>
              <a:rPr lang="en-US" sz="3600" dirty="0"/>
              <a:t>URI design és </a:t>
            </a:r>
            <a:r>
              <a:rPr lang="en-US" sz="3600" dirty="0" err="1"/>
              <a:t>erőforrás-orientált</a:t>
            </a:r>
            <a:r>
              <a:rPr lang="en-US" sz="3600" dirty="0"/>
              <a:t> </a:t>
            </a:r>
            <a:r>
              <a:rPr lang="en-US" sz="3600" dirty="0" err="1"/>
              <a:t>gondolkodás</a:t>
            </a:r>
            <a:endParaRPr lang="en-US" sz="36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9C89194-42AE-EA34-25FB-4196F9645B0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4872" y="2449500"/>
            <a:ext cx="8993690" cy="28026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Erőforrások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(resources)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címzése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Főnevek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használata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nem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pedig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igék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Hierarchikus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URL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-ek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használata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hu-HU" altLang="en-US" sz="24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hu-HU" sz="2400" dirty="0"/>
              <a:t>REST-ben nem műveleteket, hanem </a:t>
            </a:r>
            <a:r>
              <a:rPr lang="hu-HU" sz="2400" b="1" dirty="0"/>
              <a:t>erőforrásokat</a:t>
            </a:r>
            <a:r>
              <a:rPr lang="hu-HU" sz="2400" dirty="0"/>
              <a:t> címzünk.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3385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84A71-1471-6E87-1ECE-7757CB37C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9"/>
            <a:ext cx="11155680" cy="757794"/>
          </a:xfrm>
        </p:spPr>
        <p:txBody>
          <a:bodyPr>
            <a:normAutofit/>
          </a:bodyPr>
          <a:lstStyle/>
          <a:p>
            <a:r>
              <a:rPr lang="hu-HU" sz="4000" dirty="0"/>
              <a:t>URI design és HTTP metódusok</a:t>
            </a:r>
            <a:endParaRPr lang="en-US" sz="4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F271F4A-CF98-0035-C270-FBBADCD7B3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823" y="1904455"/>
            <a:ext cx="7500395" cy="4643427"/>
          </a:xfrm>
        </p:spPr>
      </p:pic>
    </p:spTree>
    <p:extLst>
      <p:ext uri="{BB962C8B-B14F-4D97-AF65-F5344CB8AC3E}">
        <p14:creationId xmlns:p14="http://schemas.microsoft.com/office/powerpoint/2010/main" val="15596553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2C781-9EBD-D05D-6BF0-ACF5FF36B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61967"/>
          </a:xfrm>
        </p:spPr>
        <p:txBody>
          <a:bodyPr>
            <a:normAutofit/>
          </a:bodyPr>
          <a:lstStyle/>
          <a:p>
            <a:r>
              <a:rPr lang="hu-HU" sz="4000" dirty="0"/>
              <a:t>HTTP státuszkódok szerepe</a:t>
            </a:r>
            <a:endParaRPr lang="en-US" sz="4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482083F-2FEC-2E99-2F6F-B371028149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5179" y="1927661"/>
            <a:ext cx="7857574" cy="4568048"/>
          </a:xfrm>
        </p:spPr>
      </p:pic>
    </p:spTree>
    <p:extLst>
      <p:ext uri="{BB962C8B-B14F-4D97-AF65-F5344CB8AC3E}">
        <p14:creationId xmlns:p14="http://schemas.microsoft.com/office/powerpoint/2010/main" val="35884256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C3153-4825-2811-0DD0-DABF4B4F5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31415"/>
          </a:xfrm>
        </p:spPr>
        <p:txBody>
          <a:bodyPr>
            <a:normAutofit/>
          </a:bodyPr>
          <a:lstStyle/>
          <a:p>
            <a:r>
              <a:rPr lang="en-US" sz="4000" dirty="0"/>
              <a:t>JSON mint </a:t>
            </a:r>
            <a:r>
              <a:rPr lang="en-US" sz="4000" dirty="0" err="1"/>
              <a:t>adatcsere-formátum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38D47A5-D5CB-BF9B-0515-ECD46312EBA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8924" y="2309078"/>
            <a:ext cx="6334099" cy="22398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Strukturált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felépítésű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sz="2400" dirty="0">
                <a:latin typeface="Arial" panose="020B0604020202020204" pitchFamily="34" charset="0"/>
              </a:rPr>
              <a:t> Platform és programozási nyelv független</a:t>
            </a:r>
            <a:endParaRPr lang="en-US" altLang="en-US" sz="24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Emberileg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olvasható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szöveges formátum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Könnyen feldolgozható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C5C1DA-DD77-1B9F-A70A-6DDD63C9CF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4862" y="2679068"/>
            <a:ext cx="4178075" cy="1983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0271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14051-B017-8CFE-440E-0FFE18241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19840"/>
          </a:xfrm>
        </p:spPr>
        <p:txBody>
          <a:bodyPr>
            <a:normAutofit/>
          </a:bodyPr>
          <a:lstStyle/>
          <a:p>
            <a:r>
              <a:rPr lang="en-US" sz="4000" dirty="0"/>
              <a:t>Request </a:t>
            </a:r>
            <a:r>
              <a:rPr lang="en-US" sz="4000" dirty="0" err="1"/>
              <a:t>adatok</a:t>
            </a:r>
            <a:r>
              <a:rPr lang="en-US" sz="4000" dirty="0"/>
              <a:t> </a:t>
            </a:r>
            <a:r>
              <a:rPr lang="en-US" sz="4000" dirty="0" err="1"/>
              <a:t>kezelése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51B122F-7B6A-D6DB-8419-CD75201689A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103663"/>
            <a:ext cx="7175829" cy="22398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Egy REST API-ban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többféle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módon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érkezhet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adat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P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ath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paraméter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50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kumimoji="0" lang="hu-HU" altLang="en-US" sz="2400" b="0" i="0" u="none" strike="noStrike" cap="none" normalizeH="0" baseline="0" dirty="0" err="1">
                <a:ln>
                  <a:noFill/>
                </a:ln>
                <a:solidFill>
                  <a:schemeClr val="accent4">
                    <a:lumMod val="50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api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50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kumimoji="0" lang="hu-HU" altLang="en-US" sz="2400" b="0" i="0" u="none" strike="noStrike" cap="none" normalizeH="0" baseline="0" dirty="0" err="1">
                <a:ln>
                  <a:noFill/>
                </a:ln>
                <a:solidFill>
                  <a:schemeClr val="accent4">
                    <a:lumMod val="50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users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50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kumimoji="0" lang="hu-HU" altLang="en-US" sz="2400" i="0" u="none" strike="noStrike" cap="none" normalizeH="0" baseline="0" dirty="0">
                <a:ln>
                  <a:noFill/>
                </a:ln>
                <a:solidFill>
                  <a:schemeClr val="accent4">
                    <a:lumMod val="50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0" lang="en-US" altLang="en-US" sz="2400" i="0" u="none" strike="noStrike" cap="none" normalizeH="0" baseline="0" dirty="0">
              <a:ln>
                <a:noFill/>
              </a:ln>
              <a:solidFill>
                <a:schemeClr val="accent4">
                  <a:lumMod val="50000"/>
                </a:schemeClr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Query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paraméter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50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kumimoji="0" lang="hu-HU" altLang="en-US" sz="2400" b="0" i="0" u="none" strike="noStrike" cap="none" normalizeH="0" baseline="0" dirty="0" err="1">
                <a:ln>
                  <a:noFill/>
                </a:ln>
                <a:solidFill>
                  <a:schemeClr val="accent4">
                    <a:lumMod val="50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api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50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kumimoji="0" lang="hu-HU" altLang="en-US" sz="2400" b="0" i="0" u="none" strike="noStrike" cap="none" normalizeH="0" baseline="0" dirty="0" err="1">
                <a:ln>
                  <a:noFill/>
                </a:ln>
                <a:solidFill>
                  <a:schemeClr val="accent4">
                    <a:lumMod val="50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users?userid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50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=1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accent4">
                  <a:lumMod val="50000"/>
                </a:schemeClr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Request body</a:t>
            </a:r>
            <a:endParaRPr kumimoji="0" lang="hu-HU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A1E738-C1AB-8F35-13A5-34165ACD8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2064" y="4132491"/>
            <a:ext cx="4354973" cy="2067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7322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EFC71-A7B7-122D-60A4-0E40839CF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1001557"/>
            <a:ext cx="11155680" cy="931415"/>
          </a:xfrm>
        </p:spPr>
        <p:txBody>
          <a:bodyPr>
            <a:normAutofit/>
          </a:bodyPr>
          <a:lstStyle/>
          <a:p>
            <a:r>
              <a:rPr lang="en-US" sz="4000" dirty="0"/>
              <a:t>Controller </a:t>
            </a:r>
            <a:r>
              <a:rPr lang="en-US" sz="4000" dirty="0" err="1"/>
              <a:t>szerepe</a:t>
            </a:r>
            <a:r>
              <a:rPr lang="en-US" sz="4000" dirty="0"/>
              <a:t> (Spring Boot </a:t>
            </a:r>
            <a:r>
              <a:rPr lang="en-US" sz="4000" dirty="0" err="1"/>
              <a:t>példa</a:t>
            </a:r>
            <a:r>
              <a:rPr lang="en-US" sz="4000" dirty="0"/>
              <a:t>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28D69E3-DCCB-93A1-FE38-17A90988D11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7526" y="1814560"/>
            <a:ext cx="4255442" cy="32669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hu-HU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Felhasználó lekérése ID alapján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hu-HU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GET </a:t>
            </a:r>
            <a:r>
              <a:rPr kumimoji="0" lang="hu-HU" altLang="en-US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api</a:t>
            </a:r>
            <a:r>
              <a:rPr kumimoji="0" lang="hu-HU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hu-HU" altLang="en-US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users</a:t>
            </a:r>
            <a:r>
              <a:rPr kumimoji="0" lang="hu-HU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/{</a:t>
            </a:r>
            <a:r>
              <a:rPr kumimoji="0" lang="hu-HU" altLang="en-US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id</a:t>
            </a:r>
            <a:r>
              <a:rPr kumimoji="0" lang="hu-HU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}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hu-HU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Belépési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pont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Request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paraméterek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kezelése</a:t>
            </a:r>
            <a:endParaRPr kumimoji="0" lang="hu-HU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en-US" sz="2000" dirty="0">
                <a:latin typeface="Arial" panose="020B0604020202020204" pitchFamily="34" charset="0"/>
              </a:rPr>
              <a:t> </a:t>
            </a:r>
            <a:r>
              <a:rPr lang="hu-HU" altLang="en-US" sz="2000" dirty="0" err="1">
                <a:latin typeface="Arial" panose="020B0604020202020204" pitchFamily="34" charset="0"/>
              </a:rPr>
              <a:t>Model</a:t>
            </a:r>
            <a:r>
              <a:rPr lang="hu-HU" altLang="en-US" sz="2000" dirty="0">
                <a:latin typeface="Arial" panose="020B0604020202020204" pitchFamily="34" charset="0"/>
              </a:rPr>
              <a:t> réteg szolgáltatási hívása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Response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visszaadása</a:t>
            </a:r>
            <a:endParaRPr kumimoji="0" lang="hu-HU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D6A126-C5F8-F3C2-9871-20B1453F62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9492" y="2381459"/>
            <a:ext cx="6668916" cy="3070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626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5C97C-3055-F11E-85EE-8B4BD90FC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54564"/>
          </a:xfrm>
        </p:spPr>
        <p:txBody>
          <a:bodyPr>
            <a:normAutofit/>
          </a:bodyPr>
          <a:lstStyle/>
          <a:p>
            <a:r>
              <a:rPr lang="en-US" sz="4000" dirty="0"/>
              <a:t>POST: User </a:t>
            </a:r>
            <a:r>
              <a:rPr lang="en-US" sz="4000" dirty="0" err="1"/>
              <a:t>létrehozása</a:t>
            </a:r>
            <a:r>
              <a:rPr lang="en-US" sz="4000" dirty="0"/>
              <a:t> (Spring Boot)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6912D3-DCF7-F88E-09B8-6EE62D757F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932972"/>
            <a:ext cx="6405476" cy="115746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000" dirty="0" err="1"/>
              <a:t>Új</a:t>
            </a:r>
            <a:r>
              <a:rPr lang="en-US" sz="2000" dirty="0"/>
              <a:t> </a:t>
            </a:r>
            <a:r>
              <a:rPr lang="en-US" sz="2000" dirty="0" err="1"/>
              <a:t>felhasználó</a:t>
            </a:r>
            <a:r>
              <a:rPr lang="en-US" sz="2000" dirty="0"/>
              <a:t> </a:t>
            </a:r>
            <a:r>
              <a:rPr lang="en-US" sz="2000" dirty="0" err="1"/>
              <a:t>létrehozása</a:t>
            </a:r>
            <a:r>
              <a:rPr lang="en-US" sz="2000" dirty="0"/>
              <a:t> JSON request body </a:t>
            </a:r>
            <a:r>
              <a:rPr lang="en-US" sz="2000" dirty="0" err="1"/>
              <a:t>alapján</a:t>
            </a:r>
            <a:endParaRPr lang="hu-HU" sz="2000" b="1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2000" b="1" dirty="0"/>
              <a:t>POST /</a:t>
            </a:r>
            <a:r>
              <a:rPr lang="en-US" sz="2000" b="1" dirty="0" err="1"/>
              <a:t>api</a:t>
            </a:r>
            <a:r>
              <a:rPr lang="en-US" sz="2000" b="1" dirty="0"/>
              <a:t>/users</a:t>
            </a:r>
            <a:br>
              <a:rPr lang="en-US" sz="2000" dirty="0"/>
            </a:br>
            <a:endParaRPr lang="en-US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C9E846-B1D0-187D-D266-4A06197E75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6203" y="2910338"/>
            <a:ext cx="7471416" cy="2969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2051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CCC84-568D-731D-A7EB-C9F6BCC95C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42989"/>
          </a:xfrm>
        </p:spPr>
        <p:txBody>
          <a:bodyPr>
            <a:normAutofit/>
          </a:bodyPr>
          <a:lstStyle/>
          <a:p>
            <a:r>
              <a:rPr lang="en-US" sz="4000" dirty="0"/>
              <a:t>PUT: User </a:t>
            </a:r>
            <a:r>
              <a:rPr lang="en-US" sz="4000" dirty="0" err="1"/>
              <a:t>módosítása</a:t>
            </a:r>
            <a:r>
              <a:rPr lang="en-US" sz="4000" dirty="0"/>
              <a:t> (Spring Boot)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A8F994-207F-E1FD-D8E5-0E4B4DF151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023022"/>
            <a:ext cx="5161962" cy="1229463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ct val="160000"/>
              </a:lnSpc>
              <a:buNone/>
            </a:pPr>
            <a:r>
              <a:rPr lang="en-US" sz="2600" dirty="0" err="1"/>
              <a:t>Meglévő</a:t>
            </a:r>
            <a:r>
              <a:rPr lang="en-US" sz="2600" dirty="0"/>
              <a:t> </a:t>
            </a:r>
            <a:r>
              <a:rPr lang="en-US" sz="2600" dirty="0" err="1"/>
              <a:t>felhasználó</a:t>
            </a:r>
            <a:r>
              <a:rPr lang="en-US" sz="2600" dirty="0"/>
              <a:t> </a:t>
            </a:r>
            <a:r>
              <a:rPr lang="en-US" sz="2600" dirty="0" err="1"/>
              <a:t>teljes</a:t>
            </a:r>
            <a:r>
              <a:rPr lang="en-US" sz="2600" dirty="0"/>
              <a:t> </a:t>
            </a:r>
            <a:r>
              <a:rPr lang="en-US" sz="2600" dirty="0" err="1"/>
              <a:t>módosítása</a:t>
            </a:r>
            <a:endParaRPr lang="hu-HU" sz="26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2600" b="1" dirty="0"/>
              <a:t>PUT /</a:t>
            </a:r>
            <a:r>
              <a:rPr lang="en-US" sz="2600" b="1" dirty="0" err="1"/>
              <a:t>api</a:t>
            </a:r>
            <a:r>
              <a:rPr lang="en-US" sz="2600" b="1" dirty="0"/>
              <a:t>/users/{id}</a:t>
            </a:r>
            <a:endParaRPr lang="hu-HU" sz="2600" b="1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9592EB-70FC-388F-755A-75BD67E12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163" y="2847422"/>
            <a:ext cx="6311356" cy="2835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2802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3CB29-6FA9-E0B4-0E60-90916C1CA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92519"/>
          </a:xfrm>
        </p:spPr>
        <p:txBody>
          <a:bodyPr>
            <a:normAutofit/>
          </a:bodyPr>
          <a:lstStyle/>
          <a:p>
            <a:r>
              <a:rPr lang="en-US" sz="4000" dirty="0"/>
              <a:t>DELETE: User </a:t>
            </a:r>
            <a:r>
              <a:rPr lang="en-US" sz="4000" dirty="0" err="1"/>
              <a:t>törlése</a:t>
            </a:r>
            <a:r>
              <a:rPr lang="en-US" sz="4000" dirty="0"/>
              <a:t> (Spring Boot)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7CB33B-DB1C-749F-4B07-1FAC02E24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112264"/>
            <a:ext cx="4609425" cy="10939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err="1"/>
              <a:t>Felhasználó</a:t>
            </a:r>
            <a:r>
              <a:rPr lang="en-US" sz="2000" dirty="0"/>
              <a:t> </a:t>
            </a:r>
            <a:r>
              <a:rPr lang="en-US" sz="2000" dirty="0" err="1"/>
              <a:t>törlése</a:t>
            </a:r>
            <a:r>
              <a:rPr lang="en-US" sz="2000" dirty="0"/>
              <a:t> </a:t>
            </a:r>
            <a:r>
              <a:rPr lang="en-US" sz="2000" dirty="0" err="1"/>
              <a:t>azonosító</a:t>
            </a:r>
            <a:r>
              <a:rPr lang="en-US" sz="2000" dirty="0"/>
              <a:t> </a:t>
            </a:r>
            <a:r>
              <a:rPr lang="en-US" sz="2000" dirty="0" err="1"/>
              <a:t>alapján</a:t>
            </a:r>
            <a:endParaRPr lang="hu-HU" sz="2000" b="1" dirty="0"/>
          </a:p>
          <a:p>
            <a:pPr marL="0" indent="0">
              <a:buNone/>
            </a:pPr>
            <a:r>
              <a:rPr lang="en-US" sz="2000" b="1" dirty="0"/>
              <a:t>DELETE /</a:t>
            </a:r>
            <a:r>
              <a:rPr lang="en-US" sz="2000" b="1" dirty="0" err="1"/>
              <a:t>api</a:t>
            </a:r>
            <a:r>
              <a:rPr lang="en-US" sz="2000" b="1" dirty="0"/>
              <a:t>/users/{id}</a:t>
            </a:r>
            <a:endParaRPr lang="en-US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82D15F-9E94-5BE5-845D-F6D82D576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9219" y="3286042"/>
            <a:ext cx="7202557" cy="1822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2975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5EB2D-679C-1BB3-E431-A31CA02F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38817"/>
          </a:xfrm>
        </p:spPr>
        <p:txBody>
          <a:bodyPr>
            <a:normAutofit/>
          </a:bodyPr>
          <a:lstStyle/>
          <a:p>
            <a:r>
              <a:rPr lang="en-US" sz="4000" dirty="0"/>
              <a:t>REST </a:t>
            </a:r>
            <a:r>
              <a:rPr lang="en-US" sz="4000" dirty="0" err="1"/>
              <a:t>végpont</a:t>
            </a:r>
            <a:r>
              <a:rPr lang="en-US" sz="4000" dirty="0"/>
              <a:t> </a:t>
            </a:r>
            <a:r>
              <a:rPr lang="en-US" sz="4000" dirty="0" err="1"/>
              <a:t>FastAPI-val</a:t>
            </a:r>
            <a:r>
              <a:rPr lang="en-US" sz="4000" dirty="0"/>
              <a:t> (Python)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58481-7162-BEEB-4C38-F4F93A98A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58686"/>
            <a:ext cx="4953617" cy="6623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2000" dirty="0"/>
              <a:t>Python </a:t>
            </a:r>
            <a:r>
              <a:rPr lang="hu-HU" sz="2000" dirty="0" err="1"/>
              <a:t>FastAPI</a:t>
            </a:r>
            <a:r>
              <a:rPr lang="hu-HU" sz="2000" dirty="0"/>
              <a:t> – egyszerű REST API példa</a:t>
            </a:r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5B68F9-E5B2-303E-23D0-F26F555D3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258686"/>
            <a:ext cx="3904527" cy="3920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3960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2E2D-F677-B187-DD35-131D6E3E6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12438"/>
          </a:xfrm>
        </p:spPr>
        <p:txBody>
          <a:bodyPr>
            <a:normAutofit/>
          </a:bodyPr>
          <a:lstStyle/>
          <a:p>
            <a:r>
              <a:rPr lang="en-US" sz="4000" dirty="0" err="1"/>
              <a:t>Összefoglalás</a:t>
            </a:r>
            <a:endParaRPr lang="en-US" sz="40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68868FD-9B33-8BA8-DA6C-27229DDC64D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586077"/>
            <a:ext cx="8229761" cy="1685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Backend REST API =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koncepciók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+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technológia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MVC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tovább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él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backendben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Következő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lépés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gyakorlati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API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építés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7921055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1298</TotalTime>
  <Words>1819</Words>
  <Application>Microsoft Office PowerPoint</Application>
  <PresentationFormat>Widescreen</PresentationFormat>
  <Paragraphs>235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Arial</vt:lpstr>
      <vt:lpstr>Bierstadt</vt:lpstr>
      <vt:lpstr>GestaltVTI</vt:lpstr>
      <vt:lpstr>Backend REST API fejlesztés   MVC-re épülő backend REST API tervezése és fejlesztése </vt:lpstr>
      <vt:lpstr>Bevezetés és célkitűzések</vt:lpstr>
      <vt:lpstr>Hol helyezkedik el a Backend REST API?</vt:lpstr>
      <vt:lpstr>MVC architektúra szerepe Backend oldalon</vt:lpstr>
      <vt:lpstr>Request–Response életciklus REST API-ban</vt:lpstr>
      <vt:lpstr>Stateless működés jelentése a gyakorlatban</vt:lpstr>
      <vt:lpstr>HTTP metódusok szerepe a Backend API-ban</vt:lpstr>
      <vt:lpstr>URI design és erőforrás-orientált gondolkodás</vt:lpstr>
      <vt:lpstr>URI design és HTTP metódusok</vt:lpstr>
      <vt:lpstr>HTTP státuszkódok szerepe</vt:lpstr>
      <vt:lpstr>JSON mint adatcsere-formátum</vt:lpstr>
      <vt:lpstr>Request adatok kezelése</vt:lpstr>
      <vt:lpstr>Controller szerepe (Spring Boot példa)</vt:lpstr>
      <vt:lpstr>POST: User létrehozása (Spring Boot)</vt:lpstr>
      <vt:lpstr>PUT: User módosítása (Spring Boot)</vt:lpstr>
      <vt:lpstr>DELETE: User törlése (Spring Boot)</vt:lpstr>
      <vt:lpstr>REST végpont FastAPI-val (Python)</vt:lpstr>
      <vt:lpstr>Összefoglalás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Zoltan Balogh</dc:creator>
  <cp:lastModifiedBy>Zoltan Balogh</cp:lastModifiedBy>
  <cp:revision>111</cp:revision>
  <dcterms:created xsi:type="dcterms:W3CDTF">2025-11-30T15:45:28Z</dcterms:created>
  <dcterms:modified xsi:type="dcterms:W3CDTF">2026-01-12T16:38:26Z</dcterms:modified>
</cp:coreProperties>
</file>