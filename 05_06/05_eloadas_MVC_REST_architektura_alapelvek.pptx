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20"/>
  </p:notesMasterIdLst>
  <p:sldIdLst>
    <p:sldId id="256" r:id="rId2"/>
    <p:sldId id="259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8" r:id="rId11"/>
    <p:sldId id="289" r:id="rId12"/>
    <p:sldId id="282" r:id="rId13"/>
    <p:sldId id="283" r:id="rId14"/>
    <p:sldId id="284" r:id="rId15"/>
    <p:sldId id="285" r:id="rId16"/>
    <p:sldId id="286" r:id="rId17"/>
    <p:sldId id="287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75182" autoAdjust="0"/>
  </p:normalViewPr>
  <p:slideViewPr>
    <p:cSldViewPr snapToGrid="0">
      <p:cViewPr varScale="1">
        <p:scale>
          <a:sx n="95" d="100"/>
          <a:sy n="95" d="100"/>
        </p:scale>
        <p:origin x="108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79C4144-73DC-46B1-8780-105A99108FCC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8EABF5B-151E-4BA4-8FF5-7B0F0414AD4A}">
      <dgm:prSet/>
      <dgm:spPr/>
      <dgm:t>
        <a:bodyPr/>
        <a:lstStyle/>
        <a:p>
          <a:r>
            <a:rPr lang="en-US" b="0" i="0" baseline="0"/>
            <a:t>A web nem csak HTTP kérésekből áll</a:t>
          </a:r>
          <a:endParaRPr lang="hu-HU" b="0" i="0" baseline="0"/>
        </a:p>
      </dgm:t>
    </dgm:pt>
    <dgm:pt modelId="{A6F79551-2C77-4387-9181-666E35B5C1ED}" type="parTrans" cxnId="{80467C5F-04E3-4D5A-8832-FBB900B8C826}">
      <dgm:prSet/>
      <dgm:spPr/>
      <dgm:t>
        <a:bodyPr/>
        <a:lstStyle/>
        <a:p>
          <a:endParaRPr lang="en-US"/>
        </a:p>
      </dgm:t>
    </dgm:pt>
    <dgm:pt modelId="{7B1E8070-83D9-4911-AFB6-ADC110B473C5}" type="sibTrans" cxnId="{80467C5F-04E3-4D5A-8832-FBB900B8C826}">
      <dgm:prSet/>
      <dgm:spPr/>
      <dgm:t>
        <a:bodyPr/>
        <a:lstStyle/>
        <a:p>
          <a:endParaRPr lang="en-US"/>
        </a:p>
      </dgm:t>
    </dgm:pt>
    <dgm:pt modelId="{68731C7A-5442-4FB6-A402-DF323EC299F0}">
      <dgm:prSet/>
      <dgm:spPr/>
      <dgm:t>
        <a:bodyPr/>
        <a:lstStyle/>
        <a:p>
          <a:r>
            <a:rPr lang="en-US" b="0" i="0" baseline="0"/>
            <a:t>Kell egy </a:t>
          </a:r>
          <a:r>
            <a:rPr lang="en-US" b="1" i="0" baseline="0"/>
            <a:t>strukturált gondolkodásmód</a:t>
          </a:r>
          <a:r>
            <a:rPr lang="en-US" b="0" i="0" baseline="0"/>
            <a:t>, hogyan épül fel egy alkalmazás</a:t>
          </a:r>
          <a:endParaRPr lang="en-US"/>
        </a:p>
      </dgm:t>
    </dgm:pt>
    <dgm:pt modelId="{0F862CFD-AAB4-4354-8590-2B3FD85A5B66}" type="parTrans" cxnId="{DF9C330B-3A86-4858-9339-CC74C3145ED7}">
      <dgm:prSet/>
      <dgm:spPr/>
      <dgm:t>
        <a:bodyPr/>
        <a:lstStyle/>
        <a:p>
          <a:endParaRPr lang="en-US"/>
        </a:p>
      </dgm:t>
    </dgm:pt>
    <dgm:pt modelId="{F91CA1AE-CFFC-444B-97AA-72D9596A4BB4}" type="sibTrans" cxnId="{DF9C330B-3A86-4858-9339-CC74C3145ED7}">
      <dgm:prSet/>
      <dgm:spPr/>
      <dgm:t>
        <a:bodyPr/>
        <a:lstStyle/>
        <a:p>
          <a:endParaRPr lang="en-US"/>
        </a:p>
      </dgm:t>
    </dgm:pt>
    <dgm:pt modelId="{FF82989E-230D-4A3F-B06F-F67373613C6E}">
      <dgm:prSet/>
      <dgm:spPr/>
      <dgm:t>
        <a:bodyPr/>
        <a:lstStyle/>
        <a:p>
          <a:r>
            <a:rPr lang="en-US" b="0" i="0" baseline="0"/>
            <a:t>Az MVC és a REST </a:t>
          </a:r>
          <a:r>
            <a:rPr lang="en-US" b="1" i="0" baseline="0"/>
            <a:t>nem technológiák</a:t>
          </a:r>
          <a:r>
            <a:rPr lang="en-US" b="0" i="0" baseline="0"/>
            <a:t>, hanem </a:t>
          </a:r>
          <a:r>
            <a:rPr lang="en-US" b="1" i="0" baseline="0"/>
            <a:t>elvek és minták</a:t>
          </a:r>
          <a:endParaRPr lang="en-US"/>
        </a:p>
      </dgm:t>
    </dgm:pt>
    <dgm:pt modelId="{47F7FE5E-1081-49F6-B69C-4B89588EC91D}" type="parTrans" cxnId="{83510643-F37D-4147-8C7F-2535FC47BA39}">
      <dgm:prSet/>
      <dgm:spPr/>
      <dgm:t>
        <a:bodyPr/>
        <a:lstStyle/>
        <a:p>
          <a:endParaRPr lang="en-US"/>
        </a:p>
      </dgm:t>
    </dgm:pt>
    <dgm:pt modelId="{CD53FE8C-3578-413D-8C31-5469E80364CF}" type="sibTrans" cxnId="{83510643-F37D-4147-8C7F-2535FC47BA39}">
      <dgm:prSet/>
      <dgm:spPr/>
      <dgm:t>
        <a:bodyPr/>
        <a:lstStyle/>
        <a:p>
          <a:endParaRPr lang="en-US"/>
        </a:p>
      </dgm:t>
    </dgm:pt>
    <dgm:pt modelId="{B9AAC2CB-9312-4E68-9C40-6084F1F59CD8}" type="pres">
      <dgm:prSet presAssocID="{479C4144-73DC-46B1-8780-105A99108FCC}" presName="outerComposite" presStyleCnt="0">
        <dgm:presLayoutVars>
          <dgm:chMax val="5"/>
          <dgm:dir/>
          <dgm:resizeHandles val="exact"/>
        </dgm:presLayoutVars>
      </dgm:prSet>
      <dgm:spPr/>
    </dgm:pt>
    <dgm:pt modelId="{C8D9CB34-14FC-425B-B773-281C51F2F5CF}" type="pres">
      <dgm:prSet presAssocID="{479C4144-73DC-46B1-8780-105A99108FCC}" presName="dummyMaxCanvas" presStyleCnt="0">
        <dgm:presLayoutVars/>
      </dgm:prSet>
      <dgm:spPr/>
    </dgm:pt>
    <dgm:pt modelId="{CEC7722C-F7F7-493E-9F40-DADE991274E3}" type="pres">
      <dgm:prSet presAssocID="{479C4144-73DC-46B1-8780-105A99108FCC}" presName="ThreeNodes_1" presStyleLbl="node1" presStyleIdx="0" presStyleCnt="3">
        <dgm:presLayoutVars>
          <dgm:bulletEnabled val="1"/>
        </dgm:presLayoutVars>
      </dgm:prSet>
      <dgm:spPr/>
    </dgm:pt>
    <dgm:pt modelId="{018F3653-1D68-4D8B-A938-2D2F1856D86A}" type="pres">
      <dgm:prSet presAssocID="{479C4144-73DC-46B1-8780-105A99108FCC}" presName="ThreeNodes_2" presStyleLbl="node1" presStyleIdx="1" presStyleCnt="3">
        <dgm:presLayoutVars>
          <dgm:bulletEnabled val="1"/>
        </dgm:presLayoutVars>
      </dgm:prSet>
      <dgm:spPr/>
    </dgm:pt>
    <dgm:pt modelId="{77BF128A-C2E2-421A-AD6E-CA7435390576}" type="pres">
      <dgm:prSet presAssocID="{479C4144-73DC-46B1-8780-105A99108FCC}" presName="ThreeNodes_3" presStyleLbl="node1" presStyleIdx="2" presStyleCnt="3">
        <dgm:presLayoutVars>
          <dgm:bulletEnabled val="1"/>
        </dgm:presLayoutVars>
      </dgm:prSet>
      <dgm:spPr/>
    </dgm:pt>
    <dgm:pt modelId="{DC3F7018-07A1-4FF7-9EBA-737C22B5A801}" type="pres">
      <dgm:prSet presAssocID="{479C4144-73DC-46B1-8780-105A99108FCC}" presName="ThreeConn_1-2" presStyleLbl="fgAccFollowNode1" presStyleIdx="0" presStyleCnt="2">
        <dgm:presLayoutVars>
          <dgm:bulletEnabled val="1"/>
        </dgm:presLayoutVars>
      </dgm:prSet>
      <dgm:spPr/>
    </dgm:pt>
    <dgm:pt modelId="{033B1260-EE17-40CF-B461-F825C1ECD36D}" type="pres">
      <dgm:prSet presAssocID="{479C4144-73DC-46B1-8780-105A99108FCC}" presName="ThreeConn_2-3" presStyleLbl="fgAccFollowNode1" presStyleIdx="1" presStyleCnt="2">
        <dgm:presLayoutVars>
          <dgm:bulletEnabled val="1"/>
        </dgm:presLayoutVars>
      </dgm:prSet>
      <dgm:spPr/>
    </dgm:pt>
    <dgm:pt modelId="{B47A8FB2-53C7-4BFA-A441-EF848E77CB32}" type="pres">
      <dgm:prSet presAssocID="{479C4144-73DC-46B1-8780-105A99108FCC}" presName="ThreeNodes_1_text" presStyleLbl="node1" presStyleIdx="2" presStyleCnt="3">
        <dgm:presLayoutVars>
          <dgm:bulletEnabled val="1"/>
        </dgm:presLayoutVars>
      </dgm:prSet>
      <dgm:spPr/>
    </dgm:pt>
    <dgm:pt modelId="{456529F2-EB6E-48E2-B5E2-F3B3C7C18181}" type="pres">
      <dgm:prSet presAssocID="{479C4144-73DC-46B1-8780-105A99108FCC}" presName="ThreeNodes_2_text" presStyleLbl="node1" presStyleIdx="2" presStyleCnt="3">
        <dgm:presLayoutVars>
          <dgm:bulletEnabled val="1"/>
        </dgm:presLayoutVars>
      </dgm:prSet>
      <dgm:spPr/>
    </dgm:pt>
    <dgm:pt modelId="{1DE50F10-EB29-4615-AF5B-79D5F6B3E81A}" type="pres">
      <dgm:prSet presAssocID="{479C4144-73DC-46B1-8780-105A99108FCC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DF9C330B-3A86-4858-9339-CC74C3145ED7}" srcId="{479C4144-73DC-46B1-8780-105A99108FCC}" destId="{68731C7A-5442-4FB6-A402-DF323EC299F0}" srcOrd="1" destOrd="0" parTransId="{0F862CFD-AAB4-4354-8590-2B3FD85A5B66}" sibTransId="{F91CA1AE-CFFC-444B-97AA-72D9596A4BB4}"/>
    <dgm:cxn modelId="{1D121F29-A7D5-4FE5-B106-B4A3A1C86008}" type="presOf" srcId="{F91CA1AE-CFFC-444B-97AA-72D9596A4BB4}" destId="{033B1260-EE17-40CF-B461-F825C1ECD36D}" srcOrd="0" destOrd="0" presId="urn:microsoft.com/office/officeart/2005/8/layout/vProcess5"/>
    <dgm:cxn modelId="{80467C5F-04E3-4D5A-8832-FBB900B8C826}" srcId="{479C4144-73DC-46B1-8780-105A99108FCC}" destId="{D8EABF5B-151E-4BA4-8FF5-7B0F0414AD4A}" srcOrd="0" destOrd="0" parTransId="{A6F79551-2C77-4387-9181-666E35B5C1ED}" sibTransId="{7B1E8070-83D9-4911-AFB6-ADC110B473C5}"/>
    <dgm:cxn modelId="{83510643-F37D-4147-8C7F-2535FC47BA39}" srcId="{479C4144-73DC-46B1-8780-105A99108FCC}" destId="{FF82989E-230D-4A3F-B06F-F67373613C6E}" srcOrd="2" destOrd="0" parTransId="{47F7FE5E-1081-49F6-B69C-4B89588EC91D}" sibTransId="{CD53FE8C-3578-413D-8C31-5469E80364CF}"/>
    <dgm:cxn modelId="{3B91A263-2B74-4FC2-B171-641868F37E36}" type="presOf" srcId="{D8EABF5B-151E-4BA4-8FF5-7B0F0414AD4A}" destId="{CEC7722C-F7F7-493E-9F40-DADE991274E3}" srcOrd="0" destOrd="0" presId="urn:microsoft.com/office/officeart/2005/8/layout/vProcess5"/>
    <dgm:cxn modelId="{55E91E5A-3131-4C33-9367-0519C4299902}" type="presOf" srcId="{68731C7A-5442-4FB6-A402-DF323EC299F0}" destId="{018F3653-1D68-4D8B-A938-2D2F1856D86A}" srcOrd="0" destOrd="0" presId="urn:microsoft.com/office/officeart/2005/8/layout/vProcess5"/>
    <dgm:cxn modelId="{5E1E6288-557A-40B6-9FE0-3328B180584D}" type="presOf" srcId="{FF82989E-230D-4A3F-B06F-F67373613C6E}" destId="{1DE50F10-EB29-4615-AF5B-79D5F6B3E81A}" srcOrd="1" destOrd="0" presId="urn:microsoft.com/office/officeart/2005/8/layout/vProcess5"/>
    <dgm:cxn modelId="{9CA85888-F119-4975-AF2B-8CB7811792D3}" type="presOf" srcId="{479C4144-73DC-46B1-8780-105A99108FCC}" destId="{B9AAC2CB-9312-4E68-9C40-6084F1F59CD8}" srcOrd="0" destOrd="0" presId="urn:microsoft.com/office/officeart/2005/8/layout/vProcess5"/>
    <dgm:cxn modelId="{407CEA95-AC2E-4EAA-B018-8D4224CBF46D}" type="presOf" srcId="{D8EABF5B-151E-4BA4-8FF5-7B0F0414AD4A}" destId="{B47A8FB2-53C7-4BFA-A441-EF848E77CB32}" srcOrd="1" destOrd="0" presId="urn:microsoft.com/office/officeart/2005/8/layout/vProcess5"/>
    <dgm:cxn modelId="{4DAF29A3-8C99-4EC1-8778-B7411321C976}" type="presOf" srcId="{FF82989E-230D-4A3F-B06F-F67373613C6E}" destId="{77BF128A-C2E2-421A-AD6E-CA7435390576}" srcOrd="0" destOrd="0" presId="urn:microsoft.com/office/officeart/2005/8/layout/vProcess5"/>
    <dgm:cxn modelId="{DE12CED1-CF91-4EAD-96DF-0F926110BA86}" type="presOf" srcId="{68731C7A-5442-4FB6-A402-DF323EC299F0}" destId="{456529F2-EB6E-48E2-B5E2-F3B3C7C18181}" srcOrd="1" destOrd="0" presId="urn:microsoft.com/office/officeart/2005/8/layout/vProcess5"/>
    <dgm:cxn modelId="{80BF8EEC-0C4A-4A3C-AAA4-29427F48B735}" type="presOf" srcId="{7B1E8070-83D9-4911-AFB6-ADC110B473C5}" destId="{DC3F7018-07A1-4FF7-9EBA-737C22B5A801}" srcOrd="0" destOrd="0" presId="urn:microsoft.com/office/officeart/2005/8/layout/vProcess5"/>
    <dgm:cxn modelId="{CF49DEB8-64FF-455A-93F2-E0036D68051A}" type="presParOf" srcId="{B9AAC2CB-9312-4E68-9C40-6084F1F59CD8}" destId="{C8D9CB34-14FC-425B-B773-281C51F2F5CF}" srcOrd="0" destOrd="0" presId="urn:microsoft.com/office/officeart/2005/8/layout/vProcess5"/>
    <dgm:cxn modelId="{895FA055-665C-452F-8D77-61709C81C34C}" type="presParOf" srcId="{B9AAC2CB-9312-4E68-9C40-6084F1F59CD8}" destId="{CEC7722C-F7F7-493E-9F40-DADE991274E3}" srcOrd="1" destOrd="0" presId="urn:microsoft.com/office/officeart/2005/8/layout/vProcess5"/>
    <dgm:cxn modelId="{BB3A6FD7-BE24-4D07-8E92-5B88CA9BB5C2}" type="presParOf" srcId="{B9AAC2CB-9312-4E68-9C40-6084F1F59CD8}" destId="{018F3653-1D68-4D8B-A938-2D2F1856D86A}" srcOrd="2" destOrd="0" presId="urn:microsoft.com/office/officeart/2005/8/layout/vProcess5"/>
    <dgm:cxn modelId="{D51007A7-D703-40B9-AC93-E3DB2D071B52}" type="presParOf" srcId="{B9AAC2CB-9312-4E68-9C40-6084F1F59CD8}" destId="{77BF128A-C2E2-421A-AD6E-CA7435390576}" srcOrd="3" destOrd="0" presId="urn:microsoft.com/office/officeart/2005/8/layout/vProcess5"/>
    <dgm:cxn modelId="{4BFF5B1A-1752-435F-A8BB-A593204882F5}" type="presParOf" srcId="{B9AAC2CB-9312-4E68-9C40-6084F1F59CD8}" destId="{DC3F7018-07A1-4FF7-9EBA-737C22B5A801}" srcOrd="4" destOrd="0" presId="urn:microsoft.com/office/officeart/2005/8/layout/vProcess5"/>
    <dgm:cxn modelId="{E928FB94-0067-4EDC-A4E4-AFAAFEBC5881}" type="presParOf" srcId="{B9AAC2CB-9312-4E68-9C40-6084F1F59CD8}" destId="{033B1260-EE17-40CF-B461-F825C1ECD36D}" srcOrd="5" destOrd="0" presId="urn:microsoft.com/office/officeart/2005/8/layout/vProcess5"/>
    <dgm:cxn modelId="{00360FD2-A7DE-4A46-9A16-066216BE3D33}" type="presParOf" srcId="{B9AAC2CB-9312-4E68-9C40-6084F1F59CD8}" destId="{B47A8FB2-53C7-4BFA-A441-EF848E77CB32}" srcOrd="6" destOrd="0" presId="urn:microsoft.com/office/officeart/2005/8/layout/vProcess5"/>
    <dgm:cxn modelId="{3723D7BE-6A9D-4BE8-A7E1-2B1713E84E98}" type="presParOf" srcId="{B9AAC2CB-9312-4E68-9C40-6084F1F59CD8}" destId="{456529F2-EB6E-48E2-B5E2-F3B3C7C18181}" srcOrd="7" destOrd="0" presId="urn:microsoft.com/office/officeart/2005/8/layout/vProcess5"/>
    <dgm:cxn modelId="{01F67B99-AF31-491F-9C09-1A0A0C4994AB}" type="presParOf" srcId="{B9AAC2CB-9312-4E68-9C40-6084F1F59CD8}" destId="{1DE50F10-EB29-4615-AF5B-79D5F6B3E81A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18CB8A7-8C1F-4F40-86D3-432B46E29511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C3DFA83-1004-4251-966D-FE61001B440A}">
      <dgm:prSet/>
      <dgm:spPr/>
      <dgm:t>
        <a:bodyPr/>
        <a:lstStyle/>
        <a:p>
          <a:r>
            <a:rPr lang="en-US" b="0" i="0" baseline="0" dirty="0" err="1"/>
            <a:t>Növekvő</a:t>
          </a:r>
          <a:r>
            <a:rPr lang="en-US" b="0" i="0" baseline="0" dirty="0"/>
            <a:t> </a:t>
          </a:r>
          <a:r>
            <a:rPr lang="en-US" b="0" i="0" baseline="0" dirty="0" err="1"/>
            <a:t>komplexitás</a:t>
          </a:r>
          <a:endParaRPr lang="hu-HU" b="0" i="0" baseline="0" dirty="0"/>
        </a:p>
      </dgm:t>
    </dgm:pt>
    <dgm:pt modelId="{70512C6C-1BB0-49DC-986A-AF90888F0148}" type="parTrans" cxnId="{2D232311-972E-4A56-831B-A3E857E7D87E}">
      <dgm:prSet/>
      <dgm:spPr/>
      <dgm:t>
        <a:bodyPr/>
        <a:lstStyle/>
        <a:p>
          <a:endParaRPr lang="en-US"/>
        </a:p>
      </dgm:t>
    </dgm:pt>
    <dgm:pt modelId="{0846DDB6-B5A8-41B4-AACE-EF65FD73D350}" type="sibTrans" cxnId="{2D232311-972E-4A56-831B-A3E857E7D87E}">
      <dgm:prSet/>
      <dgm:spPr/>
      <dgm:t>
        <a:bodyPr/>
        <a:lstStyle/>
        <a:p>
          <a:endParaRPr lang="en-US"/>
        </a:p>
      </dgm:t>
    </dgm:pt>
    <dgm:pt modelId="{947B91A4-D394-44D6-B8B9-8561F98F30BC}">
      <dgm:prSet/>
      <dgm:spPr/>
      <dgm:t>
        <a:bodyPr/>
        <a:lstStyle/>
        <a:p>
          <a:r>
            <a:rPr lang="en-US" b="0" i="0" baseline="0" dirty="0" err="1"/>
            <a:t>Karbantarthatóság</a:t>
          </a:r>
          <a:endParaRPr lang="en-US" dirty="0"/>
        </a:p>
      </dgm:t>
    </dgm:pt>
    <dgm:pt modelId="{9A332576-6FEC-474E-A96D-6C8DF6FF9AFA}" type="parTrans" cxnId="{D686B54D-1126-4128-A437-42A8CC5FA041}">
      <dgm:prSet/>
      <dgm:spPr/>
      <dgm:t>
        <a:bodyPr/>
        <a:lstStyle/>
        <a:p>
          <a:endParaRPr lang="en-US"/>
        </a:p>
      </dgm:t>
    </dgm:pt>
    <dgm:pt modelId="{487EEA6B-CD17-4E78-BC8A-BC011C0A3DA4}" type="sibTrans" cxnId="{D686B54D-1126-4128-A437-42A8CC5FA041}">
      <dgm:prSet/>
      <dgm:spPr/>
      <dgm:t>
        <a:bodyPr/>
        <a:lstStyle/>
        <a:p>
          <a:endParaRPr lang="en-US"/>
        </a:p>
      </dgm:t>
    </dgm:pt>
    <dgm:pt modelId="{C0218039-80D9-4F06-A6DB-7152A1B7773A}">
      <dgm:prSet/>
      <dgm:spPr/>
      <dgm:t>
        <a:bodyPr/>
        <a:lstStyle/>
        <a:p>
          <a:r>
            <a:rPr lang="en-US" b="0" i="0" baseline="0"/>
            <a:t>Skálázhatóság</a:t>
          </a:r>
          <a:endParaRPr lang="en-US"/>
        </a:p>
      </dgm:t>
    </dgm:pt>
    <dgm:pt modelId="{5B7A6E82-04D7-4DFB-9864-0BCD61E8A9A5}" type="parTrans" cxnId="{09C0B8C0-A645-48AC-BDC4-BECFA14DC95C}">
      <dgm:prSet/>
      <dgm:spPr/>
      <dgm:t>
        <a:bodyPr/>
        <a:lstStyle/>
        <a:p>
          <a:endParaRPr lang="en-US"/>
        </a:p>
      </dgm:t>
    </dgm:pt>
    <dgm:pt modelId="{F6F5A06E-9735-403B-9F69-0A4B6C08D041}" type="sibTrans" cxnId="{09C0B8C0-A645-48AC-BDC4-BECFA14DC95C}">
      <dgm:prSet/>
      <dgm:spPr/>
      <dgm:t>
        <a:bodyPr/>
        <a:lstStyle/>
        <a:p>
          <a:endParaRPr lang="en-US"/>
        </a:p>
      </dgm:t>
    </dgm:pt>
    <dgm:pt modelId="{5AACF980-2D91-4DCB-9C88-92822DDF8D46}">
      <dgm:prSet/>
      <dgm:spPr/>
      <dgm:t>
        <a:bodyPr/>
        <a:lstStyle/>
        <a:p>
          <a:r>
            <a:rPr lang="en-US" b="0" i="0" baseline="0"/>
            <a:t>Csapatmunka</a:t>
          </a:r>
          <a:endParaRPr lang="en-US"/>
        </a:p>
      </dgm:t>
    </dgm:pt>
    <dgm:pt modelId="{6BF6C0E7-4F6A-4282-BA80-48E3A35B55E3}" type="parTrans" cxnId="{2D60E250-AE63-4434-BF59-80880A20F302}">
      <dgm:prSet/>
      <dgm:spPr/>
      <dgm:t>
        <a:bodyPr/>
        <a:lstStyle/>
        <a:p>
          <a:endParaRPr lang="en-US"/>
        </a:p>
      </dgm:t>
    </dgm:pt>
    <dgm:pt modelId="{6E05A982-E1A9-43FC-AAA1-057628B52387}" type="sibTrans" cxnId="{2D60E250-AE63-4434-BF59-80880A20F302}">
      <dgm:prSet/>
      <dgm:spPr/>
      <dgm:t>
        <a:bodyPr/>
        <a:lstStyle/>
        <a:p>
          <a:endParaRPr lang="en-US"/>
        </a:p>
      </dgm:t>
    </dgm:pt>
    <dgm:pt modelId="{195445A4-603C-43D1-83D7-62C03A2F061E}" type="pres">
      <dgm:prSet presAssocID="{D18CB8A7-8C1F-4F40-86D3-432B46E29511}" presName="vert0" presStyleCnt="0">
        <dgm:presLayoutVars>
          <dgm:dir/>
          <dgm:animOne val="branch"/>
          <dgm:animLvl val="lvl"/>
        </dgm:presLayoutVars>
      </dgm:prSet>
      <dgm:spPr/>
    </dgm:pt>
    <dgm:pt modelId="{33E55A75-C11C-4943-9D6A-B5040ACEE1C3}" type="pres">
      <dgm:prSet presAssocID="{4C3DFA83-1004-4251-966D-FE61001B440A}" presName="thickLine" presStyleLbl="alignNode1" presStyleIdx="0" presStyleCnt="4"/>
      <dgm:spPr/>
    </dgm:pt>
    <dgm:pt modelId="{DC1C585D-34C5-4289-9A41-0B0ACDB35972}" type="pres">
      <dgm:prSet presAssocID="{4C3DFA83-1004-4251-966D-FE61001B440A}" presName="horz1" presStyleCnt="0"/>
      <dgm:spPr/>
    </dgm:pt>
    <dgm:pt modelId="{7A5BE5F4-27D7-4BE8-8C14-290F08D76768}" type="pres">
      <dgm:prSet presAssocID="{4C3DFA83-1004-4251-966D-FE61001B440A}" presName="tx1" presStyleLbl="revTx" presStyleIdx="0" presStyleCnt="4"/>
      <dgm:spPr/>
    </dgm:pt>
    <dgm:pt modelId="{E28A02B1-3411-4D51-96A1-705A6481D0D2}" type="pres">
      <dgm:prSet presAssocID="{4C3DFA83-1004-4251-966D-FE61001B440A}" presName="vert1" presStyleCnt="0"/>
      <dgm:spPr/>
    </dgm:pt>
    <dgm:pt modelId="{09DD38C1-6329-4BA8-876A-92EA0455E6B3}" type="pres">
      <dgm:prSet presAssocID="{947B91A4-D394-44D6-B8B9-8561F98F30BC}" presName="thickLine" presStyleLbl="alignNode1" presStyleIdx="1" presStyleCnt="4"/>
      <dgm:spPr/>
    </dgm:pt>
    <dgm:pt modelId="{CA6B46EC-6713-420E-8B89-8D34535AF16A}" type="pres">
      <dgm:prSet presAssocID="{947B91A4-D394-44D6-B8B9-8561F98F30BC}" presName="horz1" presStyleCnt="0"/>
      <dgm:spPr/>
    </dgm:pt>
    <dgm:pt modelId="{51212645-8A9F-46E6-927D-87E318B482D9}" type="pres">
      <dgm:prSet presAssocID="{947B91A4-D394-44D6-B8B9-8561F98F30BC}" presName="tx1" presStyleLbl="revTx" presStyleIdx="1" presStyleCnt="4"/>
      <dgm:spPr/>
    </dgm:pt>
    <dgm:pt modelId="{25EEF519-BA06-45C7-BA3F-3F4E2DF95F3D}" type="pres">
      <dgm:prSet presAssocID="{947B91A4-D394-44D6-B8B9-8561F98F30BC}" presName="vert1" presStyleCnt="0"/>
      <dgm:spPr/>
    </dgm:pt>
    <dgm:pt modelId="{69B3030F-E5C1-40B5-92DA-8BA7BB0DF43C}" type="pres">
      <dgm:prSet presAssocID="{C0218039-80D9-4F06-A6DB-7152A1B7773A}" presName="thickLine" presStyleLbl="alignNode1" presStyleIdx="2" presStyleCnt="4"/>
      <dgm:spPr/>
    </dgm:pt>
    <dgm:pt modelId="{647EF8DA-45A1-4C7D-A93B-4AC38739882A}" type="pres">
      <dgm:prSet presAssocID="{C0218039-80D9-4F06-A6DB-7152A1B7773A}" presName="horz1" presStyleCnt="0"/>
      <dgm:spPr/>
    </dgm:pt>
    <dgm:pt modelId="{22F870D1-E5C1-4ADF-9D14-50EF6388703E}" type="pres">
      <dgm:prSet presAssocID="{C0218039-80D9-4F06-A6DB-7152A1B7773A}" presName="tx1" presStyleLbl="revTx" presStyleIdx="2" presStyleCnt="4"/>
      <dgm:spPr/>
    </dgm:pt>
    <dgm:pt modelId="{1220E34F-2DAA-46FA-A335-79AF2CD2CBDE}" type="pres">
      <dgm:prSet presAssocID="{C0218039-80D9-4F06-A6DB-7152A1B7773A}" presName="vert1" presStyleCnt="0"/>
      <dgm:spPr/>
    </dgm:pt>
    <dgm:pt modelId="{34D78A9B-C7B5-4236-BA55-97526B632082}" type="pres">
      <dgm:prSet presAssocID="{5AACF980-2D91-4DCB-9C88-92822DDF8D46}" presName="thickLine" presStyleLbl="alignNode1" presStyleIdx="3" presStyleCnt="4"/>
      <dgm:spPr/>
    </dgm:pt>
    <dgm:pt modelId="{C2F9D133-C54E-45CC-A1DE-E05BE4F160D4}" type="pres">
      <dgm:prSet presAssocID="{5AACF980-2D91-4DCB-9C88-92822DDF8D46}" presName="horz1" presStyleCnt="0"/>
      <dgm:spPr/>
    </dgm:pt>
    <dgm:pt modelId="{780CBFE9-DFB6-4FEF-8DC7-2EDF4E396F2A}" type="pres">
      <dgm:prSet presAssocID="{5AACF980-2D91-4DCB-9C88-92822DDF8D46}" presName="tx1" presStyleLbl="revTx" presStyleIdx="3" presStyleCnt="4"/>
      <dgm:spPr/>
    </dgm:pt>
    <dgm:pt modelId="{CE961450-78A5-4C8B-87CB-6A398AC92860}" type="pres">
      <dgm:prSet presAssocID="{5AACF980-2D91-4DCB-9C88-92822DDF8D46}" presName="vert1" presStyleCnt="0"/>
      <dgm:spPr/>
    </dgm:pt>
  </dgm:ptLst>
  <dgm:cxnLst>
    <dgm:cxn modelId="{2D232311-972E-4A56-831B-A3E857E7D87E}" srcId="{D18CB8A7-8C1F-4F40-86D3-432B46E29511}" destId="{4C3DFA83-1004-4251-966D-FE61001B440A}" srcOrd="0" destOrd="0" parTransId="{70512C6C-1BB0-49DC-986A-AF90888F0148}" sibTransId="{0846DDB6-B5A8-41B4-AACE-EF65FD73D350}"/>
    <dgm:cxn modelId="{3727C631-8F68-41EB-A6D2-0A07F9222294}" type="presOf" srcId="{947B91A4-D394-44D6-B8B9-8561F98F30BC}" destId="{51212645-8A9F-46E6-927D-87E318B482D9}" srcOrd="0" destOrd="0" presId="urn:microsoft.com/office/officeart/2008/layout/LinedList"/>
    <dgm:cxn modelId="{D686B54D-1126-4128-A437-42A8CC5FA041}" srcId="{D18CB8A7-8C1F-4F40-86D3-432B46E29511}" destId="{947B91A4-D394-44D6-B8B9-8561F98F30BC}" srcOrd="1" destOrd="0" parTransId="{9A332576-6FEC-474E-A96D-6C8DF6FF9AFA}" sibTransId="{487EEA6B-CD17-4E78-BC8A-BC011C0A3DA4}"/>
    <dgm:cxn modelId="{947DFC6D-3639-4A63-AB69-A886EC877E3C}" type="presOf" srcId="{4C3DFA83-1004-4251-966D-FE61001B440A}" destId="{7A5BE5F4-27D7-4BE8-8C14-290F08D76768}" srcOrd="0" destOrd="0" presId="urn:microsoft.com/office/officeart/2008/layout/LinedList"/>
    <dgm:cxn modelId="{2D60E250-AE63-4434-BF59-80880A20F302}" srcId="{D18CB8A7-8C1F-4F40-86D3-432B46E29511}" destId="{5AACF980-2D91-4DCB-9C88-92822DDF8D46}" srcOrd="3" destOrd="0" parTransId="{6BF6C0E7-4F6A-4282-BA80-48E3A35B55E3}" sibTransId="{6E05A982-E1A9-43FC-AAA1-057628B52387}"/>
    <dgm:cxn modelId="{0D4EB7AA-BD5D-4E62-97F7-A4B06E29D092}" type="presOf" srcId="{C0218039-80D9-4F06-A6DB-7152A1B7773A}" destId="{22F870D1-E5C1-4ADF-9D14-50EF6388703E}" srcOrd="0" destOrd="0" presId="urn:microsoft.com/office/officeart/2008/layout/LinedList"/>
    <dgm:cxn modelId="{09C0B8C0-A645-48AC-BDC4-BECFA14DC95C}" srcId="{D18CB8A7-8C1F-4F40-86D3-432B46E29511}" destId="{C0218039-80D9-4F06-A6DB-7152A1B7773A}" srcOrd="2" destOrd="0" parTransId="{5B7A6E82-04D7-4DFB-9864-0BCD61E8A9A5}" sibTransId="{F6F5A06E-9735-403B-9F69-0A4B6C08D041}"/>
    <dgm:cxn modelId="{D211CFD8-D385-4AB4-A8BF-BC413B2A343C}" type="presOf" srcId="{5AACF980-2D91-4DCB-9C88-92822DDF8D46}" destId="{780CBFE9-DFB6-4FEF-8DC7-2EDF4E396F2A}" srcOrd="0" destOrd="0" presId="urn:microsoft.com/office/officeart/2008/layout/LinedList"/>
    <dgm:cxn modelId="{6D4959FB-DA8F-41A3-AADB-3DC712084391}" type="presOf" srcId="{D18CB8A7-8C1F-4F40-86D3-432B46E29511}" destId="{195445A4-603C-43D1-83D7-62C03A2F061E}" srcOrd="0" destOrd="0" presId="urn:microsoft.com/office/officeart/2008/layout/LinedList"/>
    <dgm:cxn modelId="{D4B5ABBD-0446-4783-BCFF-922020982364}" type="presParOf" srcId="{195445A4-603C-43D1-83D7-62C03A2F061E}" destId="{33E55A75-C11C-4943-9D6A-B5040ACEE1C3}" srcOrd="0" destOrd="0" presId="urn:microsoft.com/office/officeart/2008/layout/LinedList"/>
    <dgm:cxn modelId="{18C965A8-3C62-4ED4-9E1D-F88A5AA8D1F5}" type="presParOf" srcId="{195445A4-603C-43D1-83D7-62C03A2F061E}" destId="{DC1C585D-34C5-4289-9A41-0B0ACDB35972}" srcOrd="1" destOrd="0" presId="urn:microsoft.com/office/officeart/2008/layout/LinedList"/>
    <dgm:cxn modelId="{E03B5EBA-2C59-44A2-B125-D0354D36A96C}" type="presParOf" srcId="{DC1C585D-34C5-4289-9A41-0B0ACDB35972}" destId="{7A5BE5F4-27D7-4BE8-8C14-290F08D76768}" srcOrd="0" destOrd="0" presId="urn:microsoft.com/office/officeart/2008/layout/LinedList"/>
    <dgm:cxn modelId="{13E6B4C1-EEEE-4BC6-A4E7-0275DAD4FF32}" type="presParOf" srcId="{DC1C585D-34C5-4289-9A41-0B0ACDB35972}" destId="{E28A02B1-3411-4D51-96A1-705A6481D0D2}" srcOrd="1" destOrd="0" presId="urn:microsoft.com/office/officeart/2008/layout/LinedList"/>
    <dgm:cxn modelId="{A341D902-30DF-4998-A583-9FCA8A533A8B}" type="presParOf" srcId="{195445A4-603C-43D1-83D7-62C03A2F061E}" destId="{09DD38C1-6329-4BA8-876A-92EA0455E6B3}" srcOrd="2" destOrd="0" presId="urn:microsoft.com/office/officeart/2008/layout/LinedList"/>
    <dgm:cxn modelId="{8CBC18AC-F357-46CE-836A-9BF27E9400A5}" type="presParOf" srcId="{195445A4-603C-43D1-83D7-62C03A2F061E}" destId="{CA6B46EC-6713-420E-8B89-8D34535AF16A}" srcOrd="3" destOrd="0" presId="urn:microsoft.com/office/officeart/2008/layout/LinedList"/>
    <dgm:cxn modelId="{ECADC059-25D7-4B7B-A151-4874C8BD1F88}" type="presParOf" srcId="{CA6B46EC-6713-420E-8B89-8D34535AF16A}" destId="{51212645-8A9F-46E6-927D-87E318B482D9}" srcOrd="0" destOrd="0" presId="urn:microsoft.com/office/officeart/2008/layout/LinedList"/>
    <dgm:cxn modelId="{049A8D72-7F8B-4521-95CA-5DA9A4DCC6BE}" type="presParOf" srcId="{CA6B46EC-6713-420E-8B89-8D34535AF16A}" destId="{25EEF519-BA06-45C7-BA3F-3F4E2DF95F3D}" srcOrd="1" destOrd="0" presId="urn:microsoft.com/office/officeart/2008/layout/LinedList"/>
    <dgm:cxn modelId="{7699C06D-A7EC-4A66-8D29-4F748E957543}" type="presParOf" srcId="{195445A4-603C-43D1-83D7-62C03A2F061E}" destId="{69B3030F-E5C1-40B5-92DA-8BA7BB0DF43C}" srcOrd="4" destOrd="0" presId="urn:microsoft.com/office/officeart/2008/layout/LinedList"/>
    <dgm:cxn modelId="{B328FAE0-A2DB-420F-9503-3A7D68D5D40E}" type="presParOf" srcId="{195445A4-603C-43D1-83D7-62C03A2F061E}" destId="{647EF8DA-45A1-4C7D-A93B-4AC38739882A}" srcOrd="5" destOrd="0" presId="urn:microsoft.com/office/officeart/2008/layout/LinedList"/>
    <dgm:cxn modelId="{49C0A131-0952-4F1A-9D93-544F3055A58E}" type="presParOf" srcId="{647EF8DA-45A1-4C7D-A93B-4AC38739882A}" destId="{22F870D1-E5C1-4ADF-9D14-50EF6388703E}" srcOrd="0" destOrd="0" presId="urn:microsoft.com/office/officeart/2008/layout/LinedList"/>
    <dgm:cxn modelId="{D1AC8B3C-8609-4AE1-9329-A73FB7E69305}" type="presParOf" srcId="{647EF8DA-45A1-4C7D-A93B-4AC38739882A}" destId="{1220E34F-2DAA-46FA-A335-79AF2CD2CBDE}" srcOrd="1" destOrd="0" presId="urn:microsoft.com/office/officeart/2008/layout/LinedList"/>
    <dgm:cxn modelId="{4FB2CA54-5A38-4695-A282-F9F0DDAF4A2C}" type="presParOf" srcId="{195445A4-603C-43D1-83D7-62C03A2F061E}" destId="{34D78A9B-C7B5-4236-BA55-97526B632082}" srcOrd="6" destOrd="0" presId="urn:microsoft.com/office/officeart/2008/layout/LinedList"/>
    <dgm:cxn modelId="{55A409DD-39BB-46EA-B63A-0C0263F515B6}" type="presParOf" srcId="{195445A4-603C-43D1-83D7-62C03A2F061E}" destId="{C2F9D133-C54E-45CC-A1DE-E05BE4F160D4}" srcOrd="7" destOrd="0" presId="urn:microsoft.com/office/officeart/2008/layout/LinedList"/>
    <dgm:cxn modelId="{19EFF191-6AD6-4107-875C-9758EA5F6564}" type="presParOf" srcId="{C2F9D133-C54E-45CC-A1DE-E05BE4F160D4}" destId="{780CBFE9-DFB6-4FEF-8DC7-2EDF4E396F2A}" srcOrd="0" destOrd="0" presId="urn:microsoft.com/office/officeart/2008/layout/LinedList"/>
    <dgm:cxn modelId="{A3F4BE58-BA1F-4BA9-A9D8-81D51D8BC1A6}" type="presParOf" srcId="{C2F9D133-C54E-45CC-A1DE-E05BE4F160D4}" destId="{CE961450-78A5-4C8B-87CB-6A398AC9286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C7722C-F7F7-493E-9F40-DADE991274E3}">
      <dsp:nvSpPr>
        <dsp:cNvPr id="0" name=""/>
        <dsp:cNvSpPr/>
      </dsp:nvSpPr>
      <dsp:spPr>
        <a:xfrm>
          <a:off x="0" y="0"/>
          <a:ext cx="8996502" cy="106347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A web nem csak HTTP kérésekből áll</a:t>
          </a:r>
          <a:endParaRPr lang="hu-HU" sz="2800" b="0" i="0" kern="1200" baseline="0"/>
        </a:p>
      </dsp:txBody>
      <dsp:txXfrm>
        <a:off x="31148" y="31148"/>
        <a:ext cx="7848933" cy="1001176"/>
      </dsp:txXfrm>
    </dsp:sp>
    <dsp:sp modelId="{018F3653-1D68-4D8B-A938-2D2F1856D86A}">
      <dsp:nvSpPr>
        <dsp:cNvPr id="0" name=""/>
        <dsp:cNvSpPr/>
      </dsp:nvSpPr>
      <dsp:spPr>
        <a:xfrm>
          <a:off x="793809" y="1240717"/>
          <a:ext cx="8996502" cy="1063472"/>
        </a:xfrm>
        <a:prstGeom prst="roundRect">
          <a:avLst>
            <a:gd name="adj" fmla="val 10000"/>
          </a:avLst>
        </a:prstGeom>
        <a:solidFill>
          <a:schemeClr val="accent2">
            <a:hueOff val="-5184504"/>
            <a:satOff val="-10204"/>
            <a:lumOff val="637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Kell egy </a:t>
          </a:r>
          <a:r>
            <a:rPr lang="en-US" sz="2800" b="1" i="0" kern="1200" baseline="0"/>
            <a:t>strukturált gondolkodásmód</a:t>
          </a:r>
          <a:r>
            <a:rPr lang="en-US" sz="2800" b="0" i="0" kern="1200" baseline="0"/>
            <a:t>, hogyan épül fel egy alkalmazás</a:t>
          </a:r>
          <a:endParaRPr lang="en-US" sz="2800" kern="1200"/>
        </a:p>
      </dsp:txBody>
      <dsp:txXfrm>
        <a:off x="824957" y="1271865"/>
        <a:ext cx="7449140" cy="1001176"/>
      </dsp:txXfrm>
    </dsp:sp>
    <dsp:sp modelId="{77BF128A-C2E2-421A-AD6E-CA7435390576}">
      <dsp:nvSpPr>
        <dsp:cNvPr id="0" name=""/>
        <dsp:cNvSpPr/>
      </dsp:nvSpPr>
      <dsp:spPr>
        <a:xfrm>
          <a:off x="1587618" y="2481434"/>
          <a:ext cx="8996502" cy="1063472"/>
        </a:xfrm>
        <a:prstGeom prst="roundRect">
          <a:avLst>
            <a:gd name="adj" fmla="val 10000"/>
          </a:avLst>
        </a:prstGeom>
        <a:solidFill>
          <a:schemeClr val="accent2">
            <a:hueOff val="-10369007"/>
            <a:satOff val="-20408"/>
            <a:lumOff val="1274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Az MVC és a REST </a:t>
          </a:r>
          <a:r>
            <a:rPr lang="en-US" sz="2800" b="1" i="0" kern="1200" baseline="0"/>
            <a:t>nem technológiák</a:t>
          </a:r>
          <a:r>
            <a:rPr lang="en-US" sz="2800" b="0" i="0" kern="1200" baseline="0"/>
            <a:t>, hanem </a:t>
          </a:r>
          <a:r>
            <a:rPr lang="en-US" sz="2800" b="1" i="0" kern="1200" baseline="0"/>
            <a:t>elvek és minták</a:t>
          </a:r>
          <a:endParaRPr lang="en-US" sz="2800" kern="1200"/>
        </a:p>
      </dsp:txBody>
      <dsp:txXfrm>
        <a:off x="1618766" y="2512582"/>
        <a:ext cx="7449140" cy="1001176"/>
      </dsp:txXfrm>
    </dsp:sp>
    <dsp:sp modelId="{DC3F7018-07A1-4FF7-9EBA-737C22B5A801}">
      <dsp:nvSpPr>
        <dsp:cNvPr id="0" name=""/>
        <dsp:cNvSpPr/>
      </dsp:nvSpPr>
      <dsp:spPr>
        <a:xfrm>
          <a:off x="8305245" y="806466"/>
          <a:ext cx="691256" cy="69125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8460778" y="806466"/>
        <a:ext cx="380190" cy="520170"/>
      </dsp:txXfrm>
    </dsp:sp>
    <dsp:sp modelId="{033B1260-EE17-40CF-B461-F825C1ECD36D}">
      <dsp:nvSpPr>
        <dsp:cNvPr id="0" name=""/>
        <dsp:cNvSpPr/>
      </dsp:nvSpPr>
      <dsp:spPr>
        <a:xfrm>
          <a:off x="9099055" y="2040093"/>
          <a:ext cx="691256" cy="69125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1047662"/>
            <a:satOff val="23918"/>
            <a:lumOff val="2232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-11047662"/>
              <a:satOff val="23918"/>
              <a:lumOff val="223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9254588" y="2040093"/>
        <a:ext cx="380190" cy="52017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E55A75-C11C-4943-9D6A-B5040ACEE1C3}">
      <dsp:nvSpPr>
        <dsp:cNvPr id="0" name=""/>
        <dsp:cNvSpPr/>
      </dsp:nvSpPr>
      <dsp:spPr>
        <a:xfrm>
          <a:off x="0" y="0"/>
          <a:ext cx="53127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5BE5F4-27D7-4BE8-8C14-290F08D76768}">
      <dsp:nvSpPr>
        <dsp:cNvPr id="0" name=""/>
        <dsp:cNvSpPr/>
      </dsp:nvSpPr>
      <dsp:spPr>
        <a:xfrm>
          <a:off x="0" y="0"/>
          <a:ext cx="5312779" cy="8845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b="0" i="0" kern="1200" baseline="0" dirty="0" err="1"/>
            <a:t>Növekvő</a:t>
          </a:r>
          <a:r>
            <a:rPr lang="en-US" sz="4100" b="0" i="0" kern="1200" baseline="0" dirty="0"/>
            <a:t> </a:t>
          </a:r>
          <a:r>
            <a:rPr lang="en-US" sz="4100" b="0" i="0" kern="1200" baseline="0" dirty="0" err="1"/>
            <a:t>komplexitás</a:t>
          </a:r>
          <a:endParaRPr lang="hu-HU" sz="4100" b="0" i="0" kern="1200" baseline="0" dirty="0"/>
        </a:p>
      </dsp:txBody>
      <dsp:txXfrm>
        <a:off x="0" y="0"/>
        <a:ext cx="5312779" cy="884597"/>
      </dsp:txXfrm>
    </dsp:sp>
    <dsp:sp modelId="{09DD38C1-6329-4BA8-876A-92EA0455E6B3}">
      <dsp:nvSpPr>
        <dsp:cNvPr id="0" name=""/>
        <dsp:cNvSpPr/>
      </dsp:nvSpPr>
      <dsp:spPr>
        <a:xfrm>
          <a:off x="0" y="884597"/>
          <a:ext cx="53127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212645-8A9F-46E6-927D-87E318B482D9}">
      <dsp:nvSpPr>
        <dsp:cNvPr id="0" name=""/>
        <dsp:cNvSpPr/>
      </dsp:nvSpPr>
      <dsp:spPr>
        <a:xfrm>
          <a:off x="0" y="884597"/>
          <a:ext cx="5312779" cy="8845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b="0" i="0" kern="1200" baseline="0" dirty="0" err="1"/>
            <a:t>Karbantarthatóság</a:t>
          </a:r>
          <a:endParaRPr lang="en-US" sz="4100" kern="1200" dirty="0"/>
        </a:p>
      </dsp:txBody>
      <dsp:txXfrm>
        <a:off x="0" y="884597"/>
        <a:ext cx="5312779" cy="884597"/>
      </dsp:txXfrm>
    </dsp:sp>
    <dsp:sp modelId="{69B3030F-E5C1-40B5-92DA-8BA7BB0DF43C}">
      <dsp:nvSpPr>
        <dsp:cNvPr id="0" name=""/>
        <dsp:cNvSpPr/>
      </dsp:nvSpPr>
      <dsp:spPr>
        <a:xfrm>
          <a:off x="0" y="1769194"/>
          <a:ext cx="53127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F870D1-E5C1-4ADF-9D14-50EF6388703E}">
      <dsp:nvSpPr>
        <dsp:cNvPr id="0" name=""/>
        <dsp:cNvSpPr/>
      </dsp:nvSpPr>
      <dsp:spPr>
        <a:xfrm>
          <a:off x="0" y="1769194"/>
          <a:ext cx="5312779" cy="8845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b="0" i="0" kern="1200" baseline="0"/>
            <a:t>Skálázhatóság</a:t>
          </a:r>
          <a:endParaRPr lang="en-US" sz="4100" kern="1200"/>
        </a:p>
      </dsp:txBody>
      <dsp:txXfrm>
        <a:off x="0" y="1769194"/>
        <a:ext cx="5312779" cy="884597"/>
      </dsp:txXfrm>
    </dsp:sp>
    <dsp:sp modelId="{34D78A9B-C7B5-4236-BA55-97526B632082}">
      <dsp:nvSpPr>
        <dsp:cNvPr id="0" name=""/>
        <dsp:cNvSpPr/>
      </dsp:nvSpPr>
      <dsp:spPr>
        <a:xfrm>
          <a:off x="0" y="2653791"/>
          <a:ext cx="53127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0CBFE9-DFB6-4FEF-8DC7-2EDF4E396F2A}">
      <dsp:nvSpPr>
        <dsp:cNvPr id="0" name=""/>
        <dsp:cNvSpPr/>
      </dsp:nvSpPr>
      <dsp:spPr>
        <a:xfrm>
          <a:off x="0" y="2653791"/>
          <a:ext cx="5312779" cy="8845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b="0" i="0" kern="1200" baseline="0"/>
            <a:t>Csapatmunka</a:t>
          </a:r>
          <a:endParaRPr lang="en-US" sz="4100" kern="1200"/>
        </a:p>
      </dsp:txBody>
      <dsp:txXfrm>
        <a:off x="0" y="2653791"/>
        <a:ext cx="5312779" cy="8845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482E4E-5CEC-44A9-BF2B-512FB3B5604F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23EBC-67FA-4278-B97C-82D0A52FD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096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Cél:</a:t>
            </a:r>
          </a:p>
          <a:p>
            <a:r>
              <a:rPr lang="hu-HU" dirty="0"/>
              <a:t>- </a:t>
            </a:r>
            <a:r>
              <a:rPr lang="en-US" dirty="0" err="1"/>
              <a:t>Megért</a:t>
            </a:r>
            <a:r>
              <a:rPr lang="hu-HU" dirty="0" err="1"/>
              <a:t>eni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MVC </a:t>
            </a:r>
            <a:r>
              <a:rPr lang="en-US" dirty="0" err="1"/>
              <a:t>gondolkodásmódot</a:t>
            </a:r>
            <a:endParaRPr lang="en-US" dirty="0"/>
          </a:p>
          <a:p>
            <a:r>
              <a:rPr lang="hu-HU" dirty="0"/>
              <a:t>- </a:t>
            </a:r>
            <a:r>
              <a:rPr lang="en-US" dirty="0" err="1"/>
              <a:t>Megért</a:t>
            </a:r>
            <a:r>
              <a:rPr lang="hu-HU" dirty="0" err="1"/>
              <a:t>eni</a:t>
            </a:r>
            <a:r>
              <a:rPr lang="en-US" dirty="0"/>
              <a:t>, mi a REST </a:t>
            </a:r>
            <a:r>
              <a:rPr lang="en-US" b="1" dirty="0" err="1"/>
              <a:t>architektúra</a:t>
            </a:r>
            <a:r>
              <a:rPr lang="en-US" dirty="0"/>
              <a:t>, </a:t>
            </a:r>
            <a:r>
              <a:rPr lang="hu-HU" dirty="0"/>
              <a:t>(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csak</a:t>
            </a:r>
            <a:r>
              <a:rPr lang="en-US" dirty="0"/>
              <a:t> </a:t>
            </a:r>
            <a:r>
              <a:rPr lang="hu-HU" dirty="0"/>
              <a:t>egy </a:t>
            </a:r>
            <a:r>
              <a:rPr lang="en-US" dirty="0"/>
              <a:t>„REST API”</a:t>
            </a:r>
            <a:r>
              <a:rPr lang="hu-HU" dirty="0"/>
              <a:t>)</a:t>
            </a:r>
            <a:endParaRPr lang="en-US" dirty="0"/>
          </a:p>
          <a:p>
            <a:r>
              <a:rPr lang="hu-HU" dirty="0"/>
              <a:t>- </a:t>
            </a:r>
            <a:r>
              <a:rPr lang="en-US" dirty="0" err="1"/>
              <a:t>Tudatosan</a:t>
            </a:r>
            <a:r>
              <a:rPr lang="en-US" dirty="0"/>
              <a:t> </a:t>
            </a:r>
            <a:r>
              <a:rPr lang="en-US" dirty="0" err="1"/>
              <a:t>tervez</a:t>
            </a:r>
            <a:r>
              <a:rPr lang="hu-HU" dirty="0"/>
              <a:t>ni</a:t>
            </a:r>
            <a:r>
              <a:rPr lang="en-US" dirty="0"/>
              <a:t> URI-kat</a:t>
            </a:r>
          </a:p>
          <a:p>
            <a:r>
              <a:rPr lang="hu-HU" dirty="0"/>
              <a:t>- Megérteni</a:t>
            </a:r>
            <a:r>
              <a:rPr lang="en-US" dirty="0"/>
              <a:t> a </a:t>
            </a:r>
            <a:r>
              <a:rPr lang="hu-HU" dirty="0"/>
              <a:t>API </a:t>
            </a:r>
            <a:r>
              <a:rPr lang="en-US" dirty="0" err="1"/>
              <a:t>verziózás</a:t>
            </a:r>
            <a:r>
              <a:rPr lang="en-US" dirty="0"/>
              <a:t> </a:t>
            </a:r>
            <a:r>
              <a:rPr lang="en-US" dirty="0" err="1"/>
              <a:t>szükségességét</a:t>
            </a:r>
            <a:endParaRPr lang="en-US" dirty="0"/>
          </a:p>
          <a:p>
            <a:r>
              <a:rPr lang="hu-HU" dirty="0"/>
              <a:t>- Megérteni</a:t>
            </a:r>
            <a:r>
              <a:rPr lang="en-US" dirty="0"/>
              <a:t>, </a:t>
            </a:r>
            <a:r>
              <a:rPr lang="en-US" dirty="0" err="1"/>
              <a:t>miért</a:t>
            </a:r>
            <a:r>
              <a:rPr lang="en-US" dirty="0"/>
              <a:t> </a:t>
            </a:r>
            <a:r>
              <a:rPr lang="en-US" dirty="0" err="1"/>
              <a:t>fontos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API </a:t>
            </a:r>
            <a:r>
              <a:rPr lang="en-US" dirty="0" err="1"/>
              <a:t>dokumentáció</a:t>
            </a:r>
            <a:r>
              <a:rPr lang="en-US" dirty="0"/>
              <a:t> (Swagger / </a:t>
            </a:r>
            <a:r>
              <a:rPr lang="en-US" dirty="0" err="1"/>
              <a:t>OpenAPI</a:t>
            </a:r>
            <a:r>
              <a:rPr lang="en-US" dirty="0"/>
              <a:t>)</a:t>
            </a:r>
          </a:p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838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Eddig főként </a:t>
            </a:r>
            <a:r>
              <a:rPr lang="hu-HU" b="1" dirty="0"/>
              <a:t>protokollokról és alacsonyabb szintű működésről</a:t>
            </a:r>
            <a:r>
              <a:rPr lang="hu-HU" dirty="0"/>
              <a:t> volt szó (HTTP, HTTPS, TLS). </a:t>
            </a:r>
            <a:r>
              <a:rPr lang="en-US" dirty="0" err="1"/>
              <a:t>Ezek</a:t>
            </a:r>
            <a:r>
              <a:rPr lang="en-US" dirty="0"/>
              <a:t> </a:t>
            </a:r>
            <a:r>
              <a:rPr lang="en-US" dirty="0" err="1"/>
              <a:t>megválaszolják</a:t>
            </a:r>
            <a:r>
              <a:rPr lang="en-US" dirty="0"/>
              <a:t> </a:t>
            </a:r>
            <a:r>
              <a:rPr lang="en-US" dirty="0" err="1"/>
              <a:t>azt</a:t>
            </a:r>
            <a:r>
              <a:rPr lang="en-US" dirty="0"/>
              <a:t> a </a:t>
            </a:r>
            <a:r>
              <a:rPr lang="en-US" dirty="0" err="1"/>
              <a:t>kérdést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:</a:t>
            </a:r>
            <a:r>
              <a:rPr lang="hu-HU" dirty="0"/>
              <a:t> </a:t>
            </a:r>
            <a:r>
              <a:rPr lang="en-US" dirty="0"/>
              <a:t>„</a:t>
            </a:r>
            <a:r>
              <a:rPr lang="en-US" dirty="0" err="1"/>
              <a:t>Hogyan</a:t>
            </a:r>
            <a:r>
              <a:rPr lang="en-US" dirty="0"/>
              <a:t> jut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adat</a:t>
            </a:r>
            <a:r>
              <a:rPr lang="en-US" dirty="0"/>
              <a:t> A </a:t>
            </a:r>
            <a:r>
              <a:rPr lang="hu-HU" dirty="0"/>
              <a:t>vég</a:t>
            </a:r>
            <a:r>
              <a:rPr lang="en-US" dirty="0" err="1"/>
              <a:t>pontból</a:t>
            </a:r>
            <a:r>
              <a:rPr lang="en-US" dirty="0"/>
              <a:t> B </a:t>
            </a:r>
            <a:r>
              <a:rPr lang="hu-HU" dirty="0"/>
              <a:t>vég</a:t>
            </a:r>
            <a:r>
              <a:rPr lang="en-US" dirty="0" err="1"/>
              <a:t>pontba</a:t>
            </a:r>
            <a:r>
              <a:rPr lang="en-US" dirty="0"/>
              <a:t>?”</a:t>
            </a:r>
            <a:endParaRPr lang="hu-HU" dirty="0"/>
          </a:p>
          <a:p>
            <a:r>
              <a:rPr lang="hu-HU" dirty="0"/>
              <a:t>Most pedig </a:t>
            </a:r>
            <a:r>
              <a:rPr lang="hu-HU" b="1" dirty="0"/>
              <a:t>alkalmazás-architektúrára</a:t>
            </a:r>
            <a:r>
              <a:rPr lang="hu-HU" dirty="0"/>
              <a:t> váltunk. Ez egy másik szint, ahol azt a kérdést tesszük fel: „Hogyan építünk fel egy webes alkalmazást úgy, hogy az hosszú távon is működőképes legyen?”</a:t>
            </a:r>
          </a:p>
          <a:p>
            <a:endParaRPr lang="hu-HU" dirty="0"/>
          </a:p>
          <a:p>
            <a:r>
              <a:rPr lang="en-US" dirty="0"/>
              <a:t>Nem </a:t>
            </a:r>
            <a:r>
              <a:rPr lang="hu-HU" dirty="0"/>
              <a:t>feltétlenül </a:t>
            </a:r>
            <a:r>
              <a:rPr lang="en-US" dirty="0" err="1"/>
              <a:t>azt</a:t>
            </a:r>
            <a:r>
              <a:rPr lang="en-US" dirty="0"/>
              <a:t> </a:t>
            </a:r>
            <a:r>
              <a:rPr lang="en-US" dirty="0" err="1"/>
              <a:t>tanuljuk</a:t>
            </a:r>
            <a:r>
              <a:rPr lang="en-US" dirty="0"/>
              <a:t>, </a:t>
            </a:r>
            <a:r>
              <a:rPr lang="en-US" dirty="0" err="1"/>
              <a:t>hogyan</a:t>
            </a:r>
            <a:r>
              <a:rPr lang="en-US" dirty="0"/>
              <a:t> </a:t>
            </a:r>
            <a:r>
              <a:rPr lang="en-US" dirty="0" err="1"/>
              <a:t>kell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konkrét</a:t>
            </a:r>
            <a:r>
              <a:rPr lang="en-US" dirty="0"/>
              <a:t> </a:t>
            </a:r>
            <a:r>
              <a:rPr lang="en-US" dirty="0" err="1"/>
              <a:t>frameworket</a:t>
            </a:r>
            <a:r>
              <a:rPr lang="en-US" dirty="0"/>
              <a:t> </a:t>
            </a:r>
            <a:r>
              <a:rPr lang="en-US" dirty="0" err="1"/>
              <a:t>használni</a:t>
            </a:r>
            <a:r>
              <a:rPr lang="en-US" dirty="0"/>
              <a:t>, </a:t>
            </a:r>
            <a:r>
              <a:rPr lang="en-US" dirty="0" err="1"/>
              <a:t>hanem</a:t>
            </a:r>
            <a:r>
              <a:rPr lang="en-US" dirty="0"/>
              <a:t> </a:t>
            </a:r>
            <a:r>
              <a:rPr lang="en-US" dirty="0" err="1"/>
              <a:t>azt</a:t>
            </a:r>
            <a:r>
              <a:rPr lang="en-US" dirty="0"/>
              <a:t>, </a:t>
            </a:r>
            <a:r>
              <a:rPr lang="en-US" dirty="0" err="1"/>
              <a:t>hogyan</a:t>
            </a:r>
            <a:r>
              <a:rPr lang="en-US" dirty="0"/>
              <a:t> </a:t>
            </a:r>
            <a:r>
              <a:rPr lang="en-US" dirty="0" err="1"/>
              <a:t>gondolkodjunk</a:t>
            </a:r>
            <a:r>
              <a:rPr lang="en-US" dirty="0"/>
              <a:t> </a:t>
            </a:r>
            <a:r>
              <a:rPr lang="en-US" dirty="0" err="1"/>
              <a:t>webes</a:t>
            </a:r>
            <a:r>
              <a:rPr lang="en-US" dirty="0"/>
              <a:t> </a:t>
            </a:r>
            <a:r>
              <a:rPr lang="en-US" dirty="0" err="1"/>
              <a:t>alkalmazások</a:t>
            </a:r>
            <a:r>
              <a:rPr lang="en-US" dirty="0"/>
              <a:t> </a:t>
            </a:r>
            <a:r>
              <a:rPr lang="en-US" dirty="0" err="1"/>
              <a:t>tervezésekor</a:t>
            </a:r>
            <a:r>
              <a:rPr lang="en-US" dirty="0"/>
              <a:t>.</a:t>
            </a:r>
          </a:p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6053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Egy </a:t>
            </a:r>
            <a:r>
              <a:rPr lang="en-US" dirty="0" err="1"/>
              <a:t>kis</a:t>
            </a:r>
            <a:r>
              <a:rPr lang="en-US" dirty="0"/>
              <a:t> </a:t>
            </a:r>
            <a:r>
              <a:rPr lang="hu-HU" dirty="0"/>
              <a:t>méretű </a:t>
            </a:r>
            <a:r>
              <a:rPr lang="en-US" dirty="0" err="1"/>
              <a:t>hobbi</a:t>
            </a:r>
            <a:r>
              <a:rPr lang="en-US" dirty="0"/>
              <a:t> </a:t>
            </a:r>
            <a:r>
              <a:rPr lang="en-US" dirty="0" err="1"/>
              <a:t>projekt</a:t>
            </a:r>
            <a:r>
              <a:rPr lang="hu-HU" dirty="0"/>
              <a:t> még működik architektúra nélkül. De mi történik, amikor 50 000 soros lesz a kód?</a:t>
            </a:r>
          </a:p>
          <a:p>
            <a:endParaRPr lang="hu-HU" dirty="0"/>
          </a:p>
          <a:p>
            <a:r>
              <a:rPr lang="hu-HU" dirty="0"/>
              <a:t>Egy szoftver fejlesztése és üzemeltetése az alábbi kihívásokkal néz szembe: </a:t>
            </a:r>
            <a:r>
              <a:rPr lang="hu-HU" b="1" dirty="0"/>
              <a:t>növekvő komplexitás </a:t>
            </a:r>
            <a:r>
              <a:rPr lang="hu-HU" dirty="0"/>
              <a:t>(új funkciók és üzleti szabályok), </a:t>
            </a:r>
            <a:r>
              <a:rPr lang="hu-HU" b="1" dirty="0"/>
              <a:t>karbantarthatóság</a:t>
            </a:r>
            <a:r>
              <a:rPr lang="hu-HU" dirty="0"/>
              <a:t>, </a:t>
            </a:r>
            <a:r>
              <a:rPr lang="hu-HU" b="1" dirty="0"/>
              <a:t>skálázhatóság</a:t>
            </a:r>
            <a:r>
              <a:rPr lang="hu-HU" dirty="0"/>
              <a:t> (több felhasználó, nagyobb terhelés), </a:t>
            </a:r>
            <a:r>
              <a:rPr lang="hu-HU" b="1" dirty="0"/>
              <a:t>csapatmunka</a:t>
            </a:r>
          </a:p>
          <a:p>
            <a:endParaRPr lang="hu-HU" dirty="0"/>
          </a:p>
          <a:p>
            <a:r>
              <a:rPr lang="en-US" b="1" dirty="0" err="1"/>
              <a:t>Architektúra</a:t>
            </a:r>
            <a:r>
              <a:rPr lang="en-US" b="1" dirty="0"/>
              <a:t> </a:t>
            </a:r>
            <a:r>
              <a:rPr lang="en-US" b="1" dirty="0" err="1"/>
              <a:t>nélkül</a:t>
            </a:r>
            <a:r>
              <a:rPr lang="en-US" b="1" dirty="0"/>
              <a:t>:</a:t>
            </a:r>
          </a:p>
          <a:p>
            <a:r>
              <a:rPr lang="en-US" dirty="0" err="1"/>
              <a:t>összekeveredik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adatkezelés</a:t>
            </a:r>
            <a:r>
              <a:rPr lang="en-US" dirty="0"/>
              <a:t>, </a:t>
            </a:r>
            <a:r>
              <a:rPr lang="en-US" dirty="0" err="1"/>
              <a:t>logika</a:t>
            </a:r>
            <a:r>
              <a:rPr lang="en-US" dirty="0"/>
              <a:t>, </a:t>
            </a:r>
            <a:r>
              <a:rPr lang="en-US" dirty="0" err="1"/>
              <a:t>megjelenítés</a:t>
            </a:r>
            <a:endParaRPr lang="en-US" dirty="0"/>
          </a:p>
          <a:p>
            <a:r>
              <a:rPr lang="en-US" dirty="0" err="1"/>
              <a:t>nehéz</a:t>
            </a:r>
            <a:r>
              <a:rPr lang="en-US" dirty="0"/>
              <a:t> </a:t>
            </a:r>
            <a:r>
              <a:rPr lang="en-US" dirty="0" err="1"/>
              <a:t>új</a:t>
            </a:r>
            <a:r>
              <a:rPr lang="en-US" dirty="0"/>
              <a:t> </a:t>
            </a:r>
            <a:r>
              <a:rPr lang="en-US" dirty="0" err="1"/>
              <a:t>fejlesztőt</a:t>
            </a:r>
            <a:r>
              <a:rPr lang="en-US" dirty="0"/>
              <a:t> </a:t>
            </a:r>
            <a:r>
              <a:rPr lang="en-US" dirty="0" err="1"/>
              <a:t>bevonni</a:t>
            </a:r>
            <a:endParaRPr lang="hu-HU" dirty="0"/>
          </a:p>
          <a:p>
            <a:r>
              <a:rPr lang="en-US" dirty="0" err="1"/>
              <a:t>nehéz</a:t>
            </a:r>
            <a:r>
              <a:rPr lang="en-US" dirty="0"/>
              <a:t> </a:t>
            </a:r>
            <a:r>
              <a:rPr lang="en-US" dirty="0" err="1"/>
              <a:t>hibát</a:t>
            </a:r>
            <a:r>
              <a:rPr lang="en-US" dirty="0"/>
              <a:t> </a:t>
            </a:r>
            <a:r>
              <a:rPr lang="en-US" dirty="0" err="1"/>
              <a:t>javítani</a:t>
            </a:r>
            <a:r>
              <a:rPr lang="hu-HU" dirty="0"/>
              <a:t>, új funkciókat beleilleszteni</a:t>
            </a:r>
            <a:endParaRPr lang="en-US" dirty="0"/>
          </a:p>
          <a:p>
            <a:endParaRPr lang="hu-HU" dirty="0"/>
          </a:p>
          <a:p>
            <a:r>
              <a:rPr lang="en-US" b="1" dirty="0" err="1"/>
              <a:t>Architektúra</a:t>
            </a:r>
            <a:r>
              <a:rPr lang="en-US" b="1" dirty="0"/>
              <a:t> </a:t>
            </a:r>
            <a:r>
              <a:rPr lang="en-US" b="1" dirty="0" err="1"/>
              <a:t>célja</a:t>
            </a:r>
            <a:r>
              <a:rPr lang="en-US" b="1" dirty="0"/>
              <a:t>:</a:t>
            </a:r>
          </a:p>
          <a:p>
            <a:r>
              <a:rPr lang="en-US" dirty="0" err="1"/>
              <a:t>világos</a:t>
            </a:r>
            <a:r>
              <a:rPr lang="en-US" dirty="0"/>
              <a:t> </a:t>
            </a:r>
            <a:r>
              <a:rPr lang="en-US" dirty="0" err="1"/>
              <a:t>felelősségi</a:t>
            </a:r>
            <a:r>
              <a:rPr lang="en-US" dirty="0"/>
              <a:t> </a:t>
            </a:r>
            <a:r>
              <a:rPr lang="en-US" dirty="0" err="1"/>
              <a:t>körök</a:t>
            </a:r>
            <a:r>
              <a:rPr lang="hu-HU" dirty="0"/>
              <a:t> definiálása</a:t>
            </a:r>
            <a:endParaRPr lang="en-US" dirty="0"/>
          </a:p>
          <a:p>
            <a:r>
              <a:rPr lang="en-US" dirty="0" err="1"/>
              <a:t>cserélhető</a:t>
            </a:r>
            <a:r>
              <a:rPr lang="en-US" dirty="0"/>
              <a:t> </a:t>
            </a:r>
            <a:r>
              <a:rPr lang="en-US" dirty="0" err="1"/>
              <a:t>komponensek</a:t>
            </a:r>
            <a:r>
              <a:rPr lang="hu-HU" dirty="0"/>
              <a:t> készítése</a:t>
            </a:r>
            <a:endParaRPr lang="en-US" dirty="0"/>
          </a:p>
          <a:p>
            <a:r>
              <a:rPr lang="en-US" dirty="0" err="1"/>
              <a:t>könnyebb</a:t>
            </a:r>
            <a:r>
              <a:rPr lang="en-US" dirty="0"/>
              <a:t> </a:t>
            </a:r>
            <a:r>
              <a:rPr lang="en-US" dirty="0" err="1"/>
              <a:t>tesztelhetőség</a:t>
            </a:r>
            <a:r>
              <a:rPr lang="hu-HU" dirty="0"/>
              <a:t> és karbantarthatóság</a:t>
            </a:r>
          </a:p>
          <a:p>
            <a:r>
              <a:rPr lang="hu-HU" dirty="0"/>
              <a:t>Könnyebb kód megértés</a:t>
            </a:r>
          </a:p>
          <a:p>
            <a:endParaRPr lang="hu-HU" dirty="0"/>
          </a:p>
          <a:p>
            <a:r>
              <a:rPr lang="hu-HU" dirty="0"/>
              <a:t>Fontos tudni! </a:t>
            </a:r>
            <a:r>
              <a:rPr lang="en-US" dirty="0"/>
              <a:t>A </a:t>
            </a:r>
            <a:r>
              <a:rPr lang="en-US" dirty="0" err="1"/>
              <a:t>legtöbb</a:t>
            </a:r>
            <a:r>
              <a:rPr lang="en-US" dirty="0"/>
              <a:t> </a:t>
            </a:r>
            <a:r>
              <a:rPr lang="en-US" dirty="0" err="1"/>
              <a:t>webes</a:t>
            </a:r>
            <a:r>
              <a:rPr lang="en-US" dirty="0"/>
              <a:t> </a:t>
            </a:r>
            <a:r>
              <a:rPr lang="en-US" dirty="0" err="1"/>
              <a:t>alkalmazás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azért</a:t>
            </a:r>
            <a:r>
              <a:rPr lang="en-US" dirty="0"/>
              <a:t> </a:t>
            </a:r>
            <a:r>
              <a:rPr lang="en-US" dirty="0" err="1"/>
              <a:t>bukik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, </a:t>
            </a:r>
            <a:r>
              <a:rPr lang="en-US" dirty="0" err="1"/>
              <a:t>mert</a:t>
            </a:r>
            <a:r>
              <a:rPr lang="en-US" dirty="0"/>
              <a:t> </a:t>
            </a:r>
            <a:r>
              <a:rPr lang="en-US" dirty="0" err="1"/>
              <a:t>rossz</a:t>
            </a:r>
            <a:r>
              <a:rPr lang="en-US" dirty="0"/>
              <a:t> a </a:t>
            </a:r>
            <a:r>
              <a:rPr lang="en-US" dirty="0" err="1"/>
              <a:t>programozási</a:t>
            </a:r>
            <a:r>
              <a:rPr lang="en-US" dirty="0"/>
              <a:t> </a:t>
            </a:r>
            <a:r>
              <a:rPr lang="en-US" dirty="0" err="1"/>
              <a:t>nyelv</a:t>
            </a:r>
            <a:r>
              <a:rPr lang="en-US" dirty="0"/>
              <a:t>, </a:t>
            </a:r>
            <a:r>
              <a:rPr lang="en-US" dirty="0" err="1"/>
              <a:t>hanem</a:t>
            </a:r>
            <a:r>
              <a:rPr lang="en-US" dirty="0"/>
              <a:t> </a:t>
            </a:r>
            <a:r>
              <a:rPr lang="en-US" dirty="0" err="1"/>
              <a:t>mert</a:t>
            </a:r>
            <a:r>
              <a:rPr lang="en-US" dirty="0"/>
              <a:t> </a:t>
            </a:r>
            <a:r>
              <a:rPr lang="en-US" dirty="0" err="1"/>
              <a:t>rossz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architektúra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/>
              <a:t>Az </a:t>
            </a:r>
            <a:r>
              <a:rPr lang="en-US" dirty="0" err="1"/>
              <a:t>architektúra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gyorsítja</a:t>
            </a:r>
            <a:r>
              <a:rPr lang="en-US" dirty="0"/>
              <a:t> </a:t>
            </a:r>
            <a:r>
              <a:rPr lang="en-US" dirty="0" err="1"/>
              <a:t>fel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első</a:t>
            </a:r>
            <a:r>
              <a:rPr lang="en-US" dirty="0"/>
              <a:t> </a:t>
            </a:r>
            <a:r>
              <a:rPr lang="en-US" dirty="0" err="1"/>
              <a:t>verzió</a:t>
            </a:r>
            <a:r>
              <a:rPr lang="en-US" dirty="0"/>
              <a:t> </a:t>
            </a:r>
            <a:r>
              <a:rPr lang="en-US" dirty="0" err="1"/>
              <a:t>elkészítését</a:t>
            </a:r>
            <a:r>
              <a:rPr lang="en-US" dirty="0"/>
              <a:t>, de </a:t>
            </a:r>
            <a:r>
              <a:rPr lang="en-US" b="0" dirty="0" err="1"/>
              <a:t>drasztikusan</a:t>
            </a:r>
            <a:r>
              <a:rPr lang="en-US" b="0" dirty="0"/>
              <a:t> </a:t>
            </a:r>
            <a:r>
              <a:rPr lang="en-US" b="0" dirty="0" err="1"/>
              <a:t>lelassítja</a:t>
            </a:r>
            <a:r>
              <a:rPr lang="en-US" b="0" dirty="0"/>
              <a:t> a </a:t>
            </a:r>
            <a:r>
              <a:rPr lang="en-US" b="0" dirty="0" err="1"/>
              <a:t>káosz</a:t>
            </a:r>
            <a:r>
              <a:rPr lang="en-US" b="0" dirty="0"/>
              <a:t> </a:t>
            </a:r>
            <a:r>
              <a:rPr lang="en-US" b="0" dirty="0" err="1"/>
              <a:t>kialakulását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1157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Fontos tisztázni: Az MVC egy </a:t>
            </a:r>
            <a:r>
              <a:rPr lang="hu-HU" b="1" dirty="0"/>
              <a:t>klasszikus architektúra</a:t>
            </a:r>
            <a:r>
              <a:rPr lang="hu-HU" dirty="0"/>
              <a:t>, amit a web világban is széles körben használnak. Nem webspecifikus, de ott lett igazán népszerű.</a:t>
            </a:r>
          </a:p>
          <a:p>
            <a:r>
              <a:rPr lang="en-US" dirty="0"/>
              <a:t>Az MVC </a:t>
            </a:r>
            <a:r>
              <a:rPr lang="en-US" dirty="0" err="1"/>
              <a:t>célja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b="1" dirty="0" err="1"/>
              <a:t>szétválassza</a:t>
            </a:r>
            <a:r>
              <a:rPr lang="en-US" b="1" dirty="0"/>
              <a:t> a </a:t>
            </a:r>
            <a:r>
              <a:rPr lang="en-US" b="0" dirty="0" err="1"/>
              <a:t>felelősségeket</a:t>
            </a:r>
            <a:r>
              <a:rPr lang="hu-HU" b="0" dirty="0"/>
              <a:t>, hogy n</a:t>
            </a:r>
            <a:r>
              <a:rPr lang="en-US" b="0" dirty="0"/>
              <a:t>e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helyen</a:t>
            </a:r>
            <a:r>
              <a:rPr lang="en-US" dirty="0"/>
              <a:t> </a:t>
            </a:r>
            <a:r>
              <a:rPr lang="en-US" dirty="0" err="1"/>
              <a:t>történjen</a:t>
            </a:r>
            <a:r>
              <a:rPr lang="en-US" dirty="0"/>
              <a:t> </a:t>
            </a:r>
            <a:r>
              <a:rPr lang="en-US" dirty="0" err="1"/>
              <a:t>minden</a:t>
            </a:r>
            <a:r>
              <a:rPr lang="hu-HU" dirty="0"/>
              <a:t>.</a:t>
            </a:r>
          </a:p>
          <a:p>
            <a:endParaRPr lang="hu-HU" dirty="0"/>
          </a:p>
          <a:p>
            <a:r>
              <a:rPr lang="en-US" b="1" dirty="0"/>
              <a:t>Model</a:t>
            </a:r>
            <a:r>
              <a:rPr lang="hu-HU" b="1" dirty="0"/>
              <a:t> </a:t>
            </a:r>
            <a:endParaRPr lang="en-US" dirty="0"/>
          </a:p>
          <a:p>
            <a:r>
              <a:rPr lang="en-US" dirty="0" err="1"/>
              <a:t>adatbázis</a:t>
            </a:r>
            <a:r>
              <a:rPr lang="en-US" dirty="0"/>
              <a:t> </a:t>
            </a:r>
            <a:r>
              <a:rPr lang="en-US" dirty="0" err="1"/>
              <a:t>elérés</a:t>
            </a:r>
            <a:r>
              <a:rPr lang="hu-HU" dirty="0"/>
              <a:t>, </a:t>
            </a:r>
            <a:r>
              <a:rPr lang="en-US" dirty="0" err="1"/>
              <a:t>üzleti</a:t>
            </a:r>
            <a:r>
              <a:rPr lang="en-US" dirty="0"/>
              <a:t> </a:t>
            </a:r>
            <a:r>
              <a:rPr lang="en-US" dirty="0" err="1"/>
              <a:t>szabályok</a:t>
            </a:r>
            <a:r>
              <a:rPr lang="hu-HU" dirty="0"/>
              <a:t>, </a:t>
            </a:r>
            <a:r>
              <a:rPr lang="en-US" dirty="0" err="1"/>
              <a:t>validációk</a:t>
            </a:r>
            <a:r>
              <a:rPr lang="hu-HU" dirty="0"/>
              <a:t>, </a:t>
            </a:r>
            <a:r>
              <a:rPr lang="en-US" dirty="0" err="1"/>
              <a:t>számítások</a:t>
            </a:r>
            <a:r>
              <a:rPr lang="hu-HU" dirty="0"/>
              <a:t>. Itt </a:t>
            </a:r>
            <a:r>
              <a:rPr lang="hu-HU" dirty="0" err="1"/>
              <a:t>döl</a:t>
            </a:r>
            <a:r>
              <a:rPr lang="hu-HU" dirty="0"/>
              <a:t> el, hogy </a:t>
            </a:r>
            <a:r>
              <a:rPr lang="en-US" dirty="0"/>
              <a:t>„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szabad</a:t>
            </a:r>
            <a:r>
              <a:rPr lang="en-US" dirty="0"/>
              <a:t> és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”</a:t>
            </a:r>
            <a:r>
              <a:rPr lang="hu-HU" dirty="0"/>
              <a:t> (üzleti logika és adatok).</a:t>
            </a:r>
            <a:endParaRPr lang="en-US" dirty="0"/>
          </a:p>
          <a:p>
            <a:endParaRPr lang="hu-HU" b="1" dirty="0"/>
          </a:p>
          <a:p>
            <a:r>
              <a:rPr lang="en-US" b="1" dirty="0"/>
              <a:t>View</a:t>
            </a:r>
            <a:endParaRPr lang="en-US" dirty="0"/>
          </a:p>
          <a:p>
            <a:r>
              <a:rPr lang="hu-HU" dirty="0"/>
              <a:t>Ez a megjelenítés, a</a:t>
            </a:r>
            <a:r>
              <a:rPr lang="en-US" dirty="0" err="1"/>
              <a:t>mit</a:t>
            </a:r>
            <a:r>
              <a:rPr lang="en-US" dirty="0"/>
              <a:t> a </a:t>
            </a:r>
            <a:r>
              <a:rPr lang="en-US" dirty="0" err="1"/>
              <a:t>felhasználó</a:t>
            </a:r>
            <a:r>
              <a:rPr lang="en-US" dirty="0"/>
              <a:t> </a:t>
            </a:r>
            <a:r>
              <a:rPr lang="en-US" dirty="0" err="1"/>
              <a:t>lát</a:t>
            </a:r>
            <a:r>
              <a:rPr lang="hu-HU" dirty="0"/>
              <a:t>.</a:t>
            </a:r>
            <a:endParaRPr lang="en-US" dirty="0"/>
          </a:p>
          <a:p>
            <a:r>
              <a:rPr lang="hu-HU" dirty="0"/>
              <a:t>Adatformátum: </a:t>
            </a:r>
            <a:r>
              <a:rPr lang="en-US" dirty="0"/>
              <a:t>HTML, JSON, XML</a:t>
            </a:r>
          </a:p>
          <a:p>
            <a:r>
              <a:rPr lang="en-US" dirty="0"/>
              <a:t>NINCS </a:t>
            </a:r>
            <a:r>
              <a:rPr lang="en-US" dirty="0" err="1"/>
              <a:t>üzleti</a:t>
            </a:r>
            <a:r>
              <a:rPr lang="en-US" dirty="0"/>
              <a:t> </a:t>
            </a:r>
            <a:r>
              <a:rPr lang="hu-HU" dirty="0"/>
              <a:t>logika és </a:t>
            </a:r>
            <a:r>
              <a:rPr lang="en-US" dirty="0" err="1"/>
              <a:t>döntés</a:t>
            </a:r>
            <a:r>
              <a:rPr lang="hu-HU" dirty="0"/>
              <a:t>, csak a megjelenítésért felelős.</a:t>
            </a:r>
            <a:endParaRPr lang="en-US" dirty="0"/>
          </a:p>
          <a:p>
            <a:endParaRPr lang="hu-HU" b="1" dirty="0"/>
          </a:p>
          <a:p>
            <a:r>
              <a:rPr lang="en-US" b="1" dirty="0"/>
              <a:t>Controller</a:t>
            </a:r>
            <a:endParaRPr lang="en-US" dirty="0"/>
          </a:p>
          <a:p>
            <a:r>
              <a:rPr lang="en-US" dirty="0"/>
              <a:t>HTTP </a:t>
            </a:r>
            <a:r>
              <a:rPr lang="en-US" dirty="0" err="1"/>
              <a:t>kérés</a:t>
            </a:r>
            <a:r>
              <a:rPr lang="en-US" dirty="0"/>
              <a:t> </a:t>
            </a:r>
            <a:r>
              <a:rPr lang="en-US" dirty="0" err="1"/>
              <a:t>belépési</a:t>
            </a:r>
            <a:r>
              <a:rPr lang="en-US" dirty="0"/>
              <a:t> </a:t>
            </a:r>
            <a:r>
              <a:rPr lang="en-US" dirty="0" err="1"/>
              <a:t>pontja</a:t>
            </a:r>
            <a:r>
              <a:rPr lang="hu-HU" dirty="0"/>
              <a:t>. A </a:t>
            </a:r>
            <a:r>
              <a:rPr lang="hu-HU" dirty="0" err="1"/>
              <a:t>controller</a:t>
            </a:r>
            <a:r>
              <a:rPr lang="hu-HU" dirty="0"/>
              <a:t> </a:t>
            </a:r>
            <a:r>
              <a:rPr lang="en-US" dirty="0" err="1"/>
              <a:t>eldönti</a:t>
            </a:r>
            <a:r>
              <a:rPr lang="en-US" dirty="0"/>
              <a:t>, </a:t>
            </a:r>
            <a:r>
              <a:rPr lang="en-US" dirty="0" err="1"/>
              <a:t>melyik</a:t>
            </a:r>
            <a:r>
              <a:rPr lang="en-US" dirty="0"/>
              <a:t> </a:t>
            </a:r>
            <a:r>
              <a:rPr lang="en-US" dirty="0" err="1"/>
              <a:t>modell</a:t>
            </a:r>
            <a:r>
              <a:rPr lang="en-US" dirty="0"/>
              <a:t> </a:t>
            </a:r>
            <a:r>
              <a:rPr lang="en-US" dirty="0" err="1"/>
              <a:t>kell</a:t>
            </a:r>
            <a:r>
              <a:rPr lang="hu-HU" dirty="0"/>
              <a:t>, és azt meghívja, majd </a:t>
            </a:r>
            <a:r>
              <a:rPr lang="en-US" dirty="0" err="1"/>
              <a:t>összeállítja</a:t>
            </a:r>
            <a:r>
              <a:rPr lang="en-US" dirty="0"/>
              <a:t> a </a:t>
            </a:r>
            <a:r>
              <a:rPr lang="en-US" dirty="0" err="1"/>
              <a:t>választ</a:t>
            </a:r>
            <a:r>
              <a:rPr lang="hu-HU" dirty="0"/>
              <a:t>. A kontroller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gondolkodik</a:t>
            </a:r>
            <a:r>
              <a:rPr lang="en-US" dirty="0"/>
              <a:t>, </a:t>
            </a:r>
            <a:r>
              <a:rPr lang="en-US" dirty="0" err="1"/>
              <a:t>hanem</a:t>
            </a:r>
            <a:r>
              <a:rPr lang="en-US" dirty="0"/>
              <a:t> </a:t>
            </a:r>
            <a:r>
              <a:rPr lang="en-US" dirty="0" err="1"/>
              <a:t>irányít</a:t>
            </a:r>
            <a:r>
              <a:rPr lang="hu-HU" dirty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1774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MVC-ben</a:t>
            </a:r>
            <a:r>
              <a:rPr lang="en-US" dirty="0"/>
              <a:t> a controller a </a:t>
            </a:r>
            <a:r>
              <a:rPr lang="hu-HU" dirty="0"/>
              <a:t>„</a:t>
            </a:r>
            <a:r>
              <a:rPr lang="en-US" b="1" dirty="0" err="1"/>
              <a:t>kapu</a:t>
            </a:r>
            <a:r>
              <a:rPr lang="hu-HU" b="1" dirty="0"/>
              <a:t>”</a:t>
            </a:r>
            <a:r>
              <a:rPr lang="hu-HU" dirty="0"/>
              <a:t> és az </a:t>
            </a:r>
            <a:r>
              <a:rPr lang="hu-HU" b="1" dirty="0"/>
              <a:t>irányító</a:t>
            </a:r>
            <a:r>
              <a:rPr lang="en-US" dirty="0"/>
              <a:t>, a model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hu-HU" dirty="0"/>
              <a:t>„</a:t>
            </a:r>
            <a:r>
              <a:rPr lang="en-US" b="1" dirty="0" err="1"/>
              <a:t>agy</a:t>
            </a:r>
            <a:r>
              <a:rPr lang="hu-HU" b="1" dirty="0"/>
              <a:t>”</a:t>
            </a:r>
            <a:r>
              <a:rPr lang="en-US" dirty="0"/>
              <a:t>, a view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hu-HU" dirty="0"/>
              <a:t>„</a:t>
            </a:r>
            <a:r>
              <a:rPr lang="en-US" b="1" dirty="0"/>
              <a:t>arc</a:t>
            </a:r>
            <a:r>
              <a:rPr lang="hu-HU" b="1" dirty="0"/>
              <a:t>”</a:t>
            </a:r>
            <a:r>
              <a:rPr lang="hu-HU" dirty="0"/>
              <a:t>. </a:t>
            </a:r>
            <a:r>
              <a:rPr lang="en-US" dirty="0"/>
              <a:t>MVC-ben a </a:t>
            </a:r>
            <a:r>
              <a:rPr lang="en-US" dirty="0" err="1"/>
              <a:t>komponensek</a:t>
            </a:r>
            <a:r>
              <a:rPr lang="en-US" dirty="0"/>
              <a:t> </a:t>
            </a:r>
            <a:r>
              <a:rPr lang="en-US" b="0" dirty="0" err="1"/>
              <a:t>nem</a:t>
            </a:r>
            <a:r>
              <a:rPr lang="en-US" b="0" dirty="0"/>
              <a:t> </a:t>
            </a:r>
            <a:r>
              <a:rPr lang="en-US" b="0" dirty="0" err="1"/>
              <a:t>beszélgetnek</a:t>
            </a:r>
            <a:r>
              <a:rPr lang="en-US" b="0" dirty="0"/>
              <a:t> </a:t>
            </a:r>
            <a:r>
              <a:rPr lang="en-US" b="0" dirty="0" err="1"/>
              <a:t>össze-vissza</a:t>
            </a:r>
            <a:r>
              <a:rPr lang="hu-HU" b="0" dirty="0"/>
              <a:t>, jól meghatározott kapcsolatrendszer van köztük.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u-HU" dirty="0"/>
          </a:p>
          <a:p>
            <a:r>
              <a:rPr lang="en-US" dirty="0"/>
              <a:t>A </a:t>
            </a:r>
            <a:r>
              <a:rPr lang="en-US" dirty="0" err="1"/>
              <a:t>felhasználó</a:t>
            </a:r>
            <a:r>
              <a:rPr lang="en-US" dirty="0"/>
              <a:t> </a:t>
            </a:r>
            <a:r>
              <a:rPr lang="en-US" dirty="0" err="1"/>
              <a:t>megnyom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gombot</a:t>
            </a:r>
            <a:r>
              <a:rPr lang="en-US" dirty="0"/>
              <a:t> a </a:t>
            </a:r>
            <a:r>
              <a:rPr lang="en-US" dirty="0" err="1"/>
              <a:t>böngészőben</a:t>
            </a:r>
            <a:r>
              <a:rPr lang="en-US" dirty="0"/>
              <a:t>. Ez </a:t>
            </a:r>
            <a:r>
              <a:rPr lang="en-US" dirty="0" err="1"/>
              <a:t>egy</a:t>
            </a:r>
            <a:r>
              <a:rPr lang="en-US" dirty="0"/>
              <a:t> HTTP </a:t>
            </a:r>
            <a:r>
              <a:rPr lang="en-US" dirty="0" err="1"/>
              <a:t>kérést</a:t>
            </a:r>
            <a:r>
              <a:rPr lang="en-US" dirty="0"/>
              <a:t> </a:t>
            </a:r>
            <a:r>
              <a:rPr lang="en-US" dirty="0" err="1"/>
              <a:t>indít</a:t>
            </a:r>
            <a:r>
              <a:rPr lang="en-US" dirty="0"/>
              <a:t> el.</a:t>
            </a:r>
            <a:r>
              <a:rPr lang="hu-HU" dirty="0"/>
              <a:t> Ekkor a következő folyamat zajlik le:</a:t>
            </a:r>
          </a:p>
          <a:p>
            <a:endParaRPr lang="hu-HU" dirty="0"/>
          </a:p>
          <a:p>
            <a:r>
              <a:rPr lang="hu-HU" dirty="0"/>
              <a:t>- </a:t>
            </a:r>
            <a:r>
              <a:rPr lang="en-US" dirty="0"/>
              <a:t>A </a:t>
            </a:r>
            <a:r>
              <a:rPr lang="en-US" dirty="0" err="1"/>
              <a:t>kérés</a:t>
            </a:r>
            <a:r>
              <a:rPr lang="en-US" dirty="0"/>
              <a:t> </a:t>
            </a:r>
            <a:r>
              <a:rPr lang="en-US" dirty="0" err="1"/>
              <a:t>eléri</a:t>
            </a:r>
            <a:r>
              <a:rPr lang="en-US" dirty="0"/>
              <a:t> a </a:t>
            </a:r>
            <a:r>
              <a:rPr lang="en-US" dirty="0" err="1"/>
              <a:t>controllert</a:t>
            </a:r>
            <a:endParaRPr lang="en-US" dirty="0"/>
          </a:p>
          <a:p>
            <a:r>
              <a:rPr lang="hu-HU" dirty="0"/>
              <a:t>- </a:t>
            </a:r>
            <a:r>
              <a:rPr lang="en-US" dirty="0"/>
              <a:t>A </a:t>
            </a:r>
            <a:r>
              <a:rPr lang="en-US" b="1" dirty="0"/>
              <a:t>controller</a:t>
            </a:r>
            <a:r>
              <a:rPr lang="en-US" dirty="0"/>
              <a:t> </a:t>
            </a:r>
            <a:r>
              <a:rPr lang="en-US" dirty="0" err="1"/>
              <a:t>ellenőrzi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jogosultság</a:t>
            </a:r>
            <a:endParaRPr lang="en-US" dirty="0"/>
          </a:p>
          <a:p>
            <a:pPr lvl="1"/>
            <a:r>
              <a:rPr lang="en-US" dirty="0" err="1"/>
              <a:t>Paraméterek</a:t>
            </a:r>
            <a:endParaRPr lang="en-US" dirty="0"/>
          </a:p>
          <a:p>
            <a:r>
              <a:rPr lang="hu-HU" dirty="0"/>
              <a:t>- Majd kiválasztja és meghívja a megfelelő modell-t</a:t>
            </a:r>
          </a:p>
          <a:p>
            <a:r>
              <a:rPr lang="hu-HU" dirty="0"/>
              <a:t>- </a:t>
            </a:r>
            <a:r>
              <a:rPr lang="en-US" dirty="0"/>
              <a:t>A </a:t>
            </a:r>
            <a:r>
              <a:rPr lang="en-US" b="1" dirty="0"/>
              <a:t>model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adatbázist</a:t>
            </a:r>
            <a:r>
              <a:rPr lang="en-US" dirty="0"/>
              <a:t> </a:t>
            </a:r>
            <a:r>
              <a:rPr lang="en-US" dirty="0" err="1"/>
              <a:t>kérdez</a:t>
            </a:r>
            <a:r>
              <a:rPr lang="hu-HU" dirty="0"/>
              <a:t> és/vagy módosít</a:t>
            </a:r>
            <a:endParaRPr lang="en-US" dirty="0"/>
          </a:p>
          <a:p>
            <a:pPr lvl="1"/>
            <a:r>
              <a:rPr lang="en-US" dirty="0" err="1"/>
              <a:t>üzleti</a:t>
            </a:r>
            <a:r>
              <a:rPr lang="en-US" dirty="0"/>
              <a:t> </a:t>
            </a:r>
            <a:r>
              <a:rPr lang="en-US" dirty="0" err="1"/>
              <a:t>logikát</a:t>
            </a:r>
            <a:r>
              <a:rPr lang="en-US" dirty="0"/>
              <a:t> </a:t>
            </a:r>
            <a:r>
              <a:rPr lang="en-US" dirty="0" err="1"/>
              <a:t>futtat</a:t>
            </a:r>
            <a:endParaRPr lang="hu-HU" dirty="0"/>
          </a:p>
          <a:p>
            <a:pPr lvl="1"/>
            <a:r>
              <a:rPr lang="hu-HU" dirty="0"/>
              <a:t>Visszatérhet válaszadattal (nem kötelező)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A </a:t>
            </a:r>
            <a:r>
              <a:rPr lang="en-US" b="1" dirty="0"/>
              <a:t>view</a:t>
            </a:r>
            <a:r>
              <a:rPr lang="en-US" dirty="0"/>
              <a:t>:</a:t>
            </a:r>
          </a:p>
          <a:p>
            <a:pPr lvl="1"/>
            <a:r>
              <a:rPr lang="hu-HU" dirty="0"/>
              <a:t>Fogadja a válasz adatokat és egyéb paramétereket a kontrollertől</a:t>
            </a:r>
          </a:p>
          <a:p>
            <a:pPr lvl="1"/>
            <a:r>
              <a:rPr lang="en-US" dirty="0"/>
              <a:t>JSON </a:t>
            </a:r>
            <a:r>
              <a:rPr lang="en-US" dirty="0" err="1"/>
              <a:t>vagy</a:t>
            </a:r>
            <a:r>
              <a:rPr lang="en-US" dirty="0"/>
              <a:t> HTML </a:t>
            </a:r>
            <a:r>
              <a:rPr lang="en-US" dirty="0" err="1"/>
              <a:t>választ</a:t>
            </a:r>
            <a:r>
              <a:rPr lang="en-US" dirty="0"/>
              <a:t> </a:t>
            </a:r>
            <a:r>
              <a:rPr lang="en-US" dirty="0" err="1"/>
              <a:t>készít</a:t>
            </a:r>
            <a:r>
              <a:rPr lang="hu-HU" dirty="0"/>
              <a:t> és küld a kliens felé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4996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Előnyök</a:t>
            </a:r>
            <a:r>
              <a:rPr lang="en-US" dirty="0"/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A jó </a:t>
            </a:r>
            <a:r>
              <a:rPr lang="hu-HU" dirty="0" err="1"/>
              <a:t>struktúráltság</a:t>
            </a:r>
            <a:r>
              <a:rPr lang="hu-HU" dirty="0"/>
              <a:t> és a </a:t>
            </a:r>
            <a:r>
              <a:rPr lang="en-US" dirty="0" err="1"/>
              <a:t>világos</a:t>
            </a:r>
            <a:r>
              <a:rPr lang="en-US" dirty="0"/>
              <a:t> </a:t>
            </a:r>
            <a:r>
              <a:rPr lang="en-US" dirty="0" err="1"/>
              <a:t>felelősségek</a:t>
            </a:r>
            <a:r>
              <a:rPr lang="hu-HU" dirty="0"/>
              <a:t> miatt </a:t>
            </a:r>
            <a:r>
              <a:rPr lang="en-US" dirty="0" err="1"/>
              <a:t>könnyebb</a:t>
            </a:r>
            <a:r>
              <a:rPr lang="en-US" dirty="0"/>
              <a:t> unit </a:t>
            </a:r>
            <a:r>
              <a:rPr lang="en-US" dirty="0" err="1"/>
              <a:t>tesztelni</a:t>
            </a:r>
            <a:r>
              <a:rPr lang="hu-HU" dirty="0"/>
              <a:t> és </a:t>
            </a:r>
            <a:r>
              <a:rPr lang="en-US" dirty="0" err="1"/>
              <a:t>könnyebb</a:t>
            </a:r>
            <a:r>
              <a:rPr lang="en-US" dirty="0"/>
              <a:t> </a:t>
            </a:r>
            <a:r>
              <a:rPr lang="hu-HU" dirty="0"/>
              <a:t>karbantartani és </a:t>
            </a:r>
            <a:r>
              <a:rPr lang="en-US" dirty="0" err="1"/>
              <a:t>refaktorálni</a:t>
            </a:r>
            <a:endParaRPr lang="en-US" dirty="0"/>
          </a:p>
          <a:p>
            <a:endParaRPr lang="hu-HU" dirty="0"/>
          </a:p>
          <a:p>
            <a:r>
              <a:rPr lang="en-US" b="1" dirty="0" err="1"/>
              <a:t>Korlátok</a:t>
            </a:r>
            <a:r>
              <a:rPr lang="en-US" dirty="0"/>
              <a:t>:</a:t>
            </a:r>
            <a:endParaRPr lang="hu-HU" dirty="0"/>
          </a:p>
          <a:p>
            <a:r>
              <a:rPr lang="en-US" dirty="0"/>
              <a:t>frontend </a:t>
            </a:r>
            <a:r>
              <a:rPr lang="en-US" dirty="0" err="1"/>
              <a:t>gyakran</a:t>
            </a:r>
            <a:r>
              <a:rPr lang="en-US" dirty="0"/>
              <a:t> </a:t>
            </a:r>
            <a:r>
              <a:rPr lang="en-US" dirty="0" err="1"/>
              <a:t>külön</a:t>
            </a:r>
            <a:r>
              <a:rPr lang="en-US" dirty="0"/>
              <a:t> </a:t>
            </a:r>
            <a:r>
              <a:rPr lang="en-US" dirty="0" err="1"/>
              <a:t>rendszer</a:t>
            </a:r>
            <a:r>
              <a:rPr lang="hu-HU" dirty="0"/>
              <a:t>, így a </a:t>
            </a:r>
            <a:r>
              <a:rPr lang="en-US" dirty="0"/>
              <a:t>view </a:t>
            </a:r>
            <a:r>
              <a:rPr lang="en-US" dirty="0" err="1"/>
              <a:t>már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a </a:t>
            </a:r>
            <a:r>
              <a:rPr lang="en-US" dirty="0" err="1"/>
              <a:t>szerveren</a:t>
            </a:r>
            <a:r>
              <a:rPr lang="en-US" dirty="0"/>
              <a:t> van</a:t>
            </a:r>
            <a:r>
              <a:rPr lang="hu-HU" dirty="0"/>
              <a:t>.</a:t>
            </a:r>
          </a:p>
          <a:p>
            <a:r>
              <a:rPr lang="hu-HU" dirty="0"/>
              <a:t>Többféle kliens: mobil, </a:t>
            </a:r>
            <a:r>
              <a:rPr lang="hu-HU" dirty="0" err="1"/>
              <a:t>desktop</a:t>
            </a:r>
            <a:r>
              <a:rPr lang="hu-HU" dirty="0"/>
              <a:t>, böngésző, mind saját kliens megjelenítési logikával.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Nagy </a:t>
            </a:r>
            <a:r>
              <a:rPr lang="en-US" dirty="0" err="1"/>
              <a:t>rendszernél</a:t>
            </a:r>
            <a:r>
              <a:rPr lang="en-US" dirty="0"/>
              <a:t> </a:t>
            </a:r>
            <a:r>
              <a:rPr lang="en-US" dirty="0" err="1"/>
              <a:t>túl</a:t>
            </a:r>
            <a:r>
              <a:rPr lang="en-US" dirty="0"/>
              <a:t> </a:t>
            </a:r>
            <a:r>
              <a:rPr lang="en-US" dirty="0" err="1"/>
              <a:t>sok</a:t>
            </a:r>
            <a:r>
              <a:rPr lang="en-US" dirty="0"/>
              <a:t> controller</a:t>
            </a:r>
            <a:r>
              <a:rPr lang="hu-HU" dirty="0"/>
              <a:t> jelenhet meg. (A</a:t>
            </a:r>
            <a:r>
              <a:rPr lang="en-US" dirty="0"/>
              <a:t>z MVC </a:t>
            </a:r>
            <a:r>
              <a:rPr lang="en-US" dirty="0" err="1"/>
              <a:t>önmagában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ad </a:t>
            </a:r>
            <a:r>
              <a:rPr lang="en-US" dirty="0" err="1"/>
              <a:t>iránymutatást</a:t>
            </a:r>
            <a:r>
              <a:rPr lang="en-US" dirty="0"/>
              <a:t> a controller-ek </a:t>
            </a:r>
            <a:r>
              <a:rPr lang="en-US" dirty="0" err="1"/>
              <a:t>megfelelő</a:t>
            </a:r>
            <a:r>
              <a:rPr lang="en-US" dirty="0"/>
              <a:t> </a:t>
            </a:r>
            <a:r>
              <a:rPr lang="en-US" dirty="0" err="1"/>
              <a:t>méretére</a:t>
            </a:r>
            <a:r>
              <a:rPr lang="en-US" dirty="0"/>
              <a:t> és </a:t>
            </a:r>
            <a:r>
              <a:rPr lang="en-US" dirty="0" err="1"/>
              <a:t>felelősségi</a:t>
            </a:r>
            <a:r>
              <a:rPr lang="en-US" dirty="0"/>
              <a:t> </a:t>
            </a:r>
            <a:r>
              <a:rPr lang="en-US" dirty="0" err="1"/>
              <a:t>határaira</a:t>
            </a:r>
            <a:r>
              <a:rPr lang="en-US" dirty="0"/>
              <a:t>.</a:t>
            </a:r>
            <a:r>
              <a:rPr lang="hu-HU" dirty="0"/>
              <a:t>)</a:t>
            </a:r>
            <a:endParaRPr lang="en-US" dirty="0"/>
          </a:p>
          <a:p>
            <a:endParaRPr lang="hu-HU" dirty="0"/>
          </a:p>
          <a:p>
            <a:r>
              <a:rPr lang="en-US" dirty="0" err="1"/>
              <a:t>Ezekre</a:t>
            </a:r>
            <a:r>
              <a:rPr lang="en-US" dirty="0"/>
              <a:t> a </a:t>
            </a:r>
            <a:r>
              <a:rPr lang="en-US" dirty="0" err="1"/>
              <a:t>problémákra</a:t>
            </a:r>
            <a:r>
              <a:rPr lang="en-US" dirty="0"/>
              <a:t> ad </a:t>
            </a:r>
            <a:r>
              <a:rPr lang="en-US" dirty="0" err="1"/>
              <a:t>választ</a:t>
            </a:r>
            <a:r>
              <a:rPr lang="en-US" dirty="0"/>
              <a:t> a REST </a:t>
            </a:r>
            <a:r>
              <a:rPr lang="en-US" dirty="0" err="1"/>
              <a:t>architektúra</a:t>
            </a:r>
            <a:r>
              <a:rPr lang="hu-HU" dirty="0"/>
              <a:t>. (Kivéve a kontrollerek megnövekedése, az ott is jelen van, bár helyes tervezéssel kordában tartható.)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3709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REST nem egy protokoll</a:t>
            </a:r>
          </a:p>
          <a:p>
            <a:r>
              <a:rPr lang="hu-HU" dirty="0"/>
              <a:t>REST nem egy szabvány</a:t>
            </a:r>
          </a:p>
          <a:p>
            <a:r>
              <a:rPr lang="hu-HU" b="1" dirty="0"/>
              <a:t>REST egy elvgyűjtemény</a:t>
            </a:r>
          </a:p>
          <a:p>
            <a:endParaRPr lang="hu-HU" dirty="0"/>
          </a:p>
          <a:p>
            <a:r>
              <a:rPr lang="hu-HU" dirty="0"/>
              <a:t>„</a:t>
            </a:r>
            <a:r>
              <a:rPr lang="hu-HU" dirty="0" err="1"/>
              <a:t>Resource</a:t>
            </a:r>
            <a:r>
              <a:rPr lang="hu-HU" dirty="0"/>
              <a:t>” = erőforrás, ami lehet például:</a:t>
            </a:r>
          </a:p>
          <a:p>
            <a:pPr lvl="1"/>
            <a:r>
              <a:rPr lang="hu-HU" dirty="0"/>
              <a:t>felhasználó</a:t>
            </a:r>
          </a:p>
          <a:p>
            <a:pPr lvl="1"/>
            <a:r>
              <a:rPr lang="hu-HU" dirty="0"/>
              <a:t>rendelés</a:t>
            </a:r>
          </a:p>
          <a:p>
            <a:pPr lvl="1"/>
            <a:r>
              <a:rPr lang="hu-HU" dirty="0"/>
              <a:t>termék</a:t>
            </a:r>
          </a:p>
          <a:p>
            <a:endParaRPr lang="hu-HU" dirty="0"/>
          </a:p>
          <a:p>
            <a:r>
              <a:rPr lang="hu-HU" dirty="0"/>
              <a:t>Ezeknek van:</a:t>
            </a:r>
          </a:p>
          <a:p>
            <a:pPr lvl="1"/>
            <a:r>
              <a:rPr lang="hu-HU" dirty="0"/>
              <a:t>azonosítója (URI)</a:t>
            </a:r>
          </a:p>
          <a:p>
            <a:pPr lvl="1"/>
            <a:r>
              <a:rPr lang="hu-HU" dirty="0"/>
              <a:t>reprezentációja (JSON, XML)</a:t>
            </a:r>
          </a:p>
          <a:p>
            <a:endParaRPr lang="hu-HU" dirty="0"/>
          </a:p>
          <a:p>
            <a:r>
              <a:rPr lang="hu-HU" dirty="0"/>
              <a:t>REST-ben nem műveletekhez, hanem </a:t>
            </a:r>
            <a:r>
              <a:rPr lang="hu-HU" b="1" dirty="0"/>
              <a:t>erőforrásokhoz</a:t>
            </a:r>
            <a:r>
              <a:rPr lang="hu-HU" dirty="0"/>
              <a:t> beszélünk.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4152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Client–Server</a:t>
            </a:r>
            <a:endParaRPr lang="en-US" dirty="0"/>
          </a:p>
          <a:p>
            <a:r>
              <a:rPr lang="en-US" dirty="0"/>
              <a:t>frontend és backend </a:t>
            </a:r>
            <a:r>
              <a:rPr lang="en-US" dirty="0" err="1"/>
              <a:t>külön</a:t>
            </a:r>
            <a:r>
              <a:rPr lang="en-US" dirty="0"/>
              <a:t> </a:t>
            </a:r>
            <a:r>
              <a:rPr lang="en-US" dirty="0" err="1"/>
              <a:t>fejlődik</a:t>
            </a:r>
            <a:r>
              <a:rPr lang="hu-HU" dirty="0"/>
              <a:t>. </a:t>
            </a:r>
            <a:r>
              <a:rPr lang="en-US" dirty="0"/>
              <a:t>A frontend és a backend </a:t>
            </a:r>
            <a:r>
              <a:rPr lang="en-US" b="1" dirty="0" err="1"/>
              <a:t>függetlenül</a:t>
            </a:r>
            <a:r>
              <a:rPr lang="en-US" b="1" dirty="0"/>
              <a:t> </a:t>
            </a:r>
            <a:r>
              <a:rPr lang="en-US" b="1" dirty="0" err="1"/>
              <a:t>fejleszthető</a:t>
            </a:r>
            <a:r>
              <a:rPr lang="hu-HU" b="1" dirty="0"/>
              <a:t>.</a:t>
            </a:r>
            <a:endParaRPr lang="hu-HU" b="0" dirty="0"/>
          </a:p>
          <a:p>
            <a:r>
              <a:rPr lang="hu-HU" b="0" dirty="0"/>
              <a:t>Serveren van az üzleti logika, adatkezelés, a kliens felelős a megjelenítésért.</a:t>
            </a:r>
            <a:endParaRPr lang="en-US" dirty="0"/>
          </a:p>
          <a:p>
            <a:r>
              <a:rPr lang="en-US" b="1" dirty="0"/>
              <a:t>Stateless</a:t>
            </a:r>
            <a:endParaRPr lang="en-US" dirty="0"/>
          </a:p>
          <a:p>
            <a:r>
              <a:rPr lang="en-US" dirty="0" err="1"/>
              <a:t>minden</a:t>
            </a:r>
            <a:r>
              <a:rPr lang="en-US" dirty="0"/>
              <a:t> </a:t>
            </a:r>
            <a:r>
              <a:rPr lang="en-US" dirty="0" err="1"/>
              <a:t>kérés</a:t>
            </a:r>
            <a:r>
              <a:rPr lang="en-US" dirty="0"/>
              <a:t> </a:t>
            </a:r>
            <a:r>
              <a:rPr lang="en-US" dirty="0" err="1"/>
              <a:t>önálló</a:t>
            </a:r>
            <a:r>
              <a:rPr lang="hu-HU" dirty="0"/>
              <a:t>, </a:t>
            </a:r>
            <a:r>
              <a:rPr lang="en-US" dirty="0" err="1"/>
              <a:t>nincs</a:t>
            </a:r>
            <a:r>
              <a:rPr lang="en-US" dirty="0"/>
              <a:t> „session </a:t>
            </a:r>
            <a:r>
              <a:rPr lang="en-US" dirty="0" err="1"/>
              <a:t>memória</a:t>
            </a:r>
            <a:r>
              <a:rPr lang="en-US" dirty="0"/>
              <a:t>” a </a:t>
            </a:r>
            <a:r>
              <a:rPr lang="en-US" dirty="0" err="1"/>
              <a:t>szerveren</a:t>
            </a:r>
            <a:r>
              <a:rPr lang="hu-HU" dirty="0"/>
              <a:t>. </a:t>
            </a:r>
            <a:r>
              <a:rPr lang="nb-NO" dirty="0"/>
              <a:t>A szerver </a:t>
            </a:r>
            <a:r>
              <a:rPr lang="nb-NO" b="1" dirty="0"/>
              <a:t>nem tart meg kliensállapotot</a:t>
            </a:r>
            <a:r>
              <a:rPr lang="hu-HU" b="1" dirty="0"/>
              <a:t>.</a:t>
            </a:r>
          </a:p>
          <a:p>
            <a:r>
              <a:rPr lang="hu-HU" b="0" dirty="0"/>
              <a:t>Miért jó? Könnyen skálázható, bármelyik szerver példány kiszolgálhatja a kérést.</a:t>
            </a:r>
          </a:p>
          <a:p>
            <a:r>
              <a:rPr lang="en-US" dirty="0"/>
              <a:t>A stateless </a:t>
            </a:r>
            <a:r>
              <a:rPr lang="en-US" dirty="0" err="1"/>
              <a:t>működés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, </a:t>
            </a:r>
            <a:r>
              <a:rPr lang="en-US" dirty="0" err="1"/>
              <a:t>ami</a:t>
            </a:r>
            <a:r>
              <a:rPr lang="en-US" dirty="0"/>
              <a:t> </a:t>
            </a:r>
            <a:r>
              <a:rPr lang="en-US" dirty="0" err="1"/>
              <a:t>igazán</a:t>
            </a:r>
            <a:r>
              <a:rPr lang="en-US" dirty="0"/>
              <a:t> </a:t>
            </a:r>
            <a:r>
              <a:rPr lang="en-US" dirty="0" err="1"/>
              <a:t>skálázhatóvá</a:t>
            </a:r>
            <a:r>
              <a:rPr lang="en-US" dirty="0"/>
              <a:t> </a:t>
            </a:r>
            <a:r>
              <a:rPr lang="en-US" dirty="0" err="1"/>
              <a:t>teszi</a:t>
            </a:r>
            <a:r>
              <a:rPr lang="en-US" dirty="0"/>
              <a:t> a REST-et.</a:t>
            </a:r>
            <a:endParaRPr lang="hu-HU" dirty="0"/>
          </a:p>
          <a:p>
            <a:r>
              <a:rPr lang="en-US" b="1" dirty="0"/>
              <a:t>Uniform Interface</a:t>
            </a:r>
            <a:endParaRPr lang="hu-HU" b="1" dirty="0"/>
          </a:p>
          <a:p>
            <a:r>
              <a:rPr lang="en-US" dirty="0"/>
              <a:t>Minden </a:t>
            </a:r>
            <a:r>
              <a:rPr lang="en-US" dirty="0" err="1"/>
              <a:t>erőforrás</a:t>
            </a:r>
            <a:r>
              <a:rPr lang="hu-HU" dirty="0"/>
              <a:t> </a:t>
            </a:r>
            <a:r>
              <a:rPr lang="en-US" dirty="0" err="1"/>
              <a:t>ugyanúgy</a:t>
            </a:r>
            <a:r>
              <a:rPr lang="en-US" dirty="0"/>
              <a:t> </a:t>
            </a:r>
            <a:r>
              <a:rPr lang="en-US" dirty="0" err="1"/>
              <a:t>érhető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hu-HU" dirty="0"/>
              <a:t>, </a:t>
            </a:r>
            <a:r>
              <a:rPr lang="en-US" dirty="0" err="1"/>
              <a:t>ugyanazokkal</a:t>
            </a:r>
            <a:r>
              <a:rPr lang="en-US" dirty="0"/>
              <a:t> a HTTP </a:t>
            </a:r>
            <a:r>
              <a:rPr lang="en-US" dirty="0" err="1"/>
              <a:t>szabályokkal</a:t>
            </a:r>
            <a:r>
              <a:rPr lang="hu-HU" dirty="0"/>
              <a:t>. </a:t>
            </a:r>
            <a:r>
              <a:rPr lang="en-US" dirty="0" err="1"/>
              <a:t>Könnyen</a:t>
            </a:r>
            <a:r>
              <a:rPr lang="en-US" dirty="0"/>
              <a:t> </a:t>
            </a:r>
            <a:r>
              <a:rPr lang="en-US" dirty="0" err="1"/>
              <a:t>dokumentálható</a:t>
            </a:r>
            <a:r>
              <a:rPr lang="hu-HU" dirty="0"/>
              <a:t>.</a:t>
            </a:r>
            <a:endParaRPr lang="en-US" b="0" dirty="0"/>
          </a:p>
          <a:p>
            <a:r>
              <a:rPr lang="en-US" b="1" dirty="0"/>
              <a:t>Cacheable</a:t>
            </a:r>
            <a:endParaRPr lang="en-US" dirty="0"/>
          </a:p>
          <a:p>
            <a:r>
              <a:rPr lang="en-US" dirty="0"/>
              <a:t>HTTP cache </a:t>
            </a:r>
            <a:r>
              <a:rPr lang="en-US" dirty="0" err="1"/>
              <a:t>használható</a:t>
            </a:r>
            <a:r>
              <a:rPr lang="hu-HU" dirty="0"/>
              <a:t>. Miért jó? </a:t>
            </a:r>
            <a:r>
              <a:rPr lang="en-US" dirty="0" err="1"/>
              <a:t>Kevesebb</a:t>
            </a:r>
            <a:r>
              <a:rPr lang="en-US" dirty="0"/>
              <a:t> </a:t>
            </a:r>
            <a:r>
              <a:rPr lang="en-US" dirty="0" err="1"/>
              <a:t>szerverterhelés</a:t>
            </a:r>
            <a:r>
              <a:rPr lang="hu-HU" dirty="0"/>
              <a:t>. </a:t>
            </a:r>
            <a:r>
              <a:rPr lang="en-US" dirty="0" err="1"/>
              <a:t>Gyorsabb</a:t>
            </a:r>
            <a:r>
              <a:rPr lang="en-US" dirty="0"/>
              <a:t> </a:t>
            </a:r>
            <a:r>
              <a:rPr lang="en-US" dirty="0" err="1"/>
              <a:t>válaszidő</a:t>
            </a:r>
            <a:r>
              <a:rPr lang="hu-HU" dirty="0"/>
              <a:t>.</a:t>
            </a:r>
            <a:endParaRPr lang="en-US" dirty="0"/>
          </a:p>
          <a:p>
            <a:endParaRPr lang="hu-H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 REST </a:t>
            </a:r>
            <a:r>
              <a:rPr lang="en-US" dirty="0" err="1"/>
              <a:t>alapelvek</a:t>
            </a:r>
            <a:r>
              <a:rPr lang="en-US" dirty="0"/>
              <a:t> </a:t>
            </a:r>
            <a:r>
              <a:rPr lang="en-US" dirty="0" err="1"/>
              <a:t>célja</a:t>
            </a:r>
            <a:r>
              <a:rPr lang="hu-HU" dirty="0"/>
              <a:t>, hogy a webes API egyszerű legyen, jól skálázható és hosszú távon karbantartható.</a:t>
            </a:r>
            <a:endParaRPr lang="hu-HU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6743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 </a:t>
            </a:r>
            <a:r>
              <a:rPr lang="en-US" b="0" dirty="0" err="1"/>
              <a:t>kihasználja</a:t>
            </a:r>
            <a:r>
              <a:rPr lang="en-US" dirty="0"/>
              <a:t> a HTTP-t</a:t>
            </a:r>
            <a:r>
              <a:rPr lang="hu-HU" dirty="0"/>
              <a:t>, n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újra</a:t>
            </a:r>
            <a:r>
              <a:rPr lang="en-US" dirty="0"/>
              <a:t> </a:t>
            </a:r>
            <a:r>
              <a:rPr lang="en-US" dirty="0" err="1"/>
              <a:t>feltalálja</a:t>
            </a:r>
            <a:r>
              <a:rPr lang="hu-HU" dirty="0"/>
              <a:t>. A REST tehát nem találja fel újra a kommunikációt, </a:t>
            </a:r>
            <a:r>
              <a:rPr lang="en-US" dirty="0" err="1"/>
              <a:t>hanem</a:t>
            </a:r>
            <a:r>
              <a:rPr lang="en-US" dirty="0"/>
              <a:t> </a:t>
            </a:r>
            <a:r>
              <a:rPr lang="en-US" b="0" dirty="0"/>
              <a:t>a HTTP </a:t>
            </a:r>
            <a:r>
              <a:rPr lang="en-US" b="0" dirty="0" err="1"/>
              <a:t>meglévő</a:t>
            </a:r>
            <a:r>
              <a:rPr lang="en-US" b="0" dirty="0"/>
              <a:t> </a:t>
            </a:r>
            <a:r>
              <a:rPr lang="en-US" b="0" dirty="0" err="1"/>
              <a:t>eszközeit</a:t>
            </a:r>
            <a:r>
              <a:rPr lang="en-US" b="0" dirty="0"/>
              <a:t> </a:t>
            </a:r>
            <a:r>
              <a:rPr lang="en-US" b="0" dirty="0" err="1"/>
              <a:t>használja</a:t>
            </a:r>
            <a:r>
              <a:rPr lang="en-US" b="0" dirty="0"/>
              <a:t> </a:t>
            </a:r>
            <a:r>
              <a:rPr lang="en-US" b="0" dirty="0" err="1"/>
              <a:t>helyesen</a:t>
            </a:r>
            <a:r>
              <a:rPr lang="hu-HU" b="0" dirty="0"/>
              <a:t>.</a:t>
            </a:r>
          </a:p>
          <a:p>
            <a:endParaRPr lang="hu-HU" dirty="0"/>
          </a:p>
          <a:p>
            <a:r>
              <a:rPr lang="hu-HU" dirty="0"/>
              <a:t>A HTTP metódusok </a:t>
            </a:r>
            <a:r>
              <a:rPr lang="hu-HU" b="1" dirty="0"/>
              <a:t>műveleteket</a:t>
            </a:r>
            <a:r>
              <a:rPr lang="hu-HU" dirty="0"/>
              <a:t> jelentenek egy erőforráson.</a:t>
            </a:r>
            <a:endParaRPr lang="en-US" dirty="0"/>
          </a:p>
          <a:p>
            <a:r>
              <a:rPr lang="en-US" dirty="0" err="1"/>
              <a:t>Példák</a:t>
            </a:r>
            <a:r>
              <a:rPr lang="en-US" dirty="0"/>
              <a:t>:</a:t>
            </a:r>
          </a:p>
          <a:p>
            <a:r>
              <a:rPr lang="en-US" dirty="0"/>
              <a:t>GET → </a:t>
            </a:r>
            <a:r>
              <a:rPr lang="en-US" dirty="0" err="1"/>
              <a:t>lekérdezés</a:t>
            </a:r>
            <a:endParaRPr lang="en-US" dirty="0"/>
          </a:p>
          <a:p>
            <a:r>
              <a:rPr lang="en-US" dirty="0"/>
              <a:t>POST → </a:t>
            </a:r>
            <a:r>
              <a:rPr lang="en-US" dirty="0" err="1"/>
              <a:t>létrehozás</a:t>
            </a:r>
            <a:endParaRPr lang="en-US" dirty="0"/>
          </a:p>
          <a:p>
            <a:r>
              <a:rPr lang="en-US" dirty="0"/>
              <a:t>PUT/PATCH → </a:t>
            </a:r>
            <a:r>
              <a:rPr lang="en-US" dirty="0" err="1"/>
              <a:t>módosítás</a:t>
            </a:r>
            <a:endParaRPr lang="en-US" dirty="0"/>
          </a:p>
          <a:p>
            <a:r>
              <a:rPr lang="en-US" dirty="0"/>
              <a:t>DELETE → </a:t>
            </a:r>
            <a:r>
              <a:rPr lang="en-US" dirty="0" err="1"/>
              <a:t>törlés</a:t>
            </a:r>
            <a:endParaRPr lang="en-US" dirty="0"/>
          </a:p>
          <a:p>
            <a:endParaRPr lang="hu-HU" dirty="0"/>
          </a:p>
          <a:p>
            <a:r>
              <a:rPr lang="en-US" dirty="0"/>
              <a:t>A HTTP </a:t>
            </a:r>
            <a:r>
              <a:rPr lang="en-US" dirty="0" err="1"/>
              <a:t>státuszkódok</a:t>
            </a:r>
            <a:r>
              <a:rPr lang="en-US" dirty="0"/>
              <a:t> </a:t>
            </a:r>
            <a:r>
              <a:rPr lang="en-US" dirty="0" err="1"/>
              <a:t>azt</a:t>
            </a:r>
            <a:r>
              <a:rPr lang="en-US" dirty="0"/>
              <a:t> </a:t>
            </a:r>
            <a:r>
              <a:rPr lang="en-US" dirty="0" err="1"/>
              <a:t>mondják</a:t>
            </a:r>
            <a:r>
              <a:rPr lang="en-US" dirty="0"/>
              <a:t> meg:</a:t>
            </a:r>
            <a:r>
              <a:rPr lang="hu-HU" dirty="0"/>
              <a:t> </a:t>
            </a:r>
            <a:r>
              <a:rPr lang="en-US" dirty="0"/>
              <a:t>„Mi </a:t>
            </a:r>
            <a:r>
              <a:rPr lang="en-US" dirty="0" err="1"/>
              <a:t>történt</a:t>
            </a:r>
            <a:r>
              <a:rPr lang="en-US" dirty="0"/>
              <a:t> a </a:t>
            </a:r>
            <a:r>
              <a:rPr lang="en-US" dirty="0" err="1"/>
              <a:t>kérés</a:t>
            </a:r>
            <a:r>
              <a:rPr lang="en-US" dirty="0"/>
              <a:t> </a:t>
            </a:r>
            <a:r>
              <a:rPr lang="en-US" dirty="0" err="1"/>
              <a:t>feldolgozása</a:t>
            </a:r>
            <a:r>
              <a:rPr lang="en-US" dirty="0"/>
              <a:t> </a:t>
            </a:r>
            <a:r>
              <a:rPr lang="en-US" dirty="0" err="1"/>
              <a:t>során</a:t>
            </a:r>
            <a:r>
              <a:rPr lang="en-US" dirty="0"/>
              <a:t>?”</a:t>
            </a:r>
            <a:r>
              <a:rPr lang="hu-HU" dirty="0"/>
              <a:t> </a:t>
            </a:r>
            <a:r>
              <a:rPr lang="en-US" dirty="0"/>
              <a:t>REST-ben </a:t>
            </a:r>
            <a:r>
              <a:rPr lang="en-US" dirty="0" err="1"/>
              <a:t>ez</a:t>
            </a:r>
            <a:r>
              <a:rPr lang="en-US" dirty="0"/>
              <a:t> </a:t>
            </a:r>
            <a:r>
              <a:rPr lang="en-US" b="0" dirty="0" err="1"/>
              <a:t>nagyon</a:t>
            </a:r>
            <a:r>
              <a:rPr lang="en-US" b="0" dirty="0"/>
              <a:t> </a:t>
            </a:r>
            <a:r>
              <a:rPr lang="en-US" b="0" dirty="0" err="1"/>
              <a:t>fontos</a:t>
            </a:r>
            <a:r>
              <a:rPr lang="en-US" b="0" dirty="0"/>
              <a:t> </a:t>
            </a:r>
            <a:r>
              <a:rPr lang="hu-HU" b="0" dirty="0"/>
              <a:t>állapot </a:t>
            </a:r>
            <a:r>
              <a:rPr lang="en-US" b="0" dirty="0" err="1"/>
              <a:t>visszajelzés</a:t>
            </a:r>
            <a:r>
              <a:rPr lang="hu-HU" b="0" dirty="0"/>
              <a:t>.</a:t>
            </a:r>
          </a:p>
          <a:p>
            <a:endParaRPr lang="hu-HU" b="0" dirty="0"/>
          </a:p>
          <a:p>
            <a:r>
              <a:rPr lang="en-US" dirty="0"/>
              <a:t>A header-ek </a:t>
            </a:r>
            <a:r>
              <a:rPr lang="en-US" b="1" dirty="0" err="1"/>
              <a:t>metaadatok</a:t>
            </a:r>
            <a:r>
              <a:rPr lang="en-US" dirty="0"/>
              <a:t>, </a:t>
            </a:r>
            <a:r>
              <a:rPr lang="en-US" dirty="0" err="1"/>
              <a:t>amik</a:t>
            </a:r>
            <a:r>
              <a:rPr lang="en-US" dirty="0"/>
              <a:t> a </a:t>
            </a:r>
            <a:r>
              <a:rPr lang="en-US" dirty="0" err="1"/>
              <a:t>kéréshez</a:t>
            </a:r>
            <a:r>
              <a:rPr lang="en-US" dirty="0"/>
              <a:t> és </a:t>
            </a:r>
            <a:r>
              <a:rPr lang="en-US" dirty="0" err="1"/>
              <a:t>válaszhoz</a:t>
            </a:r>
            <a:r>
              <a:rPr lang="en-US" dirty="0"/>
              <a:t> </a:t>
            </a:r>
            <a:r>
              <a:rPr lang="en-US" dirty="0" err="1"/>
              <a:t>tartoznak</a:t>
            </a:r>
            <a:r>
              <a:rPr lang="en-US" dirty="0"/>
              <a:t>.</a:t>
            </a:r>
            <a:endParaRPr lang="en-US" b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6102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Sokszor félreértik, és azt gondolják, ha REST-</a:t>
            </a:r>
            <a:r>
              <a:rPr lang="hu-HU" dirty="0" err="1"/>
              <a:t>et</a:t>
            </a:r>
            <a:r>
              <a:rPr lang="hu-HU" dirty="0"/>
              <a:t> használunk, akkor az MVC megszűnik. Ez nem igaz. A valóság inkább az, hogy az MVC </a:t>
            </a:r>
            <a:r>
              <a:rPr lang="hu-HU" b="1" dirty="0"/>
              <a:t>nem eltűnik, </a:t>
            </a:r>
            <a:r>
              <a:rPr lang="hu-HU" dirty="0"/>
              <a:t>hanem </a:t>
            </a:r>
            <a:r>
              <a:rPr lang="hu-HU" b="1" dirty="0"/>
              <a:t>más szerepet kap.</a:t>
            </a:r>
            <a:endParaRPr lang="hu-HU" dirty="0"/>
          </a:p>
          <a:p>
            <a:r>
              <a:rPr lang="en-US" b="0" dirty="0"/>
              <a:t>Mi </a:t>
            </a:r>
            <a:r>
              <a:rPr lang="en-US" b="0" dirty="0" err="1"/>
              <a:t>változik</a:t>
            </a:r>
            <a:r>
              <a:rPr lang="en-US" b="0" dirty="0"/>
              <a:t> REST </a:t>
            </a:r>
            <a:r>
              <a:rPr lang="en-US" b="0" dirty="0" err="1"/>
              <a:t>esetén</a:t>
            </a:r>
            <a:r>
              <a:rPr lang="en-US" b="0" dirty="0"/>
              <a:t>?</a:t>
            </a:r>
            <a:r>
              <a:rPr lang="hu-HU" b="0" dirty="0"/>
              <a:t> </a:t>
            </a:r>
            <a:r>
              <a:rPr lang="en-US" b="0" dirty="0"/>
              <a:t>REST-</a:t>
            </a:r>
            <a:r>
              <a:rPr lang="en-US" b="0" dirty="0" err="1"/>
              <a:t>nél</a:t>
            </a:r>
            <a:r>
              <a:rPr lang="en-US" b="0" dirty="0"/>
              <a:t> a </a:t>
            </a:r>
            <a:r>
              <a:rPr lang="en-US" b="0" dirty="0" err="1"/>
              <a:t>szerver</a:t>
            </a:r>
            <a:r>
              <a:rPr lang="hu-HU" b="0" dirty="0"/>
              <a:t> </a:t>
            </a:r>
            <a:r>
              <a:rPr lang="en-US" b="0" dirty="0" err="1"/>
              <a:t>nem</a:t>
            </a:r>
            <a:r>
              <a:rPr lang="en-US" b="0" dirty="0"/>
              <a:t> HTML-t ad </a:t>
            </a:r>
            <a:r>
              <a:rPr lang="en-US" b="0" dirty="0" err="1"/>
              <a:t>vissza</a:t>
            </a:r>
            <a:r>
              <a:rPr lang="hu-HU" b="0" dirty="0"/>
              <a:t>, </a:t>
            </a:r>
            <a:r>
              <a:rPr lang="en-US" b="0" dirty="0" err="1"/>
              <a:t>hanem</a:t>
            </a:r>
            <a:r>
              <a:rPr lang="en-US" b="0" dirty="0"/>
              <a:t> </a:t>
            </a:r>
            <a:r>
              <a:rPr lang="en-US" b="0" dirty="0" err="1"/>
              <a:t>adatot</a:t>
            </a:r>
            <a:r>
              <a:rPr lang="en-US" b="0" dirty="0"/>
              <a:t> (</a:t>
            </a:r>
            <a:r>
              <a:rPr lang="en-US" b="0" dirty="0" err="1"/>
              <a:t>jellemzően</a:t>
            </a:r>
            <a:r>
              <a:rPr lang="en-US" b="0" dirty="0"/>
              <a:t> JSON-t)</a:t>
            </a:r>
            <a:r>
              <a:rPr lang="hu-HU" b="0" dirty="0"/>
              <a:t>. Ezáltal az </a:t>
            </a:r>
            <a:r>
              <a:rPr lang="en-US" b="0" dirty="0"/>
              <a:t>UI </a:t>
            </a:r>
            <a:r>
              <a:rPr lang="en-US" b="0" dirty="0" err="1"/>
              <a:t>logika</a:t>
            </a:r>
            <a:r>
              <a:rPr lang="en-US" b="0" dirty="0"/>
              <a:t> </a:t>
            </a:r>
            <a:r>
              <a:rPr lang="en-US" b="0" dirty="0" err="1"/>
              <a:t>kikerül</a:t>
            </a:r>
            <a:r>
              <a:rPr lang="en-US" b="0" dirty="0"/>
              <a:t> a </a:t>
            </a:r>
            <a:r>
              <a:rPr lang="en-US" b="0" dirty="0" err="1"/>
              <a:t>szerverről</a:t>
            </a:r>
            <a:r>
              <a:rPr lang="hu-HU" b="0" dirty="0"/>
              <a:t>.</a:t>
            </a:r>
          </a:p>
          <a:p>
            <a:r>
              <a:rPr lang="hu-HU" dirty="0"/>
              <a:t>Egy REST API mögött </a:t>
            </a:r>
            <a:r>
              <a:rPr lang="hu-HU" b="0" dirty="0"/>
              <a:t>szinte mindig </a:t>
            </a:r>
            <a:r>
              <a:rPr lang="hu-HU" dirty="0"/>
              <a:t>egy MVC-szerű architektúra dolgozik.</a:t>
            </a:r>
            <a:endParaRPr lang="en-US" b="0" dirty="0"/>
          </a:p>
          <a:p>
            <a:endParaRPr lang="hu-HU" dirty="0"/>
          </a:p>
          <a:p>
            <a:r>
              <a:rPr lang="en-US" b="1" dirty="0"/>
              <a:t>Controller → REST endpoint</a:t>
            </a:r>
          </a:p>
          <a:p>
            <a:r>
              <a:rPr lang="en-US" dirty="0"/>
              <a:t>HTTP request </a:t>
            </a:r>
            <a:r>
              <a:rPr lang="en-US" dirty="0" err="1"/>
              <a:t>fogadása</a:t>
            </a:r>
            <a:r>
              <a:rPr lang="hu-HU" dirty="0"/>
              <a:t>, </a:t>
            </a:r>
            <a:r>
              <a:rPr lang="en-US" dirty="0" err="1"/>
              <a:t>paraméterek</a:t>
            </a:r>
            <a:r>
              <a:rPr lang="en-US" dirty="0"/>
              <a:t> </a:t>
            </a:r>
            <a:r>
              <a:rPr lang="en-US" dirty="0" err="1"/>
              <a:t>feldolgozása</a:t>
            </a:r>
            <a:r>
              <a:rPr lang="hu-HU" dirty="0"/>
              <a:t>, és </a:t>
            </a:r>
            <a:r>
              <a:rPr lang="en-US" dirty="0"/>
              <a:t>HTTP </a:t>
            </a:r>
            <a:r>
              <a:rPr lang="en-US" dirty="0" err="1"/>
              <a:t>válasz</a:t>
            </a:r>
            <a:r>
              <a:rPr lang="en-US" dirty="0"/>
              <a:t> </a:t>
            </a:r>
            <a:r>
              <a:rPr lang="en-US" dirty="0" err="1"/>
              <a:t>visszaadása</a:t>
            </a:r>
            <a:r>
              <a:rPr lang="hu-HU" dirty="0"/>
              <a:t> (JSON adat).</a:t>
            </a:r>
          </a:p>
          <a:p>
            <a:endParaRPr lang="hu-HU" dirty="0"/>
          </a:p>
          <a:p>
            <a:r>
              <a:rPr lang="en-US" b="1" dirty="0"/>
              <a:t>Model</a:t>
            </a:r>
            <a:r>
              <a:rPr lang="en-US" dirty="0"/>
              <a:t> </a:t>
            </a:r>
            <a:r>
              <a:rPr lang="en-US" b="1" dirty="0"/>
              <a:t>→ </a:t>
            </a:r>
            <a:r>
              <a:rPr lang="en-US" b="1" dirty="0" err="1"/>
              <a:t>üzleti</a:t>
            </a:r>
            <a:r>
              <a:rPr lang="en-US" b="1" dirty="0"/>
              <a:t> </a:t>
            </a:r>
            <a:r>
              <a:rPr lang="en-US" b="1" dirty="0" err="1"/>
              <a:t>logika</a:t>
            </a:r>
            <a:endParaRPr lang="hu-HU" b="1" dirty="0"/>
          </a:p>
          <a:p>
            <a:r>
              <a:rPr lang="hu-HU" dirty="0"/>
              <a:t>Ez nem változik a REST-nél sem. A </a:t>
            </a:r>
            <a:r>
              <a:rPr lang="hu-HU" dirty="0" err="1"/>
              <a:t>Model</a:t>
            </a:r>
            <a:r>
              <a:rPr lang="hu-HU" dirty="0"/>
              <a:t> tartalmazza: szolgáltatási réteg, üzleti adatok/objektumok, adatbázis-elérés, validációk, és egyéb üzleti szabályok.</a:t>
            </a:r>
          </a:p>
          <a:p>
            <a:endParaRPr lang="hu-HU" dirty="0"/>
          </a:p>
          <a:p>
            <a:r>
              <a:rPr lang="en-US" b="1" dirty="0"/>
              <a:t>View → JSON </a:t>
            </a:r>
            <a:r>
              <a:rPr lang="en-US" b="1" dirty="0" err="1"/>
              <a:t>válasz</a:t>
            </a:r>
            <a:endParaRPr lang="hu-HU" b="1" dirty="0"/>
          </a:p>
          <a:p>
            <a:r>
              <a:rPr lang="hu-HU" dirty="0"/>
              <a:t>Itt van a szemléletváltás, és a legnagyobb változás. A REST esetén a </a:t>
            </a:r>
            <a:r>
              <a:rPr lang="hu-HU" dirty="0" err="1"/>
              <a:t>View</a:t>
            </a:r>
            <a:r>
              <a:rPr lang="hu-HU" dirty="0"/>
              <a:t> nem HTML, hanem JSON adat.</a:t>
            </a:r>
          </a:p>
          <a:p>
            <a:endParaRPr lang="hu-HU" dirty="0"/>
          </a:p>
          <a:p>
            <a:r>
              <a:rPr lang="en-US" dirty="0"/>
              <a:t>A REST </a:t>
            </a:r>
            <a:r>
              <a:rPr lang="en-US" b="1" dirty="0" err="1"/>
              <a:t>szétválasztja</a:t>
            </a:r>
            <a:r>
              <a:rPr lang="en-US" b="1" dirty="0"/>
              <a:t> a </a:t>
            </a:r>
            <a:r>
              <a:rPr lang="en-US" b="1" dirty="0" err="1"/>
              <a:t>felelősségeket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/>
              <a:t>Az MVC </a:t>
            </a:r>
            <a:r>
              <a:rPr lang="en-US" dirty="0" err="1"/>
              <a:t>marad</a:t>
            </a:r>
            <a:r>
              <a:rPr lang="en-US" dirty="0"/>
              <a:t> a </a:t>
            </a:r>
            <a:r>
              <a:rPr lang="en-US" dirty="0" err="1"/>
              <a:t>szerveren</a:t>
            </a:r>
            <a:r>
              <a:rPr lang="en-US" dirty="0"/>
              <a:t>,</a:t>
            </a:r>
            <a:r>
              <a:rPr lang="hu-HU" dirty="0"/>
              <a:t> </a:t>
            </a:r>
            <a:r>
              <a:rPr lang="en-US" dirty="0"/>
              <a:t>a </a:t>
            </a:r>
            <a:r>
              <a:rPr lang="en-US" dirty="0" err="1"/>
              <a:t>megjelenítés</a:t>
            </a:r>
            <a:r>
              <a:rPr lang="en-US" dirty="0"/>
              <a:t> </a:t>
            </a:r>
            <a:r>
              <a:rPr lang="en-US" dirty="0" err="1"/>
              <a:t>pedig</a:t>
            </a:r>
            <a:r>
              <a:rPr lang="en-US" dirty="0"/>
              <a:t> </a:t>
            </a:r>
            <a:r>
              <a:rPr lang="en-US" dirty="0" err="1"/>
              <a:t>átkerül</a:t>
            </a:r>
            <a:r>
              <a:rPr lang="en-US" dirty="0"/>
              <a:t> a </a:t>
            </a:r>
            <a:r>
              <a:rPr lang="en-US" dirty="0" err="1"/>
              <a:t>klienshez</a:t>
            </a:r>
            <a:r>
              <a:rPr lang="en-US" dirty="0"/>
              <a:t>.</a:t>
            </a:r>
            <a:r>
              <a:rPr lang="hu-HU" dirty="0"/>
              <a:t> Ennek előnye, hogy a </a:t>
            </a:r>
            <a:r>
              <a:rPr lang="en-US" dirty="0"/>
              <a:t>frontend és backend </a:t>
            </a:r>
            <a:r>
              <a:rPr lang="en-US" dirty="0" err="1"/>
              <a:t>külön</a:t>
            </a:r>
            <a:r>
              <a:rPr lang="en-US" dirty="0"/>
              <a:t> </a:t>
            </a:r>
            <a:r>
              <a:rPr lang="en-US" dirty="0" err="1"/>
              <a:t>fejleszthető</a:t>
            </a:r>
            <a:r>
              <a:rPr lang="hu-HU" dirty="0"/>
              <a:t>. UI cserélhető a backend érintése nélkül.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7457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Az URI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főnév</a:t>
            </a:r>
            <a:r>
              <a:rPr lang="en-US" dirty="0"/>
              <a:t>,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mondat</a:t>
            </a:r>
            <a:r>
              <a:rPr lang="en-US" dirty="0"/>
              <a:t>.</a:t>
            </a:r>
          </a:p>
          <a:p>
            <a:r>
              <a:rPr lang="en-US" dirty="0"/>
              <a:t>Az URI </a:t>
            </a:r>
            <a:r>
              <a:rPr lang="hu-HU" b="0" dirty="0"/>
              <a:t>az erőforrás neve</a:t>
            </a:r>
            <a:r>
              <a:rPr lang="en-US" dirty="0"/>
              <a:t>, a HTTP </a:t>
            </a:r>
            <a:r>
              <a:rPr lang="en-US" dirty="0" err="1"/>
              <a:t>metódus</a:t>
            </a:r>
            <a:r>
              <a:rPr lang="hu-HU" dirty="0"/>
              <a:t> definiálja, hogy</a:t>
            </a:r>
            <a:r>
              <a:rPr lang="en-US" dirty="0"/>
              <a:t> </a:t>
            </a:r>
            <a:r>
              <a:rPr lang="en-US" b="1" dirty="0" err="1"/>
              <a:t>mit</a:t>
            </a:r>
            <a:r>
              <a:rPr lang="en-US" b="1" dirty="0"/>
              <a:t> </a:t>
            </a:r>
            <a:r>
              <a:rPr lang="en-US" b="1" dirty="0" err="1"/>
              <a:t>csinál</a:t>
            </a:r>
            <a:r>
              <a:rPr lang="hu-HU" b="1" dirty="0" err="1"/>
              <a:t>unk</a:t>
            </a:r>
            <a:r>
              <a:rPr lang="hu-HU" b="0" dirty="0"/>
              <a:t> az erőforráson.</a:t>
            </a:r>
          </a:p>
          <a:p>
            <a:r>
              <a:rPr lang="hu-HU" b="0" dirty="0"/>
              <a:t>Miért többes szám? Mert az URI egy </a:t>
            </a:r>
            <a:r>
              <a:rPr lang="hu-HU" b="1" dirty="0"/>
              <a:t>erőforrás-gyűjteményt</a:t>
            </a:r>
            <a:r>
              <a:rPr lang="hu-HU" dirty="0"/>
              <a:t> jelöl, </a:t>
            </a:r>
            <a:r>
              <a:rPr lang="en-US" dirty="0"/>
              <a:t>és </a:t>
            </a:r>
            <a:r>
              <a:rPr lang="en-US" dirty="0" err="1"/>
              <a:t>azon</a:t>
            </a:r>
            <a:r>
              <a:rPr lang="en-US" dirty="0"/>
              <a:t> </a:t>
            </a:r>
            <a:r>
              <a:rPr lang="en-US" dirty="0" err="1"/>
              <a:t>belül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konkrét</a:t>
            </a:r>
            <a:r>
              <a:rPr lang="en-US" dirty="0"/>
              <a:t> </a:t>
            </a:r>
            <a:r>
              <a:rPr lang="en-US" dirty="0" err="1"/>
              <a:t>elemet</a:t>
            </a:r>
            <a:r>
              <a:rPr lang="hu-HU" dirty="0"/>
              <a:t>.</a:t>
            </a:r>
            <a:endParaRPr lang="en-US" dirty="0"/>
          </a:p>
          <a:p>
            <a:r>
              <a:rPr lang="en-US" dirty="0"/>
              <a:t>URI </a:t>
            </a:r>
            <a:r>
              <a:rPr lang="en-US" dirty="0" err="1"/>
              <a:t>stabil</a:t>
            </a:r>
            <a:r>
              <a:rPr lang="en-US" dirty="0"/>
              <a:t> </a:t>
            </a:r>
            <a:r>
              <a:rPr lang="en-US" dirty="0" err="1"/>
              <a:t>maradjon</a:t>
            </a:r>
            <a:r>
              <a:rPr lang="hu-HU" dirty="0"/>
              <a:t>, ne változtassuk. Mert a</a:t>
            </a:r>
            <a:r>
              <a:rPr lang="en-US" dirty="0"/>
              <a:t>z URI</a:t>
            </a:r>
            <a:r>
              <a:rPr lang="hu-HU" dirty="0"/>
              <a:t> </a:t>
            </a:r>
            <a:r>
              <a:rPr lang="en-US" dirty="0" err="1"/>
              <a:t>bekerül</a:t>
            </a:r>
            <a:r>
              <a:rPr lang="en-US" dirty="0"/>
              <a:t> frontend </a:t>
            </a:r>
            <a:r>
              <a:rPr lang="en-US" dirty="0" err="1"/>
              <a:t>kódba</a:t>
            </a:r>
            <a:r>
              <a:rPr lang="hu-HU" dirty="0"/>
              <a:t>, </a:t>
            </a:r>
            <a:r>
              <a:rPr lang="en-US" dirty="0" err="1"/>
              <a:t>bekerül</a:t>
            </a:r>
            <a:r>
              <a:rPr lang="en-US" dirty="0"/>
              <a:t> </a:t>
            </a:r>
            <a:r>
              <a:rPr lang="en-US" dirty="0" err="1"/>
              <a:t>mobil</a:t>
            </a:r>
            <a:r>
              <a:rPr lang="en-US" dirty="0"/>
              <a:t> </a:t>
            </a:r>
            <a:r>
              <a:rPr lang="en-US" dirty="0" err="1"/>
              <a:t>appba</a:t>
            </a:r>
            <a:r>
              <a:rPr lang="hu-HU" dirty="0"/>
              <a:t>, </a:t>
            </a:r>
            <a:r>
              <a:rPr lang="en-US" dirty="0" err="1"/>
              <a:t>bekerül</a:t>
            </a:r>
            <a:r>
              <a:rPr lang="en-US" dirty="0"/>
              <a:t> </a:t>
            </a:r>
            <a:r>
              <a:rPr lang="en-US" dirty="0" err="1"/>
              <a:t>dokumentációba</a:t>
            </a:r>
            <a:r>
              <a:rPr lang="hu-HU" dirty="0"/>
              <a:t>. </a:t>
            </a:r>
            <a:r>
              <a:rPr lang="en-US" dirty="0"/>
              <a:t>Ha </a:t>
            </a:r>
            <a:r>
              <a:rPr lang="en-US" dirty="0" err="1"/>
              <a:t>változik</a:t>
            </a:r>
            <a:r>
              <a:rPr lang="hu-HU" dirty="0"/>
              <a:t>. </a:t>
            </a:r>
            <a:r>
              <a:rPr lang="en-US" dirty="0" err="1"/>
              <a:t>minden</a:t>
            </a:r>
            <a:r>
              <a:rPr lang="en-US" dirty="0"/>
              <a:t> </a:t>
            </a:r>
            <a:r>
              <a:rPr lang="en-US" dirty="0" err="1"/>
              <a:t>kliens</a:t>
            </a:r>
            <a:r>
              <a:rPr lang="en-US" dirty="0"/>
              <a:t> </a:t>
            </a:r>
            <a:r>
              <a:rPr lang="en-US" dirty="0" err="1"/>
              <a:t>törik</a:t>
            </a:r>
            <a:r>
              <a:rPr lang="hu-HU" dirty="0"/>
              <a:t>.</a:t>
            </a:r>
          </a:p>
          <a:p>
            <a:r>
              <a:rPr lang="en-US" dirty="0"/>
              <a:t>Ember </a:t>
            </a:r>
            <a:r>
              <a:rPr lang="en-US" dirty="0" err="1"/>
              <a:t>által</a:t>
            </a:r>
            <a:r>
              <a:rPr lang="en-US" dirty="0"/>
              <a:t> is </a:t>
            </a:r>
            <a:r>
              <a:rPr lang="en-US" dirty="0" err="1"/>
              <a:t>értelmezhető</a:t>
            </a:r>
            <a:r>
              <a:rPr lang="en-US" dirty="0"/>
              <a:t> </a:t>
            </a:r>
            <a:r>
              <a:rPr lang="en-US" dirty="0" err="1"/>
              <a:t>legyen</a:t>
            </a:r>
            <a:r>
              <a:rPr lang="hu-HU" dirty="0"/>
              <a:t>. Olvasható és beszédes.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4066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>
                <a:effectLst/>
              </a:rPr>
              <a:t>A REST API </a:t>
            </a:r>
            <a:r>
              <a:rPr lang="hu-HU" dirty="0" err="1">
                <a:effectLst/>
              </a:rPr>
              <a:t>verziózás</a:t>
            </a:r>
            <a:r>
              <a:rPr lang="hu-HU" dirty="0">
                <a:effectLst/>
              </a:rPr>
              <a:t> azt jelenti, hogy az API változásait (új funkciók, </a:t>
            </a:r>
            <a:r>
              <a:rPr lang="hu-HU" dirty="0" err="1">
                <a:effectLst/>
              </a:rPr>
              <a:t>breaking</a:t>
            </a:r>
            <a:r>
              <a:rPr lang="hu-HU" dirty="0">
                <a:effectLst/>
              </a:rPr>
              <a:t> </a:t>
            </a:r>
            <a:r>
              <a:rPr lang="hu-HU" dirty="0" err="1">
                <a:effectLst/>
              </a:rPr>
              <a:t>changes</a:t>
            </a:r>
            <a:r>
              <a:rPr lang="hu-HU" dirty="0">
                <a:effectLst/>
              </a:rPr>
              <a:t>) külön verziókba csomagoljuk, hogy a régi kliensek továbbra is működjenek, miközben az új funkciók bevezethetők, így biztosítva a stabilitást és lehetővé téve a fokozatos frissítést, elkerülve a hirtelen, zavaró változtatásokat a meglévő integrációkban. Ez a skálázhatóságot és karbantarthatóságot is segíti.</a:t>
            </a:r>
          </a:p>
          <a:p>
            <a:r>
              <a:rPr lang="hu-HU" b="1" dirty="0"/>
              <a:t>Miért fontos?</a:t>
            </a:r>
            <a:endParaRPr lang="hu-HU" dirty="0"/>
          </a:p>
          <a:p>
            <a:r>
              <a:rPr lang="hu-HU" b="1" dirty="0"/>
              <a:t>Stabilitás:</a:t>
            </a:r>
            <a:r>
              <a:rPr lang="hu-HU" dirty="0"/>
              <a:t> A kliensek nem kényszerülnek azonnali frissítésre.</a:t>
            </a:r>
          </a:p>
          <a:p>
            <a:r>
              <a:rPr lang="hu-HU" b="1" dirty="0"/>
              <a:t>Kontrollált változtatás:</a:t>
            </a:r>
            <a:r>
              <a:rPr lang="hu-HU" dirty="0"/>
              <a:t> Külön kezelhetők az új és a régi funkciók. </a:t>
            </a:r>
            <a:r>
              <a:rPr lang="en-US" dirty="0"/>
              <a:t>Az API </a:t>
            </a:r>
            <a:r>
              <a:rPr lang="en-US" dirty="0" err="1"/>
              <a:t>biztonságosan</a:t>
            </a:r>
            <a:r>
              <a:rPr lang="en-US" dirty="0"/>
              <a:t> </a:t>
            </a:r>
            <a:r>
              <a:rPr lang="en-US" dirty="0" err="1"/>
              <a:t>fejleszthető</a:t>
            </a:r>
            <a:r>
              <a:rPr lang="en-US" dirty="0"/>
              <a:t>, </a:t>
            </a:r>
            <a:r>
              <a:rPr lang="en-US" dirty="0" err="1"/>
              <a:t>új</a:t>
            </a:r>
            <a:r>
              <a:rPr lang="en-US" dirty="0"/>
              <a:t> </a:t>
            </a:r>
            <a:r>
              <a:rPr lang="en-US" dirty="0" err="1"/>
              <a:t>funkciók</a:t>
            </a:r>
            <a:r>
              <a:rPr lang="en-US" dirty="0"/>
              <a:t> és breaking change-ek </a:t>
            </a:r>
            <a:r>
              <a:rPr lang="en-US" dirty="0" err="1"/>
              <a:t>bevezethetők</a:t>
            </a:r>
            <a:r>
              <a:rPr lang="en-US" dirty="0"/>
              <a:t> </a:t>
            </a:r>
            <a:r>
              <a:rPr lang="en-US" dirty="0" err="1"/>
              <a:t>anélkül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a </a:t>
            </a:r>
            <a:r>
              <a:rPr lang="en-US" dirty="0" err="1"/>
              <a:t>meglévő</a:t>
            </a:r>
            <a:r>
              <a:rPr lang="en-US" dirty="0"/>
              <a:t> </a:t>
            </a:r>
            <a:r>
              <a:rPr lang="en-US" dirty="0" err="1"/>
              <a:t>integrációk</a:t>
            </a:r>
            <a:r>
              <a:rPr lang="en-US" dirty="0"/>
              <a:t> </a:t>
            </a:r>
            <a:r>
              <a:rPr lang="en-US" dirty="0" err="1"/>
              <a:t>megsérülnének</a:t>
            </a:r>
            <a:r>
              <a:rPr lang="en-US" dirty="0"/>
              <a:t>.</a:t>
            </a:r>
            <a:endParaRPr lang="hu-HU" dirty="0"/>
          </a:p>
          <a:p>
            <a:r>
              <a:rPr lang="en-US" b="1" dirty="0" err="1"/>
              <a:t>Szerződésvédelem</a:t>
            </a:r>
            <a:r>
              <a:rPr lang="hu-HU" b="1" dirty="0"/>
              <a:t>:</a:t>
            </a:r>
            <a:r>
              <a:rPr lang="hu-HU" dirty="0"/>
              <a:t> </a:t>
            </a:r>
            <a:r>
              <a:rPr lang="en-US" dirty="0"/>
              <a:t>Az API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szerződés</a:t>
            </a:r>
            <a:r>
              <a:rPr lang="en-US" dirty="0"/>
              <a:t> a </a:t>
            </a:r>
            <a:r>
              <a:rPr lang="en-US" dirty="0" err="1"/>
              <a:t>kliens</a:t>
            </a:r>
            <a:r>
              <a:rPr lang="en-US" dirty="0"/>
              <a:t> és a </a:t>
            </a:r>
            <a:r>
              <a:rPr lang="en-US" dirty="0" err="1"/>
              <a:t>szerver</a:t>
            </a:r>
            <a:r>
              <a:rPr lang="en-US" dirty="0"/>
              <a:t> </a:t>
            </a:r>
            <a:r>
              <a:rPr lang="en-US" dirty="0" err="1"/>
              <a:t>között</a:t>
            </a:r>
            <a:r>
              <a:rPr lang="en-US" dirty="0"/>
              <a:t>. A </a:t>
            </a:r>
            <a:r>
              <a:rPr lang="en-US" dirty="0" err="1"/>
              <a:t>verziózás</a:t>
            </a:r>
            <a:r>
              <a:rPr lang="en-US" dirty="0"/>
              <a:t> </a:t>
            </a:r>
            <a:r>
              <a:rPr lang="en-US" dirty="0" err="1"/>
              <a:t>biztosítja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változtatás</a:t>
            </a:r>
            <a:r>
              <a:rPr lang="en-US" dirty="0"/>
              <a:t> ne </a:t>
            </a:r>
            <a:r>
              <a:rPr lang="en-US" dirty="0" err="1"/>
              <a:t>törje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a </a:t>
            </a:r>
            <a:r>
              <a:rPr lang="en-US" dirty="0" err="1"/>
              <a:t>meglévő</a:t>
            </a:r>
            <a:r>
              <a:rPr lang="en-US" dirty="0"/>
              <a:t> </a:t>
            </a:r>
            <a:r>
              <a:rPr lang="en-US" dirty="0" err="1"/>
              <a:t>klienseket</a:t>
            </a:r>
            <a:r>
              <a:rPr lang="en-US" dirty="0"/>
              <a:t>.</a:t>
            </a:r>
            <a:endParaRPr lang="hu-HU" dirty="0"/>
          </a:p>
          <a:p>
            <a:endParaRPr lang="hu-HU" dirty="0"/>
          </a:p>
          <a:p>
            <a:r>
              <a:rPr lang="hu-HU" b="1" dirty="0"/>
              <a:t>Gyakori </a:t>
            </a:r>
            <a:r>
              <a:rPr lang="hu-HU" b="1" dirty="0" err="1"/>
              <a:t>verziózási</a:t>
            </a:r>
            <a:r>
              <a:rPr lang="hu-HU" b="1" dirty="0"/>
              <a:t> stratégiák:</a:t>
            </a:r>
            <a:endParaRPr lang="hu-HU" dirty="0"/>
          </a:p>
          <a:p>
            <a:r>
              <a:rPr lang="hu-HU" b="1" dirty="0"/>
              <a:t>URL alapú </a:t>
            </a:r>
            <a:r>
              <a:rPr lang="hu-HU" b="1" dirty="0" err="1"/>
              <a:t>verziózás</a:t>
            </a:r>
            <a:r>
              <a:rPr lang="hu-HU" b="1" dirty="0"/>
              <a:t> (</a:t>
            </a:r>
            <a:r>
              <a:rPr lang="hu-HU" b="1" dirty="0" err="1"/>
              <a:t>Path</a:t>
            </a:r>
            <a:r>
              <a:rPr lang="hu-HU" b="1" dirty="0"/>
              <a:t> Versioning):</a:t>
            </a:r>
            <a:r>
              <a:rPr lang="hu-HU" dirty="0"/>
              <a:t> A leggyakoribb, a verziószám az URL-ben van (</a:t>
            </a:r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/v1/</a:t>
            </a:r>
            <a:r>
              <a:rPr lang="hu-HU" dirty="0"/>
              <a:t>, </a:t>
            </a:r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/v2/</a:t>
            </a:r>
            <a:r>
              <a:rPr lang="hu-HU" dirty="0"/>
              <a:t>).</a:t>
            </a:r>
          </a:p>
          <a:p>
            <a:r>
              <a:rPr lang="hu-HU" b="1" dirty="0"/>
              <a:t>HTTP fejléc alapú </a:t>
            </a:r>
            <a:r>
              <a:rPr lang="hu-HU" b="1" dirty="0" err="1"/>
              <a:t>verziózás</a:t>
            </a:r>
            <a:r>
              <a:rPr lang="hu-HU" b="1" dirty="0"/>
              <a:t> (</a:t>
            </a:r>
            <a:r>
              <a:rPr lang="hu-HU" b="1" dirty="0" err="1"/>
              <a:t>Header</a:t>
            </a:r>
            <a:r>
              <a:rPr lang="hu-HU" b="1" dirty="0"/>
              <a:t> Versioning):</a:t>
            </a:r>
            <a:r>
              <a:rPr lang="hu-HU" dirty="0"/>
              <a:t> A verzió a </a:t>
            </a:r>
            <a:r>
              <a:rPr lang="hu-H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Accept</a:t>
            </a:r>
            <a:r>
              <a:rPr lang="hu-HU" dirty="0"/>
              <a:t> vagy egyedi </a:t>
            </a:r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X-API-Version</a:t>
            </a:r>
            <a:r>
              <a:rPr lang="hu-HU" dirty="0"/>
              <a:t> fejlécben van megadva.</a:t>
            </a:r>
          </a:p>
          <a:p>
            <a:r>
              <a:rPr lang="hu-HU" b="1" dirty="0" err="1"/>
              <a:t>Query</a:t>
            </a:r>
            <a:r>
              <a:rPr lang="hu-HU" b="1" dirty="0"/>
              <a:t> </a:t>
            </a:r>
            <a:r>
              <a:rPr lang="hu-HU" b="1" dirty="0" err="1"/>
              <a:t>parameter</a:t>
            </a:r>
            <a:r>
              <a:rPr lang="hu-HU" b="1" dirty="0"/>
              <a:t> alapú </a:t>
            </a:r>
            <a:r>
              <a:rPr lang="hu-HU" b="1" dirty="0" err="1"/>
              <a:t>verziózás</a:t>
            </a:r>
            <a:r>
              <a:rPr lang="hu-HU" b="1" dirty="0"/>
              <a:t>:</a:t>
            </a:r>
            <a:r>
              <a:rPr lang="hu-HU" dirty="0"/>
              <a:t> A verzió egy </a:t>
            </a:r>
            <a:r>
              <a:rPr lang="hu-HU" dirty="0" err="1"/>
              <a:t>query</a:t>
            </a:r>
            <a:r>
              <a:rPr lang="hu-HU" dirty="0"/>
              <a:t> paraméter (</a:t>
            </a:r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?version=1.0</a:t>
            </a:r>
            <a:r>
              <a:rPr lang="hu-HU" dirty="0"/>
              <a:t>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3466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Egy REST API </a:t>
            </a:r>
            <a:r>
              <a:rPr lang="en-US" b="0" dirty="0" err="1"/>
              <a:t>ritkán</a:t>
            </a:r>
            <a:r>
              <a:rPr lang="en-US" b="0" dirty="0"/>
              <a:t> </a:t>
            </a:r>
            <a:r>
              <a:rPr lang="hu-HU" b="0" dirty="0"/>
              <a:t>készül csak </a:t>
            </a:r>
            <a:r>
              <a:rPr lang="en-US" b="0" dirty="0" err="1"/>
              <a:t>egy</a:t>
            </a:r>
            <a:r>
              <a:rPr lang="en-US" b="0" dirty="0"/>
              <a:t> </a:t>
            </a:r>
            <a:r>
              <a:rPr lang="en-US" b="0" dirty="0" err="1"/>
              <a:t>embernek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 err="1"/>
              <a:t>Általában</a:t>
            </a:r>
            <a:r>
              <a:rPr lang="en-US" dirty="0"/>
              <a:t> </a:t>
            </a:r>
            <a:r>
              <a:rPr lang="hu-HU" b="0" dirty="0"/>
              <a:t>egy vagy több</a:t>
            </a:r>
            <a:r>
              <a:rPr lang="en-US" b="0" dirty="0"/>
              <a:t> </a:t>
            </a:r>
            <a:r>
              <a:rPr lang="en-US" b="0" dirty="0" err="1"/>
              <a:t>csapat</a:t>
            </a:r>
            <a:r>
              <a:rPr lang="en-US" b="0" dirty="0"/>
              <a:t> </a:t>
            </a:r>
            <a:r>
              <a:rPr lang="en-US" b="0" dirty="0" err="1"/>
              <a:t>dolgozik</a:t>
            </a:r>
            <a:r>
              <a:rPr lang="en-US" b="0" dirty="0"/>
              <a:t> </a:t>
            </a:r>
            <a:r>
              <a:rPr lang="en-US" b="0" dirty="0" err="1"/>
              <a:t>vele</a:t>
            </a:r>
            <a:r>
              <a:rPr lang="en-US" b="0" dirty="0"/>
              <a:t> </a:t>
            </a:r>
            <a:r>
              <a:rPr lang="en-US" b="0" dirty="0" err="1"/>
              <a:t>párhuzamosan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/>
              <a:t>Ha </a:t>
            </a:r>
            <a:r>
              <a:rPr lang="en-US" dirty="0" err="1"/>
              <a:t>nincs</a:t>
            </a:r>
            <a:r>
              <a:rPr lang="en-US" dirty="0"/>
              <a:t> </a:t>
            </a:r>
            <a:r>
              <a:rPr lang="en-US" dirty="0" err="1"/>
              <a:t>dokumentáció</a:t>
            </a:r>
            <a:r>
              <a:rPr lang="en-US" dirty="0"/>
              <a:t>, </a:t>
            </a:r>
            <a:r>
              <a:rPr lang="en-US" dirty="0" err="1"/>
              <a:t>akkor</a:t>
            </a:r>
            <a:r>
              <a:rPr lang="hu-HU" dirty="0"/>
              <a:t> </a:t>
            </a:r>
            <a:r>
              <a:rPr lang="en-US" dirty="0" err="1"/>
              <a:t>mindenki</a:t>
            </a:r>
            <a:r>
              <a:rPr lang="en-US" dirty="0"/>
              <a:t> </a:t>
            </a:r>
            <a:r>
              <a:rPr lang="en-US" dirty="0" err="1"/>
              <a:t>mást</a:t>
            </a:r>
            <a:r>
              <a:rPr lang="en-US" dirty="0"/>
              <a:t> </a:t>
            </a:r>
            <a:r>
              <a:rPr lang="en-US" dirty="0" err="1"/>
              <a:t>gondol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API-</a:t>
            </a:r>
            <a:r>
              <a:rPr lang="en-US" dirty="0" err="1"/>
              <a:t>ról</a:t>
            </a:r>
            <a:r>
              <a:rPr lang="hu-HU" dirty="0"/>
              <a:t>, </a:t>
            </a:r>
            <a:r>
              <a:rPr lang="en-US" dirty="0"/>
              <a:t>és </a:t>
            </a:r>
            <a:r>
              <a:rPr lang="en-US" dirty="0" err="1"/>
              <a:t>ebből</a:t>
            </a:r>
            <a:r>
              <a:rPr lang="en-US" dirty="0"/>
              <a:t> </a:t>
            </a:r>
            <a:r>
              <a:rPr lang="en-US" dirty="0" err="1"/>
              <a:t>lesznek</a:t>
            </a:r>
            <a:r>
              <a:rPr lang="en-US" dirty="0"/>
              <a:t> a </a:t>
            </a:r>
            <a:r>
              <a:rPr lang="en-US" dirty="0" err="1"/>
              <a:t>problémák</a:t>
            </a:r>
            <a:r>
              <a:rPr lang="hu-HU" dirty="0"/>
              <a:t>.</a:t>
            </a:r>
          </a:p>
          <a:p>
            <a:r>
              <a:rPr lang="en-US" dirty="0"/>
              <a:t>Az API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szerződés</a:t>
            </a:r>
            <a:r>
              <a:rPr lang="hu-HU" dirty="0"/>
              <a:t>, és a</a:t>
            </a:r>
            <a:r>
              <a:rPr lang="en-US" dirty="0"/>
              <a:t> </a:t>
            </a:r>
            <a:r>
              <a:rPr lang="en-US" dirty="0" err="1"/>
              <a:t>dokumentáció</a:t>
            </a:r>
            <a:r>
              <a:rPr lang="en-US" dirty="0"/>
              <a:t> </a:t>
            </a:r>
            <a:r>
              <a:rPr lang="en-US" dirty="0" err="1"/>
              <a:t>ennek</a:t>
            </a:r>
            <a:r>
              <a:rPr lang="en-US" dirty="0"/>
              <a:t> </a:t>
            </a:r>
            <a:r>
              <a:rPr lang="en-US" b="1" dirty="0" err="1"/>
              <a:t>írásos</a:t>
            </a:r>
            <a:r>
              <a:rPr lang="en-US" b="1" dirty="0"/>
              <a:t> </a:t>
            </a:r>
            <a:r>
              <a:rPr lang="en-US" b="1" dirty="0" err="1"/>
              <a:t>formája</a:t>
            </a:r>
            <a:r>
              <a:rPr lang="en-US" dirty="0"/>
              <a:t>.</a:t>
            </a:r>
            <a:r>
              <a:rPr lang="hu-HU" dirty="0"/>
              <a:t> A dokumentáció megkönnyíti a verziók követhetőségét is.</a:t>
            </a:r>
          </a:p>
          <a:p>
            <a:r>
              <a:rPr lang="en-US" dirty="0"/>
              <a:t>A </a:t>
            </a:r>
            <a:r>
              <a:rPr lang="en-US" dirty="0" err="1"/>
              <a:t>dokumentáció</a:t>
            </a:r>
            <a:r>
              <a:rPr lang="en-US" dirty="0"/>
              <a:t> </a:t>
            </a:r>
            <a:r>
              <a:rPr lang="en-US" dirty="0" err="1"/>
              <a:t>alapján</a:t>
            </a:r>
            <a:r>
              <a:rPr lang="hu-HU" dirty="0"/>
              <a:t> </a:t>
            </a:r>
            <a:r>
              <a:rPr lang="en-US" dirty="0" err="1"/>
              <a:t>automatikusan</a:t>
            </a:r>
            <a:r>
              <a:rPr lang="en-US" dirty="0"/>
              <a:t> </a:t>
            </a:r>
            <a:r>
              <a:rPr lang="en-US" dirty="0" err="1"/>
              <a:t>generálhatók</a:t>
            </a:r>
            <a:r>
              <a:rPr lang="hu-HU" dirty="0"/>
              <a:t> </a:t>
            </a:r>
            <a:r>
              <a:rPr lang="en-US" dirty="0" err="1"/>
              <a:t>tesztek</a:t>
            </a:r>
            <a:r>
              <a:rPr lang="hu-HU" dirty="0"/>
              <a:t> és </a:t>
            </a:r>
            <a:r>
              <a:rPr lang="en-US" dirty="0" err="1"/>
              <a:t>validációk</a:t>
            </a:r>
            <a:r>
              <a:rPr lang="hu-HU" dirty="0"/>
              <a:t>.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 </a:t>
            </a:r>
            <a:r>
              <a:rPr lang="en-US" dirty="0" err="1"/>
              <a:t>dokumentációból</a:t>
            </a:r>
            <a:r>
              <a:rPr lang="hu-HU" dirty="0"/>
              <a:t> </a:t>
            </a:r>
            <a:r>
              <a:rPr lang="en-US" dirty="0"/>
              <a:t>frontend </a:t>
            </a:r>
            <a:r>
              <a:rPr lang="en-US" dirty="0" err="1"/>
              <a:t>kliens</a:t>
            </a:r>
            <a:r>
              <a:rPr lang="en-US" dirty="0"/>
              <a:t> </a:t>
            </a:r>
            <a:r>
              <a:rPr lang="en-US" dirty="0" err="1"/>
              <a:t>generálható</a:t>
            </a:r>
            <a:r>
              <a:rPr lang="hu-HU" dirty="0"/>
              <a:t>, vagy </a:t>
            </a:r>
            <a:r>
              <a:rPr lang="en-US" dirty="0"/>
              <a:t>SDK </a:t>
            </a:r>
            <a:r>
              <a:rPr lang="en-US" dirty="0" err="1"/>
              <a:t>készíthető</a:t>
            </a:r>
            <a:r>
              <a:rPr lang="hu-HU" dirty="0"/>
              <a:t> (</a:t>
            </a:r>
            <a:r>
              <a:rPr lang="en-US" dirty="0"/>
              <a:t>Ez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egyik</a:t>
            </a:r>
            <a:r>
              <a:rPr lang="en-US" dirty="0"/>
              <a:t> </a:t>
            </a:r>
            <a:r>
              <a:rPr lang="en-US" b="0" dirty="0" err="1"/>
              <a:t>legnagyobb</a:t>
            </a:r>
            <a:r>
              <a:rPr lang="en-US" b="0" dirty="0"/>
              <a:t> </a:t>
            </a:r>
            <a:r>
              <a:rPr lang="en-US" b="0" dirty="0" err="1"/>
              <a:t>gyakorlati</a:t>
            </a:r>
            <a:r>
              <a:rPr lang="en-US" b="0" dirty="0"/>
              <a:t> </a:t>
            </a:r>
            <a:r>
              <a:rPr lang="en-US" b="0" dirty="0" err="1"/>
              <a:t>előny</a:t>
            </a:r>
            <a:r>
              <a:rPr lang="en-US" b="0" dirty="0"/>
              <a:t>.</a:t>
            </a:r>
            <a:r>
              <a:rPr lang="hu-HU" dirty="0"/>
              <a:t>)</a:t>
            </a:r>
            <a:endParaRPr lang="en-US" dirty="0"/>
          </a:p>
          <a:p>
            <a:endParaRPr lang="hu-HU" dirty="0"/>
          </a:p>
          <a:p>
            <a:r>
              <a:rPr lang="en-US" dirty="0"/>
              <a:t>A </a:t>
            </a:r>
            <a:r>
              <a:rPr lang="en-US" dirty="0" err="1"/>
              <a:t>kérdés</a:t>
            </a:r>
            <a:r>
              <a:rPr lang="en-US" dirty="0"/>
              <a:t> </a:t>
            </a:r>
            <a:r>
              <a:rPr lang="en-US" dirty="0" err="1"/>
              <a:t>innentől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hu-HU" dirty="0"/>
              <a:t> </a:t>
            </a:r>
            <a:r>
              <a:rPr lang="en-US" b="0" dirty="0" err="1"/>
              <a:t>kell</a:t>
            </a:r>
            <a:r>
              <a:rPr lang="en-US" b="0" dirty="0"/>
              <a:t>-e </a:t>
            </a:r>
            <a:r>
              <a:rPr lang="en-US" b="0" dirty="0" err="1"/>
              <a:t>dokumentáció</a:t>
            </a:r>
            <a:r>
              <a:rPr lang="en-US" b="0" dirty="0"/>
              <a:t>,</a:t>
            </a:r>
            <a:r>
              <a:rPr lang="hu-HU" b="0" dirty="0"/>
              <a:t> </a:t>
            </a:r>
            <a:r>
              <a:rPr lang="en-US" b="0" dirty="0" err="1"/>
              <a:t>hanem</a:t>
            </a:r>
            <a:r>
              <a:rPr lang="en-US" b="0" dirty="0"/>
              <a:t> </a:t>
            </a:r>
            <a:r>
              <a:rPr lang="en-US" b="0" dirty="0" err="1"/>
              <a:t>az</a:t>
            </a:r>
            <a:r>
              <a:rPr lang="en-US" b="0" dirty="0"/>
              <a:t>, </a:t>
            </a:r>
            <a:r>
              <a:rPr lang="en-US" b="0" dirty="0" err="1"/>
              <a:t>hogy</a:t>
            </a:r>
            <a:r>
              <a:rPr lang="en-US" b="0" dirty="0"/>
              <a:t> </a:t>
            </a:r>
            <a:r>
              <a:rPr lang="en-US" b="1" dirty="0" err="1"/>
              <a:t>hogyan</a:t>
            </a:r>
            <a:r>
              <a:rPr lang="en-US" b="1" dirty="0"/>
              <a:t> </a:t>
            </a:r>
            <a:r>
              <a:rPr lang="en-US" b="1" dirty="0" err="1"/>
              <a:t>készítjük</a:t>
            </a:r>
            <a:r>
              <a:rPr lang="en-US" b="1" dirty="0"/>
              <a:t> </a:t>
            </a:r>
            <a:r>
              <a:rPr lang="en-US" b="1" dirty="0" err="1"/>
              <a:t>el</a:t>
            </a:r>
            <a:r>
              <a:rPr lang="en-US" b="1" dirty="0"/>
              <a:t> </a:t>
            </a:r>
            <a:r>
              <a:rPr lang="en-US" b="1" dirty="0" err="1"/>
              <a:t>jól</a:t>
            </a:r>
            <a:r>
              <a:rPr lang="en-US" b="0" dirty="0"/>
              <a:t>.</a:t>
            </a:r>
            <a:endParaRPr lang="hu-HU" b="0" dirty="0"/>
          </a:p>
          <a:p>
            <a:endParaRPr lang="hu-HU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827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dokumentációt h</a:t>
            </a:r>
            <a:r>
              <a:rPr lang="en-US" dirty="0" err="1"/>
              <a:t>ogyan</a:t>
            </a:r>
            <a:r>
              <a:rPr lang="en-US" dirty="0"/>
              <a:t> </a:t>
            </a:r>
            <a:r>
              <a:rPr lang="en-US" dirty="0" err="1"/>
              <a:t>csináljuk</a:t>
            </a:r>
            <a:r>
              <a:rPr lang="en-US" dirty="0"/>
              <a:t> </a:t>
            </a:r>
            <a:r>
              <a:rPr lang="en-US" dirty="0" err="1"/>
              <a:t>jól</a:t>
            </a:r>
            <a:r>
              <a:rPr lang="en-US" dirty="0"/>
              <a:t>, modern </a:t>
            </a:r>
            <a:r>
              <a:rPr lang="en-US" dirty="0" err="1"/>
              <a:t>módon</a:t>
            </a:r>
            <a:r>
              <a:rPr lang="en-US" dirty="0"/>
              <a:t>?</a:t>
            </a:r>
            <a:r>
              <a:rPr lang="hu-HU" dirty="0"/>
              <a:t> A válasz: </a:t>
            </a:r>
            <a:r>
              <a:rPr lang="en-US" dirty="0" err="1"/>
              <a:t>OpenAPI</a:t>
            </a:r>
            <a:r>
              <a:rPr lang="en-US" dirty="0"/>
              <a:t> + Swagger</a:t>
            </a:r>
            <a:r>
              <a:rPr lang="hu-HU" dirty="0"/>
              <a:t>.</a:t>
            </a:r>
            <a:endParaRPr lang="hu-HU" b="0" dirty="0"/>
          </a:p>
          <a:p>
            <a:r>
              <a:rPr lang="hu-HU" b="0" dirty="0"/>
              <a:t>Fontos! A</a:t>
            </a:r>
            <a:r>
              <a:rPr lang="pt-BR" b="0" dirty="0"/>
              <a:t> dokumentáció nem papír, hanem élő rendszer.</a:t>
            </a:r>
            <a:endParaRPr lang="hu-HU" b="0" dirty="0"/>
          </a:p>
          <a:p>
            <a:r>
              <a:rPr lang="en-US" dirty="0" err="1"/>
              <a:t>OpenAPI</a:t>
            </a:r>
            <a:r>
              <a:rPr lang="en-US" dirty="0"/>
              <a:t> = </a:t>
            </a:r>
            <a:r>
              <a:rPr lang="en-US" dirty="0" err="1"/>
              <a:t>leíró</a:t>
            </a:r>
            <a:r>
              <a:rPr lang="en-US" dirty="0"/>
              <a:t> </a:t>
            </a:r>
            <a:r>
              <a:rPr lang="en-US" dirty="0" err="1"/>
              <a:t>nyelv</a:t>
            </a:r>
            <a:r>
              <a:rPr lang="en-US" dirty="0"/>
              <a:t> </a:t>
            </a:r>
            <a:r>
              <a:rPr lang="hu-HU" dirty="0"/>
              <a:t>(</a:t>
            </a:r>
            <a:r>
              <a:rPr lang="en-US" dirty="0" err="1"/>
              <a:t>specifikáció</a:t>
            </a:r>
            <a:r>
              <a:rPr lang="hu-HU" dirty="0"/>
              <a:t>). </a:t>
            </a:r>
            <a:r>
              <a:rPr lang="en-US" b="0" dirty="0"/>
              <a:t>Az </a:t>
            </a:r>
            <a:r>
              <a:rPr lang="en-US" b="0" dirty="0" err="1"/>
              <a:t>OpenAPI</a:t>
            </a:r>
            <a:r>
              <a:rPr lang="en-US" b="0" dirty="0"/>
              <a:t> </a:t>
            </a:r>
            <a:r>
              <a:rPr lang="en-US" b="0" dirty="0" err="1"/>
              <a:t>nem</a:t>
            </a:r>
            <a:r>
              <a:rPr lang="en-US" b="0" dirty="0"/>
              <a:t> </a:t>
            </a:r>
            <a:r>
              <a:rPr lang="en-US" b="0" dirty="0" err="1"/>
              <a:t>egy</a:t>
            </a:r>
            <a:r>
              <a:rPr lang="en-US" b="0" dirty="0"/>
              <a:t> program,</a:t>
            </a:r>
            <a:r>
              <a:rPr lang="hu-HU" b="0" dirty="0"/>
              <a:t> </a:t>
            </a:r>
            <a:r>
              <a:rPr lang="en-US" b="0" dirty="0" err="1"/>
              <a:t>hanem</a:t>
            </a:r>
            <a:r>
              <a:rPr lang="en-US" b="0" dirty="0"/>
              <a:t> </a:t>
            </a:r>
            <a:r>
              <a:rPr lang="en-US" b="0" dirty="0" err="1"/>
              <a:t>egy</a:t>
            </a:r>
            <a:r>
              <a:rPr lang="en-US" b="0" dirty="0"/>
              <a:t> </a:t>
            </a:r>
            <a:r>
              <a:rPr lang="en-US" b="0" dirty="0" err="1"/>
              <a:t>szabványos</a:t>
            </a:r>
            <a:r>
              <a:rPr lang="en-US" b="0" dirty="0"/>
              <a:t> </a:t>
            </a:r>
            <a:r>
              <a:rPr lang="en-US" b="0" dirty="0" err="1"/>
              <a:t>leíró</a:t>
            </a:r>
            <a:r>
              <a:rPr lang="en-US" b="0" dirty="0"/>
              <a:t> </a:t>
            </a:r>
            <a:r>
              <a:rPr lang="en-US" b="0" dirty="0" err="1"/>
              <a:t>nyelv</a:t>
            </a:r>
            <a:r>
              <a:rPr lang="en-US" b="0" dirty="0"/>
              <a:t>.</a:t>
            </a:r>
            <a:r>
              <a:rPr lang="hu-HU" b="0" dirty="0"/>
              <a:t> Leírja, milyen végpontok vannak, milyen HTTP metódussal, milyen kérés/válasz adatstruktúrával, milyen verzióval, stb.</a:t>
            </a:r>
          </a:p>
          <a:p>
            <a:r>
              <a:rPr lang="en-US" dirty="0"/>
              <a:t>Swagger UI = </a:t>
            </a:r>
            <a:r>
              <a:rPr lang="en-US" dirty="0" err="1"/>
              <a:t>megjelenítés</a:t>
            </a:r>
            <a:r>
              <a:rPr lang="hu-HU" dirty="0"/>
              <a:t>. </a:t>
            </a:r>
            <a:r>
              <a:rPr lang="en-US" b="0" dirty="0"/>
              <a:t>Swagger UI </a:t>
            </a:r>
            <a:r>
              <a:rPr lang="en-US" b="0" dirty="0" err="1"/>
              <a:t>azt</a:t>
            </a:r>
            <a:r>
              <a:rPr lang="en-US" b="0" dirty="0"/>
              <a:t> </a:t>
            </a:r>
            <a:r>
              <a:rPr lang="en-US" b="0" dirty="0" err="1"/>
              <a:t>csinálja</a:t>
            </a:r>
            <a:r>
              <a:rPr lang="en-US" b="0" dirty="0"/>
              <a:t>, </a:t>
            </a:r>
            <a:r>
              <a:rPr lang="en-US" b="0" dirty="0" err="1"/>
              <a:t>hogy</a:t>
            </a:r>
            <a:r>
              <a:rPr lang="en-US" b="0" dirty="0"/>
              <a:t>:</a:t>
            </a:r>
            <a:r>
              <a:rPr lang="hu-HU" b="0" dirty="0"/>
              <a:t> </a:t>
            </a:r>
            <a:r>
              <a:rPr lang="en-US" b="0" dirty="0" err="1"/>
              <a:t>az</a:t>
            </a:r>
            <a:r>
              <a:rPr lang="en-US" b="0" dirty="0"/>
              <a:t> </a:t>
            </a:r>
            <a:r>
              <a:rPr lang="en-US" b="0" dirty="0" err="1"/>
              <a:t>OpenAPI</a:t>
            </a:r>
            <a:r>
              <a:rPr lang="en-US" b="0" dirty="0"/>
              <a:t> </a:t>
            </a:r>
            <a:r>
              <a:rPr lang="en-US" b="0" dirty="0" err="1"/>
              <a:t>leírást</a:t>
            </a:r>
            <a:r>
              <a:rPr lang="hu-HU" b="0" dirty="0"/>
              <a:t> </a:t>
            </a:r>
            <a:r>
              <a:rPr lang="en-US" b="0" dirty="0" err="1"/>
              <a:t>szép</a:t>
            </a:r>
            <a:r>
              <a:rPr lang="en-US" b="0" dirty="0"/>
              <a:t>, </a:t>
            </a:r>
            <a:r>
              <a:rPr lang="en-US" b="0" dirty="0" err="1"/>
              <a:t>érthető</a:t>
            </a:r>
            <a:r>
              <a:rPr lang="en-US" b="0" dirty="0"/>
              <a:t> </a:t>
            </a:r>
            <a:r>
              <a:rPr lang="en-US" b="0" dirty="0" err="1"/>
              <a:t>webes</a:t>
            </a:r>
            <a:r>
              <a:rPr lang="en-US" b="0" dirty="0"/>
              <a:t> </a:t>
            </a:r>
            <a:r>
              <a:rPr lang="en-US" b="0" dirty="0" err="1"/>
              <a:t>felületen</a:t>
            </a:r>
            <a:r>
              <a:rPr lang="en-US" b="0" dirty="0"/>
              <a:t> </a:t>
            </a:r>
            <a:r>
              <a:rPr lang="en-US" b="0" dirty="0" err="1"/>
              <a:t>megjeleníti</a:t>
            </a:r>
            <a:r>
              <a:rPr lang="hu-HU" b="0" dirty="0"/>
              <a:t>. Ez egy interaktív felület. Az API nem csak megtekinthető, hanem ki is lehet próbálni.</a:t>
            </a:r>
            <a:endParaRPr lang="en-US" b="0" dirty="0"/>
          </a:p>
          <a:p>
            <a:r>
              <a:rPr lang="en-US" dirty="0" err="1"/>
              <a:t>Tehát</a:t>
            </a:r>
            <a:r>
              <a:rPr lang="en-US" dirty="0"/>
              <a:t>:</a:t>
            </a:r>
          </a:p>
          <a:p>
            <a:r>
              <a:rPr lang="en-US" b="1" dirty="0" err="1"/>
              <a:t>OpenAPI</a:t>
            </a:r>
            <a:r>
              <a:rPr lang="en-US" dirty="0"/>
              <a:t> →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tud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API</a:t>
            </a:r>
          </a:p>
          <a:p>
            <a:r>
              <a:rPr lang="en-US" b="1" dirty="0"/>
              <a:t>Swagger UI</a:t>
            </a:r>
            <a:r>
              <a:rPr lang="en-US" dirty="0"/>
              <a:t> → </a:t>
            </a:r>
            <a:r>
              <a:rPr lang="en-US" dirty="0" err="1"/>
              <a:t>hogyan</a:t>
            </a:r>
            <a:r>
              <a:rPr lang="en-US" dirty="0"/>
              <a:t> </a:t>
            </a:r>
            <a:r>
              <a:rPr lang="en-US" dirty="0" err="1"/>
              <a:t>látjuk</a:t>
            </a:r>
            <a:r>
              <a:rPr lang="en-US" dirty="0"/>
              <a:t> </a:t>
            </a:r>
            <a:r>
              <a:rPr lang="en-US" dirty="0" err="1"/>
              <a:t>ezt</a:t>
            </a:r>
            <a:endParaRPr lang="hu-HU" dirty="0"/>
          </a:p>
          <a:p>
            <a:r>
              <a:rPr lang="hu-HU" b="0" dirty="0"/>
              <a:t>N</a:t>
            </a:r>
            <a:r>
              <a:rPr lang="en-US" b="0" dirty="0" err="1"/>
              <a:t>em</a:t>
            </a:r>
            <a:r>
              <a:rPr lang="en-US" b="0" dirty="0"/>
              <a:t> </a:t>
            </a:r>
            <a:r>
              <a:rPr lang="en-US" b="0" dirty="0" err="1"/>
              <a:t>csak</a:t>
            </a:r>
            <a:r>
              <a:rPr lang="en-US" b="0" dirty="0"/>
              <a:t> </a:t>
            </a:r>
            <a:r>
              <a:rPr lang="en-US" b="0" dirty="0" err="1"/>
              <a:t>leírja</a:t>
            </a:r>
            <a:r>
              <a:rPr lang="en-US" b="0" dirty="0"/>
              <a:t> </a:t>
            </a:r>
            <a:r>
              <a:rPr lang="en-US" b="0" dirty="0" err="1"/>
              <a:t>az</a:t>
            </a:r>
            <a:r>
              <a:rPr lang="en-US" b="0" dirty="0"/>
              <a:t> API-t,</a:t>
            </a:r>
            <a:r>
              <a:rPr lang="hu-HU" b="0" dirty="0"/>
              <a:t> </a:t>
            </a:r>
            <a:r>
              <a:rPr lang="en-US" b="0" dirty="0" err="1"/>
              <a:t>hanem</a:t>
            </a:r>
            <a:r>
              <a:rPr lang="en-US" b="0" dirty="0"/>
              <a:t> </a:t>
            </a:r>
            <a:r>
              <a:rPr lang="en-US" b="0" dirty="0" err="1"/>
              <a:t>aktívan</a:t>
            </a:r>
            <a:r>
              <a:rPr lang="en-US" b="0" dirty="0"/>
              <a:t> </a:t>
            </a:r>
            <a:r>
              <a:rPr lang="en-US" b="0" dirty="0" err="1"/>
              <a:t>segíti</a:t>
            </a:r>
            <a:r>
              <a:rPr lang="en-US" b="0" dirty="0"/>
              <a:t> a </a:t>
            </a:r>
            <a:r>
              <a:rPr lang="en-US" b="0" dirty="0" err="1"/>
              <a:t>fejlesztést</a:t>
            </a:r>
            <a:r>
              <a:rPr lang="en-US" b="0" dirty="0"/>
              <a:t>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5563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Az MVC </a:t>
            </a:r>
            <a:r>
              <a:rPr lang="hu-HU" b="0" dirty="0"/>
              <a:t>nem tűnt el</a:t>
            </a:r>
            <a:r>
              <a:rPr lang="hu-HU" b="1" dirty="0"/>
              <a:t>, </a:t>
            </a:r>
            <a:r>
              <a:rPr lang="hu-HU" dirty="0"/>
              <a:t>továbbra is jó belső szervezési minta. A szerveren a </a:t>
            </a:r>
            <a:r>
              <a:rPr lang="hu-HU" dirty="0" err="1"/>
              <a:t>Controller</a:t>
            </a:r>
            <a:r>
              <a:rPr lang="hu-HU" dirty="0"/>
              <a:t> kezeli a kéréseket és a </a:t>
            </a:r>
            <a:r>
              <a:rPr lang="hu-HU" dirty="0" err="1"/>
              <a:t>Model</a:t>
            </a:r>
            <a:r>
              <a:rPr lang="hu-HU" dirty="0"/>
              <a:t> tartalmazza az üzleti logikát.</a:t>
            </a:r>
          </a:p>
          <a:p>
            <a:r>
              <a:rPr lang="en-US" dirty="0"/>
              <a:t>A REST</a:t>
            </a:r>
            <a:r>
              <a:rPr lang="hu-HU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technológia</a:t>
            </a:r>
            <a:r>
              <a:rPr lang="hu-HU" dirty="0"/>
              <a:t>, </a:t>
            </a:r>
            <a:r>
              <a:rPr lang="en-US" dirty="0" err="1"/>
              <a:t>hanem</a:t>
            </a:r>
            <a:r>
              <a:rPr lang="en-US" dirty="0"/>
              <a:t> </a:t>
            </a:r>
            <a:r>
              <a:rPr lang="en-US" dirty="0" err="1"/>
              <a:t>szemlélet</a:t>
            </a:r>
            <a:r>
              <a:rPr lang="hu-HU" dirty="0"/>
              <a:t>. </a:t>
            </a:r>
            <a:r>
              <a:rPr lang="en-US" dirty="0" err="1"/>
              <a:t>Meghatározza</a:t>
            </a:r>
            <a:r>
              <a:rPr lang="hu-HU" dirty="0"/>
              <a:t>, </a:t>
            </a:r>
            <a:r>
              <a:rPr lang="en-US" dirty="0" err="1"/>
              <a:t>hogyan</a:t>
            </a:r>
            <a:r>
              <a:rPr lang="en-US" dirty="0"/>
              <a:t> </a:t>
            </a:r>
            <a:r>
              <a:rPr lang="en-US" dirty="0" err="1"/>
              <a:t>kommunikálunk</a:t>
            </a:r>
            <a:r>
              <a:rPr lang="en-US" dirty="0"/>
              <a:t> HTTP-n</a:t>
            </a:r>
            <a:r>
              <a:rPr lang="hu-HU" dirty="0"/>
              <a:t> és </a:t>
            </a:r>
            <a:r>
              <a:rPr lang="en-US" dirty="0" err="1"/>
              <a:t>hogyan</a:t>
            </a:r>
            <a:r>
              <a:rPr lang="en-US" dirty="0"/>
              <a:t> </a:t>
            </a:r>
            <a:r>
              <a:rPr lang="en-US" dirty="0" err="1"/>
              <a:t>tervezzük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API-t</a:t>
            </a:r>
            <a:r>
              <a:rPr lang="hu-HU" dirty="0"/>
              <a:t>.</a:t>
            </a:r>
            <a:endParaRPr lang="en-US" dirty="0"/>
          </a:p>
          <a:p>
            <a:endParaRPr lang="hu-H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Fontos! A jó REST API nem attól jó, hogy működik, hanem attól, hogy </a:t>
            </a:r>
            <a:r>
              <a:rPr lang="hu-HU" b="1" dirty="0"/>
              <a:t>érthető és hosszú távon fenntartható</a:t>
            </a:r>
            <a:r>
              <a:rPr lang="hu-HU" dirty="0"/>
              <a:t>. </a:t>
            </a:r>
            <a:r>
              <a:rPr lang="en-US" dirty="0"/>
              <a:t>Nem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számít</a:t>
            </a:r>
            <a:r>
              <a:rPr lang="en-US" dirty="0"/>
              <a:t>, </a:t>
            </a:r>
            <a:r>
              <a:rPr lang="en-US" dirty="0" err="1"/>
              <a:t>milyen</a:t>
            </a:r>
            <a:r>
              <a:rPr lang="en-US" dirty="0"/>
              <a:t> </a:t>
            </a:r>
            <a:r>
              <a:rPr lang="en-US" dirty="0" err="1"/>
              <a:t>frameworköt</a:t>
            </a:r>
            <a:r>
              <a:rPr lang="en-US" dirty="0"/>
              <a:t> </a:t>
            </a:r>
            <a:r>
              <a:rPr lang="en-US" dirty="0" err="1"/>
              <a:t>használsz</a:t>
            </a:r>
            <a:r>
              <a:rPr lang="en-US" dirty="0"/>
              <a:t>,</a:t>
            </a:r>
            <a:r>
              <a:rPr lang="hu-HU" dirty="0"/>
              <a:t> </a:t>
            </a:r>
            <a:r>
              <a:rPr lang="en-US" dirty="0" err="1"/>
              <a:t>hanem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b="1" dirty="0" err="1"/>
              <a:t>hogyan</a:t>
            </a:r>
            <a:r>
              <a:rPr lang="en-US" b="1" dirty="0"/>
              <a:t> </a:t>
            </a:r>
            <a:r>
              <a:rPr lang="en-US" b="1" dirty="0" err="1"/>
              <a:t>gondolkodsz</a:t>
            </a:r>
            <a:r>
              <a:rPr lang="en-US" b="1" dirty="0"/>
              <a:t> </a:t>
            </a:r>
            <a:r>
              <a:rPr lang="en-US" b="1" dirty="0" err="1"/>
              <a:t>az</a:t>
            </a:r>
            <a:r>
              <a:rPr lang="en-US" b="1" dirty="0"/>
              <a:t> API-</a:t>
            </a:r>
            <a:r>
              <a:rPr lang="en-US" b="1" dirty="0" err="1"/>
              <a:t>ról</a:t>
            </a:r>
            <a:r>
              <a:rPr lang="en-US" dirty="0"/>
              <a:t>.</a:t>
            </a:r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076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221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24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466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289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986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721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426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212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83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379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327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32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612390-7FD9-3A7E-F78F-3E71606EA9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8" y="1052996"/>
            <a:ext cx="11165482" cy="2425796"/>
          </a:xfrm>
        </p:spPr>
        <p:txBody>
          <a:bodyPr anchor="b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400" dirty="0"/>
              <a:t>MVC és REST </a:t>
            </a:r>
            <a:r>
              <a:rPr lang="en-US" sz="4400" dirty="0" err="1"/>
              <a:t>architektúra</a:t>
            </a:r>
            <a:r>
              <a:rPr lang="en-US" sz="4400" dirty="0"/>
              <a:t> </a:t>
            </a:r>
            <a:r>
              <a:rPr lang="en-US" sz="4400" dirty="0" err="1"/>
              <a:t>alapjai</a:t>
            </a:r>
            <a:r>
              <a:rPr lang="en-US" sz="4400" dirty="0"/>
              <a:t> </a:t>
            </a:r>
            <a:r>
              <a:rPr lang="hu-HU" sz="4400" dirty="0"/>
              <a:t>és elvei</a:t>
            </a:r>
            <a:br>
              <a:rPr lang="en-US" sz="4400" dirty="0"/>
            </a:br>
            <a:br>
              <a:rPr lang="hu-HU" sz="3600" dirty="0"/>
            </a:br>
            <a:br>
              <a:rPr lang="hu-HU" sz="3600" dirty="0"/>
            </a:br>
            <a:br>
              <a:rPr lang="hu-HU" sz="3600" dirty="0"/>
            </a:br>
            <a:r>
              <a:rPr lang="hu-HU" sz="2400" dirty="0"/>
              <a:t>MVC és R</a:t>
            </a:r>
            <a:r>
              <a:rPr lang="en-US" sz="2400" dirty="0"/>
              <a:t>EST </a:t>
            </a:r>
            <a:r>
              <a:rPr lang="en-US" sz="2400" dirty="0" err="1"/>
              <a:t>architektúra</a:t>
            </a:r>
            <a:r>
              <a:rPr lang="en-US" sz="2400" dirty="0"/>
              <a:t>, URI design, versioning, </a:t>
            </a:r>
            <a:r>
              <a:rPr lang="hu-HU" sz="2400" dirty="0" err="1"/>
              <a:t>documentation</a:t>
            </a:r>
            <a:br>
              <a:rPr lang="en-US" sz="2400" dirty="0"/>
            </a:br>
            <a:endParaRPr lang="en-US" sz="220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D0C058D-27D4-3139-E199-E2C11099B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E94E0531-D614-3CB6-996E-FF0184A33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574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B0F56A-BB1E-8DA6-D6F7-07CE02A96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hu-HU" dirty="0"/>
              <a:t>Fontos megérteni: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Rectangle 1">
            <a:extLst>
              <a:ext uri="{FF2B5EF4-FFF2-40B4-BE49-F238E27FC236}">
                <a16:creationId xmlns:a16="http://schemas.microsoft.com/office/drawing/2014/main" id="{B977F75C-A1B3-C5E8-125E-4E8AF028A5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0180382"/>
              </p:ext>
            </p:extLst>
          </p:nvPr>
        </p:nvGraphicFramePr>
        <p:xfrm>
          <a:off x="516001" y="2196136"/>
          <a:ext cx="10584121" cy="35449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63087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5A4000-F4DE-CA7B-E645-44213B995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978407"/>
            <a:ext cx="4594803" cy="4235065"/>
          </a:xfrm>
        </p:spPr>
        <p:txBody>
          <a:bodyPr>
            <a:normAutofit/>
          </a:bodyPr>
          <a:lstStyle/>
          <a:p>
            <a:r>
              <a:rPr lang="en-US" sz="4000" dirty="0" err="1"/>
              <a:t>Miért</a:t>
            </a:r>
            <a:r>
              <a:rPr lang="en-US" sz="4000" dirty="0"/>
              <a:t> van </a:t>
            </a:r>
            <a:r>
              <a:rPr lang="en-US" sz="4000" dirty="0" err="1"/>
              <a:t>szükség</a:t>
            </a:r>
            <a:r>
              <a:rPr lang="en-US" sz="4000" dirty="0"/>
              <a:t> </a:t>
            </a:r>
            <a:r>
              <a:rPr lang="en-US" sz="4000" dirty="0" err="1"/>
              <a:t>architektúrára</a:t>
            </a:r>
            <a:r>
              <a:rPr lang="en-US" sz="4000" dirty="0"/>
              <a:t>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8EEB27-9249-8B3A-C8C2-18F9DC48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482CAC-96FF-EBE5-E97D-0BE2B8A51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Rectangle 2">
            <a:extLst>
              <a:ext uri="{FF2B5EF4-FFF2-40B4-BE49-F238E27FC236}">
                <a16:creationId xmlns:a16="http://schemas.microsoft.com/office/drawing/2014/main" id="{242EB963-07EA-05F0-652B-689744B4F3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4119987"/>
              </p:ext>
            </p:extLst>
          </p:nvPr>
        </p:nvGraphicFramePr>
        <p:xfrm>
          <a:off x="5787342" y="1743432"/>
          <a:ext cx="5312779" cy="35383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30479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BCBB1-587C-5DB0-4274-DEE24E38D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000863"/>
          </a:xfrm>
        </p:spPr>
        <p:txBody>
          <a:bodyPr>
            <a:normAutofit/>
          </a:bodyPr>
          <a:lstStyle/>
          <a:p>
            <a:r>
              <a:rPr lang="en-US" sz="4000" dirty="0"/>
              <a:t>MVC </a:t>
            </a:r>
            <a:r>
              <a:rPr lang="en-US" sz="4000" dirty="0" err="1"/>
              <a:t>architektúra</a:t>
            </a:r>
            <a:r>
              <a:rPr lang="en-US" sz="4000" dirty="0"/>
              <a:t> </a:t>
            </a:r>
            <a:r>
              <a:rPr lang="en-US" sz="4000" dirty="0" err="1"/>
              <a:t>áttekintése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6CC89-E0C6-5154-5CAE-07A1B430F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381838"/>
            <a:ext cx="11155680" cy="3767328"/>
          </a:xfrm>
        </p:spPr>
        <p:txBody>
          <a:bodyPr/>
          <a:lstStyle/>
          <a:p>
            <a:r>
              <a:rPr lang="en-US" sz="2400" b="1" dirty="0"/>
              <a:t>MVC = Model – View – Controller</a:t>
            </a:r>
            <a:endParaRPr lang="en-US" sz="2400" dirty="0"/>
          </a:p>
          <a:p>
            <a:r>
              <a:rPr lang="hu-HU" sz="2400" dirty="0"/>
              <a:t>C</a:t>
            </a:r>
            <a:r>
              <a:rPr lang="en-US" sz="2400" dirty="0" err="1"/>
              <a:t>él</a:t>
            </a:r>
            <a:r>
              <a:rPr lang="hu-HU" sz="2400" dirty="0"/>
              <a:t>: </a:t>
            </a:r>
            <a:r>
              <a:rPr lang="en-US" sz="2400" dirty="0" err="1"/>
              <a:t>szétválas</a:t>
            </a:r>
            <a:r>
              <a:rPr lang="hu-HU" sz="2400" dirty="0" err="1"/>
              <a:t>ztani</a:t>
            </a:r>
            <a:r>
              <a:rPr lang="en-US" sz="2400" dirty="0"/>
              <a:t> a </a:t>
            </a:r>
            <a:r>
              <a:rPr lang="en-US" sz="2400" dirty="0" err="1"/>
              <a:t>felelősségeket</a:t>
            </a:r>
            <a:endParaRPr lang="hu-HU" sz="2400" dirty="0"/>
          </a:p>
          <a:p>
            <a:r>
              <a:rPr lang="en-US" sz="2400" b="1" dirty="0"/>
              <a:t>Model</a:t>
            </a:r>
            <a:r>
              <a:rPr lang="en-US" sz="2400" dirty="0"/>
              <a:t>: </a:t>
            </a:r>
            <a:r>
              <a:rPr lang="en-US" sz="2400" dirty="0" err="1"/>
              <a:t>üzleti</a:t>
            </a:r>
            <a:r>
              <a:rPr lang="en-US" sz="2400" dirty="0"/>
              <a:t> </a:t>
            </a:r>
            <a:r>
              <a:rPr lang="en-US" sz="2400" dirty="0" err="1"/>
              <a:t>logika</a:t>
            </a:r>
            <a:r>
              <a:rPr lang="en-US" sz="2400" dirty="0"/>
              <a:t> és </a:t>
            </a:r>
            <a:r>
              <a:rPr lang="en-US" sz="2400" dirty="0" err="1"/>
              <a:t>adatok</a:t>
            </a:r>
            <a:endParaRPr lang="en-US" sz="2400" dirty="0"/>
          </a:p>
          <a:p>
            <a:r>
              <a:rPr lang="en-US" sz="2400" b="1" dirty="0"/>
              <a:t>View</a:t>
            </a:r>
            <a:r>
              <a:rPr lang="en-US" sz="2400" dirty="0"/>
              <a:t>: </a:t>
            </a:r>
            <a:r>
              <a:rPr lang="en-US" sz="2400" dirty="0" err="1"/>
              <a:t>megjelenítés</a:t>
            </a:r>
            <a:endParaRPr lang="en-US" sz="2400" dirty="0"/>
          </a:p>
          <a:p>
            <a:r>
              <a:rPr lang="en-US" sz="2400" b="1" dirty="0"/>
              <a:t>Controller</a:t>
            </a:r>
            <a:r>
              <a:rPr lang="en-US" sz="2400" dirty="0"/>
              <a:t>: </a:t>
            </a:r>
            <a:r>
              <a:rPr lang="en-US" sz="2400" dirty="0" err="1"/>
              <a:t>vezérlés</a:t>
            </a:r>
            <a:endParaRPr lang="hu-HU" sz="2400" dirty="0"/>
          </a:p>
        </p:txBody>
      </p:sp>
      <p:pic>
        <p:nvPicPr>
          <p:cNvPr id="4098" name="Picture 2" descr="MVC - Glossary | MDN">
            <a:extLst>
              <a:ext uri="{FF2B5EF4-FFF2-40B4-BE49-F238E27FC236}">
                <a16:creationId xmlns:a16="http://schemas.microsoft.com/office/drawing/2014/main" id="{D03C3C42-00C6-22B5-4EB6-BF9184796C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7636" y="2242941"/>
            <a:ext cx="4663674" cy="3497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454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36B09-F4B1-E1D3-77FB-BB3058E4D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19840"/>
          </a:xfrm>
        </p:spPr>
        <p:txBody>
          <a:bodyPr>
            <a:normAutofit/>
          </a:bodyPr>
          <a:lstStyle/>
          <a:p>
            <a:r>
              <a:rPr lang="hu-HU" sz="4000" dirty="0"/>
              <a:t>MVC működési folyamata</a:t>
            </a:r>
            <a:endParaRPr lang="en-US" sz="4000" dirty="0"/>
          </a:p>
        </p:txBody>
      </p:sp>
      <p:pic>
        <p:nvPicPr>
          <p:cNvPr id="3074" name="Picture 2" descr="Demystifying MVC: Understanding the Model-View-Controller Architecture | by  Boluwatife Adeyemi | Medium">
            <a:extLst>
              <a:ext uri="{FF2B5EF4-FFF2-40B4-BE49-F238E27FC236}">
                <a16:creationId xmlns:a16="http://schemas.microsoft.com/office/drawing/2014/main" id="{60D68F4E-8012-BB14-2F73-EAC24AA043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9314" y="2106592"/>
            <a:ext cx="6277240" cy="3472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85C27A-FF8C-79FF-2FA0-F0922165C1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2626901"/>
            <a:ext cx="4895746" cy="18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kérés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érkezik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Controller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u-HU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fogadja és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feldolgozza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végrehajtja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</a:t>
            </a:r>
            <a:r>
              <a:rPr kumimoji="0" lang="hu-HU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 üzleti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logikát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u-HU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előállítja a választ (megjelenítés)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697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D88A0-9F01-D6AF-211A-A11AA2B0B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08265"/>
          </a:xfrm>
        </p:spPr>
        <p:txBody>
          <a:bodyPr>
            <a:normAutofit/>
          </a:bodyPr>
          <a:lstStyle/>
          <a:p>
            <a:r>
              <a:rPr lang="en-US" sz="4000" dirty="0"/>
              <a:t>MVC </a:t>
            </a:r>
            <a:r>
              <a:rPr lang="en-US" sz="4000" dirty="0" err="1"/>
              <a:t>előnyei</a:t>
            </a:r>
            <a:r>
              <a:rPr lang="en-US" sz="4000" dirty="0"/>
              <a:t> és </a:t>
            </a:r>
            <a:r>
              <a:rPr lang="en-US" sz="4000" dirty="0" err="1"/>
              <a:t>korlátai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07DB0-6820-AE2C-1200-6622C36D5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2046173"/>
            <a:ext cx="11155680" cy="409998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b="1" dirty="0" err="1"/>
              <a:t>Előnyök</a:t>
            </a:r>
            <a:endParaRPr lang="en-US" sz="2200" dirty="0"/>
          </a:p>
          <a:p>
            <a:r>
              <a:rPr lang="en-US" sz="2200" dirty="0" err="1"/>
              <a:t>Átlátható</a:t>
            </a:r>
            <a:endParaRPr lang="en-US" sz="2200" dirty="0"/>
          </a:p>
          <a:p>
            <a:r>
              <a:rPr lang="en-US" sz="2200" dirty="0" err="1"/>
              <a:t>Tesztelhető</a:t>
            </a:r>
            <a:endParaRPr lang="en-US" sz="2200" dirty="0"/>
          </a:p>
          <a:p>
            <a:r>
              <a:rPr lang="en-US" sz="2200" dirty="0" err="1"/>
              <a:t>Jól</a:t>
            </a:r>
            <a:r>
              <a:rPr lang="en-US" sz="2200" dirty="0"/>
              <a:t> </a:t>
            </a:r>
            <a:r>
              <a:rPr lang="en-US" sz="2200" dirty="0" err="1"/>
              <a:t>strukturált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b="1" dirty="0" err="1"/>
              <a:t>Korlátok</a:t>
            </a:r>
            <a:endParaRPr lang="hu-HU" sz="2200" dirty="0"/>
          </a:p>
          <a:p>
            <a:r>
              <a:rPr lang="en-US" sz="2200" dirty="0"/>
              <a:t>Nem </a:t>
            </a:r>
            <a:r>
              <a:rPr lang="en-US" sz="2200" dirty="0" err="1"/>
              <a:t>ideális</a:t>
            </a:r>
            <a:r>
              <a:rPr lang="en-US" sz="2200" dirty="0"/>
              <a:t> </a:t>
            </a:r>
            <a:r>
              <a:rPr lang="en-US" sz="2200" dirty="0" err="1"/>
              <a:t>tisztán</a:t>
            </a:r>
            <a:r>
              <a:rPr lang="en-US" sz="2200" dirty="0"/>
              <a:t> API-</a:t>
            </a:r>
            <a:r>
              <a:rPr lang="en-US" sz="2200" dirty="0" err="1"/>
              <a:t>hoz</a:t>
            </a:r>
            <a:endParaRPr lang="hu-HU" sz="2200" dirty="0"/>
          </a:p>
          <a:p>
            <a:r>
              <a:rPr lang="hu-HU" sz="2200" dirty="0"/>
              <a:t>Modern weben a frontend (</a:t>
            </a:r>
            <a:r>
              <a:rPr lang="hu-HU" sz="2200" dirty="0" err="1"/>
              <a:t>view</a:t>
            </a:r>
            <a:r>
              <a:rPr lang="hu-HU" sz="2200" dirty="0"/>
              <a:t>) már külön van</a:t>
            </a:r>
          </a:p>
          <a:p>
            <a:r>
              <a:rPr lang="en-US" sz="2200" dirty="0"/>
              <a:t>Nagy </a:t>
            </a:r>
            <a:r>
              <a:rPr lang="en-US" sz="2200" dirty="0" err="1"/>
              <a:t>rendszernél</a:t>
            </a:r>
            <a:r>
              <a:rPr lang="en-US" sz="2200" dirty="0"/>
              <a:t> </a:t>
            </a:r>
            <a:r>
              <a:rPr lang="en-US" sz="2200" dirty="0" err="1"/>
              <a:t>túl</a:t>
            </a:r>
            <a:r>
              <a:rPr lang="en-US" sz="2200" dirty="0"/>
              <a:t> </a:t>
            </a:r>
            <a:r>
              <a:rPr lang="en-US" sz="2200" dirty="0" err="1"/>
              <a:t>sok</a:t>
            </a:r>
            <a:r>
              <a:rPr lang="en-US" sz="2200" dirty="0"/>
              <a:t> controller</a:t>
            </a:r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205778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A9C99-2346-F398-63E3-BC9E59523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96691"/>
          </a:xfrm>
        </p:spPr>
        <p:txBody>
          <a:bodyPr/>
          <a:lstStyle/>
          <a:p>
            <a:r>
              <a:rPr lang="en-US" dirty="0"/>
              <a:t>Mi </a:t>
            </a:r>
            <a:r>
              <a:rPr lang="en-US" dirty="0" err="1"/>
              <a:t>az</a:t>
            </a:r>
            <a:r>
              <a:rPr lang="en-US" dirty="0"/>
              <a:t> a REST?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BD1C7-8CC0-FA51-4F6C-267802C27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2320609"/>
            <a:ext cx="11155680" cy="376732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dirty="0"/>
              <a:t>REST</a:t>
            </a:r>
            <a:r>
              <a:rPr lang="en-US" sz="2800" dirty="0"/>
              <a:t> = </a:t>
            </a:r>
            <a:r>
              <a:rPr lang="en-US" sz="2800" b="1" dirty="0"/>
              <a:t>Re</a:t>
            </a:r>
            <a:r>
              <a:rPr lang="en-US" sz="2800" dirty="0"/>
              <a:t>presentational </a:t>
            </a:r>
            <a:r>
              <a:rPr lang="en-US" sz="2800" b="1" dirty="0"/>
              <a:t>S</a:t>
            </a:r>
            <a:r>
              <a:rPr lang="en-US" sz="2800" dirty="0"/>
              <a:t>tate </a:t>
            </a:r>
            <a:r>
              <a:rPr lang="en-US" sz="2800" b="1" dirty="0"/>
              <a:t>T</a:t>
            </a:r>
            <a:r>
              <a:rPr lang="en-US" sz="2800" dirty="0"/>
              <a:t>ransfer</a:t>
            </a:r>
            <a:endParaRPr lang="hu-HU" sz="2800" dirty="0"/>
          </a:p>
          <a:p>
            <a:pPr>
              <a:lnSpc>
                <a:spcPct val="150000"/>
              </a:lnSpc>
            </a:pPr>
            <a:r>
              <a:rPr lang="hu-HU" sz="2800" dirty="0"/>
              <a:t>Egy </a:t>
            </a:r>
            <a:r>
              <a:rPr lang="hu-HU" sz="2800" dirty="0" err="1"/>
              <a:t>architektúrális</a:t>
            </a:r>
            <a:r>
              <a:rPr lang="hu-HU" sz="2800" dirty="0"/>
              <a:t> stílus</a:t>
            </a:r>
          </a:p>
          <a:p>
            <a:pPr>
              <a:lnSpc>
                <a:spcPct val="150000"/>
              </a:lnSpc>
            </a:pPr>
            <a:r>
              <a:rPr lang="hu-HU" sz="2800" dirty="0"/>
              <a:t>HTTP protokollra épül</a:t>
            </a:r>
          </a:p>
          <a:p>
            <a:pPr>
              <a:lnSpc>
                <a:spcPct val="150000"/>
              </a:lnSpc>
            </a:pPr>
            <a:r>
              <a:rPr lang="hu-HU" sz="2800" dirty="0"/>
              <a:t>Erőforrás (</a:t>
            </a:r>
            <a:r>
              <a:rPr lang="hu-HU" sz="2800" dirty="0" err="1"/>
              <a:t>Resource</a:t>
            </a:r>
            <a:r>
              <a:rPr lang="hu-HU" sz="2800" dirty="0"/>
              <a:t>) központú szemlélet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9843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87BA1-4108-B91F-40E1-E716907A3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54564"/>
          </a:xfrm>
        </p:spPr>
        <p:txBody>
          <a:bodyPr>
            <a:normAutofit/>
          </a:bodyPr>
          <a:lstStyle/>
          <a:p>
            <a:r>
              <a:rPr lang="en-US" sz="4000" dirty="0"/>
              <a:t>REST </a:t>
            </a:r>
            <a:r>
              <a:rPr lang="en-US" sz="4000" dirty="0" err="1"/>
              <a:t>alapelvek</a:t>
            </a:r>
            <a:endParaRPr lang="en-US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F88F808-A847-928F-8DE0-2360005452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2309078"/>
            <a:ext cx="7060210" cy="2239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Client–Server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felépítés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Állapotnélküli (</a:t>
            </a:r>
            <a:r>
              <a:rPr kumimoji="0" lang="hu-HU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stateless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Egységes felület 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Uniform Interface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u-HU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Gyorsítótárazás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Cacheable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BFF959-B263-8891-744C-C4BF98BBE5FD}"/>
              </a:ext>
            </a:extLst>
          </p:cNvPr>
          <p:cNvSpPr txBox="1"/>
          <p:nvPr/>
        </p:nvSpPr>
        <p:spPr>
          <a:xfrm>
            <a:off x="521207" y="5233261"/>
            <a:ext cx="732655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200" dirty="0"/>
              <a:t>A REST </a:t>
            </a:r>
            <a:r>
              <a:rPr lang="en-US" sz="2200" dirty="0" err="1"/>
              <a:t>alapelvek</a:t>
            </a:r>
            <a:r>
              <a:rPr lang="en-US" sz="2200" dirty="0"/>
              <a:t> </a:t>
            </a:r>
            <a:r>
              <a:rPr lang="en-US" sz="2200" dirty="0" err="1"/>
              <a:t>célja</a:t>
            </a:r>
            <a:r>
              <a:rPr lang="hu-HU" sz="2200" dirty="0"/>
              <a:t>, hogy a webes API </a:t>
            </a:r>
            <a:r>
              <a:rPr lang="hu-HU" sz="2200" b="1" dirty="0"/>
              <a:t>egyszerű</a:t>
            </a:r>
            <a:r>
              <a:rPr lang="hu-HU" sz="2200" dirty="0"/>
              <a:t> legyen, jól </a:t>
            </a:r>
            <a:r>
              <a:rPr lang="hu-HU" sz="2200" b="1" dirty="0"/>
              <a:t>skálázható</a:t>
            </a:r>
            <a:r>
              <a:rPr lang="hu-HU" sz="2200" dirty="0"/>
              <a:t> és hosszú távon </a:t>
            </a:r>
            <a:r>
              <a:rPr lang="hu-HU" sz="2200" b="1" dirty="0"/>
              <a:t>karbantartható</a:t>
            </a:r>
            <a:r>
              <a:rPr lang="hu-HU" sz="2200" dirty="0"/>
              <a:t>.</a:t>
            </a:r>
            <a:endParaRPr lang="hu-HU" sz="2200" b="1" dirty="0"/>
          </a:p>
        </p:txBody>
      </p:sp>
    </p:spTree>
    <p:extLst>
      <p:ext uri="{BB962C8B-B14F-4D97-AF65-F5344CB8AC3E}">
        <p14:creationId xmlns:p14="http://schemas.microsoft.com/office/powerpoint/2010/main" val="2289130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CF23E-4447-DB0F-90D0-B967F6C71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61967"/>
          </a:xfrm>
        </p:spPr>
        <p:txBody>
          <a:bodyPr>
            <a:normAutofit/>
          </a:bodyPr>
          <a:lstStyle/>
          <a:p>
            <a:r>
              <a:rPr lang="en-US" sz="4000" dirty="0"/>
              <a:t>REST és HTTP </a:t>
            </a:r>
            <a:r>
              <a:rPr lang="en-US" sz="4000" dirty="0" err="1"/>
              <a:t>kapcsolata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8A0D0-4C64-106A-E484-A0A1B24CB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333" y="2231369"/>
            <a:ext cx="8730011" cy="376732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REST </a:t>
            </a:r>
            <a:r>
              <a:rPr lang="en-US" sz="2800" b="1" dirty="0" err="1"/>
              <a:t>kihasználja</a:t>
            </a:r>
            <a:r>
              <a:rPr lang="en-US" sz="2800" dirty="0"/>
              <a:t> a HTTP </a:t>
            </a:r>
            <a:r>
              <a:rPr lang="en-US" sz="2800" dirty="0" err="1"/>
              <a:t>protokol</a:t>
            </a:r>
            <a:r>
              <a:rPr lang="hu-HU" sz="2800" dirty="0"/>
              <a:t>l</a:t>
            </a:r>
            <a:r>
              <a:rPr lang="en-US" sz="2800" dirty="0"/>
              <a:t>t</a:t>
            </a:r>
            <a:endParaRPr lang="hu-HU" sz="2800" dirty="0"/>
          </a:p>
          <a:p>
            <a:pPr>
              <a:lnSpc>
                <a:spcPct val="150000"/>
              </a:lnSpc>
            </a:pPr>
            <a:r>
              <a:rPr lang="en-US" sz="2800" dirty="0"/>
              <a:t>HTTP </a:t>
            </a:r>
            <a:r>
              <a:rPr lang="en-US" sz="2800" dirty="0" err="1"/>
              <a:t>metódusok</a:t>
            </a:r>
            <a:r>
              <a:rPr lang="hu-HU" sz="2800" dirty="0"/>
              <a:t>: műveletek</a:t>
            </a:r>
          </a:p>
          <a:p>
            <a:pPr>
              <a:lnSpc>
                <a:spcPct val="150000"/>
              </a:lnSpc>
            </a:pPr>
            <a:r>
              <a:rPr lang="hu-HU" sz="2800" dirty="0"/>
              <a:t>Státuszkódok: állapotjelzés</a:t>
            </a:r>
          </a:p>
          <a:p>
            <a:pPr>
              <a:lnSpc>
                <a:spcPct val="150000"/>
              </a:lnSpc>
            </a:pPr>
            <a:r>
              <a:rPr lang="hu-HU" sz="2800" dirty="0"/>
              <a:t>Fejlécek: kiegészítő metaadatok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73884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BFAF2-1FFE-D1E7-9DA9-636190A3F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61967"/>
          </a:xfrm>
        </p:spPr>
        <p:txBody>
          <a:bodyPr>
            <a:normAutofit/>
          </a:bodyPr>
          <a:lstStyle/>
          <a:p>
            <a:r>
              <a:rPr lang="en-US" sz="4000" dirty="0"/>
              <a:t>MVC és REST </a:t>
            </a:r>
            <a:r>
              <a:rPr lang="en-US" sz="4000" dirty="0" err="1"/>
              <a:t>kapcsolata</a:t>
            </a:r>
            <a:endParaRPr lang="en-US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4B6CCC7-4697-F699-5CE8-E9AE1062AB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0700" y="2083037"/>
            <a:ext cx="8032991" cy="38904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MVC a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szerveren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 API mint backend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interfész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külön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alkalmazás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Controller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REST endpoint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üzleti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logika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JSON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válasz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3117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AB796-2617-5342-A839-C50F52934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50392"/>
          </a:xfrm>
        </p:spPr>
        <p:txBody>
          <a:bodyPr/>
          <a:lstStyle/>
          <a:p>
            <a:r>
              <a:rPr lang="en-US" dirty="0"/>
              <a:t>MVC és REST </a:t>
            </a:r>
            <a:r>
              <a:rPr lang="en-US" dirty="0" err="1"/>
              <a:t>kapcsolata</a:t>
            </a:r>
            <a:endParaRPr lang="en-US" dirty="0"/>
          </a:p>
        </p:txBody>
      </p:sp>
      <p:pic>
        <p:nvPicPr>
          <p:cNvPr id="11268" name="Picture 4" descr="Rest Api Java Spring Mvc Tutorial Rest Api Java Mvc Framework Tutorial  Repository Spring Mvc Rest">
            <a:extLst>
              <a:ext uri="{FF2B5EF4-FFF2-40B4-BE49-F238E27FC236}">
                <a16:creationId xmlns:a16="http://schemas.microsoft.com/office/drawing/2014/main" id="{BC7E89FC-D81B-E1C2-C09F-E90ED1C4D4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2309" y="1956120"/>
            <a:ext cx="6690830" cy="4463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98484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A0A1F-87F0-CEF9-98FE-56CAC13F6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31415"/>
          </a:xfrm>
        </p:spPr>
        <p:txBody>
          <a:bodyPr>
            <a:normAutofit/>
          </a:bodyPr>
          <a:lstStyle/>
          <a:p>
            <a:r>
              <a:rPr lang="en-US" sz="4000" dirty="0"/>
              <a:t>URI design </a:t>
            </a:r>
            <a:r>
              <a:rPr lang="en-US" sz="4000" dirty="0" err="1"/>
              <a:t>alapelvek</a:t>
            </a:r>
            <a:endParaRPr lang="en-US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A2A9E2B-CF28-2182-DA8E-2B5CC55B95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9570" y="1991588"/>
            <a:ext cx="5908990" cy="1951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Legyen e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rőforrás-alapú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Használjunk t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öbbes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szám</a:t>
            </a:r>
            <a:r>
              <a:rPr kumimoji="0" lang="hu-HU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Nincs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ige</a:t>
            </a: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hanem főnév használata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BB2B2A-6D40-437C-C4BB-DF39645DB3AE}"/>
              </a:ext>
            </a:extLst>
          </p:cNvPr>
          <p:cNvSpPr txBox="1"/>
          <p:nvPr/>
        </p:nvSpPr>
        <p:spPr>
          <a:xfrm>
            <a:off x="679570" y="4532679"/>
            <a:ext cx="60940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2400" dirty="0"/>
              <a:t>❌ </a:t>
            </a:r>
            <a:r>
              <a:rPr lang="nb-NO" sz="2400" dirty="0">
                <a:latin typeface="Courier New" panose="02070309020205020404" pitchFamily="49" charset="0"/>
              </a:rPr>
              <a:t>/getUser?id=5</a:t>
            </a:r>
            <a:br>
              <a:rPr lang="nb-NO" sz="2400" dirty="0"/>
            </a:br>
            <a:r>
              <a:rPr lang="nb-NO" sz="2400" dirty="0"/>
              <a:t>✅ </a:t>
            </a:r>
            <a:r>
              <a:rPr lang="nb-NO" sz="2400" dirty="0">
                <a:latin typeface="Courier New" panose="02070309020205020404" pitchFamily="49" charset="0"/>
              </a:rPr>
              <a:t>/users/5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82176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3E461-7816-4C46-3C3F-2F47B67D4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08265"/>
          </a:xfrm>
        </p:spPr>
        <p:txBody>
          <a:bodyPr>
            <a:normAutofit/>
          </a:bodyPr>
          <a:lstStyle/>
          <a:p>
            <a:r>
              <a:rPr lang="en-US" sz="4000" dirty="0"/>
              <a:t>REST </a:t>
            </a:r>
            <a:r>
              <a:rPr lang="en-US" sz="4000" dirty="0" err="1"/>
              <a:t>verziózás</a:t>
            </a:r>
            <a:endParaRPr lang="en-US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E036416-6143-EEA4-570A-251999249E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1796079"/>
            <a:ext cx="9051055" cy="44646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 mint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szerződés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kliens és a szerver között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Verziózás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szükségessége</a:t>
            </a:r>
            <a:endParaRPr kumimoji="0" lang="hu-HU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altLang="en-US" sz="2200" dirty="0">
                <a:latin typeface="Arial" panose="020B0604020202020204" pitchFamily="34" charset="0"/>
              </a:rPr>
              <a:t> Stabilitás, karbantarthatóság, kontrollált változtatások</a:t>
            </a:r>
            <a:endParaRPr kumimoji="0" lang="hu-HU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sz="2400" dirty="0"/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Visszafelé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kompatibilitás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u-HU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Verziózási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tratégiák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altLang="en-US" sz="2400" dirty="0">
                <a:latin typeface="Arial" panose="020B0604020202020204" pitchFamily="34" charset="0"/>
              </a:rPr>
              <a:t> URL alapú: </a:t>
            </a:r>
            <a:r>
              <a:rPr lang="hu-HU" altLang="en-US" sz="2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/</a:t>
            </a:r>
            <a:r>
              <a:rPr lang="hu-HU" altLang="en-US" sz="2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api</a:t>
            </a:r>
            <a:r>
              <a:rPr lang="hu-HU" altLang="en-US" sz="2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/v1/</a:t>
            </a:r>
            <a:r>
              <a:rPr lang="hu-HU" altLang="en-US" sz="2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users</a:t>
            </a:r>
            <a:endParaRPr lang="hu-HU" altLang="en-US" sz="2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HTTP </a:t>
            </a:r>
            <a:r>
              <a:rPr lang="hu-HU" altLang="en-US" sz="2400" dirty="0">
                <a:latin typeface="Arial" panose="020B0604020202020204" pitchFamily="34" charset="0"/>
              </a:rPr>
              <a:t>fejléc alapú: </a:t>
            </a:r>
            <a:r>
              <a:rPr lang="hu-HU" altLang="en-US" sz="2400" dirty="0">
                <a:latin typeface="Candara Light" panose="020E0502030303020204" pitchFamily="34" charset="0"/>
              </a:rPr>
              <a:t>X-API-Version: 1</a:t>
            </a:r>
            <a:endParaRPr kumimoji="0" lang="hu-HU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ndara Light" panose="020E0502030303020204" pitchFamily="34" charset="0"/>
            </a:endParaRP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altLang="en-US" sz="2400" dirty="0">
                <a:latin typeface="Arial" panose="020B0604020202020204" pitchFamily="34" charset="0"/>
              </a:rPr>
              <a:t> </a:t>
            </a:r>
            <a:r>
              <a:rPr lang="hu-HU" altLang="en-US" sz="2400" dirty="0" err="1">
                <a:latin typeface="Arial" panose="020B0604020202020204" pitchFamily="34" charset="0"/>
              </a:rPr>
              <a:t>Query</a:t>
            </a:r>
            <a:r>
              <a:rPr lang="hu-HU" altLang="en-US" sz="2400" dirty="0">
                <a:latin typeface="Arial" panose="020B0604020202020204" pitchFamily="34" charset="0"/>
              </a:rPr>
              <a:t> paraméter alapú: </a:t>
            </a:r>
            <a:r>
              <a:rPr lang="hu-HU" altLang="en-US" sz="2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?version=1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56634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7C849-6B78-6D51-A558-FAE114C64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89288"/>
          </a:xfrm>
        </p:spPr>
        <p:txBody>
          <a:bodyPr>
            <a:normAutofit/>
          </a:bodyPr>
          <a:lstStyle/>
          <a:p>
            <a:r>
              <a:rPr lang="en-US" sz="4000" dirty="0"/>
              <a:t>REST </a:t>
            </a:r>
            <a:r>
              <a:rPr lang="en-US" sz="4000" dirty="0" err="1"/>
              <a:t>dokumentáció</a:t>
            </a:r>
            <a:r>
              <a:rPr lang="en-US" sz="4000" dirty="0"/>
              <a:t> </a:t>
            </a:r>
            <a:r>
              <a:rPr lang="en-US" sz="4000" dirty="0" err="1"/>
              <a:t>szükségessége</a:t>
            </a:r>
            <a:endParaRPr lang="en-US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E6AC0A0-BCF7-79BA-73B8-4045E22BBE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2331349"/>
            <a:ext cx="8044566" cy="3244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Fejlesztők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közti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kommunikáció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Egyértelmű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API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szerződés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Automatizált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tesztelés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Kliens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generálás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hu-HU" altLang="en-US" sz="2800" dirty="0"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Verziók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követhetősége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49284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89633-14F3-CA9A-9804-60841CFCB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38817"/>
          </a:xfrm>
        </p:spPr>
        <p:txBody>
          <a:bodyPr>
            <a:normAutofit/>
          </a:bodyPr>
          <a:lstStyle/>
          <a:p>
            <a:r>
              <a:rPr lang="en-US" sz="4000" dirty="0"/>
              <a:t>Swagger és </a:t>
            </a:r>
            <a:r>
              <a:rPr lang="en-US" sz="4000" dirty="0" err="1"/>
              <a:t>OpenAPI</a:t>
            </a:r>
            <a:endParaRPr lang="en-US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75D2D1D-7CB8-E0B7-316D-1FF885E3BD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2251496"/>
            <a:ext cx="8553344" cy="3244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OpenAPI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specifikáció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Swagger UI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Interaktív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dokumentáció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Böngészőből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tesztelhető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API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Fejlesztési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eszköz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79926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58BC9-475E-AB40-5C12-4AB27A49F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932111"/>
            <a:ext cx="11155680" cy="780942"/>
          </a:xfrm>
        </p:spPr>
        <p:txBody>
          <a:bodyPr>
            <a:normAutofit/>
          </a:bodyPr>
          <a:lstStyle/>
          <a:p>
            <a:r>
              <a:rPr lang="hu-HU" sz="4000" dirty="0" err="1"/>
              <a:t>Swagger</a:t>
            </a:r>
            <a:r>
              <a:rPr lang="hu-HU" sz="4000" dirty="0"/>
              <a:t> UI</a:t>
            </a:r>
            <a:endParaRPr lang="en-US" sz="4000" dirty="0"/>
          </a:p>
        </p:txBody>
      </p:sp>
      <p:pic>
        <p:nvPicPr>
          <p:cNvPr id="7170" name="Picture 2" descr="REST API Documentation Tool | Swagger UI">
            <a:extLst>
              <a:ext uri="{FF2B5EF4-FFF2-40B4-BE49-F238E27FC236}">
                <a16:creationId xmlns:a16="http://schemas.microsoft.com/office/drawing/2014/main" id="{EB502FC4-BB78-2FBA-44B2-A0B0CCAD521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406" y="1840375"/>
            <a:ext cx="9325384" cy="4589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22860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C60BB-4125-93CA-3209-785D3DC39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69369"/>
          </a:xfrm>
        </p:spPr>
        <p:txBody>
          <a:bodyPr>
            <a:normAutofit/>
          </a:bodyPr>
          <a:lstStyle/>
          <a:p>
            <a:r>
              <a:rPr lang="hu-HU" sz="4000" dirty="0" err="1"/>
              <a:t>Swagger</a:t>
            </a:r>
            <a:r>
              <a:rPr lang="hu-HU" sz="4000" dirty="0"/>
              <a:t> UI</a:t>
            </a:r>
            <a:endParaRPr lang="en-US" sz="4000" dirty="0"/>
          </a:p>
        </p:txBody>
      </p:sp>
      <p:pic>
        <p:nvPicPr>
          <p:cNvPr id="8194" name="Picture 2" descr="Using Swagger &quot;Try it out&quot; in the API Catalog | Zowe Docs">
            <a:extLst>
              <a:ext uri="{FF2B5EF4-FFF2-40B4-BE49-F238E27FC236}">
                <a16:creationId xmlns:a16="http://schemas.microsoft.com/office/drawing/2014/main" id="{0A1DA26A-3F8B-93FD-611D-77B48D4625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0065" y="2157205"/>
            <a:ext cx="8843059" cy="4054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73157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32E2D-F677-B187-DD35-131D6E3E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012438"/>
          </a:xfrm>
        </p:spPr>
        <p:txBody>
          <a:bodyPr>
            <a:normAutofit/>
          </a:bodyPr>
          <a:lstStyle/>
          <a:p>
            <a:r>
              <a:rPr lang="en-US" sz="4000" dirty="0" err="1"/>
              <a:t>Összefoglalás</a:t>
            </a:r>
            <a:endParaRPr lang="en-US" sz="40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E6567FB-C9FF-66B9-EF8F-B9CEC4DB09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2193787"/>
            <a:ext cx="8264485" cy="3244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MVC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gondolkodás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szerveren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 </a:t>
            </a: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alap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elvek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Erőforrás-alapú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URI-k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Verziózás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szerződésvédelem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Dokumentáció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OpenAPI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/ Swagger)</a:t>
            </a:r>
          </a:p>
        </p:txBody>
      </p:sp>
    </p:spTree>
    <p:extLst>
      <p:ext uri="{BB962C8B-B14F-4D97-AF65-F5344CB8AC3E}">
        <p14:creationId xmlns:p14="http://schemas.microsoft.com/office/powerpoint/2010/main" val="2847921055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1555</TotalTime>
  <Words>2119</Words>
  <Application>Microsoft Office PowerPoint</Application>
  <PresentationFormat>Widescreen</PresentationFormat>
  <Paragraphs>253</Paragraphs>
  <Slides>18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Arial</vt:lpstr>
      <vt:lpstr>Bierstadt</vt:lpstr>
      <vt:lpstr>Calibri Light</vt:lpstr>
      <vt:lpstr>Candara Light</vt:lpstr>
      <vt:lpstr>Courier New</vt:lpstr>
      <vt:lpstr>GestaltVTI</vt:lpstr>
      <vt:lpstr>MVC és REST architektúra alapjai és elvei    MVC és REST architektúra, URI design, versioning, documentation </vt:lpstr>
      <vt:lpstr>Fontos megérteni:</vt:lpstr>
      <vt:lpstr>Miért van szükség architektúrára?</vt:lpstr>
      <vt:lpstr>MVC architektúra áttekintése</vt:lpstr>
      <vt:lpstr>MVC működési folyamata</vt:lpstr>
      <vt:lpstr>MVC előnyei és korlátai</vt:lpstr>
      <vt:lpstr>Mi az a REST?</vt:lpstr>
      <vt:lpstr>REST alapelvek</vt:lpstr>
      <vt:lpstr>REST és HTTP kapcsolata</vt:lpstr>
      <vt:lpstr>MVC és REST kapcsolata</vt:lpstr>
      <vt:lpstr>MVC és REST kapcsolata</vt:lpstr>
      <vt:lpstr>URI design alapelvek</vt:lpstr>
      <vt:lpstr>REST verziózás</vt:lpstr>
      <vt:lpstr>REST dokumentáció szükségessége</vt:lpstr>
      <vt:lpstr>Swagger és OpenAPI</vt:lpstr>
      <vt:lpstr>Swagger UI</vt:lpstr>
      <vt:lpstr>Swagger UI</vt:lpstr>
      <vt:lpstr>Összefoglalás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Zoltan Balogh</dc:creator>
  <cp:lastModifiedBy>Zoltan Balogh</cp:lastModifiedBy>
  <cp:revision>95</cp:revision>
  <dcterms:created xsi:type="dcterms:W3CDTF">2025-11-30T15:45:28Z</dcterms:created>
  <dcterms:modified xsi:type="dcterms:W3CDTF">2026-03-16T15:09:34Z</dcterms:modified>
</cp:coreProperties>
</file>