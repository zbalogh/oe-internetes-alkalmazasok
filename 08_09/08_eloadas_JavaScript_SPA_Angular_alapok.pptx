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18"/>
  </p:notesMasterIdLst>
  <p:sldIdLst>
    <p:sldId id="256" r:id="rId2"/>
    <p:sldId id="259" r:id="rId3"/>
    <p:sldId id="275" r:id="rId4"/>
    <p:sldId id="276" r:id="rId5"/>
    <p:sldId id="277" r:id="rId6"/>
    <p:sldId id="278" r:id="rId7"/>
    <p:sldId id="279" r:id="rId8"/>
    <p:sldId id="280" r:id="rId9"/>
    <p:sldId id="281" r:id="rId10"/>
    <p:sldId id="282" r:id="rId11"/>
    <p:sldId id="283" r:id="rId12"/>
    <p:sldId id="284" r:id="rId13"/>
    <p:sldId id="285" r:id="rId14"/>
    <p:sldId id="286" r:id="rId15"/>
    <p:sldId id="287" r:id="rId16"/>
    <p:sldId id="2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75182" autoAdjust="0"/>
  </p:normalViewPr>
  <p:slideViewPr>
    <p:cSldViewPr snapToGrid="0">
      <p:cViewPr varScale="1">
        <p:scale>
          <a:sx n="95" d="100"/>
          <a:sy n="95" d="100"/>
        </p:scale>
        <p:origin x="10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482E4E-5CEC-44A9-BF2B-512FB3B5604F}" type="datetimeFigureOut">
              <a:rPr lang="en-US" smtClean="0"/>
              <a:t>1/18/2026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D23EBC-67FA-4278-B97C-82D0A52FD2DA}" type="slidenum">
              <a:rPr lang="en-US" smtClean="0"/>
              <a:t>‹#›</a:t>
            </a:fld>
            <a:endParaRPr lang="en-US"/>
          </a:p>
        </p:txBody>
      </p:sp>
    </p:spTree>
    <p:extLst>
      <p:ext uri="{BB962C8B-B14F-4D97-AF65-F5344CB8AC3E}">
        <p14:creationId xmlns:p14="http://schemas.microsoft.com/office/powerpoint/2010/main" val="3780096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Ebben a prezentációban a modern webfejlesztés egyik legfontosabb világába lépünk be: a JavaScript/</a:t>
            </a:r>
            <a:r>
              <a:rPr lang="hu-HU" dirty="0" err="1"/>
              <a:t>TypeScript</a:t>
            </a:r>
            <a:r>
              <a:rPr lang="hu-HU" dirty="0"/>
              <a:t> és az </a:t>
            </a:r>
            <a:r>
              <a:rPr lang="hu-HU" dirty="0" err="1"/>
              <a:t>Angular</a:t>
            </a:r>
            <a:r>
              <a:rPr lang="hu-HU" dirty="0"/>
              <a:t> alapjaiba.</a:t>
            </a:r>
          </a:p>
          <a:p>
            <a:r>
              <a:rPr lang="hu-HU" dirty="0"/>
              <a:t>A </a:t>
            </a:r>
            <a:r>
              <a:rPr lang="hu-HU" b="1" dirty="0"/>
              <a:t>JavaScript</a:t>
            </a:r>
            <a:r>
              <a:rPr lang="hu-HU" dirty="0"/>
              <a:t> egy univerzális nyelv, amit minden böngésző natívan ért, az </a:t>
            </a:r>
            <a:r>
              <a:rPr lang="hu-HU" b="1" dirty="0" err="1"/>
              <a:t>Angular</a:t>
            </a:r>
            <a:r>
              <a:rPr lang="hu-HU" dirty="0"/>
              <a:t> pedig az egyik legnépszerűbb keretrendszer, amit nagyvállalatok és komoly alkalmazások használnak. </a:t>
            </a:r>
          </a:p>
          <a:p>
            <a:endParaRPr lang="hu-HU" dirty="0"/>
          </a:p>
          <a:p>
            <a:r>
              <a:rPr lang="hu-HU" dirty="0"/>
              <a:t>A cél, hogy megértsük, hogyan épül fel az </a:t>
            </a:r>
            <a:r>
              <a:rPr lang="hu-HU" b="1" dirty="0" err="1"/>
              <a:t>Angular</a:t>
            </a:r>
            <a:r>
              <a:rPr lang="hu-HU" dirty="0"/>
              <a:t>, és milyen </a:t>
            </a:r>
            <a:r>
              <a:rPr lang="hu-HU" b="1" dirty="0"/>
              <a:t>JavaScript/</a:t>
            </a:r>
            <a:r>
              <a:rPr lang="hu-HU" b="1" dirty="0" err="1"/>
              <a:t>TypeScript</a:t>
            </a:r>
            <a:r>
              <a:rPr lang="hu-HU" b="1" dirty="0"/>
              <a:t> alapok </a:t>
            </a:r>
            <a:r>
              <a:rPr lang="hu-HU" dirty="0"/>
              <a:t>szükségesek hozzá. Ezek az ismeretek később szinte az összes modern frontendes feladathoz szükségesek lesznek.</a:t>
            </a:r>
          </a:p>
          <a:p>
            <a:endParaRPr lang="hu-HU" dirty="0"/>
          </a:p>
        </p:txBody>
      </p:sp>
      <p:sp>
        <p:nvSpPr>
          <p:cNvPr id="4" name="Slide Number Placeholder 3"/>
          <p:cNvSpPr>
            <a:spLocks noGrp="1"/>
          </p:cNvSpPr>
          <p:nvPr>
            <p:ph type="sldNum" sz="quarter" idx="5"/>
          </p:nvPr>
        </p:nvSpPr>
        <p:spPr/>
        <p:txBody>
          <a:bodyPr/>
          <a:lstStyle/>
          <a:p>
            <a:fld id="{82D23EBC-67FA-4278-B97C-82D0A52FD2DA}" type="slidenum">
              <a:rPr lang="en-US" smtClean="0"/>
              <a:t>1</a:t>
            </a:fld>
            <a:endParaRPr lang="en-US"/>
          </a:p>
        </p:txBody>
      </p:sp>
    </p:spTree>
    <p:extLst>
      <p:ext uri="{BB962C8B-B14F-4D97-AF65-F5344CB8AC3E}">
        <p14:creationId xmlns:p14="http://schemas.microsoft.com/office/powerpoint/2010/main" val="1605838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A </a:t>
            </a:r>
            <a:r>
              <a:rPr lang="hu-HU" b="1" dirty="0"/>
              <a:t>JavaScript</a:t>
            </a:r>
            <a:r>
              <a:rPr lang="hu-HU" dirty="0"/>
              <a:t> az egyetlen nyelv, amit minden böngésző közvetlenül futtat. Nem kell fordítani, nem kell telepíteni semmit: működik mindenhol. Emiatt lett a web egyik legmeghatározóbb technológiája.</a:t>
            </a:r>
          </a:p>
          <a:p>
            <a:endParaRPr lang="hu-HU" dirty="0"/>
          </a:p>
          <a:p>
            <a:r>
              <a:rPr lang="hu-HU" dirty="0"/>
              <a:t>Az </a:t>
            </a:r>
            <a:r>
              <a:rPr lang="hu-HU" b="1" dirty="0" err="1"/>
              <a:t>Angular</a:t>
            </a:r>
            <a:r>
              <a:rPr lang="hu-HU" b="1" dirty="0"/>
              <a:t>-t</a:t>
            </a:r>
            <a:r>
              <a:rPr lang="hu-HU" dirty="0"/>
              <a:t> azért használjuk, mert egy komplett keretrendszer, ami nem csak egy könyvtár, hanem egy jól strukturált, nagyvállalati szintű keretrendszer, amely szilárd szabályokat és eszközöket ad. Ez azt jelenti, hogy ad egy előre kialakított építészeti mintát, hogy hogyan építsünk fel nagy, összetett webalkalmazásokat. Rengeteg olyan funkcionalitást ad alapból, amit más technológiákban külön könyvtárakból kell összerakni.</a:t>
            </a:r>
          </a:p>
          <a:p>
            <a:endParaRPr lang="hu-HU" dirty="0"/>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A </a:t>
            </a:r>
            <a:r>
              <a:rPr lang="hu-HU" b="1" dirty="0" err="1"/>
              <a:t>TypeScript</a:t>
            </a:r>
            <a:r>
              <a:rPr lang="hu-HU" dirty="0"/>
              <a:t> ebben a rendszerben azért fontos, mert típusokat vezet be, és ez rengeteg hibát előre megakadályoz. Olyan, mint egy „biztonsági háló” programozás közben.</a:t>
            </a:r>
          </a:p>
          <a:p>
            <a:endParaRPr lang="hu-HU" dirty="0"/>
          </a:p>
        </p:txBody>
      </p:sp>
      <p:sp>
        <p:nvSpPr>
          <p:cNvPr id="4" name="Slide Number Placeholder 3"/>
          <p:cNvSpPr>
            <a:spLocks noGrp="1"/>
          </p:cNvSpPr>
          <p:nvPr>
            <p:ph type="sldNum" sz="quarter" idx="5"/>
          </p:nvPr>
        </p:nvSpPr>
        <p:spPr/>
        <p:txBody>
          <a:bodyPr/>
          <a:lstStyle/>
          <a:p>
            <a:fld id="{82D23EBC-67FA-4278-B97C-82D0A52FD2DA}" type="slidenum">
              <a:rPr lang="en-US" smtClean="0"/>
              <a:t>2</a:t>
            </a:fld>
            <a:endParaRPr lang="en-US"/>
          </a:p>
        </p:txBody>
      </p:sp>
    </p:spTree>
    <p:extLst>
      <p:ext uri="{BB962C8B-B14F-4D97-AF65-F5344CB8AC3E}">
        <p14:creationId xmlns:p14="http://schemas.microsoft.com/office/powerpoint/2010/main" val="1991605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Az ES6+ olyan új nyelvi elemek gyűjteménye, amelyek sokkal olvashatóbbá és tisztábbá teszik a kódot. Ezeket az </a:t>
            </a:r>
            <a:r>
              <a:rPr lang="hu-HU" dirty="0" err="1"/>
              <a:t>Angular</a:t>
            </a:r>
            <a:r>
              <a:rPr lang="hu-HU" dirty="0"/>
              <a:t> annyira intenzíven használja, hogy a keretrendszer megértéséhez gyakorlatilag kötelező ismerni.</a:t>
            </a:r>
          </a:p>
          <a:p>
            <a:endParaRPr lang="hu-HU" dirty="0"/>
          </a:p>
          <a:p>
            <a:r>
              <a:rPr lang="hu-HU" dirty="0"/>
              <a:t>Az ES6 bevezetésével megjelent a </a:t>
            </a:r>
            <a:r>
              <a:rPr lang="hu-HU" sz="1200" i="1" kern="1200" dirty="0" err="1">
                <a:solidFill>
                  <a:schemeClr val="tx1"/>
                </a:solidFill>
                <a:latin typeface="+mn-lt"/>
                <a:ea typeface="+mn-ea"/>
                <a:cs typeface="+mn-cs"/>
              </a:rPr>
              <a:t>let</a:t>
            </a:r>
            <a:r>
              <a:rPr lang="hu-HU" dirty="0"/>
              <a:t> és a </a:t>
            </a:r>
            <a:r>
              <a:rPr lang="hu-HU" sz="1200" i="1" kern="1200" dirty="0">
                <a:solidFill>
                  <a:schemeClr val="tx1"/>
                </a:solidFill>
                <a:latin typeface="+mn-lt"/>
                <a:ea typeface="+mn-ea"/>
                <a:cs typeface="+mn-cs"/>
              </a:rPr>
              <a:t>const</a:t>
            </a:r>
            <a:r>
              <a:rPr lang="hu-HU" dirty="0"/>
              <a:t>, amelyek </a:t>
            </a:r>
            <a:r>
              <a:rPr lang="hu-HU" b="1" dirty="0"/>
              <a:t>blokkszintű </a:t>
            </a:r>
            <a:r>
              <a:rPr lang="hu-HU" b="1" dirty="0" err="1"/>
              <a:t>láthatóságot</a:t>
            </a:r>
            <a:r>
              <a:rPr lang="hu-HU" dirty="0"/>
              <a:t> biztosítanak. A </a:t>
            </a:r>
            <a:r>
              <a:rPr lang="hu-HU" dirty="0" err="1"/>
              <a:t>let</a:t>
            </a:r>
            <a:r>
              <a:rPr lang="hu-HU" dirty="0"/>
              <a:t> újraírható, a const csak olvasható változót definiál.</a:t>
            </a:r>
          </a:p>
          <a:p>
            <a:endParaRPr lang="hu-HU" dirty="0"/>
          </a:p>
          <a:p>
            <a:r>
              <a:rPr lang="en-US" b="1" dirty="0"/>
              <a:t>Az arrow function</a:t>
            </a:r>
            <a:r>
              <a:rPr lang="en-US" dirty="0"/>
              <a:t> </a:t>
            </a:r>
            <a:r>
              <a:rPr lang="en-US" dirty="0" err="1"/>
              <a:t>rövidebb</a:t>
            </a:r>
            <a:r>
              <a:rPr lang="en-US" dirty="0"/>
              <a:t>, </a:t>
            </a:r>
            <a:r>
              <a:rPr lang="en-US" dirty="0" err="1"/>
              <a:t>modernebb</a:t>
            </a:r>
            <a:r>
              <a:rPr lang="en-US" dirty="0"/>
              <a:t> </a:t>
            </a:r>
            <a:r>
              <a:rPr lang="en-US" dirty="0" err="1"/>
              <a:t>függvényírási</a:t>
            </a:r>
            <a:r>
              <a:rPr lang="en-US" dirty="0"/>
              <a:t> forma</a:t>
            </a:r>
            <a:r>
              <a:rPr lang="hu-HU" dirty="0"/>
              <a:t>. </a:t>
            </a:r>
            <a:r>
              <a:rPr lang="en-US" dirty="0" err="1"/>
              <a:t>Céljuk</a:t>
            </a:r>
            <a:r>
              <a:rPr lang="en-US" dirty="0"/>
              <a:t>, </a:t>
            </a:r>
            <a:r>
              <a:rPr lang="en-US" dirty="0" err="1"/>
              <a:t>hogy</a:t>
            </a:r>
            <a:r>
              <a:rPr lang="en-US" dirty="0"/>
              <a:t> </a:t>
            </a:r>
            <a:r>
              <a:rPr lang="en-US" b="1" dirty="0" err="1"/>
              <a:t>rövidebb</a:t>
            </a:r>
            <a:r>
              <a:rPr lang="en-US" b="1" dirty="0"/>
              <a:t>, </a:t>
            </a:r>
            <a:r>
              <a:rPr lang="en-US" b="1" dirty="0" err="1"/>
              <a:t>olvashatóbb</a:t>
            </a:r>
            <a:r>
              <a:rPr lang="en-US" b="1" dirty="0"/>
              <a:t> </a:t>
            </a:r>
            <a:r>
              <a:rPr lang="en-US" b="1" dirty="0" err="1"/>
              <a:t>szintaxist</a:t>
            </a:r>
            <a:r>
              <a:rPr lang="en-US" dirty="0"/>
              <a:t> </a:t>
            </a:r>
            <a:r>
              <a:rPr lang="en-US" dirty="0" err="1"/>
              <a:t>biztosítsanak</a:t>
            </a:r>
            <a:r>
              <a:rPr lang="en-US" dirty="0"/>
              <a:t> a </a:t>
            </a:r>
            <a:r>
              <a:rPr lang="en-US" dirty="0" err="1"/>
              <a:t>hagyományos</a:t>
            </a:r>
            <a:r>
              <a:rPr lang="en-US" dirty="0"/>
              <a:t> </a:t>
            </a:r>
            <a:r>
              <a:rPr lang="en-US" dirty="0" err="1"/>
              <a:t>függvénydefiníciókhoz</a:t>
            </a:r>
            <a:r>
              <a:rPr lang="en-US" dirty="0"/>
              <a:t> </a:t>
            </a:r>
            <a:r>
              <a:rPr lang="en-US" dirty="0" err="1"/>
              <a:t>képest</a:t>
            </a:r>
            <a:r>
              <a:rPr lang="en-US" dirty="0"/>
              <a:t>.</a:t>
            </a:r>
            <a:endParaRPr lang="hu-HU" dirty="0"/>
          </a:p>
          <a:p>
            <a:endParaRPr lang="hu-HU" dirty="0"/>
          </a:p>
          <a:p>
            <a:r>
              <a:rPr lang="hu-HU" dirty="0"/>
              <a:t>A </a:t>
            </a:r>
            <a:r>
              <a:rPr lang="hu-HU" b="1" dirty="0" err="1"/>
              <a:t>template</a:t>
            </a:r>
            <a:r>
              <a:rPr lang="hu-HU" b="1" dirty="0"/>
              <a:t> </a:t>
            </a:r>
            <a:r>
              <a:rPr lang="hu-HU" b="1" dirty="0" err="1"/>
              <a:t>literalok</a:t>
            </a:r>
            <a:r>
              <a:rPr lang="hu-HU" b="1" dirty="0"/>
              <a:t> </a:t>
            </a:r>
            <a:r>
              <a:rPr lang="hu-HU" dirty="0"/>
              <a:t>az ES6 előtt hiányzó funkcionalitást pótolnak: az </a:t>
            </a:r>
            <a:r>
              <a:rPr lang="hu-HU" b="1" dirty="0"/>
              <a:t>olvasható </a:t>
            </a:r>
            <a:r>
              <a:rPr lang="hu-HU" b="1" dirty="0" err="1"/>
              <a:t>string</a:t>
            </a:r>
            <a:r>
              <a:rPr lang="hu-HU" b="1" dirty="0"/>
              <a:t> összefűzést</a:t>
            </a:r>
            <a:r>
              <a:rPr lang="hu-HU" dirty="0"/>
              <a:t>.</a:t>
            </a:r>
          </a:p>
          <a:p>
            <a:endParaRPr lang="hu-HU" dirty="0"/>
          </a:p>
          <a:p>
            <a:r>
              <a:rPr lang="en-US" b="1" dirty="0" err="1"/>
              <a:t>Destructuring</a:t>
            </a:r>
            <a:r>
              <a:rPr lang="en-US" dirty="0"/>
              <a:t>: </a:t>
            </a:r>
            <a:r>
              <a:rPr lang="en-US" dirty="0" err="1"/>
              <a:t>objektumokból</a:t>
            </a:r>
            <a:r>
              <a:rPr lang="en-US" dirty="0"/>
              <a:t> és </a:t>
            </a:r>
            <a:r>
              <a:rPr lang="en-US" dirty="0" err="1"/>
              <a:t>tömbökből</a:t>
            </a:r>
            <a:r>
              <a:rPr lang="en-US" dirty="0"/>
              <a:t> </a:t>
            </a:r>
            <a:r>
              <a:rPr lang="en-US" dirty="0" err="1"/>
              <a:t>gyorsan</a:t>
            </a:r>
            <a:r>
              <a:rPr lang="en-US" dirty="0"/>
              <a:t> </a:t>
            </a:r>
            <a:r>
              <a:rPr lang="en-US" dirty="0" err="1"/>
              <a:t>kinyerjük</a:t>
            </a:r>
            <a:r>
              <a:rPr lang="en-US" dirty="0"/>
              <a:t> a </a:t>
            </a:r>
            <a:r>
              <a:rPr lang="en-US" dirty="0" err="1"/>
              <a:t>fontos</a:t>
            </a:r>
            <a:r>
              <a:rPr lang="en-US" dirty="0"/>
              <a:t> </a:t>
            </a:r>
            <a:r>
              <a:rPr lang="en-US" dirty="0" err="1"/>
              <a:t>részeket</a:t>
            </a:r>
            <a:r>
              <a:rPr lang="hu-HU" dirty="0"/>
              <a:t>, azaz lehetővé teszi objektumok és tömbök </a:t>
            </a:r>
            <a:r>
              <a:rPr lang="hu-HU" b="1" dirty="0"/>
              <a:t>egyszerű és tömör kibontását</a:t>
            </a:r>
            <a:r>
              <a:rPr lang="hu-HU" dirty="0"/>
              <a:t>.</a:t>
            </a:r>
          </a:p>
          <a:p>
            <a:br>
              <a:rPr lang="hu-HU" dirty="0"/>
            </a:br>
            <a:r>
              <a:rPr lang="hu-HU" b="1" dirty="0" err="1"/>
              <a:t>Spread</a:t>
            </a:r>
            <a:r>
              <a:rPr lang="hu-HU" dirty="0"/>
              <a:t>: szétszedi az elemeket (pl. másol tömböt,  és akár bővítheti elemekkel)</a:t>
            </a:r>
            <a:br>
              <a:rPr lang="hu-HU" dirty="0"/>
            </a:br>
            <a:endParaRPr lang="hu-HU" dirty="0"/>
          </a:p>
          <a:p>
            <a:r>
              <a:rPr lang="en-US" b="1" dirty="0" err="1"/>
              <a:t>Modulok</a:t>
            </a:r>
            <a:r>
              <a:rPr lang="en-US" dirty="0"/>
              <a:t>: </a:t>
            </a:r>
            <a:r>
              <a:rPr lang="en-US" sz="1200" i="1" kern="1200" dirty="0">
                <a:solidFill>
                  <a:schemeClr val="tx1"/>
                </a:solidFill>
                <a:latin typeface="+mn-lt"/>
                <a:ea typeface="+mn-ea"/>
                <a:cs typeface="+mn-cs"/>
              </a:rPr>
              <a:t>import</a:t>
            </a:r>
            <a:r>
              <a:rPr lang="en-US" dirty="0"/>
              <a:t> és </a:t>
            </a:r>
            <a:r>
              <a:rPr lang="en-US" sz="1200" i="1" kern="1200" dirty="0">
                <a:solidFill>
                  <a:schemeClr val="tx1"/>
                </a:solidFill>
                <a:latin typeface="+mn-lt"/>
                <a:ea typeface="+mn-ea"/>
                <a:cs typeface="+mn-cs"/>
              </a:rPr>
              <a:t>export</a:t>
            </a:r>
            <a:r>
              <a:rPr lang="en-US" dirty="0"/>
              <a:t> </a:t>
            </a:r>
            <a:r>
              <a:rPr lang="en-US" dirty="0" err="1"/>
              <a:t>kulcsszavak</a:t>
            </a:r>
            <a:r>
              <a:rPr lang="en-US" dirty="0"/>
              <a:t>. </a:t>
            </a:r>
            <a:r>
              <a:rPr lang="en-US" dirty="0" err="1"/>
              <a:t>Angularban</a:t>
            </a:r>
            <a:r>
              <a:rPr lang="en-US" dirty="0"/>
              <a:t> </a:t>
            </a:r>
            <a:r>
              <a:rPr lang="en-US" dirty="0" err="1"/>
              <a:t>minden</a:t>
            </a:r>
            <a:r>
              <a:rPr lang="en-US" dirty="0"/>
              <a:t> </a:t>
            </a:r>
            <a:r>
              <a:rPr lang="en-US" dirty="0" err="1"/>
              <a:t>komponens</a:t>
            </a:r>
            <a:r>
              <a:rPr lang="en-US" dirty="0"/>
              <a:t>, </a:t>
            </a:r>
            <a:r>
              <a:rPr lang="en-US" dirty="0" err="1"/>
              <a:t>szerviz</a:t>
            </a:r>
            <a:r>
              <a:rPr lang="en-US" dirty="0"/>
              <a:t>, </a:t>
            </a:r>
            <a:r>
              <a:rPr lang="en-US" dirty="0" err="1"/>
              <a:t>modul</a:t>
            </a:r>
            <a:r>
              <a:rPr lang="en-US" dirty="0"/>
              <a:t> import/export </a:t>
            </a:r>
            <a:r>
              <a:rPr lang="en-US" dirty="0" err="1"/>
              <a:t>alapján</a:t>
            </a:r>
            <a:r>
              <a:rPr lang="en-US" dirty="0"/>
              <a:t> </a:t>
            </a:r>
            <a:r>
              <a:rPr lang="en-US" dirty="0" err="1"/>
              <a:t>szerveződik</a:t>
            </a:r>
            <a:r>
              <a:rPr lang="en-US" dirty="0"/>
              <a:t>.</a:t>
            </a:r>
            <a:r>
              <a:rPr lang="hu-HU" dirty="0"/>
              <a:t> </a:t>
            </a:r>
            <a:r>
              <a:rPr lang="en-US" dirty="0"/>
              <a:t>Az ES6 </a:t>
            </a:r>
            <a:r>
              <a:rPr lang="en-US" dirty="0" err="1"/>
              <a:t>modulrendszer</a:t>
            </a:r>
            <a:r>
              <a:rPr lang="en-US" dirty="0"/>
              <a:t> </a:t>
            </a:r>
            <a:r>
              <a:rPr lang="en-US" dirty="0" err="1"/>
              <a:t>az</a:t>
            </a:r>
            <a:r>
              <a:rPr lang="en-US" dirty="0"/>
              <a:t> </a:t>
            </a:r>
            <a:r>
              <a:rPr lang="en-US" dirty="0" err="1"/>
              <a:t>egyik</a:t>
            </a:r>
            <a:r>
              <a:rPr lang="en-US" dirty="0"/>
              <a:t> </a:t>
            </a:r>
            <a:r>
              <a:rPr lang="en-US" dirty="0" err="1"/>
              <a:t>legfontosabb</a:t>
            </a:r>
            <a:r>
              <a:rPr lang="en-US" dirty="0"/>
              <a:t> </a:t>
            </a:r>
            <a:r>
              <a:rPr lang="en-US" dirty="0" err="1"/>
              <a:t>alapja</a:t>
            </a:r>
            <a:r>
              <a:rPr lang="en-US" dirty="0"/>
              <a:t> a modern JavaScript </a:t>
            </a:r>
            <a:r>
              <a:rPr lang="en-US" dirty="0" err="1"/>
              <a:t>alkalmazásoknak</a:t>
            </a:r>
            <a:r>
              <a:rPr lang="en-US" dirty="0"/>
              <a:t>. </a:t>
            </a:r>
            <a:r>
              <a:rPr lang="en-US" dirty="0" err="1"/>
              <a:t>Lehetővé</a:t>
            </a:r>
            <a:r>
              <a:rPr lang="en-US" dirty="0"/>
              <a:t> </a:t>
            </a:r>
            <a:r>
              <a:rPr lang="en-US" dirty="0" err="1"/>
              <a:t>teszi</a:t>
            </a:r>
            <a:r>
              <a:rPr lang="en-US" dirty="0"/>
              <a:t>, </a:t>
            </a:r>
            <a:r>
              <a:rPr lang="en-US" dirty="0" err="1"/>
              <a:t>hogy</a:t>
            </a:r>
            <a:r>
              <a:rPr lang="en-US" dirty="0"/>
              <a:t> a </a:t>
            </a:r>
            <a:r>
              <a:rPr lang="en-US" dirty="0" err="1"/>
              <a:t>kódunkat</a:t>
            </a:r>
            <a:r>
              <a:rPr lang="en-US" dirty="0"/>
              <a:t> </a:t>
            </a:r>
            <a:r>
              <a:rPr lang="en-US" b="1" dirty="0" err="1"/>
              <a:t>logikailag</a:t>
            </a:r>
            <a:r>
              <a:rPr lang="en-US" b="1" dirty="0"/>
              <a:t> </a:t>
            </a:r>
            <a:r>
              <a:rPr lang="en-US" b="1" dirty="0" err="1"/>
              <a:t>elkülönített</a:t>
            </a:r>
            <a:r>
              <a:rPr lang="en-US" b="1" dirty="0"/>
              <a:t> </a:t>
            </a:r>
            <a:r>
              <a:rPr lang="en-US" b="1" dirty="0" err="1"/>
              <a:t>fájlokra</a:t>
            </a:r>
            <a:r>
              <a:rPr lang="en-US" dirty="0"/>
              <a:t> </a:t>
            </a:r>
            <a:r>
              <a:rPr lang="en-US" dirty="0" err="1"/>
              <a:t>bontsuk</a:t>
            </a:r>
            <a:r>
              <a:rPr lang="en-US" dirty="0"/>
              <a:t>.</a:t>
            </a:r>
            <a:endParaRPr lang="hu-HU" dirty="0"/>
          </a:p>
          <a:p>
            <a:endParaRPr lang="hu-HU" dirty="0"/>
          </a:p>
        </p:txBody>
      </p:sp>
      <p:sp>
        <p:nvSpPr>
          <p:cNvPr id="4" name="Slide Number Placeholder 3"/>
          <p:cNvSpPr>
            <a:spLocks noGrp="1"/>
          </p:cNvSpPr>
          <p:nvPr>
            <p:ph type="sldNum" sz="quarter" idx="5"/>
          </p:nvPr>
        </p:nvSpPr>
        <p:spPr/>
        <p:txBody>
          <a:bodyPr/>
          <a:lstStyle/>
          <a:p>
            <a:fld id="{82D23EBC-67FA-4278-B97C-82D0A52FD2DA}" type="slidenum">
              <a:rPr lang="en-US" smtClean="0"/>
              <a:t>3</a:t>
            </a:fld>
            <a:endParaRPr lang="en-US"/>
          </a:p>
        </p:txBody>
      </p:sp>
    </p:spTree>
    <p:extLst>
      <p:ext uri="{BB962C8B-B14F-4D97-AF65-F5344CB8AC3E}">
        <p14:creationId xmlns:p14="http://schemas.microsoft.com/office/powerpoint/2010/main" val="844453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JavaScript </a:t>
            </a:r>
            <a:r>
              <a:rPr lang="en-US" dirty="0" err="1"/>
              <a:t>régebbi</a:t>
            </a:r>
            <a:r>
              <a:rPr lang="en-US" dirty="0"/>
              <a:t> </a:t>
            </a:r>
            <a:r>
              <a:rPr lang="en-US" dirty="0" err="1"/>
              <a:t>verzióiban</a:t>
            </a:r>
            <a:r>
              <a:rPr lang="en-US" dirty="0"/>
              <a:t> </a:t>
            </a:r>
            <a:r>
              <a:rPr lang="en-US" dirty="0" err="1"/>
              <a:t>kizárólag</a:t>
            </a:r>
            <a:r>
              <a:rPr lang="en-US" dirty="0"/>
              <a:t> a </a:t>
            </a:r>
            <a:r>
              <a:rPr lang="en-US" sz="1200" i="1" kern="1200" dirty="0">
                <a:solidFill>
                  <a:schemeClr val="tx1"/>
                </a:solidFill>
                <a:latin typeface="+mn-lt"/>
                <a:ea typeface="+mn-ea"/>
                <a:cs typeface="+mn-cs"/>
              </a:rPr>
              <a:t>var</a:t>
            </a:r>
            <a:r>
              <a:rPr lang="en-US" dirty="0"/>
              <a:t> </a:t>
            </a:r>
            <a:r>
              <a:rPr lang="en-US" dirty="0" err="1"/>
              <a:t>kulcsszó</a:t>
            </a:r>
            <a:r>
              <a:rPr lang="en-US" dirty="0"/>
              <a:t> </a:t>
            </a:r>
            <a:r>
              <a:rPr lang="en-US" dirty="0" err="1"/>
              <a:t>létezett</a:t>
            </a:r>
            <a:r>
              <a:rPr lang="en-US" dirty="0"/>
              <a:t> </a:t>
            </a:r>
            <a:r>
              <a:rPr lang="en-US" dirty="0" err="1"/>
              <a:t>változók</a:t>
            </a:r>
            <a:r>
              <a:rPr lang="en-US" dirty="0"/>
              <a:t> </a:t>
            </a:r>
            <a:r>
              <a:rPr lang="en-US" dirty="0" err="1"/>
              <a:t>deklarálására</a:t>
            </a:r>
            <a:r>
              <a:rPr lang="en-US" dirty="0"/>
              <a:t>.</a:t>
            </a:r>
            <a:r>
              <a:rPr lang="hu-HU" dirty="0"/>
              <a:t> Az ES6 bevezetésével megjelent a </a:t>
            </a:r>
            <a:r>
              <a:rPr lang="hu-HU" sz="1200" i="1" kern="1200" dirty="0" err="1">
                <a:solidFill>
                  <a:schemeClr val="tx1"/>
                </a:solidFill>
                <a:latin typeface="+mn-lt"/>
                <a:ea typeface="+mn-ea"/>
                <a:cs typeface="+mn-cs"/>
              </a:rPr>
              <a:t>let</a:t>
            </a:r>
            <a:r>
              <a:rPr lang="hu-HU" dirty="0"/>
              <a:t> és a </a:t>
            </a:r>
            <a:r>
              <a:rPr lang="hu-HU" sz="1200" i="1" kern="1200" dirty="0">
                <a:solidFill>
                  <a:schemeClr val="tx1"/>
                </a:solidFill>
                <a:latin typeface="+mn-lt"/>
                <a:ea typeface="+mn-ea"/>
                <a:cs typeface="+mn-cs"/>
              </a:rPr>
              <a:t>const</a:t>
            </a:r>
            <a:r>
              <a:rPr lang="hu-HU" dirty="0"/>
              <a:t>, amelyek </a:t>
            </a:r>
            <a:r>
              <a:rPr lang="hu-HU" b="1" dirty="0"/>
              <a:t>blokkszintű </a:t>
            </a:r>
            <a:r>
              <a:rPr lang="hu-HU" b="1" dirty="0" err="1"/>
              <a:t>láthatóságot</a:t>
            </a:r>
            <a:r>
              <a:rPr lang="hu-HU" dirty="0"/>
              <a:t> biztosítanak. Ez azt jelenti, hogy egy változó csak azon kódrészben érhető el, ahol deklaráltuk – például egy </a:t>
            </a:r>
            <a:r>
              <a:rPr lang="hu-HU" sz="1200" kern="1200" dirty="0" err="1">
                <a:solidFill>
                  <a:schemeClr val="tx1"/>
                </a:solidFill>
                <a:latin typeface="+mn-lt"/>
                <a:ea typeface="+mn-ea"/>
                <a:cs typeface="+mn-cs"/>
              </a:rPr>
              <a:t>if</a:t>
            </a:r>
            <a:r>
              <a:rPr lang="hu-HU" dirty="0"/>
              <a:t> vagy </a:t>
            </a:r>
            <a:r>
              <a:rPr lang="hu-HU" sz="1200" kern="1200" dirty="0" err="1">
                <a:solidFill>
                  <a:schemeClr val="tx1"/>
                </a:solidFill>
                <a:latin typeface="+mn-lt"/>
                <a:ea typeface="+mn-ea"/>
                <a:cs typeface="+mn-cs"/>
              </a:rPr>
              <a:t>for</a:t>
            </a:r>
            <a:r>
              <a:rPr lang="hu-HU" dirty="0"/>
              <a:t> blokkban.</a:t>
            </a:r>
          </a:p>
          <a:p>
            <a:endParaRPr lang="hu-HU" dirty="0"/>
          </a:p>
          <a:p>
            <a:r>
              <a:rPr lang="hu-HU" dirty="0"/>
              <a:t>A </a:t>
            </a:r>
            <a:r>
              <a:rPr lang="hu-HU" b="1" dirty="0" err="1"/>
              <a:t>destrukturálás</a:t>
            </a:r>
            <a:r>
              <a:rPr lang="hu-HU" dirty="0"/>
              <a:t> ( </a:t>
            </a:r>
            <a:r>
              <a:rPr lang="hu-HU" sz="1200" i="1" kern="1200" dirty="0">
                <a:solidFill>
                  <a:schemeClr val="tx1"/>
                </a:solidFill>
                <a:latin typeface="+mn-lt"/>
                <a:ea typeface="+mn-ea"/>
                <a:cs typeface="+mn-cs"/>
              </a:rPr>
              <a:t>const { </a:t>
            </a:r>
            <a:r>
              <a:rPr lang="hu-HU" sz="1200" i="1" kern="1200" dirty="0" err="1">
                <a:solidFill>
                  <a:schemeClr val="tx1"/>
                </a:solidFill>
                <a:latin typeface="+mn-lt"/>
                <a:ea typeface="+mn-ea"/>
                <a:cs typeface="+mn-cs"/>
              </a:rPr>
              <a:t>name</a:t>
            </a:r>
            <a:r>
              <a:rPr lang="hu-HU" sz="1200" i="1" kern="1200" dirty="0">
                <a:solidFill>
                  <a:schemeClr val="tx1"/>
                </a:solidFill>
                <a:latin typeface="+mn-lt"/>
                <a:ea typeface="+mn-ea"/>
                <a:cs typeface="+mn-cs"/>
              </a:rPr>
              <a:t> } = </a:t>
            </a:r>
            <a:r>
              <a:rPr lang="hu-HU" sz="1200" i="1" kern="1200" dirty="0" err="1">
                <a:solidFill>
                  <a:schemeClr val="tx1"/>
                </a:solidFill>
                <a:latin typeface="+mn-lt"/>
                <a:ea typeface="+mn-ea"/>
                <a:cs typeface="+mn-cs"/>
              </a:rPr>
              <a:t>user</a:t>
            </a:r>
            <a:r>
              <a:rPr lang="hu-HU" sz="1200" i="1" kern="1200" dirty="0">
                <a:solidFill>
                  <a:schemeClr val="tx1"/>
                </a:solidFill>
                <a:latin typeface="+mn-lt"/>
                <a:ea typeface="+mn-ea"/>
                <a:cs typeface="+mn-cs"/>
              </a:rPr>
              <a:t> </a:t>
            </a:r>
            <a:r>
              <a:rPr lang="hu-HU" dirty="0"/>
              <a:t>) azt jelenti, hogy nem kell </a:t>
            </a:r>
            <a:r>
              <a:rPr lang="hu-HU" sz="1200" i="1" kern="1200" dirty="0">
                <a:solidFill>
                  <a:schemeClr val="tx1"/>
                </a:solidFill>
                <a:latin typeface="+mn-lt"/>
                <a:ea typeface="+mn-ea"/>
                <a:cs typeface="+mn-cs"/>
              </a:rPr>
              <a:t>user.name</a:t>
            </a:r>
            <a:r>
              <a:rPr lang="hu-HU" dirty="0"/>
              <a:t>-</a:t>
            </a:r>
            <a:r>
              <a:rPr lang="hu-HU" dirty="0" err="1"/>
              <a:t>et</a:t>
            </a:r>
            <a:r>
              <a:rPr lang="hu-HU" dirty="0"/>
              <a:t> megnevezni a tömbből, hanem külön változót kapunk ugyanazzal a névvel.</a:t>
            </a:r>
          </a:p>
          <a:p>
            <a:endParaRPr lang="hu-HU" dirty="0"/>
          </a:p>
          <a:p>
            <a:r>
              <a:rPr lang="hu-HU" dirty="0"/>
              <a:t>A </a:t>
            </a:r>
            <a:r>
              <a:rPr lang="hu-HU" b="1" dirty="0" err="1"/>
              <a:t>spread</a:t>
            </a:r>
            <a:r>
              <a:rPr lang="hu-HU" dirty="0"/>
              <a:t> operátor egy meglévő másol és tömböt bővít ki anélkül, hogy módosítanánk az eredetit — </a:t>
            </a:r>
            <a:r>
              <a:rPr lang="hu-HU" dirty="0" err="1"/>
              <a:t>Angularban</a:t>
            </a:r>
            <a:r>
              <a:rPr lang="hu-HU" dirty="0"/>
              <a:t> ez nagyon fontos a nem-módosító műveletek miatt.</a:t>
            </a:r>
          </a:p>
          <a:p>
            <a:endParaRPr lang="hu-HU" dirty="0"/>
          </a:p>
          <a:p>
            <a:r>
              <a:rPr lang="hu-HU" dirty="0"/>
              <a:t>Az </a:t>
            </a:r>
            <a:r>
              <a:rPr lang="hu-HU" b="1" dirty="0" err="1"/>
              <a:t>arrow</a:t>
            </a:r>
            <a:r>
              <a:rPr lang="hu-HU" b="1" dirty="0"/>
              <a:t> </a:t>
            </a:r>
            <a:r>
              <a:rPr lang="hu-HU" b="1" dirty="0" err="1"/>
              <a:t>function</a:t>
            </a:r>
            <a:r>
              <a:rPr lang="hu-HU" b="1" dirty="0"/>
              <a:t>-t </a:t>
            </a:r>
            <a:r>
              <a:rPr lang="hu-HU" dirty="0"/>
              <a:t>folyamatosan látni fogjuk az </a:t>
            </a:r>
            <a:r>
              <a:rPr lang="hu-HU" dirty="0" err="1"/>
              <a:t>Angular</a:t>
            </a:r>
            <a:r>
              <a:rPr lang="hu-HU" dirty="0"/>
              <a:t>-ban, főleg </a:t>
            </a:r>
            <a:r>
              <a:rPr lang="hu-HU" dirty="0" err="1"/>
              <a:t>Observable</a:t>
            </a:r>
            <a:r>
              <a:rPr lang="hu-HU" dirty="0"/>
              <a:t>-ek és </a:t>
            </a:r>
            <a:r>
              <a:rPr lang="hu-HU" dirty="0" err="1"/>
              <a:t>subscribe</a:t>
            </a:r>
            <a:r>
              <a:rPr lang="hu-HU" dirty="0"/>
              <a:t>-ok esetében. </a:t>
            </a:r>
            <a:r>
              <a:rPr lang="en-US" dirty="0"/>
              <a:t>Az arrow </a:t>
            </a:r>
            <a:r>
              <a:rPr lang="en-US" dirty="0" err="1"/>
              <a:t>functionök</a:t>
            </a:r>
            <a:r>
              <a:rPr lang="en-US" dirty="0"/>
              <a:t> </a:t>
            </a:r>
            <a:r>
              <a:rPr lang="en-US" dirty="0" err="1"/>
              <a:t>ideálisak</a:t>
            </a:r>
            <a:r>
              <a:rPr lang="en-US" dirty="0"/>
              <a:t> </a:t>
            </a:r>
            <a:r>
              <a:rPr lang="en-US" dirty="0" err="1"/>
              <a:t>rövid</a:t>
            </a:r>
            <a:r>
              <a:rPr lang="en-US" dirty="0"/>
              <a:t> </a:t>
            </a:r>
            <a:r>
              <a:rPr lang="en-US" dirty="0" err="1"/>
              <a:t>logikákhoz</a:t>
            </a:r>
            <a:r>
              <a:rPr lang="hu-HU" dirty="0"/>
              <a:t>. Ez különösen fontos </a:t>
            </a:r>
            <a:r>
              <a:rPr lang="hu-HU" dirty="0" err="1"/>
              <a:t>Angularban</a:t>
            </a:r>
            <a:r>
              <a:rPr lang="hu-HU" dirty="0"/>
              <a:t>, ahol gyakran dolgozunk </a:t>
            </a:r>
            <a:r>
              <a:rPr lang="hu-HU" dirty="0" err="1"/>
              <a:t>callback-ekkel</a:t>
            </a:r>
            <a:r>
              <a:rPr lang="hu-HU" dirty="0"/>
              <a:t>, eseménykezelőkkel vagy aszinkron műveletekkel.</a:t>
            </a:r>
          </a:p>
          <a:p>
            <a:endParaRPr lang="hu-HU" dirty="0"/>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Korábban </a:t>
            </a:r>
            <a:r>
              <a:rPr lang="hu-HU" dirty="0" err="1"/>
              <a:t>stringeket</a:t>
            </a:r>
            <a:r>
              <a:rPr lang="hu-HU" dirty="0"/>
              <a:t> a </a:t>
            </a:r>
            <a:r>
              <a:rPr lang="hu-HU" sz="1200" kern="1200" dirty="0">
                <a:solidFill>
                  <a:schemeClr val="tx1"/>
                </a:solidFill>
                <a:latin typeface="+mn-lt"/>
                <a:ea typeface="+mn-ea"/>
                <a:cs typeface="+mn-cs"/>
              </a:rPr>
              <a:t>+</a:t>
            </a:r>
            <a:r>
              <a:rPr lang="hu-HU" dirty="0"/>
              <a:t> operátorral kellett összefűzni, ami hosszabb és nehezen olvasható kódot eredményezett. A </a:t>
            </a:r>
            <a:r>
              <a:rPr lang="hu-HU" b="1" dirty="0" err="1"/>
              <a:t>template</a:t>
            </a:r>
            <a:r>
              <a:rPr lang="hu-HU" b="1" dirty="0"/>
              <a:t> </a:t>
            </a:r>
            <a:r>
              <a:rPr lang="hu-HU" b="1" dirty="0" err="1"/>
              <a:t>literalok</a:t>
            </a:r>
            <a:r>
              <a:rPr lang="hu-HU" b="1" dirty="0"/>
              <a:t> </a:t>
            </a:r>
            <a:r>
              <a:rPr lang="hu-HU" i="1" dirty="0" err="1"/>
              <a:t>backtick</a:t>
            </a:r>
            <a:r>
              <a:rPr lang="hu-HU" dirty="0"/>
              <a:t> karakterrel vannak körülvéve, és lehetővé teszik változók és kifejezések beágyazását a </a:t>
            </a:r>
            <a:r>
              <a:rPr lang="hu-HU" sz="1200" kern="1200" dirty="0">
                <a:solidFill>
                  <a:schemeClr val="tx1"/>
                </a:solidFill>
                <a:latin typeface="+mn-lt"/>
                <a:ea typeface="+mn-ea"/>
                <a:cs typeface="+mn-cs"/>
              </a:rPr>
              <a:t>${}</a:t>
            </a:r>
            <a:r>
              <a:rPr lang="hu-HU" dirty="0"/>
              <a:t> szintaxissal. </a:t>
            </a:r>
            <a:r>
              <a:rPr lang="en-US" dirty="0"/>
              <a:t>Ez </a:t>
            </a:r>
            <a:r>
              <a:rPr lang="en-US" dirty="0" err="1"/>
              <a:t>nem</a:t>
            </a:r>
            <a:r>
              <a:rPr lang="en-US" dirty="0"/>
              <a:t> </a:t>
            </a:r>
            <a:r>
              <a:rPr lang="en-US" dirty="0" err="1"/>
              <a:t>csak</a:t>
            </a:r>
            <a:r>
              <a:rPr lang="en-US" dirty="0"/>
              <a:t> </a:t>
            </a:r>
            <a:r>
              <a:rPr lang="en-US" dirty="0" err="1"/>
              <a:t>kényelmesebb</a:t>
            </a:r>
            <a:r>
              <a:rPr lang="en-US" dirty="0"/>
              <a:t>, </a:t>
            </a:r>
            <a:r>
              <a:rPr lang="en-US" dirty="0" err="1"/>
              <a:t>hanem</a:t>
            </a:r>
            <a:r>
              <a:rPr lang="en-US" dirty="0"/>
              <a:t> </a:t>
            </a:r>
            <a:r>
              <a:rPr lang="en-US" dirty="0" err="1"/>
              <a:t>jelentősen</a:t>
            </a:r>
            <a:r>
              <a:rPr lang="en-US" dirty="0"/>
              <a:t> </a:t>
            </a:r>
            <a:r>
              <a:rPr lang="en-US" dirty="0" err="1"/>
              <a:t>javítja</a:t>
            </a:r>
            <a:r>
              <a:rPr lang="en-US" dirty="0"/>
              <a:t> a </a:t>
            </a:r>
            <a:r>
              <a:rPr lang="en-US" dirty="0" err="1"/>
              <a:t>kód</a:t>
            </a:r>
            <a:r>
              <a:rPr lang="en-US" dirty="0"/>
              <a:t> </a:t>
            </a:r>
            <a:r>
              <a:rPr lang="en-US" dirty="0" err="1"/>
              <a:t>olvashatóságát</a:t>
            </a:r>
            <a:r>
              <a:rPr lang="en-US" dirty="0"/>
              <a:t> is</a:t>
            </a:r>
            <a:r>
              <a:rPr lang="hu-HU" dirty="0"/>
              <a:t>.</a:t>
            </a:r>
          </a:p>
          <a:p>
            <a:endParaRPr lang="hu-HU" dirty="0"/>
          </a:p>
          <a:p>
            <a:endParaRPr lang="en-US" dirty="0"/>
          </a:p>
        </p:txBody>
      </p:sp>
      <p:sp>
        <p:nvSpPr>
          <p:cNvPr id="4" name="Slide Number Placeholder 3"/>
          <p:cNvSpPr>
            <a:spLocks noGrp="1"/>
          </p:cNvSpPr>
          <p:nvPr>
            <p:ph type="sldNum" sz="quarter" idx="5"/>
          </p:nvPr>
        </p:nvSpPr>
        <p:spPr/>
        <p:txBody>
          <a:bodyPr/>
          <a:lstStyle/>
          <a:p>
            <a:fld id="{82D23EBC-67FA-4278-B97C-82D0A52FD2DA}" type="slidenum">
              <a:rPr lang="en-US" smtClean="0"/>
              <a:t>4</a:t>
            </a:fld>
            <a:endParaRPr lang="en-US"/>
          </a:p>
        </p:txBody>
      </p:sp>
    </p:spTree>
    <p:extLst>
      <p:ext uri="{BB962C8B-B14F-4D97-AF65-F5344CB8AC3E}">
        <p14:creationId xmlns:p14="http://schemas.microsoft.com/office/powerpoint/2010/main" val="3633260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TypeScript a JavaScript </a:t>
            </a:r>
            <a:r>
              <a:rPr lang="en-US" dirty="0" err="1"/>
              <a:t>kiterjesztése</a:t>
            </a:r>
            <a:r>
              <a:rPr lang="en-US" dirty="0"/>
              <a:t>, </a:t>
            </a:r>
            <a:r>
              <a:rPr lang="en-US" dirty="0" err="1"/>
              <a:t>amely</a:t>
            </a:r>
            <a:r>
              <a:rPr lang="en-US" dirty="0"/>
              <a:t> </a:t>
            </a:r>
            <a:r>
              <a:rPr lang="en-US" dirty="0" err="1"/>
              <a:t>típusrendszert</a:t>
            </a:r>
            <a:r>
              <a:rPr lang="en-US" dirty="0"/>
              <a:t> ad. Ez </a:t>
            </a:r>
            <a:r>
              <a:rPr lang="en-US" dirty="0" err="1"/>
              <a:t>azt</a:t>
            </a:r>
            <a:r>
              <a:rPr lang="en-US" dirty="0"/>
              <a:t> </a:t>
            </a:r>
            <a:r>
              <a:rPr lang="en-US" dirty="0" err="1"/>
              <a:t>jelenti</a:t>
            </a:r>
            <a:r>
              <a:rPr lang="en-US" dirty="0"/>
              <a:t>, </a:t>
            </a:r>
            <a:r>
              <a:rPr lang="en-US" dirty="0" err="1"/>
              <a:t>hogy</a:t>
            </a:r>
            <a:r>
              <a:rPr lang="en-US" dirty="0"/>
              <a:t> </a:t>
            </a:r>
            <a:r>
              <a:rPr lang="en-US" dirty="0" err="1"/>
              <a:t>egy</a:t>
            </a:r>
            <a:r>
              <a:rPr lang="en-US" dirty="0"/>
              <a:t> </a:t>
            </a:r>
            <a:r>
              <a:rPr lang="en-US" dirty="0" err="1"/>
              <a:t>függvény</a:t>
            </a:r>
            <a:r>
              <a:rPr lang="en-US" dirty="0"/>
              <a:t> </a:t>
            </a:r>
            <a:r>
              <a:rPr lang="en-US" dirty="0" err="1"/>
              <a:t>pontosan</a:t>
            </a:r>
            <a:r>
              <a:rPr lang="en-US" dirty="0"/>
              <a:t> </a:t>
            </a:r>
            <a:r>
              <a:rPr lang="en-US" dirty="0" err="1"/>
              <a:t>tudja</a:t>
            </a:r>
            <a:r>
              <a:rPr lang="en-US" dirty="0"/>
              <a:t>, </a:t>
            </a:r>
            <a:r>
              <a:rPr lang="en-US" dirty="0" err="1"/>
              <a:t>milyen</a:t>
            </a:r>
            <a:r>
              <a:rPr lang="en-US" dirty="0"/>
              <a:t> </a:t>
            </a:r>
            <a:r>
              <a:rPr lang="en-US" dirty="0" err="1"/>
              <a:t>bemenetet</a:t>
            </a:r>
            <a:r>
              <a:rPr lang="en-US" dirty="0"/>
              <a:t> </a:t>
            </a:r>
            <a:r>
              <a:rPr lang="en-US" dirty="0" err="1"/>
              <a:t>vár</a:t>
            </a:r>
            <a:r>
              <a:rPr lang="en-US" dirty="0"/>
              <a:t>, és </a:t>
            </a:r>
            <a:r>
              <a:rPr lang="en-US" dirty="0" err="1"/>
              <a:t>nem</a:t>
            </a:r>
            <a:r>
              <a:rPr lang="en-US" dirty="0"/>
              <a:t> </a:t>
            </a:r>
            <a:r>
              <a:rPr lang="en-US" dirty="0" err="1"/>
              <a:t>engedi</a:t>
            </a:r>
            <a:r>
              <a:rPr lang="en-US" dirty="0"/>
              <a:t>, </a:t>
            </a:r>
            <a:r>
              <a:rPr lang="en-US" dirty="0" err="1"/>
              <a:t>hogy</a:t>
            </a:r>
            <a:r>
              <a:rPr lang="en-US" dirty="0"/>
              <a:t> </a:t>
            </a:r>
            <a:r>
              <a:rPr lang="en-US" dirty="0" err="1"/>
              <a:t>véletlenül</a:t>
            </a:r>
            <a:r>
              <a:rPr lang="en-US" dirty="0"/>
              <a:t> </a:t>
            </a:r>
            <a:r>
              <a:rPr lang="en-US" dirty="0" err="1"/>
              <a:t>hibás</a:t>
            </a:r>
            <a:r>
              <a:rPr lang="en-US" dirty="0"/>
              <a:t> </a:t>
            </a:r>
            <a:r>
              <a:rPr lang="en-US" dirty="0" err="1"/>
              <a:t>adatot</a:t>
            </a:r>
            <a:r>
              <a:rPr lang="en-US" dirty="0"/>
              <a:t> </a:t>
            </a:r>
            <a:r>
              <a:rPr lang="en-US" dirty="0" err="1"/>
              <a:t>adjunk</a:t>
            </a:r>
            <a:r>
              <a:rPr lang="en-US" dirty="0"/>
              <a:t> </a:t>
            </a:r>
            <a:r>
              <a:rPr lang="en-US" dirty="0" err="1"/>
              <a:t>át</a:t>
            </a:r>
            <a:r>
              <a:rPr lang="en-US" dirty="0"/>
              <a:t>.</a:t>
            </a:r>
            <a:endParaRPr lang="hu-HU" dirty="0"/>
          </a:p>
          <a:p>
            <a:endParaRPr lang="hu-HU" dirty="0"/>
          </a:p>
          <a:p>
            <a:r>
              <a:rPr lang="hu-HU" dirty="0"/>
              <a:t>Az </a:t>
            </a:r>
            <a:r>
              <a:rPr lang="hu-HU" dirty="0" err="1"/>
              <a:t>Angular</a:t>
            </a:r>
            <a:r>
              <a:rPr lang="hu-HU" dirty="0"/>
              <a:t> azért épít teljesen </a:t>
            </a:r>
            <a:r>
              <a:rPr lang="hu-HU" dirty="0" err="1"/>
              <a:t>TypeScriptre</a:t>
            </a:r>
            <a:r>
              <a:rPr lang="hu-HU" dirty="0"/>
              <a:t>, mert a keretrendszer nagyon erősen támaszkodik az osztályokra, interfészekre, dekorátorokra, a típusosságra — ezek </a:t>
            </a:r>
            <a:r>
              <a:rPr lang="hu-HU" dirty="0" err="1"/>
              <a:t>TypeScriptben</a:t>
            </a:r>
            <a:r>
              <a:rPr lang="hu-HU" dirty="0"/>
              <a:t> sokkal természetesebben működnek, mint JavaScriptben.</a:t>
            </a:r>
          </a:p>
          <a:p>
            <a:endParaRPr lang="hu-HU" dirty="0"/>
          </a:p>
          <a:p>
            <a:r>
              <a:rPr lang="en-US" dirty="0"/>
              <a:t>A T</a:t>
            </a:r>
            <a:r>
              <a:rPr lang="hu-HU" dirty="0" err="1"/>
              <a:t>ypeScript</a:t>
            </a:r>
            <a:r>
              <a:rPr lang="hu-HU" dirty="0"/>
              <a:t> (TS)</a:t>
            </a:r>
            <a:r>
              <a:rPr lang="en-US" dirty="0"/>
              <a:t> </a:t>
            </a:r>
            <a:r>
              <a:rPr lang="en-US" dirty="0" err="1"/>
              <a:t>kód</a:t>
            </a:r>
            <a:r>
              <a:rPr lang="en-US" dirty="0"/>
              <a:t> </a:t>
            </a:r>
            <a:r>
              <a:rPr lang="hu-HU" dirty="0"/>
              <a:t>a végén </a:t>
            </a:r>
            <a:r>
              <a:rPr lang="en-US" dirty="0" err="1"/>
              <a:t>mindig</a:t>
            </a:r>
            <a:r>
              <a:rPr lang="en-US" dirty="0"/>
              <a:t> </a:t>
            </a:r>
            <a:r>
              <a:rPr lang="en-US" dirty="0" err="1"/>
              <a:t>JavaScriptre</a:t>
            </a:r>
            <a:r>
              <a:rPr lang="en-US" dirty="0"/>
              <a:t> </a:t>
            </a:r>
            <a:r>
              <a:rPr lang="en-US" dirty="0" err="1"/>
              <a:t>fordul</a:t>
            </a:r>
            <a:r>
              <a:rPr lang="hu-HU" dirty="0"/>
              <a:t>, ami végül a böngészőben fut.</a:t>
            </a:r>
          </a:p>
          <a:p>
            <a:endParaRPr lang="hu-HU" dirty="0"/>
          </a:p>
        </p:txBody>
      </p:sp>
      <p:sp>
        <p:nvSpPr>
          <p:cNvPr id="4" name="Slide Number Placeholder 3"/>
          <p:cNvSpPr>
            <a:spLocks noGrp="1"/>
          </p:cNvSpPr>
          <p:nvPr>
            <p:ph type="sldNum" sz="quarter" idx="5"/>
          </p:nvPr>
        </p:nvSpPr>
        <p:spPr/>
        <p:txBody>
          <a:bodyPr/>
          <a:lstStyle/>
          <a:p>
            <a:fld id="{82D23EBC-67FA-4278-B97C-82D0A52FD2DA}" type="slidenum">
              <a:rPr lang="en-US" smtClean="0"/>
              <a:t>5</a:t>
            </a:fld>
            <a:endParaRPr lang="en-US"/>
          </a:p>
        </p:txBody>
      </p:sp>
    </p:spTree>
    <p:extLst>
      <p:ext uri="{BB962C8B-B14F-4D97-AF65-F5344CB8AC3E}">
        <p14:creationId xmlns:p14="http://schemas.microsoft.com/office/powerpoint/2010/main" val="452442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TypeScript</a:t>
            </a:r>
            <a:r>
              <a:rPr lang="en-US" dirty="0"/>
              <a:t> </a:t>
            </a:r>
            <a:r>
              <a:rPr lang="en-US" dirty="0" err="1"/>
              <a:t>előnye</a:t>
            </a:r>
            <a:r>
              <a:rPr lang="en-US" dirty="0"/>
              <a:t>, </a:t>
            </a:r>
            <a:r>
              <a:rPr lang="en-US" dirty="0" err="1"/>
              <a:t>hogy</a:t>
            </a:r>
            <a:r>
              <a:rPr lang="en-US" dirty="0"/>
              <a:t> a </a:t>
            </a:r>
            <a:r>
              <a:rPr lang="en-US" b="1" dirty="0" err="1"/>
              <a:t>típusok</a:t>
            </a:r>
            <a:r>
              <a:rPr lang="en-US" dirty="0"/>
              <a:t> </a:t>
            </a:r>
            <a:r>
              <a:rPr lang="en-US" dirty="0" err="1"/>
              <a:t>segítségével</a:t>
            </a:r>
            <a:r>
              <a:rPr lang="en-US" dirty="0"/>
              <a:t> </a:t>
            </a:r>
            <a:r>
              <a:rPr lang="en-US" dirty="0" err="1"/>
              <a:t>már</a:t>
            </a:r>
            <a:r>
              <a:rPr lang="en-US" dirty="0"/>
              <a:t> </a:t>
            </a:r>
            <a:r>
              <a:rPr lang="en-US" dirty="0" err="1"/>
              <a:t>fordítás</a:t>
            </a:r>
            <a:r>
              <a:rPr lang="en-US" dirty="0"/>
              <a:t> </a:t>
            </a:r>
            <a:r>
              <a:rPr lang="en-US" dirty="0" err="1"/>
              <a:t>előtt</a:t>
            </a:r>
            <a:r>
              <a:rPr lang="en-US" dirty="0"/>
              <a:t> </a:t>
            </a:r>
            <a:r>
              <a:rPr lang="en-US" dirty="0" err="1"/>
              <a:t>jelez</a:t>
            </a:r>
            <a:r>
              <a:rPr lang="en-US" dirty="0"/>
              <a:t> </a:t>
            </a:r>
            <a:r>
              <a:rPr lang="en-US" dirty="0" err="1"/>
              <a:t>hibát</a:t>
            </a:r>
            <a:r>
              <a:rPr lang="en-US" dirty="0"/>
              <a:t>. Az </a:t>
            </a:r>
            <a:r>
              <a:rPr lang="en-US" b="1" dirty="0" err="1"/>
              <a:t>interfészek</a:t>
            </a:r>
            <a:r>
              <a:rPr lang="en-US" dirty="0"/>
              <a:t> (pl. </a:t>
            </a:r>
            <a:r>
              <a:rPr lang="en-US" sz="1200" kern="1200" dirty="0">
                <a:solidFill>
                  <a:schemeClr val="tx1"/>
                </a:solidFill>
                <a:latin typeface="+mn-lt"/>
                <a:ea typeface="+mn-ea"/>
                <a:cs typeface="+mn-cs"/>
              </a:rPr>
              <a:t>User</a:t>
            </a:r>
            <a:r>
              <a:rPr lang="en-US" dirty="0"/>
              <a:t>) </a:t>
            </a:r>
            <a:r>
              <a:rPr lang="en-US" dirty="0" err="1"/>
              <a:t>lehetővé</a:t>
            </a:r>
            <a:r>
              <a:rPr lang="en-US" dirty="0"/>
              <a:t> </a:t>
            </a:r>
            <a:r>
              <a:rPr lang="en-US" dirty="0" err="1"/>
              <a:t>teszik</a:t>
            </a:r>
            <a:r>
              <a:rPr lang="en-US" dirty="0"/>
              <a:t>, </a:t>
            </a:r>
            <a:r>
              <a:rPr lang="en-US" dirty="0" err="1"/>
              <a:t>hogy</a:t>
            </a:r>
            <a:r>
              <a:rPr lang="en-US" dirty="0"/>
              <a:t> </a:t>
            </a:r>
            <a:r>
              <a:rPr lang="en-US" dirty="0" err="1"/>
              <a:t>pontosan</a:t>
            </a:r>
            <a:r>
              <a:rPr lang="en-US" dirty="0"/>
              <a:t> </a:t>
            </a:r>
            <a:r>
              <a:rPr lang="en-US" dirty="0" err="1"/>
              <a:t>meghatározzuk</a:t>
            </a:r>
            <a:r>
              <a:rPr lang="en-US" dirty="0"/>
              <a:t>, </a:t>
            </a:r>
            <a:r>
              <a:rPr lang="en-US" dirty="0" err="1"/>
              <a:t>milyen</a:t>
            </a:r>
            <a:r>
              <a:rPr lang="en-US" dirty="0"/>
              <a:t> </a:t>
            </a:r>
            <a:r>
              <a:rPr lang="en-US" b="1" dirty="0" err="1"/>
              <a:t>adatstruktúrákkal</a:t>
            </a:r>
            <a:r>
              <a:rPr lang="en-US" dirty="0"/>
              <a:t> </a:t>
            </a:r>
            <a:r>
              <a:rPr lang="en-US" dirty="0" err="1"/>
              <a:t>dolgozunk</a:t>
            </a:r>
            <a:r>
              <a:rPr lang="en-US" dirty="0"/>
              <a:t>. Az Angular </a:t>
            </a:r>
            <a:r>
              <a:rPr lang="en-US" dirty="0" err="1"/>
              <a:t>komponensek</a:t>
            </a:r>
            <a:r>
              <a:rPr lang="en-US" dirty="0"/>
              <a:t> is </a:t>
            </a:r>
            <a:r>
              <a:rPr lang="en-US" dirty="0" err="1"/>
              <a:t>erősen</a:t>
            </a:r>
            <a:r>
              <a:rPr lang="en-US" dirty="0"/>
              <a:t> </a:t>
            </a:r>
            <a:r>
              <a:rPr lang="en-US" dirty="0" err="1"/>
              <a:t>támaszkodnak</a:t>
            </a:r>
            <a:r>
              <a:rPr lang="en-US" dirty="0"/>
              <a:t> </a:t>
            </a:r>
            <a:r>
              <a:rPr lang="en-US" dirty="0" err="1"/>
              <a:t>erre</a:t>
            </a:r>
            <a:r>
              <a:rPr lang="en-US" dirty="0"/>
              <a:t> a </a:t>
            </a:r>
            <a:r>
              <a:rPr lang="en-US" dirty="0" err="1"/>
              <a:t>szemléletre</a:t>
            </a:r>
            <a:r>
              <a:rPr lang="hu-HU" dirty="0"/>
              <a:t>.</a:t>
            </a:r>
          </a:p>
          <a:p>
            <a:endParaRPr lang="hu-HU" dirty="0"/>
          </a:p>
          <a:p>
            <a:r>
              <a:rPr lang="en-US" dirty="0"/>
              <a:t>Ez </a:t>
            </a:r>
            <a:r>
              <a:rPr lang="en-US" dirty="0" err="1"/>
              <a:t>segít</a:t>
            </a:r>
            <a:r>
              <a:rPr lang="en-US" dirty="0"/>
              <a:t> </a:t>
            </a:r>
            <a:r>
              <a:rPr lang="en-US" dirty="0" err="1"/>
              <a:t>abban</a:t>
            </a:r>
            <a:r>
              <a:rPr lang="en-US" dirty="0"/>
              <a:t>, </a:t>
            </a:r>
            <a:r>
              <a:rPr lang="en-US" dirty="0" err="1"/>
              <a:t>hogy</a:t>
            </a:r>
            <a:r>
              <a:rPr lang="en-US" dirty="0"/>
              <a:t>:</a:t>
            </a:r>
          </a:p>
          <a:p>
            <a:r>
              <a:rPr lang="hu-HU" dirty="0"/>
              <a:t>- </a:t>
            </a:r>
            <a:r>
              <a:rPr lang="en-US" dirty="0" err="1"/>
              <a:t>könnyebben</a:t>
            </a:r>
            <a:r>
              <a:rPr lang="en-US" dirty="0"/>
              <a:t> </a:t>
            </a:r>
            <a:r>
              <a:rPr lang="en-US" dirty="0" err="1"/>
              <a:t>értsük</a:t>
            </a:r>
            <a:r>
              <a:rPr lang="en-US" dirty="0"/>
              <a:t> a </a:t>
            </a:r>
            <a:r>
              <a:rPr lang="en-US" dirty="0" err="1"/>
              <a:t>kódot</a:t>
            </a:r>
            <a:r>
              <a:rPr lang="en-US" dirty="0"/>
              <a:t>,</a:t>
            </a:r>
          </a:p>
          <a:p>
            <a:r>
              <a:rPr lang="hu-HU" dirty="0"/>
              <a:t>- </a:t>
            </a:r>
            <a:r>
              <a:rPr lang="en-US" dirty="0" err="1"/>
              <a:t>az</a:t>
            </a:r>
            <a:r>
              <a:rPr lang="en-US" dirty="0"/>
              <a:t> editor is </a:t>
            </a:r>
            <a:r>
              <a:rPr lang="en-US" dirty="0" err="1"/>
              <a:t>tudjon</a:t>
            </a:r>
            <a:r>
              <a:rPr lang="en-US" dirty="0"/>
              <a:t> </a:t>
            </a:r>
            <a:r>
              <a:rPr lang="en-US" dirty="0" err="1"/>
              <a:t>javaslatokat</a:t>
            </a:r>
            <a:r>
              <a:rPr lang="en-US" dirty="0"/>
              <a:t> </a:t>
            </a:r>
            <a:r>
              <a:rPr lang="en-US" dirty="0" err="1"/>
              <a:t>adni</a:t>
            </a:r>
            <a:r>
              <a:rPr lang="en-US" dirty="0"/>
              <a:t>,</a:t>
            </a:r>
          </a:p>
          <a:p>
            <a:r>
              <a:rPr lang="hu-HU" dirty="0"/>
              <a:t>- </a:t>
            </a:r>
            <a:r>
              <a:rPr lang="en-US" dirty="0"/>
              <a:t>és </a:t>
            </a:r>
            <a:r>
              <a:rPr lang="en-US" dirty="0" err="1"/>
              <a:t>nagy</a:t>
            </a:r>
            <a:r>
              <a:rPr lang="en-US" dirty="0"/>
              <a:t> </a:t>
            </a:r>
            <a:r>
              <a:rPr lang="en-US" dirty="0" err="1"/>
              <a:t>projektekben</a:t>
            </a:r>
            <a:r>
              <a:rPr lang="en-US" dirty="0"/>
              <a:t> </a:t>
            </a:r>
            <a:r>
              <a:rPr lang="en-US" dirty="0" err="1"/>
              <a:t>minden</a:t>
            </a:r>
            <a:r>
              <a:rPr lang="en-US" dirty="0"/>
              <a:t> </a:t>
            </a:r>
            <a:r>
              <a:rPr lang="en-US" dirty="0" err="1"/>
              <a:t>fejlesztő</a:t>
            </a:r>
            <a:r>
              <a:rPr lang="en-US" dirty="0"/>
              <a:t> </a:t>
            </a:r>
            <a:r>
              <a:rPr lang="en-US" dirty="0" err="1"/>
              <a:t>ugyanúgy</a:t>
            </a:r>
            <a:r>
              <a:rPr lang="en-US" dirty="0"/>
              <a:t> </a:t>
            </a:r>
            <a:r>
              <a:rPr lang="en-US" dirty="0" err="1"/>
              <a:t>használja</a:t>
            </a:r>
            <a:r>
              <a:rPr lang="en-US" dirty="0"/>
              <a:t> </a:t>
            </a:r>
            <a:r>
              <a:rPr lang="en-US" dirty="0" err="1"/>
              <a:t>az</a:t>
            </a:r>
            <a:r>
              <a:rPr lang="en-US" dirty="0"/>
              <a:t> </a:t>
            </a:r>
            <a:r>
              <a:rPr lang="en-US" dirty="0" err="1"/>
              <a:t>adatokat</a:t>
            </a:r>
            <a:r>
              <a:rPr lang="en-US" dirty="0"/>
              <a:t>.</a:t>
            </a:r>
          </a:p>
          <a:p>
            <a:endParaRPr lang="en-US" dirty="0"/>
          </a:p>
        </p:txBody>
      </p:sp>
      <p:sp>
        <p:nvSpPr>
          <p:cNvPr id="4" name="Slide Number Placeholder 3"/>
          <p:cNvSpPr>
            <a:spLocks noGrp="1"/>
          </p:cNvSpPr>
          <p:nvPr>
            <p:ph type="sldNum" sz="quarter" idx="5"/>
          </p:nvPr>
        </p:nvSpPr>
        <p:spPr/>
        <p:txBody>
          <a:bodyPr/>
          <a:lstStyle/>
          <a:p>
            <a:fld id="{82D23EBC-67FA-4278-B97C-82D0A52FD2DA}" type="slidenum">
              <a:rPr lang="en-US" smtClean="0"/>
              <a:t>6</a:t>
            </a:fld>
            <a:endParaRPr lang="en-US"/>
          </a:p>
        </p:txBody>
      </p:sp>
    </p:spTree>
    <p:extLst>
      <p:ext uri="{BB962C8B-B14F-4D97-AF65-F5344CB8AC3E}">
        <p14:creationId xmlns:p14="http://schemas.microsoft.com/office/powerpoint/2010/main" val="1739227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 Angular </a:t>
            </a:r>
            <a:r>
              <a:rPr lang="en-US" dirty="0" err="1"/>
              <a:t>egy</a:t>
            </a:r>
            <a:r>
              <a:rPr lang="en-US" dirty="0"/>
              <a:t> </a:t>
            </a:r>
            <a:r>
              <a:rPr lang="en-US" dirty="0" err="1"/>
              <a:t>teljes</a:t>
            </a:r>
            <a:r>
              <a:rPr lang="en-US" dirty="0"/>
              <a:t> </a:t>
            </a:r>
            <a:r>
              <a:rPr lang="en-US" dirty="0" err="1"/>
              <a:t>keretrendszer</a:t>
            </a:r>
            <a:r>
              <a:rPr lang="en-US" dirty="0"/>
              <a:t>, </a:t>
            </a:r>
            <a:r>
              <a:rPr lang="en-US" dirty="0" err="1"/>
              <a:t>amely</a:t>
            </a:r>
            <a:r>
              <a:rPr lang="en-US" dirty="0"/>
              <a:t> </a:t>
            </a:r>
            <a:r>
              <a:rPr lang="en-US" dirty="0" err="1"/>
              <a:t>már</a:t>
            </a:r>
            <a:r>
              <a:rPr lang="en-US" dirty="0"/>
              <a:t> </a:t>
            </a:r>
            <a:r>
              <a:rPr lang="en-US" dirty="0" err="1"/>
              <a:t>előre</a:t>
            </a:r>
            <a:r>
              <a:rPr lang="en-US" dirty="0"/>
              <a:t> </a:t>
            </a:r>
            <a:r>
              <a:rPr lang="en-US" dirty="0" err="1"/>
              <a:t>meghatározza</a:t>
            </a:r>
            <a:r>
              <a:rPr lang="en-US" dirty="0"/>
              <a:t>, </a:t>
            </a:r>
            <a:r>
              <a:rPr lang="en-US" dirty="0" err="1"/>
              <a:t>hogy</a:t>
            </a:r>
            <a:r>
              <a:rPr lang="en-US" dirty="0"/>
              <a:t> </a:t>
            </a:r>
            <a:r>
              <a:rPr lang="en-US" dirty="0" err="1"/>
              <a:t>milyen</a:t>
            </a:r>
            <a:r>
              <a:rPr lang="en-US" dirty="0"/>
              <a:t> </a:t>
            </a:r>
            <a:r>
              <a:rPr lang="en-US" dirty="0" err="1"/>
              <a:t>építőelemekkel</a:t>
            </a:r>
            <a:r>
              <a:rPr lang="en-US" dirty="0"/>
              <a:t> </a:t>
            </a:r>
            <a:r>
              <a:rPr lang="en-US" dirty="0" err="1"/>
              <a:t>dolgozzunk</a:t>
            </a:r>
            <a:r>
              <a:rPr lang="en-US" dirty="0"/>
              <a:t>:</a:t>
            </a:r>
            <a:endParaRPr lang="hu-HU" dirty="0"/>
          </a:p>
          <a:p>
            <a:endParaRPr lang="en-US" dirty="0"/>
          </a:p>
          <a:p>
            <a:r>
              <a:rPr lang="en-US" b="1" dirty="0" err="1"/>
              <a:t>Komponens</a:t>
            </a:r>
            <a:r>
              <a:rPr lang="en-US" b="1" dirty="0"/>
              <a:t>:</a:t>
            </a:r>
            <a:r>
              <a:rPr lang="en-US" dirty="0"/>
              <a:t> Egy </a:t>
            </a:r>
            <a:r>
              <a:rPr lang="en-US" dirty="0" err="1"/>
              <a:t>vizuális</a:t>
            </a:r>
            <a:r>
              <a:rPr lang="en-US" dirty="0"/>
              <a:t> </a:t>
            </a:r>
            <a:r>
              <a:rPr lang="en-US" dirty="0" err="1"/>
              <a:t>egység</a:t>
            </a:r>
            <a:r>
              <a:rPr lang="en-US" dirty="0"/>
              <a:t>, </a:t>
            </a:r>
            <a:r>
              <a:rPr lang="en-US" dirty="0" err="1"/>
              <a:t>egy</a:t>
            </a:r>
            <a:r>
              <a:rPr lang="en-US" dirty="0"/>
              <a:t> „</a:t>
            </a:r>
            <a:r>
              <a:rPr lang="en-US" dirty="0" err="1"/>
              <a:t>oldal</a:t>
            </a:r>
            <a:r>
              <a:rPr lang="en-US" dirty="0"/>
              <a:t>” </a:t>
            </a:r>
            <a:r>
              <a:rPr lang="en-US" dirty="0" err="1"/>
              <a:t>vagy</a:t>
            </a:r>
            <a:r>
              <a:rPr lang="en-US" dirty="0"/>
              <a:t> UI-</a:t>
            </a:r>
            <a:r>
              <a:rPr lang="en-US" dirty="0" err="1"/>
              <a:t>dara</a:t>
            </a:r>
            <a:r>
              <a:rPr lang="hu-HU" dirty="0"/>
              <a:t>b, amihez a vezérlő és a sablon tartozik.</a:t>
            </a:r>
          </a:p>
          <a:p>
            <a:r>
              <a:rPr lang="hu-HU" b="1" dirty="0" err="1"/>
              <a:t>Template</a:t>
            </a:r>
            <a:r>
              <a:rPr lang="hu-HU" b="1" dirty="0"/>
              <a:t> (Sablon):</a:t>
            </a:r>
            <a:r>
              <a:rPr lang="hu-HU" dirty="0"/>
              <a:t> Egy oldal vagy UI-darab megjelenítési kódja, HTML nyelven</a:t>
            </a:r>
            <a:br>
              <a:rPr lang="en-US" dirty="0"/>
            </a:br>
            <a:r>
              <a:rPr lang="en-US" b="1" dirty="0"/>
              <a:t>Modul:</a:t>
            </a:r>
            <a:r>
              <a:rPr lang="en-US" dirty="0"/>
              <a:t> </a:t>
            </a:r>
            <a:r>
              <a:rPr lang="en-US" dirty="0" err="1"/>
              <a:t>Több</a:t>
            </a:r>
            <a:r>
              <a:rPr lang="en-US" dirty="0"/>
              <a:t> </a:t>
            </a:r>
            <a:r>
              <a:rPr lang="en-US" dirty="0" err="1"/>
              <a:t>komponens</a:t>
            </a:r>
            <a:r>
              <a:rPr lang="en-US" dirty="0"/>
              <a:t>, </a:t>
            </a:r>
            <a:r>
              <a:rPr lang="en-US" dirty="0" err="1"/>
              <a:t>szerviz</a:t>
            </a:r>
            <a:r>
              <a:rPr lang="en-US" dirty="0"/>
              <a:t> és </a:t>
            </a:r>
            <a:r>
              <a:rPr lang="en-US" dirty="0" err="1"/>
              <a:t>egyéb</a:t>
            </a:r>
            <a:r>
              <a:rPr lang="en-US" dirty="0"/>
              <a:t> </a:t>
            </a:r>
            <a:r>
              <a:rPr lang="en-US" dirty="0" err="1"/>
              <a:t>funkció</a:t>
            </a:r>
            <a:r>
              <a:rPr lang="en-US" dirty="0"/>
              <a:t> </a:t>
            </a:r>
            <a:r>
              <a:rPr lang="en-US" dirty="0" err="1"/>
              <a:t>összefogása</a:t>
            </a:r>
            <a:r>
              <a:rPr lang="hu-HU" dirty="0"/>
              <a:t> egy egységbe (modulba)</a:t>
            </a:r>
            <a:r>
              <a:rPr lang="en-US" dirty="0"/>
              <a:t>.</a:t>
            </a:r>
            <a:br>
              <a:rPr lang="en-US" dirty="0"/>
            </a:br>
            <a:r>
              <a:rPr lang="en-US" b="1" dirty="0" err="1"/>
              <a:t>Szerviz</a:t>
            </a:r>
            <a:r>
              <a:rPr lang="en-US" b="1" dirty="0"/>
              <a:t>:</a:t>
            </a:r>
            <a:r>
              <a:rPr lang="en-US" dirty="0"/>
              <a:t> Olyan </a:t>
            </a:r>
            <a:r>
              <a:rPr lang="en-US" dirty="0" err="1"/>
              <a:t>logikai</a:t>
            </a:r>
            <a:r>
              <a:rPr lang="en-US" dirty="0"/>
              <a:t> </a:t>
            </a:r>
            <a:r>
              <a:rPr lang="en-US" dirty="0" err="1"/>
              <a:t>egység</a:t>
            </a:r>
            <a:r>
              <a:rPr lang="en-US" dirty="0"/>
              <a:t>, </a:t>
            </a:r>
            <a:r>
              <a:rPr lang="en-US" dirty="0" err="1"/>
              <a:t>amely</a:t>
            </a:r>
            <a:r>
              <a:rPr lang="en-US" dirty="0"/>
              <a:t> </a:t>
            </a:r>
            <a:r>
              <a:rPr lang="en-US" dirty="0" err="1"/>
              <a:t>adatot</a:t>
            </a:r>
            <a:r>
              <a:rPr lang="en-US" dirty="0"/>
              <a:t> </a:t>
            </a:r>
            <a:r>
              <a:rPr lang="en-US" dirty="0" err="1"/>
              <a:t>kér</a:t>
            </a:r>
            <a:r>
              <a:rPr lang="en-US" dirty="0"/>
              <a:t> le, </a:t>
            </a:r>
            <a:r>
              <a:rPr lang="en-US" dirty="0" err="1"/>
              <a:t>számol</a:t>
            </a:r>
            <a:r>
              <a:rPr lang="en-US" dirty="0"/>
              <a:t> </a:t>
            </a:r>
            <a:r>
              <a:rPr lang="en-US" dirty="0" err="1"/>
              <a:t>vagy</a:t>
            </a:r>
            <a:r>
              <a:rPr lang="en-US" dirty="0"/>
              <a:t> API-t </a:t>
            </a:r>
            <a:r>
              <a:rPr lang="en-US" dirty="0" err="1"/>
              <a:t>hív</a:t>
            </a:r>
            <a:r>
              <a:rPr lang="en-US" dirty="0"/>
              <a:t>.</a:t>
            </a:r>
            <a:r>
              <a:rPr lang="hu-HU" dirty="0"/>
              <a:t> Tulajdonképpen a frontend oldali üzleti logika.</a:t>
            </a:r>
            <a:br>
              <a:rPr lang="en-US" dirty="0"/>
            </a:br>
            <a:r>
              <a:rPr lang="en-US" b="1" dirty="0"/>
              <a:t>DI (Dependency Injection):</a:t>
            </a:r>
            <a:r>
              <a:rPr lang="en-US" dirty="0"/>
              <a:t> Az Angular „</a:t>
            </a:r>
            <a:r>
              <a:rPr lang="en-US" dirty="0" err="1"/>
              <a:t>beadja</a:t>
            </a:r>
            <a:r>
              <a:rPr lang="en-US" dirty="0"/>
              <a:t>”</a:t>
            </a:r>
            <a:r>
              <a:rPr lang="hu-HU" dirty="0"/>
              <a:t> (injektál)</a:t>
            </a:r>
            <a:r>
              <a:rPr lang="en-US" dirty="0"/>
              <a:t> </a:t>
            </a:r>
            <a:r>
              <a:rPr lang="en-US" dirty="0" err="1"/>
              <a:t>nekünk</a:t>
            </a:r>
            <a:r>
              <a:rPr lang="en-US" dirty="0"/>
              <a:t> a </a:t>
            </a:r>
            <a:r>
              <a:rPr lang="en-US" dirty="0" err="1"/>
              <a:t>szükséges</a:t>
            </a:r>
            <a:r>
              <a:rPr lang="en-US" dirty="0"/>
              <a:t> </a:t>
            </a:r>
            <a:r>
              <a:rPr lang="en-US" dirty="0" err="1"/>
              <a:t>objektumokat</a:t>
            </a:r>
            <a:r>
              <a:rPr lang="hu-HU" dirty="0"/>
              <a:t>, amire hivatkozunk</a:t>
            </a:r>
            <a:r>
              <a:rPr lang="en-US" dirty="0"/>
              <a:t>, pl. </a:t>
            </a:r>
            <a:r>
              <a:rPr lang="en-US" dirty="0" err="1"/>
              <a:t>egy</a:t>
            </a:r>
            <a:r>
              <a:rPr lang="en-US" dirty="0"/>
              <a:t> </a:t>
            </a:r>
            <a:r>
              <a:rPr lang="en-US" dirty="0" err="1"/>
              <a:t>szervizt</a:t>
            </a:r>
            <a:r>
              <a:rPr lang="en-US" dirty="0"/>
              <a:t>.</a:t>
            </a:r>
            <a:br>
              <a:rPr lang="en-US" dirty="0"/>
            </a:br>
            <a:r>
              <a:rPr lang="en-US" b="1" dirty="0"/>
              <a:t>Routing:</a:t>
            </a:r>
            <a:r>
              <a:rPr lang="en-US" dirty="0"/>
              <a:t> A </a:t>
            </a:r>
            <a:r>
              <a:rPr lang="en-US" dirty="0" err="1"/>
              <a:t>navigációért</a:t>
            </a:r>
            <a:r>
              <a:rPr lang="en-US" dirty="0"/>
              <a:t> </a:t>
            </a:r>
            <a:r>
              <a:rPr lang="en-US" dirty="0" err="1"/>
              <a:t>felel</a:t>
            </a:r>
            <a:r>
              <a:rPr lang="en-US" dirty="0"/>
              <a:t>, </a:t>
            </a:r>
            <a:r>
              <a:rPr lang="en-US" dirty="0" err="1"/>
              <a:t>ez</a:t>
            </a:r>
            <a:r>
              <a:rPr lang="en-US" dirty="0"/>
              <a:t> </a:t>
            </a:r>
            <a:r>
              <a:rPr lang="en-US" dirty="0" err="1"/>
              <a:t>teszi</a:t>
            </a:r>
            <a:r>
              <a:rPr lang="en-US" dirty="0"/>
              <a:t> </a:t>
            </a:r>
            <a:r>
              <a:rPr lang="en-US" dirty="0" err="1"/>
              <a:t>az</a:t>
            </a:r>
            <a:r>
              <a:rPr lang="en-US" dirty="0"/>
              <a:t> </a:t>
            </a:r>
            <a:r>
              <a:rPr lang="en-US" dirty="0" err="1"/>
              <a:t>Angulart</a:t>
            </a:r>
            <a:r>
              <a:rPr lang="en-US" dirty="0"/>
              <a:t> Single Page Application-né.</a:t>
            </a:r>
            <a:r>
              <a:rPr lang="hu-HU" dirty="0"/>
              <a:t> A </a:t>
            </a:r>
            <a:r>
              <a:rPr lang="hu-HU" dirty="0" err="1"/>
              <a:t>routing</a:t>
            </a:r>
            <a:r>
              <a:rPr lang="hu-HU" dirty="0"/>
              <a:t> végzi az oldalak (komponensek) közti navigálást.</a:t>
            </a:r>
            <a:br>
              <a:rPr lang="en-US" dirty="0"/>
            </a:br>
            <a:r>
              <a:rPr lang="en-US" b="1" dirty="0" err="1"/>
              <a:t>Direktívák</a:t>
            </a:r>
            <a:r>
              <a:rPr lang="en-US" b="1" dirty="0"/>
              <a:t>:</a:t>
            </a:r>
            <a:r>
              <a:rPr lang="en-US" dirty="0"/>
              <a:t> HTML </a:t>
            </a:r>
            <a:r>
              <a:rPr lang="en-US" dirty="0" err="1"/>
              <a:t>tulajdonságokat</a:t>
            </a:r>
            <a:r>
              <a:rPr lang="en-US" dirty="0"/>
              <a:t> </a:t>
            </a:r>
            <a:r>
              <a:rPr lang="en-US" dirty="0" err="1"/>
              <a:t>bővítenek</a:t>
            </a:r>
            <a:r>
              <a:rPr lang="en-US" dirty="0"/>
              <a:t> ki</a:t>
            </a:r>
            <a:r>
              <a:rPr lang="hu-HU" dirty="0"/>
              <a:t>.</a:t>
            </a:r>
            <a:r>
              <a:rPr lang="en-US" dirty="0"/>
              <a:t> (</a:t>
            </a:r>
            <a:r>
              <a:rPr lang="hu-HU" dirty="0"/>
              <a:t> </a:t>
            </a:r>
            <a:r>
              <a:rPr lang="en-US" dirty="0"/>
              <a:t>pl. </a:t>
            </a:r>
            <a:r>
              <a:rPr lang="en-US" b="1" i="0" dirty="0"/>
              <a:t>*</a:t>
            </a:r>
            <a:r>
              <a:rPr lang="en-US" b="1" i="0" dirty="0" err="1"/>
              <a:t>ngIf</a:t>
            </a:r>
            <a:r>
              <a:rPr lang="hu-HU" b="1" i="0" dirty="0"/>
              <a:t> </a:t>
            </a:r>
            <a:r>
              <a:rPr lang="en-US" dirty="0"/>
              <a:t>)</a:t>
            </a:r>
            <a:br>
              <a:rPr lang="en-US" dirty="0"/>
            </a:br>
            <a:r>
              <a:rPr lang="en-US" b="1" dirty="0"/>
              <a:t>Pipe-ok:</a:t>
            </a:r>
            <a:r>
              <a:rPr lang="en-US" dirty="0"/>
              <a:t> </a:t>
            </a:r>
            <a:r>
              <a:rPr lang="hu-HU" dirty="0" err="1"/>
              <a:t>Adatf</a:t>
            </a:r>
            <a:r>
              <a:rPr lang="en-US" dirty="0" err="1"/>
              <a:t>ormázási</a:t>
            </a:r>
            <a:r>
              <a:rPr lang="en-US" dirty="0"/>
              <a:t> </a:t>
            </a:r>
            <a:r>
              <a:rPr lang="en-US" dirty="0" err="1"/>
              <a:t>kiegészítők</a:t>
            </a:r>
            <a:r>
              <a:rPr lang="en-US" dirty="0"/>
              <a:t> (</a:t>
            </a:r>
            <a:r>
              <a:rPr lang="en-US" dirty="0" err="1"/>
              <a:t>például</a:t>
            </a:r>
            <a:r>
              <a:rPr lang="en-US" dirty="0"/>
              <a:t> </a:t>
            </a:r>
            <a:r>
              <a:rPr lang="en-US" dirty="0" err="1"/>
              <a:t>dátum</a:t>
            </a:r>
            <a:r>
              <a:rPr lang="en-US" dirty="0"/>
              <a:t> </a:t>
            </a:r>
            <a:r>
              <a:rPr lang="en-US" dirty="0" err="1"/>
              <a:t>formázás</a:t>
            </a:r>
            <a:r>
              <a:rPr lang="en-US" dirty="0"/>
              <a:t>)</a:t>
            </a:r>
            <a:r>
              <a:rPr lang="hu-HU" dirty="0"/>
              <a:t>.</a:t>
            </a:r>
          </a:p>
          <a:p>
            <a:r>
              <a:rPr lang="hu-HU" b="1" dirty="0"/>
              <a:t>Data </a:t>
            </a:r>
            <a:r>
              <a:rPr lang="hu-HU" b="1" dirty="0" err="1"/>
              <a:t>Binding</a:t>
            </a:r>
            <a:r>
              <a:rPr lang="hu-HU" b="1" dirty="0"/>
              <a:t>:</a:t>
            </a:r>
            <a:r>
              <a:rPr lang="hu-HU" dirty="0"/>
              <a:t> Az adatok rákötése a UI (HTML) kódra. Lehet </a:t>
            </a:r>
            <a:r>
              <a:rPr lang="hu-HU" dirty="0" err="1"/>
              <a:t>egyírányű</a:t>
            </a:r>
            <a:r>
              <a:rPr lang="hu-HU" dirty="0"/>
              <a:t> vagy </a:t>
            </a:r>
            <a:r>
              <a:rPr lang="hu-HU" dirty="0" err="1"/>
              <a:t>kétirányú</a:t>
            </a:r>
            <a:r>
              <a:rPr lang="hu-HU"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hu-HU" b="1" dirty="0" err="1"/>
              <a:t>MetaData</a:t>
            </a:r>
            <a:r>
              <a:rPr lang="hu-HU" b="1" dirty="0"/>
              <a:t> (</a:t>
            </a:r>
            <a:r>
              <a:rPr lang="hu-HU" b="1" dirty="0" err="1"/>
              <a:t>Decorator</a:t>
            </a:r>
            <a:r>
              <a:rPr lang="hu-HU" b="1" dirty="0"/>
              <a:t>):</a:t>
            </a:r>
            <a:r>
              <a:rPr lang="hu-HU" dirty="0"/>
              <a:t> Arra szolgál, hogy </a:t>
            </a:r>
            <a:r>
              <a:rPr lang="en-US" dirty="0" err="1"/>
              <a:t>kiegészítő</a:t>
            </a:r>
            <a:r>
              <a:rPr lang="en-US" dirty="0"/>
              <a:t> </a:t>
            </a:r>
            <a:r>
              <a:rPr lang="en-US" dirty="0" err="1"/>
              <a:t>információkat</a:t>
            </a:r>
            <a:r>
              <a:rPr lang="en-US" dirty="0"/>
              <a:t> </a:t>
            </a:r>
            <a:r>
              <a:rPr lang="en-US" dirty="0" err="1"/>
              <a:t>adjunk</a:t>
            </a:r>
            <a:r>
              <a:rPr lang="en-US" dirty="0"/>
              <a:t> </a:t>
            </a:r>
            <a:r>
              <a:rPr lang="en-US" dirty="0" err="1"/>
              <a:t>egy</a:t>
            </a:r>
            <a:r>
              <a:rPr lang="en-US" dirty="0"/>
              <a:t> </a:t>
            </a:r>
            <a:r>
              <a:rPr lang="en-US" dirty="0" err="1"/>
              <a:t>osztályhoz</a:t>
            </a:r>
            <a:r>
              <a:rPr lang="en-US" dirty="0"/>
              <a:t>, </a:t>
            </a:r>
            <a:r>
              <a:rPr lang="en-US" dirty="0" err="1"/>
              <a:t>megmondva</a:t>
            </a:r>
            <a:r>
              <a:rPr lang="en-US" dirty="0"/>
              <a:t> a </a:t>
            </a:r>
            <a:r>
              <a:rPr lang="en-US" dirty="0" err="1"/>
              <a:t>keretrendszernek</a:t>
            </a:r>
            <a:r>
              <a:rPr lang="en-US" dirty="0"/>
              <a:t>, </a:t>
            </a:r>
            <a:r>
              <a:rPr lang="en-US" dirty="0" err="1"/>
              <a:t>hogyan</a:t>
            </a:r>
            <a:r>
              <a:rPr lang="en-US" dirty="0"/>
              <a:t> </a:t>
            </a:r>
            <a:r>
              <a:rPr lang="en-US" dirty="0" err="1"/>
              <a:t>kezelje</a:t>
            </a:r>
            <a:r>
              <a:rPr lang="en-US" dirty="0"/>
              <a:t> és </a:t>
            </a:r>
            <a:r>
              <a:rPr lang="en-US" dirty="0" err="1"/>
              <a:t>használja</a:t>
            </a:r>
            <a:r>
              <a:rPr lang="en-US" dirty="0"/>
              <a:t> </a:t>
            </a:r>
            <a:r>
              <a:rPr lang="en-US" dirty="0" err="1"/>
              <a:t>azt</a:t>
            </a:r>
            <a:r>
              <a:rPr lang="en-US" dirty="0"/>
              <a:t> (</a:t>
            </a:r>
            <a:r>
              <a:rPr lang="en-US" dirty="0" err="1"/>
              <a:t>például</a:t>
            </a:r>
            <a:r>
              <a:rPr lang="en-US" dirty="0"/>
              <a:t> </a:t>
            </a:r>
            <a:r>
              <a:rPr lang="en-US" dirty="0" err="1"/>
              <a:t>komponensként</a:t>
            </a:r>
            <a:r>
              <a:rPr lang="en-US" dirty="0"/>
              <a:t>, service-</a:t>
            </a:r>
            <a:r>
              <a:rPr lang="en-US" dirty="0" err="1"/>
              <a:t>ként</a:t>
            </a:r>
            <a:r>
              <a:rPr lang="en-US" dirty="0"/>
              <a:t> </a:t>
            </a:r>
            <a:r>
              <a:rPr lang="en-US" dirty="0" err="1"/>
              <a:t>vagy</a:t>
            </a:r>
            <a:r>
              <a:rPr lang="en-US" dirty="0"/>
              <a:t> </a:t>
            </a:r>
            <a:r>
              <a:rPr lang="en-US" dirty="0" err="1"/>
              <a:t>modul­ként</a:t>
            </a:r>
            <a:r>
              <a:rPr lang="en-US" dirty="0"/>
              <a:t>).</a:t>
            </a:r>
            <a:endParaRPr lang="hu-HU"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hu-HU" dirty="0"/>
          </a:p>
        </p:txBody>
      </p:sp>
      <p:sp>
        <p:nvSpPr>
          <p:cNvPr id="4" name="Slide Number Placeholder 3"/>
          <p:cNvSpPr>
            <a:spLocks noGrp="1"/>
          </p:cNvSpPr>
          <p:nvPr>
            <p:ph type="sldNum" sz="quarter" idx="5"/>
          </p:nvPr>
        </p:nvSpPr>
        <p:spPr/>
        <p:txBody>
          <a:bodyPr/>
          <a:lstStyle/>
          <a:p>
            <a:fld id="{82D23EBC-67FA-4278-B97C-82D0A52FD2DA}" type="slidenum">
              <a:rPr lang="en-US" smtClean="0"/>
              <a:t>7</a:t>
            </a:fld>
            <a:endParaRPr lang="en-US"/>
          </a:p>
        </p:txBody>
      </p:sp>
    </p:spTree>
    <p:extLst>
      <p:ext uri="{BB962C8B-B14F-4D97-AF65-F5344CB8AC3E}">
        <p14:creationId xmlns:p14="http://schemas.microsoft.com/office/powerpoint/2010/main" val="2178961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Ez az ábra az </a:t>
            </a:r>
            <a:r>
              <a:rPr lang="hu-HU" dirty="0" err="1"/>
              <a:t>Angular</a:t>
            </a:r>
            <a:r>
              <a:rPr lang="hu-HU" dirty="0"/>
              <a:t> alkalmazás alapvető felépítését mutatja meg. A legfontosabb üzenete az, hogy az </a:t>
            </a:r>
            <a:r>
              <a:rPr lang="hu-HU" dirty="0" err="1"/>
              <a:t>Angular</a:t>
            </a:r>
            <a:r>
              <a:rPr lang="hu-HU" dirty="0"/>
              <a:t> </a:t>
            </a:r>
            <a:r>
              <a:rPr lang="hu-HU" b="1" dirty="0"/>
              <a:t>nem egy monolit kódhalmaz</a:t>
            </a:r>
            <a:r>
              <a:rPr lang="hu-HU" dirty="0"/>
              <a:t>, hanem </a:t>
            </a:r>
            <a:r>
              <a:rPr lang="hu-HU" b="1" dirty="0"/>
              <a:t>különálló, jól definiált felelősségű részek együttműködése</a:t>
            </a:r>
            <a:r>
              <a:rPr lang="hu-HU" dirty="0"/>
              <a:t>.</a:t>
            </a:r>
          </a:p>
          <a:p>
            <a:endParaRPr lang="hu-HU" dirty="0"/>
          </a:p>
          <a:p>
            <a:r>
              <a:rPr lang="en-US" dirty="0"/>
              <a:t>Az </a:t>
            </a:r>
            <a:r>
              <a:rPr lang="en-US" dirty="0" err="1"/>
              <a:t>ábrán</a:t>
            </a:r>
            <a:r>
              <a:rPr lang="en-US" dirty="0"/>
              <a:t> </a:t>
            </a:r>
            <a:r>
              <a:rPr lang="en-US" b="1" dirty="0" err="1"/>
              <a:t>három</a:t>
            </a:r>
            <a:r>
              <a:rPr lang="en-US" b="1" dirty="0"/>
              <a:t> </a:t>
            </a:r>
            <a:r>
              <a:rPr lang="en-US" b="1" dirty="0" err="1"/>
              <a:t>fő</a:t>
            </a:r>
            <a:r>
              <a:rPr lang="en-US" b="1" dirty="0"/>
              <a:t> </a:t>
            </a:r>
            <a:r>
              <a:rPr lang="en-US" b="1" dirty="0" err="1"/>
              <a:t>területet</a:t>
            </a:r>
            <a:r>
              <a:rPr lang="en-US" dirty="0"/>
              <a:t> </a:t>
            </a:r>
            <a:r>
              <a:rPr lang="en-US" dirty="0" err="1"/>
              <a:t>látunk</a:t>
            </a:r>
            <a:r>
              <a:rPr lang="en-US" dirty="0"/>
              <a:t>:</a:t>
            </a:r>
            <a:endParaRPr lang="hu-HU" dirty="0"/>
          </a:p>
          <a:p>
            <a:endParaRPr lang="en-US" dirty="0"/>
          </a:p>
          <a:p>
            <a:r>
              <a:rPr lang="hu-HU" b="0" dirty="0"/>
              <a:t>- </a:t>
            </a:r>
            <a:r>
              <a:rPr lang="en-US" b="1" dirty="0"/>
              <a:t>Module</a:t>
            </a:r>
            <a:r>
              <a:rPr lang="en-US" dirty="0"/>
              <a:t> – </a:t>
            </a:r>
            <a:r>
              <a:rPr lang="en-US" dirty="0" err="1"/>
              <a:t>az</a:t>
            </a:r>
            <a:r>
              <a:rPr lang="en-US" dirty="0"/>
              <a:t> </a:t>
            </a:r>
            <a:r>
              <a:rPr lang="en-US" dirty="0" err="1"/>
              <a:t>alkalmazás</a:t>
            </a:r>
            <a:r>
              <a:rPr lang="en-US" dirty="0"/>
              <a:t> </a:t>
            </a:r>
            <a:r>
              <a:rPr lang="en-US" dirty="0" err="1"/>
              <a:t>szerkezeti</a:t>
            </a:r>
            <a:r>
              <a:rPr lang="en-US" dirty="0"/>
              <a:t> </a:t>
            </a:r>
            <a:r>
              <a:rPr lang="en-US" dirty="0" err="1"/>
              <a:t>kerete</a:t>
            </a:r>
            <a:r>
              <a:rPr lang="hu-HU" dirty="0"/>
              <a:t>. E</a:t>
            </a:r>
            <a:r>
              <a:rPr lang="en-US" dirty="0" err="1"/>
              <a:t>gy</a:t>
            </a:r>
            <a:r>
              <a:rPr lang="en-US" dirty="0"/>
              <a:t> </a:t>
            </a:r>
            <a:r>
              <a:rPr lang="en-US" dirty="0" err="1"/>
              <a:t>modul</a:t>
            </a:r>
            <a:r>
              <a:rPr lang="en-US" dirty="0"/>
              <a:t> </a:t>
            </a:r>
            <a:r>
              <a:rPr lang="en-US" dirty="0" err="1"/>
              <a:t>egy</a:t>
            </a:r>
            <a:r>
              <a:rPr lang="en-US" dirty="0"/>
              <a:t> </a:t>
            </a:r>
            <a:r>
              <a:rPr lang="en-US" dirty="0" err="1"/>
              <a:t>logikai</a:t>
            </a:r>
            <a:r>
              <a:rPr lang="en-US" dirty="0"/>
              <a:t> </a:t>
            </a:r>
            <a:r>
              <a:rPr lang="en-US" dirty="0" err="1"/>
              <a:t>egység</a:t>
            </a:r>
            <a:r>
              <a:rPr lang="en-US" dirty="0"/>
              <a:t>, </a:t>
            </a:r>
            <a:r>
              <a:rPr lang="en-US" dirty="0" err="1"/>
              <a:t>amely</a:t>
            </a:r>
            <a:r>
              <a:rPr lang="en-US" dirty="0"/>
              <a:t> </a:t>
            </a:r>
            <a:r>
              <a:rPr lang="en-US" b="1" dirty="0" err="1"/>
              <a:t>összefogja</a:t>
            </a:r>
            <a:r>
              <a:rPr lang="en-US" b="1" dirty="0"/>
              <a:t> </a:t>
            </a:r>
            <a:r>
              <a:rPr lang="en-US" b="0" dirty="0"/>
              <a:t>a </a:t>
            </a:r>
            <a:r>
              <a:rPr lang="en-US" b="0" dirty="0" err="1"/>
              <a:t>komponenseket</a:t>
            </a:r>
            <a:r>
              <a:rPr lang="en-US" b="0" dirty="0"/>
              <a:t>, </a:t>
            </a:r>
            <a:r>
              <a:rPr lang="en-US" b="0" dirty="0" err="1"/>
              <a:t>direktívákat</a:t>
            </a:r>
            <a:r>
              <a:rPr lang="en-US" b="0" dirty="0"/>
              <a:t>, pipe-</a:t>
            </a:r>
            <a:r>
              <a:rPr lang="en-US" b="0" dirty="0" err="1"/>
              <a:t>okat</a:t>
            </a:r>
            <a:r>
              <a:rPr lang="en-US" b="0" dirty="0"/>
              <a:t> és service-</a:t>
            </a:r>
            <a:r>
              <a:rPr lang="en-US" b="0" dirty="0" err="1"/>
              <a:t>eket</a:t>
            </a:r>
            <a:r>
              <a:rPr lang="hu-HU" b="0" dirty="0"/>
              <a:t>, stb.</a:t>
            </a:r>
            <a:endParaRPr lang="en-US" dirty="0"/>
          </a:p>
          <a:p>
            <a:r>
              <a:rPr lang="hu-HU" b="0" dirty="0"/>
              <a:t>-</a:t>
            </a:r>
            <a:r>
              <a:rPr lang="hu-HU" b="1" dirty="0"/>
              <a:t> </a:t>
            </a:r>
            <a:r>
              <a:rPr lang="en-US" b="1" dirty="0"/>
              <a:t>Component + Template</a:t>
            </a:r>
            <a:r>
              <a:rPr lang="en-US" dirty="0"/>
              <a:t> – a </a:t>
            </a:r>
            <a:r>
              <a:rPr lang="en-US" dirty="0" err="1"/>
              <a:t>felhasználói</a:t>
            </a:r>
            <a:r>
              <a:rPr lang="en-US" dirty="0"/>
              <a:t> </a:t>
            </a:r>
            <a:r>
              <a:rPr lang="en-US" dirty="0" err="1"/>
              <a:t>felület</a:t>
            </a:r>
            <a:r>
              <a:rPr lang="hu-HU" dirty="0"/>
              <a:t> (Vezérlő komponens és a UI </a:t>
            </a:r>
            <a:r>
              <a:rPr lang="hu-HU" dirty="0" err="1"/>
              <a:t>View</a:t>
            </a:r>
            <a:r>
              <a:rPr lang="hu-HU" dirty="0"/>
              <a:t>)</a:t>
            </a:r>
            <a:endParaRPr lang="en-US" dirty="0"/>
          </a:p>
          <a:p>
            <a:r>
              <a:rPr lang="hu-HU" b="0" dirty="0"/>
              <a:t>- </a:t>
            </a:r>
            <a:r>
              <a:rPr lang="en-US" b="1" dirty="0"/>
              <a:t>Injector + Services</a:t>
            </a:r>
            <a:r>
              <a:rPr lang="en-US" dirty="0"/>
              <a:t> – </a:t>
            </a:r>
            <a:r>
              <a:rPr lang="en-US" dirty="0" err="1"/>
              <a:t>az</a:t>
            </a:r>
            <a:r>
              <a:rPr lang="en-US" dirty="0"/>
              <a:t> </a:t>
            </a:r>
            <a:r>
              <a:rPr lang="en-US" dirty="0" err="1"/>
              <a:t>üzleti</a:t>
            </a:r>
            <a:r>
              <a:rPr lang="en-US" dirty="0"/>
              <a:t> </a:t>
            </a:r>
            <a:r>
              <a:rPr lang="en-US" dirty="0" err="1"/>
              <a:t>logika</a:t>
            </a:r>
            <a:r>
              <a:rPr lang="en-US" dirty="0"/>
              <a:t> és </a:t>
            </a:r>
            <a:r>
              <a:rPr lang="en-US" dirty="0" err="1"/>
              <a:t>adatkezelés</a:t>
            </a:r>
            <a:r>
              <a:rPr lang="hu-HU" dirty="0"/>
              <a:t> a szolgáltatásokban, amiket a </a:t>
            </a:r>
            <a:r>
              <a:rPr lang="hu-HU" dirty="0" err="1"/>
              <a:t>dependency</a:t>
            </a:r>
            <a:r>
              <a:rPr lang="hu-HU" dirty="0"/>
              <a:t> </a:t>
            </a:r>
            <a:r>
              <a:rPr lang="hu-HU" dirty="0" err="1"/>
              <a:t>injection</a:t>
            </a:r>
            <a:r>
              <a:rPr lang="hu-HU" dirty="0"/>
              <a:t> „illeszt be” (injektálás) a komponensbe.</a:t>
            </a:r>
            <a:endParaRPr lang="en-US" dirty="0"/>
          </a:p>
          <a:p>
            <a:endParaRPr lang="hu-HU" dirty="0"/>
          </a:p>
          <a:p>
            <a:r>
              <a:rPr lang="en-US" dirty="0" err="1"/>
              <a:t>Ezeket</a:t>
            </a:r>
            <a:r>
              <a:rPr lang="en-US" dirty="0"/>
              <a:t> </a:t>
            </a:r>
            <a:r>
              <a:rPr lang="en-US" b="1" dirty="0"/>
              <a:t>metadata, binding és dependency injection</a:t>
            </a:r>
            <a:r>
              <a:rPr lang="en-US" dirty="0"/>
              <a:t> </a:t>
            </a:r>
            <a:r>
              <a:rPr lang="en-US" dirty="0" err="1"/>
              <a:t>köti</a:t>
            </a:r>
            <a:r>
              <a:rPr lang="en-US" dirty="0"/>
              <a:t> </a:t>
            </a:r>
            <a:r>
              <a:rPr lang="en-US" dirty="0" err="1"/>
              <a:t>össze</a:t>
            </a:r>
            <a:r>
              <a:rPr lang="en-US" dirty="0"/>
              <a:t>.</a:t>
            </a:r>
          </a:p>
          <a:p>
            <a:endParaRPr lang="hu-HU" dirty="0"/>
          </a:p>
          <a:p>
            <a:r>
              <a:rPr lang="en-US" dirty="0"/>
              <a:t>Property binding </a:t>
            </a:r>
            <a:r>
              <a:rPr lang="en-US" dirty="0" err="1"/>
              <a:t>esetén</a:t>
            </a:r>
            <a:r>
              <a:rPr lang="en-US" dirty="0"/>
              <a:t> a </a:t>
            </a:r>
            <a:r>
              <a:rPr lang="en-US" dirty="0" err="1"/>
              <a:t>komponens</a:t>
            </a:r>
            <a:r>
              <a:rPr lang="en-US" dirty="0"/>
              <a:t> </a:t>
            </a:r>
            <a:r>
              <a:rPr lang="en-US" b="1" dirty="0" err="1"/>
              <a:t>adatot</a:t>
            </a:r>
            <a:r>
              <a:rPr lang="en-US" b="1" dirty="0"/>
              <a:t> </a:t>
            </a:r>
            <a:r>
              <a:rPr lang="en-US" b="1" dirty="0" err="1"/>
              <a:t>küld</a:t>
            </a:r>
            <a:r>
              <a:rPr lang="en-US" b="1" dirty="0"/>
              <a:t> a template-nek</a:t>
            </a:r>
            <a:r>
              <a:rPr lang="hu-HU" b="1" dirty="0"/>
              <a:t>. </a:t>
            </a:r>
            <a:r>
              <a:rPr lang="en-US" dirty="0"/>
              <a:t>Event binding </a:t>
            </a:r>
            <a:r>
              <a:rPr lang="en-US" dirty="0" err="1"/>
              <a:t>esetén</a:t>
            </a:r>
            <a:r>
              <a:rPr lang="en-US" dirty="0"/>
              <a:t> a </a:t>
            </a:r>
            <a:r>
              <a:rPr lang="en-US" dirty="0" err="1"/>
              <a:t>felhasználó</a:t>
            </a:r>
            <a:r>
              <a:rPr lang="en-US" dirty="0"/>
              <a:t> </a:t>
            </a:r>
            <a:r>
              <a:rPr lang="en-US" b="1" dirty="0" err="1"/>
              <a:t>eseményt</a:t>
            </a:r>
            <a:r>
              <a:rPr lang="en-US" b="1" dirty="0"/>
              <a:t> </a:t>
            </a:r>
            <a:r>
              <a:rPr lang="en-US" b="1" dirty="0" err="1"/>
              <a:t>indít</a:t>
            </a:r>
            <a:r>
              <a:rPr lang="en-US" dirty="0"/>
              <a:t>, </a:t>
            </a:r>
            <a:r>
              <a:rPr lang="en-US" dirty="0" err="1"/>
              <a:t>amelyet</a:t>
            </a:r>
            <a:r>
              <a:rPr lang="en-US" dirty="0"/>
              <a:t> a </a:t>
            </a:r>
            <a:r>
              <a:rPr lang="en-US" dirty="0" err="1"/>
              <a:t>komponens</a:t>
            </a:r>
            <a:r>
              <a:rPr lang="en-US" dirty="0"/>
              <a:t> </a:t>
            </a:r>
            <a:r>
              <a:rPr lang="en-US" dirty="0" err="1"/>
              <a:t>kezel</a:t>
            </a:r>
            <a:r>
              <a:rPr lang="en-US" dirty="0"/>
              <a:t>.</a:t>
            </a:r>
            <a:endParaRPr lang="hu-HU" dirty="0"/>
          </a:p>
          <a:p>
            <a:endParaRPr lang="hu-HU" b="1" dirty="0"/>
          </a:p>
          <a:p>
            <a:r>
              <a:rPr lang="en-US" dirty="0"/>
              <a:t>A metadata </a:t>
            </a:r>
            <a:r>
              <a:rPr lang="hu-HU" dirty="0"/>
              <a:t>(</a:t>
            </a:r>
            <a:r>
              <a:rPr lang="hu-HU" dirty="0" err="1"/>
              <a:t>decorator</a:t>
            </a:r>
            <a:r>
              <a:rPr lang="hu-HU" dirty="0"/>
              <a:t>) </a:t>
            </a:r>
            <a:r>
              <a:rPr lang="en-US" dirty="0" err="1"/>
              <a:t>mondja</a:t>
            </a:r>
            <a:r>
              <a:rPr lang="en-US" dirty="0"/>
              <a:t> meg </a:t>
            </a:r>
            <a:r>
              <a:rPr lang="en-US" dirty="0" err="1"/>
              <a:t>az</a:t>
            </a:r>
            <a:r>
              <a:rPr lang="en-US" dirty="0"/>
              <a:t> Angularnak, </a:t>
            </a:r>
            <a:r>
              <a:rPr lang="en-US" dirty="0" err="1"/>
              <a:t>hogy</a:t>
            </a:r>
            <a:r>
              <a:rPr lang="en-US" dirty="0"/>
              <a:t> </a:t>
            </a:r>
            <a:r>
              <a:rPr lang="en-US" dirty="0" err="1"/>
              <a:t>egy</a:t>
            </a:r>
            <a:r>
              <a:rPr lang="en-US" dirty="0"/>
              <a:t> </a:t>
            </a:r>
            <a:r>
              <a:rPr lang="en-US" dirty="0" err="1"/>
              <a:t>adott</a:t>
            </a:r>
            <a:r>
              <a:rPr lang="en-US" dirty="0"/>
              <a:t> </a:t>
            </a:r>
            <a:r>
              <a:rPr lang="en-US" dirty="0" err="1"/>
              <a:t>osztály</a:t>
            </a:r>
            <a:r>
              <a:rPr lang="en-US" dirty="0"/>
              <a:t> </a:t>
            </a:r>
            <a:r>
              <a:rPr lang="en-US" b="1" dirty="0" err="1"/>
              <a:t>milyen</a:t>
            </a:r>
            <a:r>
              <a:rPr lang="en-US" b="1" dirty="0"/>
              <a:t> </a:t>
            </a:r>
            <a:r>
              <a:rPr lang="en-US" b="1" dirty="0" err="1"/>
              <a:t>szerepet</a:t>
            </a:r>
            <a:r>
              <a:rPr lang="en-US" b="1" dirty="0"/>
              <a:t> </a:t>
            </a:r>
            <a:r>
              <a:rPr lang="en-US" b="1" dirty="0" err="1"/>
              <a:t>tölt</a:t>
            </a:r>
            <a:r>
              <a:rPr lang="en-US" b="1" dirty="0"/>
              <a:t> be</a:t>
            </a:r>
            <a:r>
              <a:rPr lang="hu-HU" b="1" dirty="0"/>
              <a:t>. </a:t>
            </a:r>
            <a:r>
              <a:rPr lang="en-US" dirty="0"/>
              <a:t>A </a:t>
            </a:r>
            <a:r>
              <a:rPr lang="en-US" dirty="0" err="1"/>
              <a:t>direktívák</a:t>
            </a:r>
            <a:r>
              <a:rPr lang="en-US" dirty="0"/>
              <a:t> a HTML </a:t>
            </a:r>
            <a:r>
              <a:rPr lang="en-US" dirty="0" err="1"/>
              <a:t>viselkedését</a:t>
            </a:r>
            <a:r>
              <a:rPr lang="en-US" dirty="0"/>
              <a:t> </a:t>
            </a:r>
            <a:r>
              <a:rPr lang="en-US" dirty="0" err="1"/>
              <a:t>bővítik</a:t>
            </a:r>
            <a:r>
              <a:rPr lang="hu-HU" dirty="0"/>
              <a:t>,</a:t>
            </a:r>
            <a:r>
              <a:rPr lang="en-US" dirty="0"/>
              <a:t> </a:t>
            </a:r>
            <a:r>
              <a:rPr lang="en-US" b="1" dirty="0" err="1"/>
              <a:t>utasítások</a:t>
            </a:r>
            <a:r>
              <a:rPr lang="en-US" b="1" dirty="0"/>
              <a:t> a DOM </a:t>
            </a:r>
            <a:r>
              <a:rPr lang="en-US" b="1" dirty="0" err="1"/>
              <a:t>számára</a:t>
            </a:r>
            <a:r>
              <a:rPr lang="en-US" dirty="0"/>
              <a:t>.</a:t>
            </a:r>
            <a:endParaRPr lang="hu-HU" dirty="0"/>
          </a:p>
          <a:p>
            <a:endParaRPr lang="hu-HU" b="0" dirty="0"/>
          </a:p>
          <a:p>
            <a:r>
              <a:rPr lang="hu-HU" dirty="0"/>
              <a:t>Az </a:t>
            </a:r>
            <a:r>
              <a:rPr lang="hu-HU" dirty="0" err="1"/>
              <a:t>Angular</a:t>
            </a:r>
            <a:r>
              <a:rPr lang="hu-HU" dirty="0"/>
              <a:t> architektúra célja az, hogy a megjelenítés, az adatkezelés és az infrastruktúra </a:t>
            </a:r>
            <a:r>
              <a:rPr lang="hu-HU" b="1" dirty="0"/>
              <a:t>szigorúan szét legyen választva</a:t>
            </a:r>
            <a:r>
              <a:rPr lang="hu-HU" dirty="0"/>
              <a:t>, mégis tisztán </a:t>
            </a:r>
            <a:r>
              <a:rPr lang="hu-HU" dirty="0" err="1"/>
              <a:t>együttműködjön</a:t>
            </a:r>
            <a:r>
              <a:rPr lang="hu-HU" dirty="0"/>
              <a:t>.</a:t>
            </a:r>
          </a:p>
        </p:txBody>
      </p:sp>
      <p:sp>
        <p:nvSpPr>
          <p:cNvPr id="4" name="Slide Number Placeholder 3"/>
          <p:cNvSpPr>
            <a:spLocks noGrp="1"/>
          </p:cNvSpPr>
          <p:nvPr>
            <p:ph type="sldNum" sz="quarter" idx="5"/>
          </p:nvPr>
        </p:nvSpPr>
        <p:spPr/>
        <p:txBody>
          <a:bodyPr/>
          <a:lstStyle/>
          <a:p>
            <a:fld id="{82D23EBC-67FA-4278-B97C-82D0A52FD2DA}" type="slidenum">
              <a:rPr lang="en-US" smtClean="0"/>
              <a:t>8</a:t>
            </a:fld>
            <a:endParaRPr lang="en-US"/>
          </a:p>
        </p:txBody>
      </p:sp>
    </p:spTree>
    <p:extLst>
      <p:ext uri="{BB962C8B-B14F-4D97-AF65-F5344CB8AC3E}">
        <p14:creationId xmlns:p14="http://schemas.microsoft.com/office/powerpoint/2010/main" val="2828750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dirty="0" err="1"/>
              <a:t>komponens</a:t>
            </a:r>
            <a:r>
              <a:rPr lang="en-US" dirty="0"/>
              <a:t> </a:t>
            </a:r>
            <a:r>
              <a:rPr lang="en-US" dirty="0" err="1"/>
              <a:t>az</a:t>
            </a:r>
            <a:r>
              <a:rPr lang="en-US" dirty="0"/>
              <a:t> Angular </a:t>
            </a:r>
            <a:r>
              <a:rPr lang="en-US" dirty="0" err="1"/>
              <a:t>legkisebb</a:t>
            </a:r>
            <a:r>
              <a:rPr lang="en-US" dirty="0"/>
              <a:t> </a:t>
            </a:r>
            <a:r>
              <a:rPr lang="en-US" dirty="0" err="1"/>
              <a:t>vizuális</a:t>
            </a:r>
            <a:r>
              <a:rPr lang="en-US" dirty="0"/>
              <a:t> </a:t>
            </a:r>
            <a:r>
              <a:rPr lang="en-US" dirty="0" err="1"/>
              <a:t>egysége</a:t>
            </a:r>
            <a:r>
              <a:rPr lang="en-US" dirty="0"/>
              <a:t>. Egy Angular a</a:t>
            </a:r>
            <a:r>
              <a:rPr lang="hu-HU" dirty="0" err="1"/>
              <a:t>lkalmazás</a:t>
            </a:r>
            <a:r>
              <a:rPr lang="en-US" dirty="0"/>
              <a:t> </a:t>
            </a:r>
            <a:r>
              <a:rPr lang="en-US" dirty="0" err="1"/>
              <a:t>építőköve</a:t>
            </a:r>
            <a:r>
              <a:rPr lang="hu-HU" dirty="0"/>
              <a:t>. </a:t>
            </a:r>
            <a:r>
              <a:rPr lang="en-US" dirty="0"/>
              <a:t>Minden </a:t>
            </a:r>
            <a:r>
              <a:rPr lang="en-US" dirty="0" err="1"/>
              <a:t>oldalt</a:t>
            </a:r>
            <a:r>
              <a:rPr lang="en-US" dirty="0"/>
              <a:t>, </a:t>
            </a:r>
            <a:r>
              <a:rPr lang="en-US" dirty="0" err="1"/>
              <a:t>minden</a:t>
            </a:r>
            <a:r>
              <a:rPr lang="en-US" dirty="0"/>
              <a:t> </a:t>
            </a:r>
            <a:r>
              <a:rPr lang="en-US" dirty="0" err="1"/>
              <a:t>gombot</a:t>
            </a:r>
            <a:r>
              <a:rPr lang="en-US" dirty="0"/>
              <a:t>, </a:t>
            </a:r>
            <a:r>
              <a:rPr lang="en-US" dirty="0" err="1"/>
              <a:t>minden</a:t>
            </a:r>
            <a:r>
              <a:rPr lang="en-US" dirty="0"/>
              <a:t> </a:t>
            </a:r>
            <a:r>
              <a:rPr lang="en-US" dirty="0" err="1"/>
              <a:t>kisebb</a:t>
            </a:r>
            <a:r>
              <a:rPr lang="en-US" dirty="0"/>
              <a:t> UI </a:t>
            </a:r>
            <a:r>
              <a:rPr lang="en-US" dirty="0" err="1"/>
              <a:t>elemet</a:t>
            </a:r>
            <a:r>
              <a:rPr lang="en-US" dirty="0"/>
              <a:t> </a:t>
            </a:r>
            <a:r>
              <a:rPr lang="en-US" dirty="0" err="1"/>
              <a:t>komponensként</a:t>
            </a:r>
            <a:r>
              <a:rPr lang="en-US" dirty="0"/>
              <a:t> </a:t>
            </a:r>
            <a:r>
              <a:rPr lang="en-US" dirty="0" err="1"/>
              <a:t>kezelünk</a:t>
            </a:r>
            <a:r>
              <a:rPr lang="hu-HU" dirty="0"/>
              <a:t>. </a:t>
            </a:r>
            <a:r>
              <a:rPr lang="en-US" dirty="0"/>
              <a:t>A </a:t>
            </a:r>
            <a:r>
              <a:rPr lang="en-US" dirty="0" err="1"/>
              <a:t>komponens</a:t>
            </a:r>
            <a:r>
              <a:rPr lang="en-US" dirty="0"/>
              <a:t> </a:t>
            </a:r>
            <a:r>
              <a:rPr lang="en-US" dirty="0" err="1"/>
              <a:t>lényegében</a:t>
            </a:r>
            <a:r>
              <a:rPr lang="en-US" dirty="0"/>
              <a:t> </a:t>
            </a:r>
            <a:r>
              <a:rPr lang="en-US" dirty="0" err="1"/>
              <a:t>egy</a:t>
            </a:r>
            <a:r>
              <a:rPr lang="en-US" dirty="0"/>
              <a:t> </a:t>
            </a:r>
            <a:r>
              <a:rPr lang="en-US" dirty="0" err="1"/>
              <a:t>osztály</a:t>
            </a:r>
            <a:r>
              <a:rPr lang="en-US" dirty="0"/>
              <a:t>, </a:t>
            </a:r>
            <a:r>
              <a:rPr lang="en-US" dirty="0" err="1"/>
              <a:t>amelyhez</a:t>
            </a:r>
            <a:r>
              <a:rPr lang="en-US" dirty="0"/>
              <a:t> </a:t>
            </a:r>
            <a:r>
              <a:rPr lang="en-US" dirty="0" err="1"/>
              <a:t>egy</a:t>
            </a:r>
            <a:r>
              <a:rPr lang="en-US" dirty="0"/>
              <a:t> HTML </a:t>
            </a:r>
            <a:r>
              <a:rPr lang="en-US" dirty="0" err="1"/>
              <a:t>sablon</a:t>
            </a:r>
            <a:r>
              <a:rPr lang="en-US" dirty="0"/>
              <a:t> </a:t>
            </a:r>
            <a:r>
              <a:rPr lang="en-US" dirty="0" err="1"/>
              <a:t>tartozik</a:t>
            </a:r>
            <a:r>
              <a:rPr lang="en-US" dirty="0"/>
              <a:t>. Minden </a:t>
            </a:r>
            <a:r>
              <a:rPr lang="en-US" dirty="0" err="1"/>
              <a:t>vizuális</a:t>
            </a:r>
            <a:r>
              <a:rPr lang="en-US" dirty="0"/>
              <a:t> </a:t>
            </a:r>
            <a:r>
              <a:rPr lang="en-US" dirty="0" err="1"/>
              <a:t>felület</a:t>
            </a:r>
            <a:r>
              <a:rPr lang="en-US" dirty="0"/>
              <a:t> </a:t>
            </a:r>
            <a:r>
              <a:rPr lang="en-US" dirty="0" err="1"/>
              <a:t>Angularban</a:t>
            </a:r>
            <a:r>
              <a:rPr lang="en-US" dirty="0"/>
              <a:t> </a:t>
            </a:r>
            <a:r>
              <a:rPr lang="en-US" dirty="0" err="1"/>
              <a:t>komponensekre</a:t>
            </a:r>
            <a:r>
              <a:rPr lang="en-US" dirty="0"/>
              <a:t> van </a:t>
            </a:r>
            <a:r>
              <a:rPr lang="en-US" dirty="0" err="1"/>
              <a:t>bontva</a:t>
            </a:r>
            <a:r>
              <a:rPr lang="en-US" dirty="0"/>
              <a:t>.</a:t>
            </a:r>
            <a:endParaRPr lang="hu-HU" dirty="0"/>
          </a:p>
          <a:p>
            <a:endParaRPr lang="hu-HU" dirty="0"/>
          </a:p>
          <a:p>
            <a:pPr>
              <a:lnSpc>
                <a:spcPct val="100000"/>
              </a:lnSpc>
            </a:pPr>
            <a:r>
              <a:rPr lang="en-US" dirty="0"/>
              <a:t>A </a:t>
            </a:r>
            <a:r>
              <a:rPr lang="en-US" dirty="0" err="1"/>
              <a:t>komponens</a:t>
            </a:r>
            <a:r>
              <a:rPr lang="en-US" dirty="0"/>
              <a:t> </a:t>
            </a:r>
            <a:r>
              <a:rPr lang="en-US" b="1" dirty="0"/>
              <a:t>3 </a:t>
            </a:r>
            <a:r>
              <a:rPr lang="en-US" b="1" dirty="0" err="1"/>
              <a:t>különálló</a:t>
            </a:r>
            <a:r>
              <a:rPr lang="en-US" b="1" dirty="0"/>
              <a:t> </a:t>
            </a:r>
            <a:r>
              <a:rPr lang="en-US" b="1" dirty="0" err="1"/>
              <a:t>részre</a:t>
            </a:r>
            <a:r>
              <a:rPr lang="en-US" dirty="0"/>
              <a:t> van </a:t>
            </a:r>
            <a:r>
              <a:rPr lang="en-US" dirty="0" err="1"/>
              <a:t>bontva</a:t>
            </a:r>
            <a:r>
              <a:rPr lang="en-US" dirty="0"/>
              <a:t>:</a:t>
            </a:r>
          </a:p>
          <a:p>
            <a:r>
              <a:rPr lang="hu-HU" dirty="0"/>
              <a:t>- </a:t>
            </a:r>
            <a:r>
              <a:rPr lang="en-US" dirty="0"/>
              <a:t>A </a:t>
            </a:r>
            <a:r>
              <a:rPr lang="en-US" b="1" dirty="0"/>
              <a:t>TypeScript</a:t>
            </a:r>
            <a:r>
              <a:rPr lang="en-US" dirty="0"/>
              <a:t> </a:t>
            </a:r>
            <a:r>
              <a:rPr lang="en-US" dirty="0" err="1"/>
              <a:t>osztály</a:t>
            </a:r>
            <a:r>
              <a:rPr lang="en-US" dirty="0"/>
              <a:t> </a:t>
            </a:r>
            <a:r>
              <a:rPr lang="en-US" dirty="0" err="1"/>
              <a:t>tartalmazza</a:t>
            </a:r>
            <a:r>
              <a:rPr lang="en-US" dirty="0"/>
              <a:t> a </a:t>
            </a:r>
            <a:r>
              <a:rPr lang="en-US" dirty="0" err="1"/>
              <a:t>logikát</a:t>
            </a:r>
            <a:r>
              <a:rPr lang="en-US" dirty="0"/>
              <a:t>.</a:t>
            </a:r>
          </a:p>
          <a:p>
            <a:r>
              <a:rPr lang="hu-HU" dirty="0"/>
              <a:t>- </a:t>
            </a:r>
            <a:r>
              <a:rPr lang="en-US" dirty="0"/>
              <a:t>A </a:t>
            </a:r>
            <a:r>
              <a:rPr lang="en-US" b="1" dirty="0"/>
              <a:t>template</a:t>
            </a:r>
            <a:r>
              <a:rPr lang="en-US" dirty="0"/>
              <a:t> </a:t>
            </a:r>
            <a:r>
              <a:rPr lang="en-US" dirty="0" err="1"/>
              <a:t>határozza</a:t>
            </a:r>
            <a:r>
              <a:rPr lang="en-US" dirty="0"/>
              <a:t> meg, </a:t>
            </a:r>
            <a:r>
              <a:rPr lang="en-US" dirty="0" err="1"/>
              <a:t>hogy</a:t>
            </a:r>
            <a:r>
              <a:rPr lang="en-US" dirty="0"/>
              <a:t> mi </a:t>
            </a:r>
            <a:r>
              <a:rPr lang="en-US" dirty="0" err="1"/>
              <a:t>jelenik</a:t>
            </a:r>
            <a:r>
              <a:rPr lang="en-US" dirty="0"/>
              <a:t> meg a </a:t>
            </a:r>
            <a:r>
              <a:rPr lang="en-US" dirty="0" err="1"/>
              <a:t>felületen</a:t>
            </a:r>
            <a:r>
              <a:rPr lang="en-US" dirty="0"/>
              <a:t>.</a:t>
            </a:r>
          </a:p>
          <a:p>
            <a:r>
              <a:rPr lang="hu-HU" dirty="0"/>
              <a:t>- </a:t>
            </a:r>
            <a:r>
              <a:rPr lang="en-US" dirty="0"/>
              <a:t>A </a:t>
            </a:r>
            <a:r>
              <a:rPr lang="en-US" b="1" dirty="0"/>
              <a:t>CSS</a:t>
            </a:r>
            <a:r>
              <a:rPr lang="en-US" dirty="0"/>
              <a:t> </a:t>
            </a:r>
            <a:r>
              <a:rPr lang="en-US" dirty="0" err="1"/>
              <a:t>kezeli</a:t>
            </a:r>
            <a:r>
              <a:rPr lang="en-US" dirty="0"/>
              <a:t> a </a:t>
            </a:r>
            <a:r>
              <a:rPr lang="en-US" dirty="0" err="1"/>
              <a:t>stílusokat</a:t>
            </a:r>
            <a:r>
              <a:rPr lang="en-US" dirty="0"/>
              <a:t>.</a:t>
            </a:r>
          </a:p>
          <a:p>
            <a:endParaRPr lang="hu-HU" dirty="0"/>
          </a:p>
          <a:p>
            <a:r>
              <a:rPr lang="en-US" dirty="0"/>
              <a:t>A </a:t>
            </a:r>
            <a:r>
              <a:rPr lang="en-US" sz="1200" b="1" kern="1200" dirty="0">
                <a:solidFill>
                  <a:schemeClr val="tx1"/>
                </a:solidFill>
                <a:latin typeface="+mn-lt"/>
                <a:ea typeface="+mn-ea"/>
                <a:cs typeface="+mn-cs"/>
              </a:rPr>
              <a:t>@Component</a:t>
            </a:r>
            <a:r>
              <a:rPr lang="en-US" b="1" dirty="0"/>
              <a:t> decorator</a:t>
            </a:r>
            <a:r>
              <a:rPr lang="en-US" b="0" dirty="0"/>
              <a:t> </a:t>
            </a:r>
            <a:r>
              <a:rPr lang="hu-HU" b="0" dirty="0"/>
              <a:t>(</a:t>
            </a:r>
            <a:r>
              <a:rPr lang="hu-HU" b="0" dirty="0" err="1"/>
              <a:t>metadata</a:t>
            </a:r>
            <a:r>
              <a:rPr lang="hu-HU" b="0" dirty="0"/>
              <a:t>)</a:t>
            </a:r>
            <a:r>
              <a:rPr lang="hu-HU" b="1" dirty="0"/>
              <a:t> </a:t>
            </a:r>
            <a:r>
              <a:rPr lang="en-US" dirty="0" err="1"/>
              <a:t>mondja</a:t>
            </a:r>
            <a:r>
              <a:rPr lang="en-US" dirty="0"/>
              <a:t> </a:t>
            </a:r>
            <a:r>
              <a:rPr lang="en-US" dirty="0" err="1"/>
              <a:t>el</a:t>
            </a:r>
            <a:r>
              <a:rPr lang="en-US" dirty="0"/>
              <a:t> </a:t>
            </a:r>
            <a:r>
              <a:rPr lang="en-US" dirty="0" err="1"/>
              <a:t>Angularnak</a:t>
            </a:r>
            <a:r>
              <a:rPr lang="en-US" dirty="0"/>
              <a:t>, </a:t>
            </a:r>
            <a:r>
              <a:rPr lang="en-US" dirty="0" err="1"/>
              <a:t>hogy</a:t>
            </a:r>
            <a:r>
              <a:rPr lang="en-US" dirty="0"/>
              <a:t> </a:t>
            </a:r>
            <a:r>
              <a:rPr lang="en-US" dirty="0" err="1"/>
              <a:t>ez</a:t>
            </a:r>
            <a:r>
              <a:rPr lang="en-US" dirty="0"/>
              <a:t> a </a:t>
            </a:r>
            <a:r>
              <a:rPr lang="en-US" dirty="0" err="1"/>
              <a:t>három</a:t>
            </a:r>
            <a:r>
              <a:rPr lang="en-US" dirty="0"/>
              <a:t> </a:t>
            </a:r>
            <a:r>
              <a:rPr lang="en-US" dirty="0" err="1"/>
              <a:t>rész</a:t>
            </a:r>
            <a:r>
              <a:rPr lang="en-US" dirty="0"/>
              <a:t> </a:t>
            </a:r>
            <a:r>
              <a:rPr lang="en-US" dirty="0" err="1"/>
              <a:t>összetartozik</a:t>
            </a:r>
            <a:r>
              <a:rPr lang="en-US" dirty="0"/>
              <a:t>.</a:t>
            </a:r>
          </a:p>
          <a:p>
            <a:endParaRPr lang="en-US" dirty="0"/>
          </a:p>
        </p:txBody>
      </p:sp>
      <p:sp>
        <p:nvSpPr>
          <p:cNvPr id="4" name="Slide Number Placeholder 3"/>
          <p:cNvSpPr>
            <a:spLocks noGrp="1"/>
          </p:cNvSpPr>
          <p:nvPr>
            <p:ph type="sldNum" sz="quarter" idx="5"/>
          </p:nvPr>
        </p:nvSpPr>
        <p:spPr/>
        <p:txBody>
          <a:bodyPr/>
          <a:lstStyle/>
          <a:p>
            <a:fld id="{82D23EBC-67FA-4278-B97C-82D0A52FD2DA}" type="slidenum">
              <a:rPr lang="en-US" smtClean="0"/>
              <a:t>9</a:t>
            </a:fld>
            <a:endParaRPr lang="en-US"/>
          </a:p>
        </p:txBody>
      </p:sp>
    </p:spTree>
    <p:extLst>
      <p:ext uri="{BB962C8B-B14F-4D97-AF65-F5344CB8AC3E}">
        <p14:creationId xmlns:p14="http://schemas.microsoft.com/office/powerpoint/2010/main" val="3500945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sz="1200" b="1" kern="1200" dirty="0">
                <a:solidFill>
                  <a:schemeClr val="tx1"/>
                </a:solidFill>
                <a:latin typeface="+mn-lt"/>
                <a:ea typeface="+mn-ea"/>
                <a:cs typeface="+mn-cs"/>
              </a:rPr>
              <a:t>@Component</a:t>
            </a:r>
            <a:r>
              <a:rPr lang="en-US" b="1" dirty="0"/>
              <a:t> decorator</a:t>
            </a:r>
            <a:r>
              <a:rPr lang="en-US" dirty="0"/>
              <a:t> </a:t>
            </a:r>
            <a:r>
              <a:rPr lang="en-US" dirty="0" err="1"/>
              <a:t>mondja</a:t>
            </a:r>
            <a:r>
              <a:rPr lang="en-US" dirty="0"/>
              <a:t> meg </a:t>
            </a:r>
            <a:r>
              <a:rPr lang="en-US" dirty="0" err="1"/>
              <a:t>az</a:t>
            </a:r>
            <a:r>
              <a:rPr lang="en-US" dirty="0"/>
              <a:t> Angular</a:t>
            </a:r>
            <a:r>
              <a:rPr lang="hu-HU" dirty="0"/>
              <a:t>-</a:t>
            </a:r>
            <a:r>
              <a:rPr lang="en-US" dirty="0"/>
              <a:t>nek, </a:t>
            </a:r>
            <a:r>
              <a:rPr lang="en-US" dirty="0" err="1"/>
              <a:t>hogy</a:t>
            </a:r>
            <a:r>
              <a:rPr lang="en-US" dirty="0"/>
              <a:t> </a:t>
            </a:r>
            <a:r>
              <a:rPr lang="en-US" dirty="0" err="1"/>
              <a:t>ez</a:t>
            </a:r>
            <a:r>
              <a:rPr lang="en-US" dirty="0"/>
              <a:t> </a:t>
            </a:r>
            <a:r>
              <a:rPr lang="en-US" dirty="0" err="1"/>
              <a:t>az</a:t>
            </a:r>
            <a:r>
              <a:rPr lang="en-US" dirty="0"/>
              <a:t> </a:t>
            </a:r>
            <a:r>
              <a:rPr lang="en-US" dirty="0" err="1"/>
              <a:t>osztály</a:t>
            </a:r>
            <a:r>
              <a:rPr lang="en-US" dirty="0"/>
              <a:t> </a:t>
            </a:r>
            <a:r>
              <a:rPr lang="en-US" dirty="0" err="1"/>
              <a:t>egy</a:t>
            </a:r>
            <a:r>
              <a:rPr lang="en-US" dirty="0"/>
              <a:t> </a:t>
            </a:r>
            <a:r>
              <a:rPr lang="en-US" b="1" dirty="0" err="1"/>
              <a:t>komponens</a:t>
            </a:r>
            <a:r>
              <a:rPr lang="en-US" dirty="0"/>
              <a:t>, és </a:t>
            </a:r>
            <a:r>
              <a:rPr lang="en-US" dirty="0" err="1"/>
              <a:t>tartalmazza</a:t>
            </a:r>
            <a:r>
              <a:rPr lang="en-US" dirty="0"/>
              <a:t> a selector-t és a </a:t>
            </a:r>
            <a:r>
              <a:rPr lang="en-US" dirty="0" err="1"/>
              <a:t>hozzá</a:t>
            </a:r>
            <a:r>
              <a:rPr lang="en-US" dirty="0"/>
              <a:t> </a:t>
            </a:r>
            <a:r>
              <a:rPr lang="en-US" dirty="0" err="1"/>
              <a:t>tartozó</a:t>
            </a:r>
            <a:r>
              <a:rPr lang="en-US" dirty="0"/>
              <a:t> HTML </a:t>
            </a:r>
            <a:r>
              <a:rPr lang="en-US" dirty="0" err="1"/>
              <a:t>sablont</a:t>
            </a:r>
            <a:r>
              <a:rPr lang="en-US" dirty="0"/>
              <a:t>.</a:t>
            </a:r>
            <a:r>
              <a:rPr lang="hu-HU" dirty="0"/>
              <a:t> A sablon vagy külön HTML fájlban van, vagy közvetlenül a komponensben.</a:t>
            </a:r>
          </a:p>
          <a:p>
            <a:endParaRPr lang="hu-HU" dirty="0"/>
          </a:p>
          <a:p>
            <a:r>
              <a:rPr lang="en-US" dirty="0"/>
              <a:t>Ez </a:t>
            </a:r>
            <a:r>
              <a:rPr lang="en-US" dirty="0" err="1"/>
              <a:t>egy</a:t>
            </a:r>
            <a:r>
              <a:rPr lang="en-US" dirty="0"/>
              <a:t> </a:t>
            </a:r>
            <a:r>
              <a:rPr lang="en-US" dirty="0" err="1"/>
              <a:t>minimális</a:t>
            </a:r>
            <a:r>
              <a:rPr lang="en-US" dirty="0"/>
              <a:t> </a:t>
            </a:r>
            <a:r>
              <a:rPr lang="en-US" dirty="0" err="1"/>
              <a:t>komponens</a:t>
            </a:r>
            <a:r>
              <a:rPr lang="en-US" dirty="0"/>
              <a:t>. A </a:t>
            </a:r>
            <a:r>
              <a:rPr lang="en-US" sz="1200" b="1" kern="1200" dirty="0">
                <a:solidFill>
                  <a:schemeClr val="tx1"/>
                </a:solidFill>
                <a:latin typeface="+mn-lt"/>
                <a:ea typeface="+mn-ea"/>
                <a:cs typeface="+mn-cs"/>
              </a:rPr>
              <a:t>selector</a:t>
            </a:r>
            <a:r>
              <a:rPr lang="en-US" dirty="0"/>
              <a:t> </a:t>
            </a:r>
            <a:r>
              <a:rPr lang="en-US" dirty="0" err="1"/>
              <a:t>határozza</a:t>
            </a:r>
            <a:r>
              <a:rPr lang="en-US" dirty="0"/>
              <a:t> meg, </a:t>
            </a:r>
            <a:r>
              <a:rPr lang="en-US" dirty="0" err="1"/>
              <a:t>milyen</a:t>
            </a:r>
            <a:r>
              <a:rPr lang="en-US" dirty="0"/>
              <a:t> HTML </a:t>
            </a:r>
            <a:r>
              <a:rPr lang="en-US" dirty="0" err="1"/>
              <a:t>elemként</a:t>
            </a:r>
            <a:r>
              <a:rPr lang="en-US" dirty="0"/>
              <a:t> </a:t>
            </a:r>
            <a:r>
              <a:rPr lang="en-US" dirty="0" err="1"/>
              <a:t>lehet</a:t>
            </a:r>
            <a:r>
              <a:rPr lang="en-US" dirty="0"/>
              <a:t> </a:t>
            </a:r>
            <a:r>
              <a:rPr lang="en-US" dirty="0" err="1"/>
              <a:t>használni</a:t>
            </a:r>
            <a:r>
              <a:rPr lang="en-US" dirty="0"/>
              <a:t>, </a:t>
            </a:r>
            <a:r>
              <a:rPr lang="en-US" dirty="0" err="1"/>
              <a:t>tehát</a:t>
            </a:r>
            <a:r>
              <a:rPr lang="en-US" dirty="0"/>
              <a:t> </a:t>
            </a:r>
            <a:r>
              <a:rPr lang="en-US" sz="1200" kern="1200" dirty="0">
                <a:solidFill>
                  <a:schemeClr val="tx1"/>
                </a:solidFill>
                <a:latin typeface="+mn-lt"/>
                <a:ea typeface="+mn-ea"/>
                <a:cs typeface="+mn-cs"/>
              </a:rPr>
              <a:t>&lt;app-hello&gt;&lt;/app-hello&gt;</a:t>
            </a:r>
            <a:r>
              <a:rPr lang="en-US" dirty="0"/>
              <a:t>.</a:t>
            </a:r>
            <a:br>
              <a:rPr lang="en-US" dirty="0"/>
            </a:br>
            <a:endParaRPr lang="hu-HU" dirty="0"/>
          </a:p>
          <a:p>
            <a:r>
              <a:rPr lang="en-US" dirty="0"/>
              <a:t>A </a:t>
            </a:r>
            <a:r>
              <a:rPr lang="en-US" b="1" dirty="0"/>
              <a:t>template</a:t>
            </a:r>
            <a:r>
              <a:rPr lang="en-US" dirty="0"/>
              <a:t> </a:t>
            </a:r>
            <a:r>
              <a:rPr lang="en-US" sz="1200" kern="1200" dirty="0">
                <a:solidFill>
                  <a:schemeClr val="tx1"/>
                </a:solidFill>
                <a:latin typeface="+mn-lt"/>
                <a:ea typeface="+mn-ea"/>
                <a:cs typeface="+mn-cs"/>
              </a:rPr>
              <a:t>{{ }}</a:t>
            </a:r>
            <a:r>
              <a:rPr lang="en-US" dirty="0"/>
              <a:t> </a:t>
            </a:r>
            <a:r>
              <a:rPr lang="en-US" dirty="0" err="1"/>
              <a:t>interpolációval</a:t>
            </a:r>
            <a:r>
              <a:rPr lang="en-US" dirty="0"/>
              <a:t> </a:t>
            </a:r>
            <a:r>
              <a:rPr lang="en-US" dirty="0" err="1"/>
              <a:t>éri</a:t>
            </a:r>
            <a:r>
              <a:rPr lang="en-US" dirty="0"/>
              <a:t> </a:t>
            </a:r>
            <a:r>
              <a:rPr lang="en-US" dirty="0" err="1"/>
              <a:t>el</a:t>
            </a:r>
            <a:r>
              <a:rPr lang="en-US" dirty="0"/>
              <a:t> </a:t>
            </a:r>
            <a:r>
              <a:rPr lang="en-US" dirty="0" err="1"/>
              <a:t>az</a:t>
            </a:r>
            <a:r>
              <a:rPr lang="en-US" dirty="0"/>
              <a:t> </a:t>
            </a:r>
            <a:r>
              <a:rPr lang="en-US" dirty="0" err="1"/>
              <a:t>osztály</a:t>
            </a:r>
            <a:r>
              <a:rPr lang="en-US" dirty="0"/>
              <a:t> </a:t>
            </a:r>
            <a:r>
              <a:rPr lang="en-US" dirty="0" err="1"/>
              <a:t>változóit</a:t>
            </a:r>
            <a:r>
              <a:rPr lang="en-US" dirty="0"/>
              <a:t>. </a:t>
            </a:r>
            <a:r>
              <a:rPr lang="en-US" dirty="0" err="1"/>
              <a:t>Itt</a:t>
            </a:r>
            <a:r>
              <a:rPr lang="en-US" dirty="0"/>
              <a:t> </a:t>
            </a:r>
            <a:r>
              <a:rPr lang="en-US" dirty="0" err="1"/>
              <a:t>jelenik</a:t>
            </a:r>
            <a:r>
              <a:rPr lang="en-US" dirty="0"/>
              <a:t> meg a </a:t>
            </a:r>
            <a:r>
              <a:rPr lang="en-US" b="1" dirty="0"/>
              <a:t>binding</a:t>
            </a:r>
            <a:r>
              <a:rPr lang="en-US" dirty="0"/>
              <a:t> </a:t>
            </a:r>
            <a:r>
              <a:rPr lang="en-US" dirty="0" err="1"/>
              <a:t>koncepciója</a:t>
            </a:r>
            <a:r>
              <a:rPr lang="en-US" dirty="0"/>
              <a:t>: a TypeScript </a:t>
            </a:r>
            <a:r>
              <a:rPr lang="en-US" dirty="0" err="1"/>
              <a:t>változóin</a:t>
            </a:r>
            <a:r>
              <a:rPr lang="en-US" dirty="0"/>
              <a:t> </a:t>
            </a:r>
            <a:r>
              <a:rPr lang="en-US" dirty="0" err="1"/>
              <a:t>keresztül</a:t>
            </a:r>
            <a:r>
              <a:rPr lang="en-US" dirty="0"/>
              <a:t> </a:t>
            </a:r>
            <a:r>
              <a:rPr lang="en-US" dirty="0" err="1"/>
              <a:t>irányítjuk</a:t>
            </a:r>
            <a:r>
              <a:rPr lang="en-US" dirty="0"/>
              <a:t> a HTML </a:t>
            </a:r>
            <a:r>
              <a:rPr lang="en-US" dirty="0" err="1"/>
              <a:t>tartalmát</a:t>
            </a:r>
            <a:r>
              <a:rPr lang="en-US" dirty="0"/>
              <a:t>.</a:t>
            </a:r>
            <a:endParaRPr lang="hu-HU" dirty="0"/>
          </a:p>
          <a:p>
            <a:endParaRPr lang="hu-HU" dirty="0"/>
          </a:p>
        </p:txBody>
      </p:sp>
      <p:sp>
        <p:nvSpPr>
          <p:cNvPr id="4" name="Slide Number Placeholder 3"/>
          <p:cNvSpPr>
            <a:spLocks noGrp="1"/>
          </p:cNvSpPr>
          <p:nvPr>
            <p:ph type="sldNum" sz="quarter" idx="5"/>
          </p:nvPr>
        </p:nvSpPr>
        <p:spPr/>
        <p:txBody>
          <a:bodyPr/>
          <a:lstStyle/>
          <a:p>
            <a:fld id="{82D23EBC-67FA-4278-B97C-82D0A52FD2DA}" type="slidenum">
              <a:rPr lang="en-US" smtClean="0"/>
              <a:t>10</a:t>
            </a:fld>
            <a:endParaRPr lang="en-US"/>
          </a:p>
        </p:txBody>
      </p:sp>
    </p:spTree>
    <p:extLst>
      <p:ext uri="{BB962C8B-B14F-4D97-AF65-F5344CB8AC3E}">
        <p14:creationId xmlns:p14="http://schemas.microsoft.com/office/powerpoint/2010/main" val="382982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hu-HU" b="1" dirty="0" err="1"/>
              <a:t>data</a:t>
            </a:r>
            <a:r>
              <a:rPr lang="hu-HU" b="1" dirty="0"/>
              <a:t> </a:t>
            </a:r>
            <a:r>
              <a:rPr lang="en-US" b="1" dirty="0"/>
              <a:t>binding</a:t>
            </a:r>
            <a:r>
              <a:rPr lang="en-US" dirty="0"/>
              <a:t> </a:t>
            </a:r>
            <a:r>
              <a:rPr lang="en-US" dirty="0" err="1"/>
              <a:t>az</a:t>
            </a:r>
            <a:r>
              <a:rPr lang="en-US" dirty="0"/>
              <a:t> </a:t>
            </a:r>
            <a:r>
              <a:rPr lang="en-US" dirty="0" err="1"/>
              <a:t>adatkapcsolatot</a:t>
            </a:r>
            <a:r>
              <a:rPr lang="en-US" dirty="0"/>
              <a:t> </a:t>
            </a:r>
            <a:r>
              <a:rPr lang="en-US" dirty="0" err="1"/>
              <a:t>jelenti</a:t>
            </a:r>
            <a:r>
              <a:rPr lang="en-US" dirty="0"/>
              <a:t> a </a:t>
            </a:r>
            <a:r>
              <a:rPr lang="en-US" dirty="0" err="1"/>
              <a:t>komponens</a:t>
            </a:r>
            <a:r>
              <a:rPr lang="en-US" dirty="0"/>
              <a:t> </a:t>
            </a:r>
            <a:r>
              <a:rPr lang="en-US" dirty="0" err="1"/>
              <a:t>logika</a:t>
            </a:r>
            <a:r>
              <a:rPr lang="en-US" dirty="0"/>
              <a:t> és a </a:t>
            </a:r>
            <a:r>
              <a:rPr lang="en-US" dirty="0" err="1"/>
              <a:t>felület</a:t>
            </a:r>
            <a:r>
              <a:rPr lang="hu-HU" dirty="0"/>
              <a:t> (HTML sablon)</a:t>
            </a:r>
            <a:r>
              <a:rPr lang="en-US" dirty="0"/>
              <a:t> </a:t>
            </a:r>
            <a:r>
              <a:rPr lang="en-US" dirty="0" err="1"/>
              <a:t>között</a:t>
            </a:r>
            <a:r>
              <a:rPr lang="hu-HU" dirty="0"/>
              <a:t>.</a:t>
            </a:r>
          </a:p>
          <a:p>
            <a:endParaRPr lang="hu-HU" dirty="0"/>
          </a:p>
          <a:p>
            <a:r>
              <a:rPr lang="hu-HU" b="1" dirty="0"/>
              <a:t>Interpoláció - </a:t>
            </a:r>
            <a:r>
              <a:rPr lang="hu-HU" sz="1200" b="1" kern="1200" dirty="0">
                <a:solidFill>
                  <a:schemeClr val="tx1"/>
                </a:solidFill>
                <a:latin typeface="+mn-lt"/>
                <a:ea typeface="+mn-ea"/>
                <a:cs typeface="+mn-cs"/>
              </a:rPr>
              <a:t>{{</a:t>
            </a:r>
            <a:r>
              <a:rPr lang="hu-HU" sz="1200" b="1" kern="1200" dirty="0" err="1">
                <a:solidFill>
                  <a:schemeClr val="tx1"/>
                </a:solidFill>
                <a:latin typeface="+mn-lt"/>
                <a:ea typeface="+mn-ea"/>
                <a:cs typeface="+mn-cs"/>
              </a:rPr>
              <a:t>name</a:t>
            </a:r>
            <a:r>
              <a:rPr lang="hu-HU" sz="1200" b="1" kern="1200" dirty="0">
                <a:solidFill>
                  <a:schemeClr val="tx1"/>
                </a:solidFill>
                <a:latin typeface="+mn-lt"/>
                <a:ea typeface="+mn-ea"/>
                <a:cs typeface="+mn-cs"/>
              </a:rPr>
              <a:t>}}</a:t>
            </a:r>
            <a:br>
              <a:rPr lang="hu-HU" dirty="0"/>
            </a:br>
            <a:r>
              <a:rPr lang="hu-HU" dirty="0"/>
              <a:t>A HTML sablonba beilleszthetünk egy változót. Csak szöveges megjelenítésre jó.</a:t>
            </a:r>
          </a:p>
          <a:p>
            <a:endParaRPr lang="hu-HU" dirty="0"/>
          </a:p>
          <a:p>
            <a:r>
              <a:rPr lang="hu-HU" b="1" dirty="0" err="1"/>
              <a:t>Property</a:t>
            </a:r>
            <a:r>
              <a:rPr lang="hu-HU" b="1" dirty="0"/>
              <a:t> </a:t>
            </a:r>
            <a:r>
              <a:rPr lang="hu-HU" b="1" dirty="0" err="1"/>
              <a:t>binding</a:t>
            </a:r>
            <a:r>
              <a:rPr lang="hu-HU" b="1" dirty="0"/>
              <a:t> - </a:t>
            </a:r>
            <a:r>
              <a:rPr lang="hu-HU" sz="1200" b="1" kern="1200" dirty="0">
                <a:solidFill>
                  <a:schemeClr val="tx1"/>
                </a:solidFill>
                <a:latin typeface="+mn-lt"/>
                <a:ea typeface="+mn-ea"/>
                <a:cs typeface="+mn-cs"/>
              </a:rPr>
              <a:t>[</a:t>
            </a:r>
            <a:r>
              <a:rPr lang="hu-HU" sz="1200" b="1" kern="1200" dirty="0" err="1">
                <a:solidFill>
                  <a:schemeClr val="tx1"/>
                </a:solidFill>
                <a:latin typeface="+mn-lt"/>
                <a:ea typeface="+mn-ea"/>
                <a:cs typeface="+mn-cs"/>
              </a:rPr>
              <a:t>property</a:t>
            </a:r>
            <a:r>
              <a:rPr lang="hu-HU" sz="1200" b="1" kern="1200" dirty="0">
                <a:solidFill>
                  <a:schemeClr val="tx1"/>
                </a:solidFill>
                <a:latin typeface="+mn-lt"/>
                <a:ea typeface="+mn-ea"/>
                <a:cs typeface="+mn-cs"/>
              </a:rPr>
              <a:t>]="</a:t>
            </a:r>
            <a:r>
              <a:rPr lang="hu-HU" sz="1200" b="1" kern="1200" dirty="0" err="1">
                <a:solidFill>
                  <a:schemeClr val="tx1"/>
                </a:solidFill>
                <a:latin typeface="+mn-lt"/>
                <a:ea typeface="+mn-ea"/>
                <a:cs typeface="+mn-cs"/>
              </a:rPr>
              <a:t>value</a:t>
            </a:r>
            <a:r>
              <a:rPr lang="hu-HU" sz="1200" b="1" kern="1200" dirty="0">
                <a:solidFill>
                  <a:schemeClr val="tx1"/>
                </a:solidFill>
                <a:latin typeface="+mn-lt"/>
                <a:ea typeface="+mn-ea"/>
                <a:cs typeface="+mn-cs"/>
              </a:rPr>
              <a:t>"</a:t>
            </a:r>
            <a:br>
              <a:rPr lang="hu-HU" dirty="0"/>
            </a:br>
            <a:r>
              <a:rPr lang="hu-HU" dirty="0"/>
              <a:t>Itt már </a:t>
            </a:r>
            <a:r>
              <a:rPr lang="hu-HU" dirty="0" err="1"/>
              <a:t>Angular</a:t>
            </a:r>
            <a:r>
              <a:rPr lang="hu-HU" dirty="0"/>
              <a:t> maga módosít HTML tulajdonságot. Például egy gomb </a:t>
            </a:r>
            <a:r>
              <a:rPr lang="hu-HU" dirty="0" err="1"/>
              <a:t>disabled</a:t>
            </a:r>
            <a:r>
              <a:rPr lang="hu-HU" dirty="0"/>
              <a:t> állapotát.</a:t>
            </a:r>
          </a:p>
          <a:p>
            <a:endParaRPr lang="hu-HU" dirty="0"/>
          </a:p>
          <a:p>
            <a:r>
              <a:rPr lang="hu-HU" b="1" dirty="0" err="1"/>
              <a:t>Event</a:t>
            </a:r>
            <a:r>
              <a:rPr lang="hu-HU" b="1" dirty="0"/>
              <a:t> </a:t>
            </a:r>
            <a:r>
              <a:rPr lang="hu-HU" b="1" dirty="0" err="1"/>
              <a:t>binding</a:t>
            </a:r>
            <a:r>
              <a:rPr lang="hu-HU" b="1" dirty="0"/>
              <a:t> - </a:t>
            </a:r>
            <a:r>
              <a:rPr lang="hu-HU" sz="1200" b="1" kern="1200" dirty="0">
                <a:solidFill>
                  <a:schemeClr val="tx1"/>
                </a:solidFill>
                <a:latin typeface="+mn-lt"/>
                <a:ea typeface="+mn-ea"/>
                <a:cs typeface="+mn-cs"/>
              </a:rPr>
              <a:t>(</a:t>
            </a:r>
            <a:r>
              <a:rPr lang="hu-HU" sz="1200" b="1" kern="1200" dirty="0" err="1">
                <a:solidFill>
                  <a:schemeClr val="tx1"/>
                </a:solidFill>
                <a:latin typeface="+mn-lt"/>
                <a:ea typeface="+mn-ea"/>
                <a:cs typeface="+mn-cs"/>
              </a:rPr>
              <a:t>click</a:t>
            </a:r>
            <a:r>
              <a:rPr lang="hu-HU" sz="1200" b="1" kern="1200" dirty="0">
                <a:solidFill>
                  <a:schemeClr val="tx1"/>
                </a:solidFill>
                <a:latin typeface="+mn-lt"/>
                <a:ea typeface="+mn-ea"/>
                <a:cs typeface="+mn-cs"/>
              </a:rPr>
              <a:t>)="</a:t>
            </a:r>
            <a:r>
              <a:rPr lang="hu-HU" sz="1200" b="1" kern="1200" dirty="0" err="1">
                <a:solidFill>
                  <a:schemeClr val="tx1"/>
                </a:solidFill>
                <a:latin typeface="+mn-lt"/>
                <a:ea typeface="+mn-ea"/>
                <a:cs typeface="+mn-cs"/>
              </a:rPr>
              <a:t>doSomething</a:t>
            </a:r>
            <a:r>
              <a:rPr lang="hu-HU" sz="1200" b="1" kern="1200" dirty="0">
                <a:solidFill>
                  <a:schemeClr val="tx1"/>
                </a:solidFill>
                <a:latin typeface="+mn-lt"/>
                <a:ea typeface="+mn-ea"/>
                <a:cs typeface="+mn-cs"/>
              </a:rPr>
              <a:t>()"</a:t>
            </a:r>
            <a:br>
              <a:rPr lang="hu-HU" dirty="0"/>
            </a:br>
            <a:r>
              <a:rPr lang="hu-HU" dirty="0"/>
              <a:t>Ez a felhasználói interakciót (eseményeket) kezeli. Pl. kattintás, billentyűlenyomás.</a:t>
            </a:r>
          </a:p>
          <a:p>
            <a:endParaRPr lang="hu-HU" dirty="0"/>
          </a:p>
          <a:p>
            <a:r>
              <a:rPr lang="hu-HU" b="1" dirty="0" err="1"/>
              <a:t>Two-way</a:t>
            </a:r>
            <a:r>
              <a:rPr lang="hu-HU" b="1" dirty="0"/>
              <a:t> </a:t>
            </a:r>
            <a:r>
              <a:rPr lang="hu-HU" b="1" dirty="0" err="1"/>
              <a:t>binding</a:t>
            </a:r>
            <a:r>
              <a:rPr lang="hu-HU" b="1" dirty="0"/>
              <a:t> - </a:t>
            </a:r>
            <a:r>
              <a:rPr lang="hu-HU" sz="1200" b="1" kern="1200" dirty="0">
                <a:solidFill>
                  <a:schemeClr val="tx1"/>
                </a:solidFill>
                <a:latin typeface="+mn-lt"/>
                <a:ea typeface="+mn-ea"/>
                <a:cs typeface="+mn-cs"/>
              </a:rPr>
              <a:t>[(</a:t>
            </a:r>
            <a:r>
              <a:rPr lang="hu-HU" sz="1200" b="1" kern="1200" dirty="0" err="1">
                <a:solidFill>
                  <a:schemeClr val="tx1"/>
                </a:solidFill>
                <a:latin typeface="+mn-lt"/>
                <a:ea typeface="+mn-ea"/>
                <a:cs typeface="+mn-cs"/>
              </a:rPr>
              <a:t>ngModel</a:t>
            </a:r>
            <a:r>
              <a:rPr lang="hu-HU" sz="1200" b="1" kern="1200" dirty="0">
                <a:solidFill>
                  <a:schemeClr val="tx1"/>
                </a:solidFill>
                <a:latin typeface="+mn-lt"/>
                <a:ea typeface="+mn-ea"/>
                <a:cs typeface="+mn-cs"/>
              </a:rPr>
              <a:t>)]</a:t>
            </a:r>
            <a:br>
              <a:rPr lang="hu-HU" dirty="0"/>
            </a:br>
            <a:r>
              <a:rPr lang="hu-HU" dirty="0"/>
              <a:t>Ez űrlapoknál hasznos: amikor a felhasználó ír valamit egy input mezőbe, a változó azonnal frissül a komponensben. De ha a komponens írja a változót, akkor a felület frissül.</a:t>
            </a:r>
          </a:p>
          <a:p>
            <a:endParaRPr lang="hu-HU" dirty="0"/>
          </a:p>
        </p:txBody>
      </p:sp>
      <p:sp>
        <p:nvSpPr>
          <p:cNvPr id="4" name="Slide Number Placeholder 3"/>
          <p:cNvSpPr>
            <a:spLocks noGrp="1"/>
          </p:cNvSpPr>
          <p:nvPr>
            <p:ph type="sldNum" sz="quarter" idx="5"/>
          </p:nvPr>
        </p:nvSpPr>
        <p:spPr/>
        <p:txBody>
          <a:bodyPr/>
          <a:lstStyle/>
          <a:p>
            <a:fld id="{82D23EBC-67FA-4278-B97C-82D0A52FD2DA}" type="slidenum">
              <a:rPr lang="en-US" smtClean="0"/>
              <a:t>11</a:t>
            </a:fld>
            <a:endParaRPr lang="en-US"/>
          </a:p>
        </p:txBody>
      </p:sp>
    </p:spTree>
    <p:extLst>
      <p:ext uri="{BB962C8B-B14F-4D97-AF65-F5344CB8AC3E}">
        <p14:creationId xmlns:p14="http://schemas.microsoft.com/office/powerpoint/2010/main" val="2249181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 Angular </a:t>
            </a:r>
            <a:r>
              <a:rPr lang="en-US" dirty="0" err="1"/>
              <a:t>alkalmazások</a:t>
            </a:r>
            <a:r>
              <a:rPr lang="en-US" dirty="0"/>
              <a:t> </a:t>
            </a:r>
            <a:r>
              <a:rPr lang="en-US" b="1" dirty="0" err="1"/>
              <a:t>nem</a:t>
            </a:r>
            <a:r>
              <a:rPr lang="en-US" b="1" dirty="0"/>
              <a:t> </a:t>
            </a:r>
            <a:r>
              <a:rPr lang="en-US" b="1" dirty="0" err="1"/>
              <a:t>töltik</a:t>
            </a:r>
            <a:r>
              <a:rPr lang="en-US" b="1" dirty="0"/>
              <a:t> </a:t>
            </a:r>
            <a:r>
              <a:rPr lang="en-US" b="1" dirty="0" err="1"/>
              <a:t>újra</a:t>
            </a:r>
            <a:r>
              <a:rPr lang="en-US" b="1" dirty="0"/>
              <a:t> </a:t>
            </a:r>
            <a:r>
              <a:rPr lang="en-US" b="1" dirty="0" err="1"/>
              <a:t>az</a:t>
            </a:r>
            <a:r>
              <a:rPr lang="en-US" b="1" dirty="0"/>
              <a:t> </a:t>
            </a:r>
            <a:r>
              <a:rPr lang="en-US" b="1" dirty="0" err="1"/>
              <a:t>egész</a:t>
            </a:r>
            <a:r>
              <a:rPr lang="en-US" b="1" dirty="0"/>
              <a:t> </a:t>
            </a:r>
            <a:r>
              <a:rPr lang="en-US" b="1" dirty="0" err="1"/>
              <a:t>oldalt</a:t>
            </a:r>
            <a:r>
              <a:rPr lang="en-US" b="1" dirty="0"/>
              <a:t> </a:t>
            </a:r>
            <a:r>
              <a:rPr lang="en-US" dirty="0"/>
              <a:t>— </a:t>
            </a:r>
            <a:r>
              <a:rPr lang="en-US" dirty="0" err="1"/>
              <a:t>csak</a:t>
            </a:r>
            <a:r>
              <a:rPr lang="en-US" dirty="0"/>
              <a:t> a </a:t>
            </a:r>
            <a:r>
              <a:rPr lang="en-US" dirty="0" err="1"/>
              <a:t>tartalom</a:t>
            </a:r>
            <a:r>
              <a:rPr lang="en-US" dirty="0"/>
              <a:t> </a:t>
            </a:r>
            <a:r>
              <a:rPr lang="en-US" dirty="0" err="1"/>
              <a:t>változik</a:t>
            </a:r>
            <a:r>
              <a:rPr lang="en-US" dirty="0"/>
              <a:t>. </a:t>
            </a:r>
            <a:r>
              <a:rPr lang="en-US" dirty="0" err="1"/>
              <a:t>Ezt</a:t>
            </a:r>
            <a:r>
              <a:rPr lang="en-US" dirty="0"/>
              <a:t> </a:t>
            </a:r>
            <a:r>
              <a:rPr lang="en-US" dirty="0" err="1"/>
              <a:t>nevezzük</a:t>
            </a:r>
            <a:r>
              <a:rPr lang="en-US" dirty="0"/>
              <a:t> </a:t>
            </a:r>
            <a:r>
              <a:rPr lang="en-US" b="1" dirty="0"/>
              <a:t>SPA</a:t>
            </a:r>
            <a:r>
              <a:rPr lang="en-US" dirty="0"/>
              <a:t>-nak, </a:t>
            </a:r>
            <a:r>
              <a:rPr lang="en-US" dirty="0" err="1"/>
              <a:t>vagy</a:t>
            </a:r>
            <a:r>
              <a:rPr lang="en-US" dirty="0"/>
              <a:t> Single Page Application-nek.</a:t>
            </a:r>
            <a:endParaRPr lang="hu-HU" dirty="0"/>
          </a:p>
          <a:p>
            <a:endParaRPr lang="en-US" dirty="0"/>
          </a:p>
          <a:p>
            <a:r>
              <a:rPr lang="en-US" dirty="0"/>
              <a:t>A routing </a:t>
            </a:r>
            <a:r>
              <a:rPr lang="en-US" dirty="0" err="1"/>
              <a:t>rendszer</a:t>
            </a:r>
            <a:r>
              <a:rPr lang="en-US" dirty="0"/>
              <a:t> </a:t>
            </a:r>
            <a:r>
              <a:rPr lang="en-US" dirty="0" err="1"/>
              <a:t>határozza</a:t>
            </a:r>
            <a:r>
              <a:rPr lang="en-US" dirty="0"/>
              <a:t> meg, </a:t>
            </a:r>
            <a:r>
              <a:rPr lang="en-US" dirty="0" err="1"/>
              <a:t>hogy</a:t>
            </a:r>
            <a:r>
              <a:rPr lang="en-US" dirty="0"/>
              <a:t> </a:t>
            </a:r>
            <a:r>
              <a:rPr lang="en-US" dirty="0" err="1"/>
              <a:t>melyik</a:t>
            </a:r>
            <a:r>
              <a:rPr lang="en-US" dirty="0"/>
              <a:t> URL-</a:t>
            </a:r>
            <a:r>
              <a:rPr lang="en-US" dirty="0" err="1"/>
              <a:t>hez</a:t>
            </a:r>
            <a:r>
              <a:rPr lang="en-US" dirty="0"/>
              <a:t> </a:t>
            </a:r>
            <a:r>
              <a:rPr lang="en-US" dirty="0" err="1"/>
              <a:t>melyik</a:t>
            </a:r>
            <a:r>
              <a:rPr lang="en-US" dirty="0"/>
              <a:t> </a:t>
            </a:r>
            <a:r>
              <a:rPr lang="en-US" dirty="0" err="1"/>
              <a:t>komponens</a:t>
            </a:r>
            <a:r>
              <a:rPr lang="en-US" dirty="0"/>
              <a:t> </a:t>
            </a:r>
            <a:r>
              <a:rPr lang="en-US" dirty="0" err="1"/>
              <a:t>tartozik</a:t>
            </a:r>
            <a:r>
              <a:rPr lang="hu-HU" dirty="0"/>
              <a:t>, és az </a:t>
            </a:r>
            <a:r>
              <a:rPr lang="hu-HU" dirty="0" err="1"/>
              <a:t>Angular</a:t>
            </a:r>
            <a:r>
              <a:rPr lang="hu-HU" dirty="0"/>
              <a:t> </a:t>
            </a:r>
            <a:r>
              <a:rPr lang="hu-HU" dirty="0" err="1"/>
              <a:t>routing</a:t>
            </a:r>
            <a:r>
              <a:rPr lang="hu-HU" dirty="0"/>
              <a:t> a megadott szabályok (</a:t>
            </a:r>
            <a:r>
              <a:rPr lang="hu-HU" b="1" dirty="0" err="1"/>
              <a:t>Routes</a:t>
            </a:r>
            <a:r>
              <a:rPr lang="hu-HU" dirty="0"/>
              <a:t>) alapján betölti az adott URL-hez tartozó komponenst.</a:t>
            </a:r>
          </a:p>
          <a:p>
            <a:endParaRPr lang="hu-HU" dirty="0"/>
          </a:p>
          <a:p>
            <a:r>
              <a:rPr lang="hu-HU" dirty="0"/>
              <a:t>A</a:t>
            </a:r>
            <a:r>
              <a:rPr lang="en-US" dirty="0"/>
              <a:t> </a:t>
            </a:r>
            <a:r>
              <a:rPr lang="en-US" sz="1200" b="1" kern="1200" dirty="0" err="1">
                <a:solidFill>
                  <a:schemeClr val="tx1"/>
                </a:solidFill>
                <a:latin typeface="+mn-lt"/>
                <a:ea typeface="+mn-ea"/>
                <a:cs typeface="+mn-cs"/>
              </a:rPr>
              <a:t>RouterModule</a:t>
            </a:r>
            <a:r>
              <a:rPr lang="en-US" dirty="0"/>
              <a:t> </a:t>
            </a:r>
            <a:r>
              <a:rPr lang="en-US" dirty="0" err="1"/>
              <a:t>egy</a:t>
            </a:r>
            <a:r>
              <a:rPr lang="en-US" dirty="0"/>
              <a:t> </a:t>
            </a:r>
            <a:r>
              <a:rPr lang="en-US" dirty="0" err="1"/>
              <a:t>beépített</a:t>
            </a:r>
            <a:r>
              <a:rPr lang="en-US" dirty="0"/>
              <a:t> </a:t>
            </a:r>
            <a:r>
              <a:rPr lang="en-US" dirty="0" err="1"/>
              <a:t>modul</a:t>
            </a:r>
            <a:r>
              <a:rPr lang="en-US" dirty="0"/>
              <a:t>, </a:t>
            </a:r>
            <a:r>
              <a:rPr lang="en-US" dirty="0" err="1"/>
              <a:t>amely</a:t>
            </a:r>
            <a:r>
              <a:rPr lang="en-US" dirty="0"/>
              <a:t> </a:t>
            </a:r>
            <a:r>
              <a:rPr lang="en-US" dirty="0" err="1"/>
              <a:t>az</a:t>
            </a:r>
            <a:r>
              <a:rPr lang="en-US" dirty="0"/>
              <a:t> </a:t>
            </a:r>
            <a:r>
              <a:rPr lang="en-US" dirty="0" err="1"/>
              <a:t>alkalmazás</a:t>
            </a:r>
            <a:r>
              <a:rPr lang="en-US" dirty="0"/>
              <a:t> </a:t>
            </a:r>
            <a:r>
              <a:rPr lang="en-US" b="1" dirty="0" err="1"/>
              <a:t>útvonalkezeléséért</a:t>
            </a:r>
            <a:r>
              <a:rPr lang="en-US" dirty="0"/>
              <a:t> </a:t>
            </a:r>
            <a:r>
              <a:rPr lang="en-US" dirty="0" err="1"/>
              <a:t>felel</a:t>
            </a:r>
            <a:r>
              <a:rPr lang="en-US" dirty="0"/>
              <a:t>, </a:t>
            </a:r>
            <a:r>
              <a:rPr lang="en-US" dirty="0" err="1"/>
              <a:t>lehetővé</a:t>
            </a:r>
            <a:r>
              <a:rPr lang="en-US" dirty="0"/>
              <a:t> </a:t>
            </a:r>
            <a:r>
              <a:rPr lang="en-US" dirty="0" err="1"/>
              <a:t>téve</a:t>
            </a:r>
            <a:r>
              <a:rPr lang="en-US" dirty="0"/>
              <a:t> a </a:t>
            </a:r>
            <a:r>
              <a:rPr lang="en-US" dirty="0" err="1"/>
              <a:t>különböző</a:t>
            </a:r>
            <a:r>
              <a:rPr lang="en-US" dirty="0"/>
              <a:t> </a:t>
            </a:r>
            <a:r>
              <a:rPr lang="en-US" dirty="0" err="1"/>
              <a:t>komponensek</a:t>
            </a:r>
            <a:r>
              <a:rPr lang="en-US" dirty="0"/>
              <a:t> </a:t>
            </a:r>
            <a:r>
              <a:rPr lang="en-US" dirty="0" err="1"/>
              <a:t>közötti</a:t>
            </a:r>
            <a:r>
              <a:rPr lang="en-US" dirty="0"/>
              <a:t> </a:t>
            </a:r>
            <a:r>
              <a:rPr lang="en-US" b="1" dirty="0" err="1"/>
              <a:t>navigációt</a:t>
            </a:r>
            <a:r>
              <a:rPr lang="en-US" dirty="0"/>
              <a:t> URL-</a:t>
            </a:r>
            <a:r>
              <a:rPr lang="en-US" dirty="0" err="1"/>
              <a:t>alapú</a:t>
            </a:r>
            <a:r>
              <a:rPr lang="en-US" dirty="0"/>
              <a:t> routing </a:t>
            </a:r>
            <a:r>
              <a:rPr lang="en-US" dirty="0" err="1"/>
              <a:t>segítségével</a:t>
            </a:r>
            <a:r>
              <a:rPr lang="en-US" dirty="0"/>
              <a:t>.</a:t>
            </a:r>
            <a:endParaRPr lang="hu-HU" dirty="0"/>
          </a:p>
          <a:p>
            <a:endParaRPr lang="en-US" dirty="0"/>
          </a:p>
          <a:p>
            <a:r>
              <a:rPr lang="en-US" dirty="0"/>
              <a:t>A </a:t>
            </a:r>
            <a:r>
              <a:rPr lang="en-US" sz="1200" b="1" kern="1200" dirty="0">
                <a:solidFill>
                  <a:schemeClr val="tx1"/>
                </a:solidFill>
                <a:latin typeface="+mn-lt"/>
                <a:ea typeface="+mn-ea"/>
                <a:cs typeface="+mn-cs"/>
              </a:rPr>
              <a:t>router-outlet</a:t>
            </a:r>
            <a:r>
              <a:rPr lang="en-US" dirty="0"/>
              <a:t> </a:t>
            </a:r>
            <a:r>
              <a:rPr lang="en-US" dirty="0" err="1"/>
              <a:t>az</a:t>
            </a:r>
            <a:r>
              <a:rPr lang="en-US" dirty="0"/>
              <a:t> a </a:t>
            </a:r>
            <a:r>
              <a:rPr lang="en-US" dirty="0" err="1"/>
              <a:t>hely</a:t>
            </a:r>
            <a:r>
              <a:rPr lang="en-US" dirty="0"/>
              <a:t> a HTML-ben, </a:t>
            </a:r>
            <a:r>
              <a:rPr lang="en-US" dirty="0" err="1"/>
              <a:t>ahol</a:t>
            </a:r>
            <a:r>
              <a:rPr lang="en-US" dirty="0"/>
              <a:t> </a:t>
            </a:r>
            <a:r>
              <a:rPr lang="en-US" dirty="0" err="1"/>
              <a:t>az</a:t>
            </a:r>
            <a:r>
              <a:rPr lang="en-US" dirty="0"/>
              <a:t> </a:t>
            </a:r>
            <a:r>
              <a:rPr lang="en-US" dirty="0" err="1"/>
              <a:t>aktuális</a:t>
            </a:r>
            <a:r>
              <a:rPr lang="en-US" dirty="0"/>
              <a:t> </a:t>
            </a:r>
            <a:r>
              <a:rPr lang="en-US" dirty="0" err="1"/>
              <a:t>oldal</a:t>
            </a:r>
            <a:r>
              <a:rPr lang="en-US" dirty="0"/>
              <a:t> </a:t>
            </a:r>
            <a:r>
              <a:rPr lang="en-US" dirty="0" err="1"/>
              <a:t>megjelenik</a:t>
            </a:r>
            <a:r>
              <a:rPr lang="en-US" dirty="0"/>
              <a:t>. A </a:t>
            </a:r>
            <a:r>
              <a:rPr lang="en-US" sz="1200" b="1" kern="1200" dirty="0" err="1">
                <a:solidFill>
                  <a:schemeClr val="tx1"/>
                </a:solidFill>
                <a:latin typeface="+mn-lt"/>
                <a:ea typeface="+mn-ea"/>
                <a:cs typeface="+mn-cs"/>
              </a:rPr>
              <a:t>routerLink</a:t>
            </a:r>
            <a:r>
              <a:rPr lang="en-US" dirty="0"/>
              <a:t> </a:t>
            </a:r>
            <a:r>
              <a:rPr lang="en-US" dirty="0" err="1"/>
              <a:t>pedig</a:t>
            </a:r>
            <a:r>
              <a:rPr lang="en-US" dirty="0"/>
              <a:t> HTML </a:t>
            </a:r>
            <a:r>
              <a:rPr lang="en-US" dirty="0" err="1"/>
              <a:t>elemeket</a:t>
            </a:r>
            <a:r>
              <a:rPr lang="en-US" dirty="0"/>
              <a:t> </a:t>
            </a:r>
            <a:r>
              <a:rPr lang="en-US" dirty="0" err="1"/>
              <a:t>használ</a:t>
            </a:r>
            <a:r>
              <a:rPr lang="en-US" dirty="0"/>
              <a:t> </a:t>
            </a:r>
            <a:r>
              <a:rPr lang="en-US" dirty="0" err="1"/>
              <a:t>navigációra</a:t>
            </a:r>
            <a:r>
              <a:rPr lang="en-US" dirty="0"/>
              <a:t>.</a:t>
            </a:r>
            <a:r>
              <a:rPr lang="hu-HU" dirty="0"/>
              <a:t> Tulajdonképpen a navigációs linkek kialakításához használjuk.</a:t>
            </a:r>
            <a:endParaRPr lang="en-US" dirty="0"/>
          </a:p>
          <a:p>
            <a:endParaRPr lang="hu-HU" dirty="0"/>
          </a:p>
        </p:txBody>
      </p:sp>
      <p:sp>
        <p:nvSpPr>
          <p:cNvPr id="4" name="Slide Number Placeholder 3"/>
          <p:cNvSpPr>
            <a:spLocks noGrp="1"/>
          </p:cNvSpPr>
          <p:nvPr>
            <p:ph type="sldNum" sz="quarter" idx="5"/>
          </p:nvPr>
        </p:nvSpPr>
        <p:spPr/>
        <p:txBody>
          <a:bodyPr/>
          <a:lstStyle/>
          <a:p>
            <a:fld id="{82D23EBC-67FA-4278-B97C-82D0A52FD2DA}" type="slidenum">
              <a:rPr lang="en-US" smtClean="0"/>
              <a:t>12</a:t>
            </a:fld>
            <a:endParaRPr lang="en-US"/>
          </a:p>
        </p:txBody>
      </p:sp>
    </p:spTree>
    <p:extLst>
      <p:ext uri="{BB962C8B-B14F-4D97-AF65-F5344CB8AC3E}">
        <p14:creationId xmlns:p14="http://schemas.microsoft.com/office/powerpoint/2010/main" val="7672589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routing </a:t>
            </a:r>
            <a:r>
              <a:rPr lang="en-US" dirty="0" err="1"/>
              <a:t>konfiguráció</a:t>
            </a:r>
            <a:r>
              <a:rPr lang="en-US" dirty="0"/>
              <a:t> </a:t>
            </a:r>
            <a:r>
              <a:rPr lang="hu-HU" dirty="0"/>
              <a:t>(</a:t>
            </a:r>
            <a:r>
              <a:rPr lang="hu-HU" b="1" dirty="0" err="1"/>
              <a:t>Routes</a:t>
            </a:r>
            <a:r>
              <a:rPr lang="hu-HU" dirty="0"/>
              <a:t>) </a:t>
            </a:r>
            <a:r>
              <a:rPr lang="en-US" dirty="0" err="1"/>
              <a:t>egy</a:t>
            </a:r>
            <a:r>
              <a:rPr lang="en-US" dirty="0"/>
              <a:t> sima </a:t>
            </a:r>
            <a:r>
              <a:rPr lang="en-US" dirty="0" err="1"/>
              <a:t>lista</a:t>
            </a:r>
            <a:r>
              <a:rPr lang="en-US" dirty="0"/>
              <a:t>, </a:t>
            </a:r>
            <a:r>
              <a:rPr lang="en-US" dirty="0" err="1"/>
              <a:t>ahol</a:t>
            </a:r>
            <a:r>
              <a:rPr lang="en-US" dirty="0"/>
              <a:t> </a:t>
            </a:r>
            <a:r>
              <a:rPr lang="en-US" dirty="0" err="1"/>
              <a:t>megadjuk</a:t>
            </a:r>
            <a:r>
              <a:rPr lang="en-US" dirty="0"/>
              <a:t>, </a:t>
            </a:r>
            <a:r>
              <a:rPr lang="en-US" dirty="0" err="1"/>
              <a:t>melyik</a:t>
            </a:r>
            <a:r>
              <a:rPr lang="en-US" dirty="0"/>
              <a:t> </a:t>
            </a:r>
            <a:r>
              <a:rPr lang="en-US" dirty="0" err="1"/>
              <a:t>útvonal</a:t>
            </a:r>
            <a:r>
              <a:rPr lang="en-US" dirty="0"/>
              <a:t> </a:t>
            </a:r>
            <a:r>
              <a:rPr lang="en-US" dirty="0" err="1"/>
              <a:t>melyik</a:t>
            </a:r>
            <a:r>
              <a:rPr lang="en-US" dirty="0"/>
              <a:t> </a:t>
            </a:r>
            <a:r>
              <a:rPr lang="en-US" dirty="0" err="1"/>
              <a:t>komponens</a:t>
            </a:r>
            <a:r>
              <a:rPr lang="hu-HU" dirty="0"/>
              <a:t>t</a:t>
            </a:r>
            <a:r>
              <a:rPr lang="en-US" dirty="0"/>
              <a:t> </a:t>
            </a:r>
            <a:r>
              <a:rPr lang="en-US" dirty="0" err="1"/>
              <a:t>mutatja</a:t>
            </a:r>
            <a:r>
              <a:rPr lang="en-US" dirty="0"/>
              <a:t>. A </a:t>
            </a:r>
            <a:r>
              <a:rPr lang="en-US" sz="1200" b="1" kern="1200" dirty="0" err="1">
                <a:solidFill>
                  <a:schemeClr val="tx1"/>
                </a:solidFill>
                <a:latin typeface="+mn-lt"/>
                <a:ea typeface="+mn-ea"/>
                <a:cs typeface="+mn-cs"/>
              </a:rPr>
              <a:t>routerLink</a:t>
            </a:r>
            <a:r>
              <a:rPr lang="en-US" dirty="0"/>
              <a:t> </a:t>
            </a:r>
            <a:r>
              <a:rPr lang="en-US" dirty="0" err="1"/>
              <a:t>navigál</a:t>
            </a:r>
            <a:r>
              <a:rPr lang="en-US" dirty="0"/>
              <a:t>, a </a:t>
            </a:r>
            <a:r>
              <a:rPr lang="en-US" sz="1200" b="1" kern="1200" dirty="0">
                <a:solidFill>
                  <a:schemeClr val="tx1"/>
                </a:solidFill>
                <a:latin typeface="+mn-lt"/>
                <a:ea typeface="+mn-ea"/>
                <a:cs typeface="+mn-cs"/>
              </a:rPr>
              <a:t>router-outlet</a:t>
            </a:r>
            <a:r>
              <a:rPr lang="en-US" dirty="0"/>
              <a:t> </a:t>
            </a:r>
            <a:r>
              <a:rPr lang="en-US" dirty="0" err="1"/>
              <a:t>pedig</a:t>
            </a:r>
            <a:r>
              <a:rPr lang="en-US" dirty="0"/>
              <a:t> </a:t>
            </a:r>
            <a:r>
              <a:rPr lang="en-US" dirty="0" err="1"/>
              <a:t>megjeleníti</a:t>
            </a:r>
            <a:r>
              <a:rPr lang="en-US" dirty="0"/>
              <a:t> </a:t>
            </a:r>
            <a:r>
              <a:rPr lang="en-US" dirty="0" err="1"/>
              <a:t>az</a:t>
            </a:r>
            <a:r>
              <a:rPr lang="en-US" dirty="0"/>
              <a:t> </a:t>
            </a:r>
            <a:r>
              <a:rPr lang="en-US" dirty="0" err="1"/>
              <a:t>aktuális</a:t>
            </a:r>
            <a:r>
              <a:rPr lang="en-US" dirty="0"/>
              <a:t> </a:t>
            </a:r>
            <a:r>
              <a:rPr lang="en-US" dirty="0" err="1"/>
              <a:t>komponens</a:t>
            </a:r>
            <a:r>
              <a:rPr lang="en-US" dirty="0"/>
              <a:t> </a:t>
            </a:r>
            <a:r>
              <a:rPr lang="en-US" dirty="0" err="1"/>
              <a:t>tartalmát</a:t>
            </a:r>
            <a:r>
              <a:rPr lang="en-US" dirty="0"/>
              <a:t>.</a:t>
            </a:r>
            <a:endParaRPr lang="hu-HU" dirty="0"/>
          </a:p>
          <a:p>
            <a:endParaRPr lang="hu-HU" dirty="0"/>
          </a:p>
          <a:p>
            <a:r>
              <a:rPr lang="en-US" dirty="0" err="1"/>
              <a:t>Itt</a:t>
            </a:r>
            <a:r>
              <a:rPr lang="en-US" dirty="0"/>
              <a:t> </a:t>
            </a:r>
            <a:r>
              <a:rPr lang="en-US" dirty="0" err="1"/>
              <a:t>két</a:t>
            </a:r>
            <a:r>
              <a:rPr lang="en-US" dirty="0"/>
              <a:t> </a:t>
            </a:r>
            <a:r>
              <a:rPr lang="en-US" dirty="0" err="1"/>
              <a:t>útvonalat</a:t>
            </a:r>
            <a:r>
              <a:rPr lang="en-US" dirty="0"/>
              <a:t> </a:t>
            </a:r>
            <a:r>
              <a:rPr lang="en-US" dirty="0" err="1"/>
              <a:t>konfiguráltunk</a:t>
            </a:r>
            <a:r>
              <a:rPr lang="en-US" dirty="0"/>
              <a:t>: a /home és a /users </a:t>
            </a:r>
            <a:r>
              <a:rPr lang="en-US" dirty="0" err="1"/>
              <a:t>oldalakat</a:t>
            </a:r>
            <a:r>
              <a:rPr lang="en-US" dirty="0"/>
              <a:t>. A </a:t>
            </a:r>
            <a:r>
              <a:rPr lang="en-US" dirty="0" err="1"/>
              <a:t>böngésző</a:t>
            </a:r>
            <a:r>
              <a:rPr lang="en-US" dirty="0"/>
              <a:t> URL-je </a:t>
            </a:r>
            <a:r>
              <a:rPr lang="en-US" dirty="0" err="1"/>
              <a:t>határozza</a:t>
            </a:r>
            <a:r>
              <a:rPr lang="en-US" dirty="0"/>
              <a:t> meg, </a:t>
            </a:r>
            <a:r>
              <a:rPr lang="en-US" dirty="0" err="1"/>
              <a:t>melyik</a:t>
            </a:r>
            <a:r>
              <a:rPr lang="en-US" dirty="0"/>
              <a:t> </a:t>
            </a:r>
            <a:r>
              <a:rPr lang="en-US" dirty="0" err="1"/>
              <a:t>jelenik</a:t>
            </a:r>
            <a:r>
              <a:rPr lang="en-US" dirty="0"/>
              <a:t> meg.</a:t>
            </a:r>
            <a:endParaRPr lang="hu-HU" dirty="0"/>
          </a:p>
          <a:p>
            <a:endParaRPr lang="en-US" dirty="0"/>
          </a:p>
          <a:p>
            <a:r>
              <a:rPr lang="en-US" dirty="0"/>
              <a:t>Fontos </a:t>
            </a:r>
            <a:r>
              <a:rPr lang="en-US" dirty="0" err="1"/>
              <a:t>megjegyezni</a:t>
            </a:r>
            <a:r>
              <a:rPr lang="en-US" dirty="0"/>
              <a:t>: </a:t>
            </a:r>
            <a:r>
              <a:rPr lang="en-US" dirty="0" err="1"/>
              <a:t>nincs</a:t>
            </a:r>
            <a:r>
              <a:rPr lang="en-US" dirty="0"/>
              <a:t> </a:t>
            </a:r>
            <a:r>
              <a:rPr lang="en-US" dirty="0" err="1"/>
              <a:t>teljes</a:t>
            </a:r>
            <a:r>
              <a:rPr lang="en-US" dirty="0"/>
              <a:t> </a:t>
            </a:r>
            <a:r>
              <a:rPr lang="en-US" dirty="0" err="1"/>
              <a:t>oldal</a:t>
            </a:r>
            <a:r>
              <a:rPr lang="en-US" dirty="0"/>
              <a:t> </a:t>
            </a:r>
            <a:r>
              <a:rPr lang="en-US" dirty="0" err="1"/>
              <a:t>újratöltés</a:t>
            </a:r>
            <a:r>
              <a:rPr lang="en-US" dirty="0"/>
              <a:t>. Az Angular </a:t>
            </a:r>
            <a:r>
              <a:rPr lang="en-US" dirty="0" err="1"/>
              <a:t>saját</a:t>
            </a:r>
            <a:r>
              <a:rPr lang="en-US" dirty="0"/>
              <a:t> </a:t>
            </a:r>
            <a:r>
              <a:rPr lang="en-US" dirty="0" err="1"/>
              <a:t>maga</a:t>
            </a:r>
            <a:r>
              <a:rPr lang="en-US" dirty="0"/>
              <a:t> </a:t>
            </a:r>
            <a:r>
              <a:rPr lang="en-US" dirty="0" err="1"/>
              <a:t>cseréli</a:t>
            </a:r>
            <a:r>
              <a:rPr lang="en-US" dirty="0"/>
              <a:t> le a </a:t>
            </a:r>
            <a:r>
              <a:rPr lang="en-US" sz="1200" kern="1200" dirty="0">
                <a:solidFill>
                  <a:schemeClr val="tx1"/>
                </a:solidFill>
                <a:latin typeface="+mn-lt"/>
                <a:ea typeface="+mn-ea"/>
                <a:cs typeface="+mn-cs"/>
              </a:rPr>
              <a:t>router-outlet</a:t>
            </a:r>
            <a:r>
              <a:rPr lang="en-US" dirty="0"/>
              <a:t> </a:t>
            </a:r>
            <a:r>
              <a:rPr lang="en-US" dirty="0" err="1"/>
              <a:t>tartalmát</a:t>
            </a:r>
            <a:r>
              <a:rPr lang="en-US" dirty="0"/>
              <a:t>. </a:t>
            </a:r>
            <a:r>
              <a:rPr lang="en-US" dirty="0" err="1"/>
              <a:t>Ettől</a:t>
            </a:r>
            <a:r>
              <a:rPr lang="en-US" dirty="0"/>
              <a:t> </a:t>
            </a:r>
            <a:r>
              <a:rPr lang="en-US" dirty="0" err="1"/>
              <a:t>érezzük</a:t>
            </a:r>
            <a:r>
              <a:rPr lang="en-US" dirty="0"/>
              <a:t> </a:t>
            </a:r>
            <a:r>
              <a:rPr lang="en-US" dirty="0" err="1"/>
              <a:t>olyan</a:t>
            </a:r>
            <a:r>
              <a:rPr lang="en-US" dirty="0"/>
              <a:t> </a:t>
            </a:r>
            <a:r>
              <a:rPr lang="en-US" dirty="0" err="1"/>
              <a:t>gyorsnak</a:t>
            </a:r>
            <a:r>
              <a:rPr lang="en-US" dirty="0"/>
              <a:t> és </a:t>
            </a:r>
            <a:r>
              <a:rPr lang="en-US" dirty="0" err="1"/>
              <a:t>reszponzívnak</a:t>
            </a:r>
            <a:r>
              <a:rPr lang="en-US" dirty="0"/>
              <a:t> </a:t>
            </a:r>
            <a:r>
              <a:rPr lang="en-US" dirty="0" err="1"/>
              <a:t>az</a:t>
            </a:r>
            <a:r>
              <a:rPr lang="en-US" dirty="0"/>
              <a:t> SPA </a:t>
            </a:r>
            <a:r>
              <a:rPr lang="en-US" dirty="0" err="1"/>
              <a:t>alkalmazásokat</a:t>
            </a:r>
            <a:r>
              <a:rPr lang="en-US" dirty="0"/>
              <a:t>.</a:t>
            </a:r>
            <a:endParaRPr lang="hu-HU" dirty="0"/>
          </a:p>
          <a:p>
            <a:endParaRPr lang="en-US" dirty="0"/>
          </a:p>
        </p:txBody>
      </p:sp>
      <p:sp>
        <p:nvSpPr>
          <p:cNvPr id="4" name="Slide Number Placeholder 3"/>
          <p:cNvSpPr>
            <a:spLocks noGrp="1"/>
          </p:cNvSpPr>
          <p:nvPr>
            <p:ph type="sldNum" sz="quarter" idx="5"/>
          </p:nvPr>
        </p:nvSpPr>
        <p:spPr/>
        <p:txBody>
          <a:bodyPr/>
          <a:lstStyle/>
          <a:p>
            <a:fld id="{82D23EBC-67FA-4278-B97C-82D0A52FD2DA}" type="slidenum">
              <a:rPr lang="en-US" smtClean="0"/>
              <a:t>13</a:t>
            </a:fld>
            <a:endParaRPr lang="en-US"/>
          </a:p>
        </p:txBody>
      </p:sp>
    </p:spTree>
    <p:extLst>
      <p:ext uri="{BB962C8B-B14F-4D97-AF65-F5344CB8AC3E}">
        <p14:creationId xmlns:p14="http://schemas.microsoft.com/office/powerpoint/2010/main" val="40889781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Az </a:t>
            </a:r>
            <a:r>
              <a:rPr lang="hu-HU" dirty="0" err="1"/>
              <a:t>Angular</a:t>
            </a:r>
            <a:r>
              <a:rPr lang="hu-HU" dirty="0"/>
              <a:t> </a:t>
            </a:r>
            <a:r>
              <a:rPr lang="hu-HU" b="1" dirty="0"/>
              <a:t>service</a:t>
            </a:r>
            <a:r>
              <a:rPr lang="hu-HU" dirty="0"/>
              <a:t>-ek közös, </a:t>
            </a:r>
            <a:r>
              <a:rPr lang="hu-HU" b="1" dirty="0"/>
              <a:t>újrahasznosítható üzleti logikát biztosítanak </a:t>
            </a:r>
            <a:r>
              <a:rPr lang="hu-HU" dirty="0"/>
              <a:t>több komponens számára, így minden komponens ugyanazt a működést és adatforrást használja. Tulajdonképpen a</a:t>
            </a:r>
            <a:r>
              <a:rPr lang="en-US" dirty="0"/>
              <a:t>z Angular service-ek </a:t>
            </a:r>
            <a:r>
              <a:rPr lang="en-US" dirty="0" err="1"/>
              <a:t>egységesítik</a:t>
            </a:r>
            <a:r>
              <a:rPr lang="en-US" dirty="0"/>
              <a:t> a </a:t>
            </a:r>
            <a:r>
              <a:rPr lang="en-US" dirty="0" err="1"/>
              <a:t>komponenseket</a:t>
            </a:r>
            <a:r>
              <a:rPr lang="en-US" dirty="0"/>
              <a:t> </a:t>
            </a:r>
            <a:r>
              <a:rPr lang="en-US" dirty="0" err="1"/>
              <a:t>azzal</a:t>
            </a:r>
            <a:r>
              <a:rPr lang="en-US" dirty="0"/>
              <a:t>, </a:t>
            </a:r>
            <a:r>
              <a:rPr lang="en-US" dirty="0" err="1"/>
              <a:t>hogy</a:t>
            </a:r>
            <a:r>
              <a:rPr lang="en-US" dirty="0"/>
              <a:t> a </a:t>
            </a:r>
            <a:r>
              <a:rPr lang="en-US" dirty="0" err="1"/>
              <a:t>közös</a:t>
            </a:r>
            <a:r>
              <a:rPr lang="en-US" dirty="0"/>
              <a:t> </a:t>
            </a:r>
            <a:r>
              <a:rPr lang="en-US" dirty="0" err="1"/>
              <a:t>adatkezelést</a:t>
            </a:r>
            <a:r>
              <a:rPr lang="en-US" dirty="0"/>
              <a:t> és </a:t>
            </a:r>
            <a:r>
              <a:rPr lang="en-US" dirty="0" err="1"/>
              <a:t>üzleti</a:t>
            </a:r>
            <a:r>
              <a:rPr lang="en-US" dirty="0"/>
              <a:t> </a:t>
            </a:r>
            <a:r>
              <a:rPr lang="en-US" dirty="0" err="1"/>
              <a:t>logikát</a:t>
            </a:r>
            <a:r>
              <a:rPr lang="en-US" dirty="0"/>
              <a:t> </a:t>
            </a:r>
            <a:r>
              <a:rPr lang="en-US" dirty="0" err="1"/>
              <a:t>egyetlen</a:t>
            </a:r>
            <a:r>
              <a:rPr lang="en-US" dirty="0"/>
              <a:t> </a:t>
            </a:r>
            <a:r>
              <a:rPr lang="en-US" dirty="0" err="1"/>
              <a:t>helyre</a:t>
            </a:r>
            <a:r>
              <a:rPr lang="en-US" dirty="0"/>
              <a:t> </a:t>
            </a:r>
            <a:r>
              <a:rPr lang="en-US" dirty="0" err="1"/>
              <a:t>szervezik</a:t>
            </a:r>
            <a:r>
              <a:rPr lang="en-US" dirty="0"/>
              <a:t>, </a:t>
            </a:r>
            <a:r>
              <a:rPr lang="en-US" dirty="0" err="1"/>
              <a:t>amit</a:t>
            </a:r>
            <a:r>
              <a:rPr lang="en-US" dirty="0"/>
              <a:t> </a:t>
            </a:r>
            <a:r>
              <a:rPr lang="en-US" dirty="0" err="1"/>
              <a:t>minden</a:t>
            </a:r>
            <a:r>
              <a:rPr lang="en-US" dirty="0"/>
              <a:t> </a:t>
            </a:r>
            <a:r>
              <a:rPr lang="en-US" dirty="0" err="1"/>
              <a:t>komponens</a:t>
            </a:r>
            <a:r>
              <a:rPr lang="en-US" dirty="0"/>
              <a:t> </a:t>
            </a:r>
            <a:r>
              <a:rPr lang="en-US" dirty="0" err="1"/>
              <a:t>ugyanúgy</a:t>
            </a:r>
            <a:r>
              <a:rPr lang="en-US" dirty="0"/>
              <a:t> </a:t>
            </a:r>
            <a:r>
              <a:rPr lang="en-US" dirty="0" err="1"/>
              <a:t>használ</a:t>
            </a:r>
            <a:r>
              <a:rPr lang="en-US" dirty="0"/>
              <a:t>.</a:t>
            </a:r>
            <a:endParaRPr lang="hu-HU" dirty="0"/>
          </a:p>
          <a:p>
            <a:endParaRPr lang="hu-HU" dirty="0"/>
          </a:p>
          <a:p>
            <a:r>
              <a:rPr lang="en-US" dirty="0"/>
              <a:t>A </a:t>
            </a:r>
            <a:r>
              <a:rPr lang="en-US" dirty="0" err="1"/>
              <a:t>szervizek</a:t>
            </a:r>
            <a:r>
              <a:rPr lang="en-US" dirty="0"/>
              <a:t> </a:t>
            </a:r>
            <a:r>
              <a:rPr lang="en-US" dirty="0" err="1"/>
              <a:t>adják</a:t>
            </a:r>
            <a:r>
              <a:rPr lang="en-US" dirty="0"/>
              <a:t> a </a:t>
            </a:r>
            <a:r>
              <a:rPr lang="en-US" dirty="0" err="1"/>
              <a:t>háttérlogikát</a:t>
            </a:r>
            <a:r>
              <a:rPr lang="en-US" dirty="0"/>
              <a:t>. </a:t>
            </a:r>
            <a:r>
              <a:rPr lang="en-US" dirty="0" err="1"/>
              <a:t>Például</a:t>
            </a:r>
            <a:r>
              <a:rPr lang="en-US" dirty="0"/>
              <a:t>:</a:t>
            </a:r>
          </a:p>
          <a:p>
            <a:r>
              <a:rPr lang="hu-HU" dirty="0"/>
              <a:t>- </a:t>
            </a:r>
            <a:r>
              <a:rPr lang="en-US" dirty="0" err="1"/>
              <a:t>adatlekérések</a:t>
            </a:r>
            <a:r>
              <a:rPr lang="en-US" dirty="0"/>
              <a:t> API-</a:t>
            </a:r>
            <a:r>
              <a:rPr lang="en-US" dirty="0" err="1"/>
              <a:t>ról</a:t>
            </a:r>
            <a:endParaRPr lang="en-US" dirty="0"/>
          </a:p>
          <a:p>
            <a:r>
              <a:rPr lang="hu-HU" dirty="0"/>
              <a:t>- </a:t>
            </a:r>
            <a:r>
              <a:rPr lang="en-US" dirty="0" err="1"/>
              <a:t>számítások</a:t>
            </a:r>
            <a:r>
              <a:rPr lang="en-US" dirty="0"/>
              <a:t> </a:t>
            </a:r>
            <a:r>
              <a:rPr lang="en-US" dirty="0" err="1"/>
              <a:t>vagy</a:t>
            </a:r>
            <a:r>
              <a:rPr lang="en-US" dirty="0"/>
              <a:t> </a:t>
            </a:r>
            <a:r>
              <a:rPr lang="en-US" dirty="0" err="1"/>
              <a:t>validáció</a:t>
            </a:r>
            <a:endParaRPr lang="en-US" dirty="0"/>
          </a:p>
          <a:p>
            <a:r>
              <a:rPr lang="hu-HU" dirty="0"/>
              <a:t>- </a:t>
            </a:r>
            <a:r>
              <a:rPr lang="en-US" dirty="0" err="1"/>
              <a:t>állapotkezelés</a:t>
            </a:r>
            <a:endParaRPr lang="en-US" dirty="0"/>
          </a:p>
          <a:p>
            <a:r>
              <a:rPr lang="hu-HU" dirty="0"/>
              <a:t>- </a:t>
            </a:r>
            <a:r>
              <a:rPr lang="en-US" dirty="0" err="1"/>
              <a:t>újrafelhasználható</a:t>
            </a:r>
            <a:r>
              <a:rPr lang="en-US" dirty="0"/>
              <a:t> </a:t>
            </a:r>
            <a:r>
              <a:rPr lang="en-US" dirty="0" err="1"/>
              <a:t>funkciók</a:t>
            </a:r>
            <a:endParaRPr lang="en-US" dirty="0"/>
          </a:p>
          <a:p>
            <a:endParaRPr lang="hu-HU" dirty="0"/>
          </a:p>
          <a:p>
            <a:r>
              <a:rPr lang="en-US" dirty="0"/>
              <a:t>A </a:t>
            </a:r>
            <a:r>
              <a:rPr lang="en-US" dirty="0" err="1"/>
              <a:t>komponensek</a:t>
            </a:r>
            <a:r>
              <a:rPr lang="en-US" dirty="0"/>
              <a:t> </a:t>
            </a:r>
            <a:r>
              <a:rPr lang="en-US" dirty="0" err="1"/>
              <a:t>felületet</a:t>
            </a:r>
            <a:r>
              <a:rPr lang="en-US" dirty="0"/>
              <a:t> </a:t>
            </a:r>
            <a:r>
              <a:rPr lang="en-US" dirty="0" err="1"/>
              <a:t>kezelnek</a:t>
            </a:r>
            <a:r>
              <a:rPr lang="en-US" dirty="0"/>
              <a:t>, a </a:t>
            </a:r>
            <a:r>
              <a:rPr lang="en-US" dirty="0" err="1"/>
              <a:t>szervizek</a:t>
            </a:r>
            <a:r>
              <a:rPr lang="en-US" dirty="0"/>
              <a:t> a </a:t>
            </a:r>
            <a:r>
              <a:rPr lang="en-US" dirty="0" err="1"/>
              <a:t>logikát</a:t>
            </a:r>
            <a:r>
              <a:rPr lang="en-US" dirty="0"/>
              <a:t> — </a:t>
            </a:r>
            <a:r>
              <a:rPr lang="en-US" dirty="0" err="1"/>
              <a:t>így</a:t>
            </a:r>
            <a:r>
              <a:rPr lang="en-US" dirty="0"/>
              <a:t> </a:t>
            </a:r>
            <a:r>
              <a:rPr lang="en-US" dirty="0" err="1"/>
              <a:t>szétválasztjuk</a:t>
            </a:r>
            <a:r>
              <a:rPr lang="en-US" dirty="0"/>
              <a:t> a </a:t>
            </a:r>
            <a:r>
              <a:rPr lang="en-US" dirty="0" err="1"/>
              <a:t>felelősségeket</a:t>
            </a:r>
            <a:r>
              <a:rPr lang="en-US" dirty="0"/>
              <a:t>, </a:t>
            </a:r>
            <a:r>
              <a:rPr lang="en-US" dirty="0" err="1"/>
              <a:t>ami</a:t>
            </a:r>
            <a:r>
              <a:rPr lang="en-US" dirty="0"/>
              <a:t> </a:t>
            </a:r>
            <a:r>
              <a:rPr lang="en-US" dirty="0" err="1"/>
              <a:t>tisztább</a:t>
            </a:r>
            <a:r>
              <a:rPr lang="en-US" dirty="0"/>
              <a:t> és </a:t>
            </a:r>
            <a:r>
              <a:rPr lang="en-US" dirty="0" err="1"/>
              <a:t>karbantarthatóbb</a:t>
            </a:r>
            <a:r>
              <a:rPr lang="en-US" dirty="0"/>
              <a:t> </a:t>
            </a:r>
            <a:r>
              <a:rPr lang="en-US" dirty="0" err="1"/>
              <a:t>kódot</a:t>
            </a:r>
            <a:r>
              <a:rPr lang="en-US" dirty="0"/>
              <a:t> </a:t>
            </a:r>
            <a:r>
              <a:rPr lang="en-US" dirty="0" err="1"/>
              <a:t>eredményez</a:t>
            </a:r>
            <a:r>
              <a:rPr lang="en-US" dirty="0"/>
              <a:t>.</a:t>
            </a:r>
            <a:r>
              <a:rPr lang="hu-HU" dirty="0"/>
              <a:t>(Lásd MVC a backend-en)</a:t>
            </a:r>
          </a:p>
          <a:p>
            <a:endParaRPr lang="en-US" dirty="0"/>
          </a:p>
          <a:p>
            <a:r>
              <a:rPr lang="en-US" dirty="0"/>
              <a:t>A </a:t>
            </a:r>
            <a:r>
              <a:rPr lang="en-US" b="1" dirty="0"/>
              <a:t>Dependency Injection</a:t>
            </a:r>
            <a:r>
              <a:rPr lang="en-US" dirty="0"/>
              <a:t> </a:t>
            </a:r>
            <a:r>
              <a:rPr lang="en-US" dirty="0" err="1"/>
              <a:t>miatt</a:t>
            </a:r>
            <a:r>
              <a:rPr lang="en-US" dirty="0"/>
              <a:t> Angular </a:t>
            </a:r>
            <a:r>
              <a:rPr lang="en-US" dirty="0" err="1"/>
              <a:t>automatikusan</a:t>
            </a:r>
            <a:r>
              <a:rPr lang="en-US" dirty="0"/>
              <a:t> „</a:t>
            </a:r>
            <a:r>
              <a:rPr lang="en-US" dirty="0" err="1"/>
              <a:t>beadja</a:t>
            </a:r>
            <a:r>
              <a:rPr lang="en-US" dirty="0"/>
              <a:t>” </a:t>
            </a:r>
            <a:r>
              <a:rPr lang="hu-HU" dirty="0"/>
              <a:t>(injektálja) </a:t>
            </a:r>
            <a:r>
              <a:rPr lang="en-US" dirty="0"/>
              <a:t>a </a:t>
            </a:r>
            <a:r>
              <a:rPr lang="en-US" dirty="0" err="1"/>
              <a:t>szükséges</a:t>
            </a:r>
            <a:r>
              <a:rPr lang="en-US" dirty="0"/>
              <a:t> </a:t>
            </a:r>
            <a:r>
              <a:rPr lang="en-US" dirty="0" err="1"/>
              <a:t>szervizeket</a:t>
            </a:r>
            <a:r>
              <a:rPr lang="en-US" dirty="0"/>
              <a:t> — </a:t>
            </a:r>
            <a:r>
              <a:rPr lang="en-US" dirty="0" err="1"/>
              <a:t>sokkal</a:t>
            </a:r>
            <a:r>
              <a:rPr lang="en-US" dirty="0"/>
              <a:t> </a:t>
            </a:r>
            <a:r>
              <a:rPr lang="en-US" dirty="0" err="1"/>
              <a:t>kényelmesebb</a:t>
            </a:r>
            <a:r>
              <a:rPr lang="en-US" dirty="0"/>
              <a:t> és </a:t>
            </a:r>
            <a:r>
              <a:rPr lang="en-US" dirty="0" err="1"/>
              <a:t>modulárisabb</a:t>
            </a:r>
            <a:r>
              <a:rPr lang="en-US" dirty="0"/>
              <a:t>, mint </a:t>
            </a:r>
            <a:r>
              <a:rPr lang="en-US" dirty="0" err="1"/>
              <a:t>kézzel</a:t>
            </a:r>
            <a:r>
              <a:rPr lang="en-US" dirty="0"/>
              <a:t> </a:t>
            </a:r>
            <a:r>
              <a:rPr lang="en-US" dirty="0" err="1"/>
              <a:t>példányosítani</a:t>
            </a:r>
            <a:r>
              <a:rPr lang="en-US" dirty="0"/>
              <a:t> </a:t>
            </a:r>
            <a:r>
              <a:rPr lang="en-US" dirty="0" err="1"/>
              <a:t>azokat</a:t>
            </a:r>
            <a:r>
              <a:rPr lang="en-US" dirty="0"/>
              <a:t>.</a:t>
            </a:r>
            <a:r>
              <a:rPr lang="hu-HU" dirty="0"/>
              <a:t> </a:t>
            </a:r>
            <a:r>
              <a:rPr lang="en-US" dirty="0"/>
              <a:t>A Dependency Injection </a:t>
            </a:r>
            <a:r>
              <a:rPr lang="en-US" dirty="0" err="1"/>
              <a:t>lehetővé</a:t>
            </a:r>
            <a:r>
              <a:rPr lang="en-US" dirty="0"/>
              <a:t> </a:t>
            </a:r>
            <a:r>
              <a:rPr lang="en-US" dirty="0" err="1"/>
              <a:t>teszi</a:t>
            </a:r>
            <a:r>
              <a:rPr lang="en-US" dirty="0"/>
              <a:t>, </a:t>
            </a:r>
            <a:r>
              <a:rPr lang="en-US" dirty="0" err="1"/>
              <a:t>hogy</a:t>
            </a:r>
            <a:r>
              <a:rPr lang="en-US" dirty="0"/>
              <a:t> a </a:t>
            </a:r>
            <a:r>
              <a:rPr lang="en-US" dirty="0" err="1"/>
              <a:t>komponensek</a:t>
            </a:r>
            <a:r>
              <a:rPr lang="en-US" dirty="0"/>
              <a:t> </a:t>
            </a:r>
            <a:r>
              <a:rPr lang="en-US" dirty="0" err="1"/>
              <a:t>lazán</a:t>
            </a:r>
            <a:r>
              <a:rPr lang="en-US" dirty="0"/>
              <a:t> </a:t>
            </a:r>
            <a:r>
              <a:rPr lang="en-US" dirty="0" err="1"/>
              <a:t>csatoltak</a:t>
            </a:r>
            <a:r>
              <a:rPr lang="en-US" dirty="0"/>
              <a:t> </a:t>
            </a:r>
            <a:r>
              <a:rPr lang="en-US" dirty="0" err="1"/>
              <a:t>legyenek</a:t>
            </a:r>
            <a:r>
              <a:rPr lang="en-US" dirty="0"/>
              <a:t> a service-</a:t>
            </a:r>
            <a:r>
              <a:rPr lang="en-US" dirty="0" err="1"/>
              <a:t>ekhez</a:t>
            </a:r>
            <a:r>
              <a:rPr lang="en-US" dirty="0"/>
              <a:t>, </a:t>
            </a:r>
            <a:r>
              <a:rPr lang="en-US" dirty="0" err="1"/>
              <a:t>ami</a:t>
            </a:r>
            <a:r>
              <a:rPr lang="en-US" dirty="0"/>
              <a:t> </a:t>
            </a:r>
            <a:r>
              <a:rPr lang="en-US" dirty="0" err="1"/>
              <a:t>az</a:t>
            </a:r>
            <a:r>
              <a:rPr lang="en-US" dirty="0"/>
              <a:t> Angular </a:t>
            </a:r>
            <a:r>
              <a:rPr lang="en-US" dirty="0" err="1"/>
              <a:t>alkalmazások</a:t>
            </a:r>
            <a:r>
              <a:rPr lang="en-US" dirty="0"/>
              <a:t> </a:t>
            </a:r>
            <a:r>
              <a:rPr lang="en-US" dirty="0" err="1"/>
              <a:t>egyik</a:t>
            </a:r>
            <a:r>
              <a:rPr lang="en-US" dirty="0"/>
              <a:t> </a:t>
            </a:r>
            <a:r>
              <a:rPr lang="en-US" dirty="0" err="1"/>
              <a:t>legfontosabb</a:t>
            </a:r>
            <a:r>
              <a:rPr lang="en-US" dirty="0"/>
              <a:t> </a:t>
            </a:r>
            <a:r>
              <a:rPr lang="en-US" dirty="0" err="1"/>
              <a:t>tervezési</a:t>
            </a:r>
            <a:r>
              <a:rPr lang="en-US" dirty="0"/>
              <a:t> </a:t>
            </a:r>
            <a:r>
              <a:rPr lang="en-US" dirty="0" err="1"/>
              <a:t>alapelve</a:t>
            </a:r>
            <a:r>
              <a:rPr lang="en-US" dirty="0"/>
              <a:t>.</a:t>
            </a:r>
            <a:endParaRPr lang="hu-HU" dirty="0"/>
          </a:p>
          <a:p>
            <a:endParaRPr lang="hu-HU" dirty="0"/>
          </a:p>
        </p:txBody>
      </p:sp>
      <p:sp>
        <p:nvSpPr>
          <p:cNvPr id="4" name="Slide Number Placeholder 3"/>
          <p:cNvSpPr>
            <a:spLocks noGrp="1"/>
          </p:cNvSpPr>
          <p:nvPr>
            <p:ph type="sldNum" sz="quarter" idx="5"/>
          </p:nvPr>
        </p:nvSpPr>
        <p:spPr/>
        <p:txBody>
          <a:bodyPr/>
          <a:lstStyle/>
          <a:p>
            <a:fld id="{82D23EBC-67FA-4278-B97C-82D0A52FD2DA}" type="slidenum">
              <a:rPr lang="en-US" smtClean="0"/>
              <a:t>14</a:t>
            </a:fld>
            <a:endParaRPr lang="en-US"/>
          </a:p>
        </p:txBody>
      </p:sp>
    </p:spTree>
    <p:extLst>
      <p:ext uri="{BB962C8B-B14F-4D97-AF65-F5344CB8AC3E}">
        <p14:creationId xmlns:p14="http://schemas.microsoft.com/office/powerpoint/2010/main" val="25392336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Ebben a példában egy nagyon egyszerű </a:t>
            </a:r>
            <a:r>
              <a:rPr lang="hu-HU" b="1" dirty="0" err="1"/>
              <a:t>Angular</a:t>
            </a:r>
            <a:r>
              <a:rPr lang="hu-HU" b="1" dirty="0"/>
              <a:t> service–komponens </a:t>
            </a:r>
            <a:r>
              <a:rPr lang="hu-HU" dirty="0"/>
              <a:t>kapcsolatot látunk, amely jól bemutatja a </a:t>
            </a:r>
            <a:r>
              <a:rPr lang="hu-HU" dirty="0" err="1"/>
              <a:t>Dependency</a:t>
            </a:r>
            <a:r>
              <a:rPr lang="hu-HU" dirty="0"/>
              <a:t> </a:t>
            </a:r>
            <a:r>
              <a:rPr lang="hu-HU" dirty="0" err="1"/>
              <a:t>Injection</a:t>
            </a:r>
            <a:r>
              <a:rPr lang="hu-HU" dirty="0"/>
              <a:t> működésének lényegét.</a:t>
            </a:r>
          </a:p>
          <a:p>
            <a:endParaRPr lang="hu-HU" dirty="0"/>
          </a:p>
          <a:p>
            <a:r>
              <a:rPr lang="en-US" dirty="0"/>
              <a:t>A </a:t>
            </a:r>
            <a:r>
              <a:rPr lang="en-US" sz="1200" b="1" kern="1200" dirty="0" err="1">
                <a:solidFill>
                  <a:schemeClr val="tx1"/>
                </a:solidFill>
                <a:latin typeface="+mn-lt"/>
                <a:ea typeface="+mn-ea"/>
                <a:cs typeface="+mn-cs"/>
              </a:rPr>
              <a:t>UserService</a:t>
            </a:r>
            <a:r>
              <a:rPr lang="en-US" dirty="0"/>
              <a:t> </a:t>
            </a:r>
            <a:r>
              <a:rPr lang="en-US" dirty="0" err="1"/>
              <a:t>egy</a:t>
            </a:r>
            <a:r>
              <a:rPr lang="en-US" dirty="0"/>
              <a:t> </a:t>
            </a:r>
            <a:r>
              <a:rPr lang="en-US" dirty="0" err="1"/>
              <a:t>önálló</a:t>
            </a:r>
            <a:r>
              <a:rPr lang="en-US" dirty="0"/>
              <a:t> </a:t>
            </a:r>
            <a:r>
              <a:rPr lang="en-US" dirty="0" err="1"/>
              <a:t>osztály</a:t>
            </a:r>
            <a:r>
              <a:rPr lang="en-US" dirty="0"/>
              <a:t>, </a:t>
            </a:r>
            <a:r>
              <a:rPr lang="en-US" dirty="0" err="1"/>
              <a:t>amelynek</a:t>
            </a:r>
            <a:r>
              <a:rPr lang="en-US" dirty="0"/>
              <a:t> </a:t>
            </a:r>
            <a:r>
              <a:rPr lang="en-US" dirty="0" err="1"/>
              <a:t>feladata</a:t>
            </a:r>
            <a:r>
              <a:rPr lang="en-US" dirty="0"/>
              <a:t> </a:t>
            </a:r>
            <a:r>
              <a:rPr lang="en-US" dirty="0" err="1"/>
              <a:t>az</a:t>
            </a:r>
            <a:r>
              <a:rPr lang="en-US" dirty="0"/>
              <a:t> </a:t>
            </a:r>
            <a:r>
              <a:rPr lang="en-US" dirty="0" err="1"/>
              <a:t>üzleti</a:t>
            </a:r>
            <a:r>
              <a:rPr lang="en-US" dirty="0"/>
              <a:t> </a:t>
            </a:r>
            <a:r>
              <a:rPr lang="en-US" dirty="0" err="1"/>
              <a:t>logika</a:t>
            </a:r>
            <a:r>
              <a:rPr lang="en-US" dirty="0"/>
              <a:t> </a:t>
            </a:r>
            <a:r>
              <a:rPr lang="en-US" dirty="0" err="1"/>
              <a:t>kezelése</a:t>
            </a:r>
            <a:r>
              <a:rPr lang="en-US" dirty="0"/>
              <a:t> – </a:t>
            </a:r>
            <a:r>
              <a:rPr lang="en-US" dirty="0" err="1"/>
              <a:t>jelen</a:t>
            </a:r>
            <a:r>
              <a:rPr lang="en-US" dirty="0"/>
              <a:t> </a:t>
            </a:r>
            <a:r>
              <a:rPr lang="en-US" dirty="0" err="1"/>
              <a:t>esetben</a:t>
            </a:r>
            <a:r>
              <a:rPr lang="en-US" dirty="0"/>
              <a:t> </a:t>
            </a:r>
            <a:r>
              <a:rPr lang="en-US" dirty="0" err="1"/>
              <a:t>egy</a:t>
            </a:r>
            <a:r>
              <a:rPr lang="en-US" dirty="0"/>
              <a:t> </a:t>
            </a:r>
            <a:r>
              <a:rPr lang="en-US" dirty="0" err="1"/>
              <a:t>felhasználólista</a:t>
            </a:r>
            <a:r>
              <a:rPr lang="en-US" dirty="0"/>
              <a:t> </a:t>
            </a:r>
            <a:r>
              <a:rPr lang="en-US" dirty="0" err="1"/>
              <a:t>biztosítása</a:t>
            </a:r>
            <a:r>
              <a:rPr lang="hu-HU" dirty="0"/>
              <a:t> egy függvényen keresztül</a:t>
            </a:r>
            <a:r>
              <a:rPr lang="en-US" dirty="0"/>
              <a:t>.</a:t>
            </a:r>
            <a:endParaRPr lang="hu-HU" dirty="0"/>
          </a:p>
          <a:p>
            <a:endParaRPr lang="hu-HU" dirty="0"/>
          </a:p>
          <a:p>
            <a:r>
              <a:rPr lang="hu-HU" dirty="0"/>
              <a:t>A </a:t>
            </a:r>
            <a:r>
              <a:rPr lang="hu-HU" sz="1200" b="1" kern="1200" dirty="0">
                <a:solidFill>
                  <a:schemeClr val="tx1"/>
                </a:solidFill>
                <a:latin typeface="+mn-lt"/>
                <a:ea typeface="+mn-ea"/>
                <a:cs typeface="+mn-cs"/>
              </a:rPr>
              <a:t>@Injectable</a:t>
            </a:r>
            <a:r>
              <a:rPr lang="hu-HU" sz="1200" kern="1200" dirty="0">
                <a:solidFill>
                  <a:schemeClr val="tx1"/>
                </a:solidFill>
                <a:latin typeface="+mn-lt"/>
                <a:ea typeface="+mn-ea"/>
                <a:cs typeface="+mn-cs"/>
              </a:rPr>
              <a:t>({ </a:t>
            </a:r>
            <a:r>
              <a:rPr lang="hu-HU" sz="1200" kern="1200" dirty="0" err="1">
                <a:solidFill>
                  <a:schemeClr val="tx1"/>
                </a:solidFill>
                <a:latin typeface="+mn-lt"/>
                <a:ea typeface="+mn-ea"/>
                <a:cs typeface="+mn-cs"/>
              </a:rPr>
              <a:t>providedIn</a:t>
            </a:r>
            <a:r>
              <a:rPr lang="hu-HU" sz="1200" kern="1200" dirty="0">
                <a:solidFill>
                  <a:schemeClr val="tx1"/>
                </a:solidFill>
                <a:latin typeface="+mn-lt"/>
                <a:ea typeface="+mn-ea"/>
                <a:cs typeface="+mn-cs"/>
              </a:rPr>
              <a:t>: '</a:t>
            </a:r>
            <a:r>
              <a:rPr lang="hu-HU" sz="1200" kern="1200" dirty="0" err="1">
                <a:solidFill>
                  <a:schemeClr val="tx1"/>
                </a:solidFill>
                <a:latin typeface="+mn-lt"/>
                <a:ea typeface="+mn-ea"/>
                <a:cs typeface="+mn-cs"/>
              </a:rPr>
              <a:t>root</a:t>
            </a:r>
            <a:r>
              <a:rPr lang="hu-HU" sz="1200" kern="1200" dirty="0">
                <a:solidFill>
                  <a:schemeClr val="tx1"/>
                </a:solidFill>
                <a:latin typeface="+mn-lt"/>
                <a:ea typeface="+mn-ea"/>
                <a:cs typeface="+mn-cs"/>
              </a:rPr>
              <a:t>' })</a:t>
            </a:r>
            <a:r>
              <a:rPr lang="hu-HU" dirty="0"/>
              <a:t> beállítás azt jelenti, hogy az </a:t>
            </a:r>
            <a:r>
              <a:rPr lang="hu-HU" dirty="0" err="1"/>
              <a:t>Angular</a:t>
            </a:r>
            <a:r>
              <a:rPr lang="hu-HU" dirty="0"/>
              <a:t> ezt a service-t az alkalmazás indulásakor létrehozza, és </a:t>
            </a:r>
            <a:r>
              <a:rPr lang="hu-HU" b="1" dirty="0"/>
              <a:t>egy közös példányt</a:t>
            </a:r>
            <a:r>
              <a:rPr lang="hu-HU" dirty="0"/>
              <a:t> biztosít belőle minden komponens számára. Ez támogatja az egységes működést és az </a:t>
            </a:r>
            <a:r>
              <a:rPr lang="hu-HU" dirty="0" err="1"/>
              <a:t>újrahasznosítást</a:t>
            </a:r>
            <a:r>
              <a:rPr lang="hu-HU" dirty="0"/>
              <a:t>.</a:t>
            </a:r>
          </a:p>
          <a:p>
            <a:endParaRPr lang="hu-HU" dirty="0"/>
          </a:p>
          <a:p>
            <a:r>
              <a:rPr lang="en-US" dirty="0"/>
              <a:t>A </a:t>
            </a:r>
            <a:r>
              <a:rPr lang="en-US" sz="1200" b="1" kern="1200" dirty="0" err="1">
                <a:solidFill>
                  <a:schemeClr val="tx1"/>
                </a:solidFill>
                <a:latin typeface="+mn-lt"/>
                <a:ea typeface="+mn-ea"/>
                <a:cs typeface="+mn-cs"/>
              </a:rPr>
              <a:t>UsersComponent</a:t>
            </a:r>
            <a:r>
              <a:rPr lang="en-US" dirty="0"/>
              <a:t> </a:t>
            </a:r>
            <a:r>
              <a:rPr lang="en-US" dirty="0" err="1"/>
              <a:t>nem</a:t>
            </a:r>
            <a:r>
              <a:rPr lang="en-US" dirty="0"/>
              <a:t> </a:t>
            </a:r>
            <a:r>
              <a:rPr lang="en-US" dirty="0" err="1"/>
              <a:t>hoz</a:t>
            </a:r>
            <a:r>
              <a:rPr lang="en-US" dirty="0"/>
              <a:t> </a:t>
            </a:r>
            <a:r>
              <a:rPr lang="en-US" dirty="0" err="1"/>
              <a:t>létre</a:t>
            </a:r>
            <a:r>
              <a:rPr lang="en-US" dirty="0"/>
              <a:t> </a:t>
            </a:r>
            <a:r>
              <a:rPr lang="en-US" dirty="0" err="1"/>
              <a:t>saját</a:t>
            </a:r>
            <a:r>
              <a:rPr lang="en-US" dirty="0"/>
              <a:t> </a:t>
            </a:r>
            <a:r>
              <a:rPr lang="en-US" dirty="0" err="1"/>
              <a:t>példányt</a:t>
            </a:r>
            <a:r>
              <a:rPr lang="en-US" dirty="0"/>
              <a:t> a service-</a:t>
            </a:r>
            <a:r>
              <a:rPr lang="en-US" dirty="0" err="1"/>
              <a:t>ből</a:t>
            </a:r>
            <a:r>
              <a:rPr lang="en-US" dirty="0"/>
              <a:t>. </a:t>
            </a:r>
            <a:r>
              <a:rPr lang="en-US" dirty="0" err="1"/>
              <a:t>Ehelyett</a:t>
            </a:r>
            <a:r>
              <a:rPr lang="en-US" dirty="0"/>
              <a:t> a </a:t>
            </a:r>
            <a:r>
              <a:rPr lang="en-US" dirty="0" err="1"/>
              <a:t>konstruktorában</a:t>
            </a:r>
            <a:r>
              <a:rPr lang="en-US" dirty="0"/>
              <a:t> </a:t>
            </a:r>
            <a:r>
              <a:rPr lang="en-US" dirty="0" err="1"/>
              <a:t>paraméterként</a:t>
            </a:r>
            <a:r>
              <a:rPr lang="en-US" dirty="0"/>
              <a:t> </a:t>
            </a:r>
            <a:r>
              <a:rPr lang="en-US" dirty="0" err="1"/>
              <a:t>kéri</a:t>
            </a:r>
            <a:r>
              <a:rPr lang="en-US" dirty="0"/>
              <a:t> a </a:t>
            </a:r>
            <a:r>
              <a:rPr lang="en-US" sz="1200" kern="1200" dirty="0" err="1">
                <a:solidFill>
                  <a:schemeClr val="tx1"/>
                </a:solidFill>
                <a:latin typeface="+mn-lt"/>
                <a:ea typeface="+mn-ea"/>
                <a:cs typeface="+mn-cs"/>
              </a:rPr>
              <a:t>UserService</a:t>
            </a:r>
            <a:r>
              <a:rPr lang="en-US" dirty="0"/>
              <a:t>-t. </a:t>
            </a:r>
            <a:r>
              <a:rPr lang="en-US" dirty="0" err="1"/>
              <a:t>Ezt</a:t>
            </a:r>
            <a:r>
              <a:rPr lang="en-US" dirty="0"/>
              <a:t> </a:t>
            </a:r>
            <a:r>
              <a:rPr lang="en-US" dirty="0" err="1"/>
              <a:t>nevezzük</a:t>
            </a:r>
            <a:r>
              <a:rPr lang="en-US" dirty="0"/>
              <a:t> Dependency Injection-nek: a </a:t>
            </a:r>
            <a:r>
              <a:rPr lang="en-US" dirty="0" err="1"/>
              <a:t>komponens</a:t>
            </a:r>
            <a:r>
              <a:rPr lang="en-US" dirty="0"/>
              <a:t> </a:t>
            </a:r>
            <a:r>
              <a:rPr lang="en-US" dirty="0" err="1"/>
              <a:t>megmondja</a:t>
            </a:r>
            <a:r>
              <a:rPr lang="en-US" dirty="0"/>
              <a:t>, mire van </a:t>
            </a:r>
            <a:r>
              <a:rPr lang="en-US" dirty="0" err="1"/>
              <a:t>szüksége</a:t>
            </a:r>
            <a:r>
              <a:rPr lang="en-US" dirty="0"/>
              <a:t>, </a:t>
            </a:r>
            <a:r>
              <a:rPr lang="en-US" dirty="0" err="1"/>
              <a:t>az</a:t>
            </a:r>
            <a:r>
              <a:rPr lang="en-US" dirty="0"/>
              <a:t> Angular </a:t>
            </a:r>
            <a:r>
              <a:rPr lang="en-US" dirty="0" err="1"/>
              <a:t>pedig</a:t>
            </a:r>
            <a:r>
              <a:rPr lang="en-US" dirty="0"/>
              <a:t> </a:t>
            </a:r>
            <a:r>
              <a:rPr lang="en-US" dirty="0" err="1"/>
              <a:t>automatikusan</a:t>
            </a:r>
            <a:r>
              <a:rPr lang="en-US" dirty="0"/>
              <a:t> </a:t>
            </a:r>
            <a:r>
              <a:rPr lang="hu-HU" dirty="0"/>
              <a:t>injektálja</a:t>
            </a:r>
            <a:r>
              <a:rPr lang="en-US" dirty="0"/>
              <a:t> a </a:t>
            </a:r>
            <a:r>
              <a:rPr lang="en-US" dirty="0" err="1"/>
              <a:t>megfelelő</a:t>
            </a:r>
            <a:r>
              <a:rPr lang="en-US" dirty="0"/>
              <a:t> </a:t>
            </a:r>
            <a:r>
              <a:rPr lang="en-US" dirty="0" err="1"/>
              <a:t>példányt</a:t>
            </a:r>
            <a:r>
              <a:rPr lang="en-US" dirty="0"/>
              <a:t>.</a:t>
            </a:r>
            <a:r>
              <a:rPr lang="hu-HU" dirty="0"/>
              <a:t> </a:t>
            </a:r>
            <a:r>
              <a:rPr lang="en-US" dirty="0" err="1"/>
              <a:t>Ennek</a:t>
            </a:r>
            <a:r>
              <a:rPr lang="en-US" dirty="0"/>
              <a:t> </a:t>
            </a:r>
            <a:r>
              <a:rPr lang="en-US" dirty="0" err="1"/>
              <a:t>köszönhetően</a:t>
            </a:r>
            <a:r>
              <a:rPr lang="en-US" dirty="0"/>
              <a:t> a </a:t>
            </a:r>
            <a:r>
              <a:rPr lang="en-US" dirty="0" err="1"/>
              <a:t>komponens</a:t>
            </a:r>
            <a:r>
              <a:rPr lang="en-US" dirty="0"/>
              <a:t> </a:t>
            </a:r>
            <a:r>
              <a:rPr lang="en-US" b="1" dirty="0" err="1"/>
              <a:t>nem</a:t>
            </a:r>
            <a:r>
              <a:rPr lang="en-US" b="1" dirty="0"/>
              <a:t> </a:t>
            </a:r>
            <a:r>
              <a:rPr lang="en-US" b="1" dirty="0" err="1"/>
              <a:t>függ</a:t>
            </a:r>
            <a:r>
              <a:rPr lang="en-US" b="1" dirty="0"/>
              <a:t> a service </a:t>
            </a:r>
            <a:r>
              <a:rPr lang="en-US" b="1" dirty="0" err="1"/>
              <a:t>konkrét</a:t>
            </a:r>
            <a:r>
              <a:rPr lang="en-US" b="1" dirty="0"/>
              <a:t> </a:t>
            </a:r>
            <a:r>
              <a:rPr lang="en-US" b="1" dirty="0" err="1"/>
              <a:t>létrehozásától</a:t>
            </a:r>
            <a:r>
              <a:rPr lang="en-US" dirty="0"/>
              <a:t>, </a:t>
            </a:r>
            <a:r>
              <a:rPr lang="en-US" dirty="0" err="1"/>
              <a:t>csak</a:t>
            </a:r>
            <a:r>
              <a:rPr lang="en-US" dirty="0"/>
              <a:t> </a:t>
            </a:r>
            <a:r>
              <a:rPr lang="en-US" dirty="0" err="1"/>
              <a:t>annak</a:t>
            </a:r>
            <a:r>
              <a:rPr lang="en-US" dirty="0"/>
              <a:t> </a:t>
            </a:r>
            <a:r>
              <a:rPr lang="en-US" dirty="0" err="1"/>
              <a:t>használatától</a:t>
            </a:r>
            <a:r>
              <a:rPr lang="en-US" dirty="0"/>
              <a:t>. Ez </a:t>
            </a:r>
            <a:r>
              <a:rPr lang="en-US" dirty="0" err="1"/>
              <a:t>tisztább</a:t>
            </a:r>
            <a:r>
              <a:rPr lang="en-US" dirty="0"/>
              <a:t> </a:t>
            </a:r>
            <a:r>
              <a:rPr lang="en-US" dirty="0" err="1"/>
              <a:t>kódot</a:t>
            </a:r>
            <a:r>
              <a:rPr lang="en-US" dirty="0"/>
              <a:t>, </a:t>
            </a:r>
            <a:r>
              <a:rPr lang="en-US" dirty="0" err="1"/>
              <a:t>jobb</a:t>
            </a:r>
            <a:r>
              <a:rPr lang="en-US" dirty="0"/>
              <a:t> </a:t>
            </a:r>
            <a:r>
              <a:rPr lang="en-US" dirty="0" err="1"/>
              <a:t>tesztelhetőséget</a:t>
            </a:r>
            <a:r>
              <a:rPr lang="en-US" dirty="0"/>
              <a:t> és </a:t>
            </a:r>
            <a:r>
              <a:rPr lang="en-US" dirty="0" err="1"/>
              <a:t>könnyebb</a:t>
            </a:r>
            <a:r>
              <a:rPr lang="en-US" dirty="0"/>
              <a:t> </a:t>
            </a:r>
            <a:r>
              <a:rPr lang="en-US" dirty="0" err="1"/>
              <a:t>karbantarthatóságot</a:t>
            </a:r>
            <a:r>
              <a:rPr lang="en-US" dirty="0"/>
              <a:t> </a:t>
            </a:r>
            <a:r>
              <a:rPr lang="en-US" dirty="0" err="1"/>
              <a:t>eredményez</a:t>
            </a:r>
            <a:r>
              <a:rPr lang="en-US" dirty="0"/>
              <a:t>.</a:t>
            </a:r>
            <a:r>
              <a:rPr lang="hu-HU" dirty="0"/>
              <a:t> </a:t>
            </a:r>
            <a:r>
              <a:rPr lang="en-US" dirty="0"/>
              <a:t>A </a:t>
            </a:r>
            <a:r>
              <a:rPr lang="en-US" dirty="0" err="1"/>
              <a:t>komponens</a:t>
            </a:r>
            <a:r>
              <a:rPr lang="en-US" dirty="0"/>
              <a:t> </a:t>
            </a:r>
            <a:r>
              <a:rPr lang="en-US" dirty="0" err="1"/>
              <a:t>feladata</a:t>
            </a:r>
            <a:r>
              <a:rPr lang="en-US" dirty="0"/>
              <a:t> </a:t>
            </a:r>
            <a:r>
              <a:rPr lang="en-US" dirty="0" err="1"/>
              <a:t>mindössze</a:t>
            </a:r>
            <a:r>
              <a:rPr lang="en-US" dirty="0"/>
              <a:t> </a:t>
            </a:r>
            <a:r>
              <a:rPr lang="en-US" dirty="0" err="1"/>
              <a:t>annyi</a:t>
            </a:r>
            <a:r>
              <a:rPr lang="en-US" dirty="0"/>
              <a:t>, </a:t>
            </a:r>
            <a:r>
              <a:rPr lang="en-US" dirty="0" err="1"/>
              <a:t>hogy</a:t>
            </a:r>
            <a:r>
              <a:rPr lang="en-US" dirty="0"/>
              <a:t> </a:t>
            </a:r>
            <a:r>
              <a:rPr lang="en-US" dirty="0" err="1"/>
              <a:t>elkérje</a:t>
            </a:r>
            <a:r>
              <a:rPr lang="en-US" dirty="0"/>
              <a:t> </a:t>
            </a:r>
            <a:r>
              <a:rPr lang="en-US" dirty="0" err="1"/>
              <a:t>az</a:t>
            </a:r>
            <a:r>
              <a:rPr lang="en-US" dirty="0"/>
              <a:t> </a:t>
            </a:r>
            <a:r>
              <a:rPr lang="en-US" dirty="0" err="1"/>
              <a:t>adatot</a:t>
            </a:r>
            <a:r>
              <a:rPr lang="en-US" dirty="0"/>
              <a:t> a service-</a:t>
            </a:r>
            <a:r>
              <a:rPr lang="en-US" dirty="0" err="1"/>
              <a:t>től</a:t>
            </a:r>
            <a:r>
              <a:rPr lang="en-US" dirty="0"/>
              <a:t>, </a:t>
            </a:r>
            <a:r>
              <a:rPr lang="en-US" dirty="0" err="1"/>
              <a:t>majd</a:t>
            </a:r>
            <a:r>
              <a:rPr lang="en-US" dirty="0"/>
              <a:t> a template-ben </a:t>
            </a:r>
            <a:r>
              <a:rPr lang="en-US" dirty="0" err="1"/>
              <a:t>megjelenítse</a:t>
            </a:r>
            <a:r>
              <a:rPr lang="en-US" dirty="0"/>
              <a:t> </a:t>
            </a:r>
            <a:r>
              <a:rPr lang="en-US" dirty="0" err="1"/>
              <a:t>azt</a:t>
            </a:r>
            <a:r>
              <a:rPr lang="en-US" dirty="0"/>
              <a:t>.</a:t>
            </a:r>
            <a:r>
              <a:rPr lang="hu-HU" dirty="0"/>
              <a:t> </a:t>
            </a:r>
          </a:p>
          <a:p>
            <a:endParaRPr lang="hu-HU" dirty="0"/>
          </a:p>
          <a:p>
            <a:r>
              <a:rPr lang="en-US" dirty="0"/>
              <a:t>A </a:t>
            </a:r>
            <a:r>
              <a:rPr lang="en-US" sz="1200" b="1" kern="1200" dirty="0">
                <a:solidFill>
                  <a:schemeClr val="tx1"/>
                </a:solidFill>
                <a:latin typeface="+mn-lt"/>
                <a:ea typeface="+mn-ea"/>
                <a:cs typeface="+mn-cs"/>
              </a:rPr>
              <a:t>users.component.html</a:t>
            </a:r>
            <a:r>
              <a:rPr lang="en-US" b="1" dirty="0"/>
              <a:t> </a:t>
            </a:r>
            <a:r>
              <a:rPr lang="en-US" dirty="0" err="1"/>
              <a:t>fájlban</a:t>
            </a:r>
            <a:r>
              <a:rPr lang="en-US" dirty="0"/>
              <a:t> a </a:t>
            </a:r>
            <a:r>
              <a:rPr lang="en-US" sz="1200" b="1" kern="1200" dirty="0">
                <a:solidFill>
                  <a:schemeClr val="tx1"/>
                </a:solidFill>
                <a:latin typeface="+mn-lt"/>
                <a:ea typeface="+mn-ea"/>
                <a:cs typeface="+mn-cs"/>
              </a:rPr>
              <a:t>*</a:t>
            </a:r>
            <a:r>
              <a:rPr lang="en-US" sz="1200" b="1" kern="1200" dirty="0" err="1">
                <a:solidFill>
                  <a:schemeClr val="tx1"/>
                </a:solidFill>
                <a:latin typeface="+mn-lt"/>
                <a:ea typeface="+mn-ea"/>
                <a:cs typeface="+mn-cs"/>
              </a:rPr>
              <a:t>ngFor</a:t>
            </a:r>
            <a:r>
              <a:rPr lang="en-US" b="1" dirty="0"/>
              <a:t> </a:t>
            </a:r>
            <a:r>
              <a:rPr lang="en-US" i="1" dirty="0" err="1"/>
              <a:t>direktíva</a:t>
            </a:r>
            <a:r>
              <a:rPr lang="en-US" dirty="0"/>
              <a:t> </a:t>
            </a:r>
            <a:r>
              <a:rPr lang="en-US" dirty="0" err="1"/>
              <a:t>segítségével</a:t>
            </a:r>
            <a:r>
              <a:rPr lang="en-US" dirty="0"/>
              <a:t> </a:t>
            </a:r>
            <a:r>
              <a:rPr lang="en-US" dirty="0" err="1"/>
              <a:t>végigiterálunk</a:t>
            </a:r>
            <a:r>
              <a:rPr lang="en-US" dirty="0"/>
              <a:t> a </a:t>
            </a:r>
            <a:r>
              <a:rPr lang="en-US" dirty="0" err="1"/>
              <a:t>felhasználókon</a:t>
            </a:r>
            <a:r>
              <a:rPr lang="en-US" dirty="0"/>
              <a:t>, és </a:t>
            </a:r>
            <a:r>
              <a:rPr lang="en-US" dirty="0" err="1"/>
              <a:t>listaként</a:t>
            </a:r>
            <a:r>
              <a:rPr lang="en-US" dirty="0"/>
              <a:t> </a:t>
            </a:r>
            <a:r>
              <a:rPr lang="en-US" dirty="0" err="1"/>
              <a:t>jelenítjük</a:t>
            </a:r>
            <a:r>
              <a:rPr lang="en-US" dirty="0"/>
              <a:t> meg </a:t>
            </a:r>
            <a:r>
              <a:rPr lang="en-US" dirty="0" err="1"/>
              <a:t>őket</a:t>
            </a:r>
            <a:r>
              <a:rPr lang="en-US" dirty="0"/>
              <a:t>.</a:t>
            </a:r>
            <a:endParaRPr lang="hu-HU" dirty="0"/>
          </a:p>
          <a:p>
            <a:endParaRPr lang="en-US" dirty="0"/>
          </a:p>
          <a:p>
            <a:r>
              <a:rPr lang="en-US" dirty="0"/>
              <a:t>Ez a </a:t>
            </a:r>
            <a:r>
              <a:rPr lang="en-US" dirty="0" err="1"/>
              <a:t>felépítés</a:t>
            </a:r>
            <a:r>
              <a:rPr lang="en-US" dirty="0"/>
              <a:t> </a:t>
            </a:r>
            <a:r>
              <a:rPr lang="en-US" dirty="0" err="1"/>
              <a:t>jól</a:t>
            </a:r>
            <a:r>
              <a:rPr lang="en-US" dirty="0"/>
              <a:t> </a:t>
            </a:r>
            <a:r>
              <a:rPr lang="en-US" dirty="0" err="1"/>
              <a:t>szemlélteti</a:t>
            </a:r>
            <a:r>
              <a:rPr lang="en-US" dirty="0"/>
              <a:t> </a:t>
            </a:r>
            <a:r>
              <a:rPr lang="en-US" dirty="0" err="1"/>
              <a:t>az</a:t>
            </a:r>
            <a:r>
              <a:rPr lang="en-US" dirty="0"/>
              <a:t> Angular </a:t>
            </a:r>
            <a:r>
              <a:rPr lang="en-US" dirty="0" err="1"/>
              <a:t>egyik</a:t>
            </a:r>
            <a:r>
              <a:rPr lang="en-US" dirty="0"/>
              <a:t> </a:t>
            </a:r>
            <a:r>
              <a:rPr lang="en-US" dirty="0" err="1"/>
              <a:t>alapelvét</a:t>
            </a:r>
            <a:r>
              <a:rPr lang="en-US" dirty="0"/>
              <a:t>: </a:t>
            </a:r>
            <a:r>
              <a:rPr lang="en-US" b="1" dirty="0"/>
              <a:t>a </a:t>
            </a:r>
            <a:r>
              <a:rPr lang="en-US" b="1" dirty="0" err="1"/>
              <a:t>komponens</a:t>
            </a:r>
            <a:r>
              <a:rPr lang="en-US" b="1" dirty="0"/>
              <a:t> a </a:t>
            </a:r>
            <a:r>
              <a:rPr lang="en-US" b="1" dirty="0" err="1"/>
              <a:t>megjelenítésért</a:t>
            </a:r>
            <a:r>
              <a:rPr lang="en-US" b="1" dirty="0"/>
              <a:t> </a:t>
            </a:r>
            <a:r>
              <a:rPr lang="en-US" b="1" dirty="0" err="1"/>
              <a:t>felel</a:t>
            </a:r>
            <a:r>
              <a:rPr lang="en-US" b="1" dirty="0"/>
              <a:t>, a service </a:t>
            </a:r>
            <a:r>
              <a:rPr lang="en-US" b="1" dirty="0" err="1"/>
              <a:t>pedig</a:t>
            </a:r>
            <a:r>
              <a:rPr lang="en-US" b="1" dirty="0"/>
              <a:t> a </a:t>
            </a:r>
            <a:r>
              <a:rPr lang="en-US" b="1" dirty="0" err="1"/>
              <a:t>logikáért</a:t>
            </a:r>
            <a:r>
              <a:rPr lang="en-US" b="1" dirty="0"/>
              <a:t> és </a:t>
            </a:r>
            <a:r>
              <a:rPr lang="en-US" b="1" dirty="0" err="1"/>
              <a:t>az</a:t>
            </a:r>
            <a:r>
              <a:rPr lang="en-US" b="1" dirty="0"/>
              <a:t> </a:t>
            </a:r>
            <a:r>
              <a:rPr lang="en-US" b="1" dirty="0" err="1"/>
              <a:t>adatokért</a:t>
            </a:r>
            <a:r>
              <a:rPr lang="en-US" dirty="0"/>
              <a:t>.</a:t>
            </a:r>
          </a:p>
          <a:p>
            <a:endParaRPr lang="hu-HU" dirty="0"/>
          </a:p>
        </p:txBody>
      </p:sp>
      <p:sp>
        <p:nvSpPr>
          <p:cNvPr id="4" name="Slide Number Placeholder 3"/>
          <p:cNvSpPr>
            <a:spLocks noGrp="1"/>
          </p:cNvSpPr>
          <p:nvPr>
            <p:ph type="sldNum" sz="quarter" idx="5"/>
          </p:nvPr>
        </p:nvSpPr>
        <p:spPr/>
        <p:txBody>
          <a:bodyPr/>
          <a:lstStyle/>
          <a:p>
            <a:fld id="{82D23EBC-67FA-4278-B97C-82D0A52FD2DA}" type="slidenum">
              <a:rPr lang="en-US" smtClean="0"/>
              <a:t>15</a:t>
            </a:fld>
            <a:endParaRPr lang="en-US"/>
          </a:p>
        </p:txBody>
      </p:sp>
    </p:spTree>
    <p:extLst>
      <p:ext uri="{BB962C8B-B14F-4D97-AF65-F5344CB8AC3E}">
        <p14:creationId xmlns:p14="http://schemas.microsoft.com/office/powerpoint/2010/main" val="40992420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dirty="0"/>
              <a:t>A</a:t>
            </a:r>
            <a:r>
              <a:rPr lang="en-US" dirty="0"/>
              <a:t>z Angular </a:t>
            </a:r>
            <a:r>
              <a:rPr lang="en-US" dirty="0" err="1"/>
              <a:t>megértéséhez</a:t>
            </a:r>
            <a:r>
              <a:rPr lang="en-US" dirty="0"/>
              <a:t> </a:t>
            </a:r>
            <a:r>
              <a:rPr lang="en-US" dirty="0" err="1"/>
              <a:t>kell</a:t>
            </a:r>
            <a:r>
              <a:rPr lang="en-US" dirty="0"/>
              <a:t> a modern JS és a TypeScript.</a:t>
            </a:r>
            <a:endParaRPr lang="hu-HU" dirty="0"/>
          </a:p>
          <a:p>
            <a:r>
              <a:rPr lang="hu-HU" dirty="0"/>
              <a:t>Láthatjuk, hogy az </a:t>
            </a:r>
            <a:r>
              <a:rPr lang="hu-HU" b="1" dirty="0" err="1"/>
              <a:t>Angular</a:t>
            </a:r>
            <a:r>
              <a:rPr lang="hu-HU" dirty="0"/>
              <a:t> nem egy egyszerű kis UI könyvtár, hanem egy </a:t>
            </a:r>
            <a:r>
              <a:rPr lang="hu-HU" b="1" dirty="0"/>
              <a:t>komplett keretrendszer</a:t>
            </a:r>
            <a:r>
              <a:rPr lang="hu-HU" dirty="0"/>
              <a:t>, amely rengeteg fogalmat összeköt.</a:t>
            </a:r>
            <a:br>
              <a:rPr lang="hu-HU" dirty="0"/>
            </a:br>
            <a:r>
              <a:rPr lang="hu-HU" dirty="0"/>
              <a:t>A modern </a:t>
            </a:r>
            <a:r>
              <a:rPr lang="hu-HU" b="1" dirty="0"/>
              <a:t>JavaScript</a:t>
            </a:r>
            <a:r>
              <a:rPr lang="hu-HU" dirty="0"/>
              <a:t> alapok jelentik az építőköveket, a </a:t>
            </a:r>
            <a:r>
              <a:rPr lang="hu-HU" b="1" dirty="0" err="1"/>
              <a:t>TypeScript</a:t>
            </a:r>
            <a:r>
              <a:rPr lang="hu-HU" dirty="0"/>
              <a:t> adja a stabil alapot, és ezekre épülnek az </a:t>
            </a:r>
            <a:r>
              <a:rPr lang="hu-HU" dirty="0" err="1"/>
              <a:t>Angular</a:t>
            </a:r>
            <a:r>
              <a:rPr lang="hu-HU" dirty="0"/>
              <a:t> fő építőelemei, azaz a</a:t>
            </a:r>
            <a:r>
              <a:rPr lang="en-US" dirty="0"/>
              <a:t> </a:t>
            </a:r>
            <a:r>
              <a:rPr lang="en-US" b="1" dirty="0" err="1"/>
              <a:t>komponensek</a:t>
            </a:r>
            <a:r>
              <a:rPr lang="en-US" b="1" dirty="0"/>
              <a:t>, </a:t>
            </a:r>
            <a:r>
              <a:rPr lang="hu-HU" b="1" dirty="0" err="1"/>
              <a:t>data</a:t>
            </a:r>
            <a:r>
              <a:rPr lang="hu-HU" b="1" dirty="0"/>
              <a:t> </a:t>
            </a:r>
            <a:r>
              <a:rPr lang="en-US" b="1" dirty="0"/>
              <a:t>binding</a:t>
            </a:r>
            <a:r>
              <a:rPr lang="hu-HU" b="1" dirty="0"/>
              <a:t>,</a:t>
            </a:r>
            <a:r>
              <a:rPr lang="en-US" b="1" dirty="0"/>
              <a:t> routing</a:t>
            </a:r>
            <a:r>
              <a:rPr lang="hu-HU" b="1" dirty="0"/>
              <a:t> </a:t>
            </a:r>
            <a:r>
              <a:rPr lang="hu-HU" b="0" dirty="0"/>
              <a:t>és</a:t>
            </a:r>
            <a:r>
              <a:rPr lang="hu-HU" b="1" dirty="0"/>
              <a:t> szervízek</a:t>
            </a:r>
            <a:r>
              <a:rPr lang="en-US" b="1" dirty="0"/>
              <a:t> </a:t>
            </a:r>
            <a:r>
              <a:rPr lang="en-US" dirty="0" err="1"/>
              <a:t>adják</a:t>
            </a:r>
            <a:r>
              <a:rPr lang="en-US" dirty="0"/>
              <a:t> </a:t>
            </a:r>
            <a:r>
              <a:rPr lang="en-US" dirty="0" err="1"/>
              <a:t>az</a:t>
            </a:r>
            <a:r>
              <a:rPr lang="en-US" dirty="0"/>
              <a:t> </a:t>
            </a:r>
            <a:r>
              <a:rPr lang="en-US" dirty="0" err="1"/>
              <a:t>alkalmazások</a:t>
            </a:r>
            <a:r>
              <a:rPr lang="en-US" dirty="0"/>
              <a:t> </a:t>
            </a:r>
            <a:r>
              <a:rPr lang="en-US" dirty="0" err="1"/>
              <a:t>struktúráját</a:t>
            </a:r>
            <a:r>
              <a:rPr lang="en-US" dirty="0"/>
              <a:t>.</a:t>
            </a:r>
            <a:endParaRPr lang="hu-HU" dirty="0"/>
          </a:p>
          <a:p>
            <a:endParaRPr lang="hu-HU" dirty="0"/>
          </a:p>
        </p:txBody>
      </p:sp>
      <p:sp>
        <p:nvSpPr>
          <p:cNvPr id="4" name="Slide Number Placeholder 3"/>
          <p:cNvSpPr>
            <a:spLocks noGrp="1"/>
          </p:cNvSpPr>
          <p:nvPr>
            <p:ph type="sldNum" sz="quarter" idx="5"/>
          </p:nvPr>
        </p:nvSpPr>
        <p:spPr/>
        <p:txBody>
          <a:bodyPr/>
          <a:lstStyle/>
          <a:p>
            <a:fld id="{82D23EBC-67FA-4278-B97C-82D0A52FD2DA}" type="slidenum">
              <a:rPr lang="en-US" smtClean="0"/>
              <a:t>16</a:t>
            </a:fld>
            <a:endParaRPr lang="en-US"/>
          </a:p>
        </p:txBody>
      </p:sp>
    </p:spTree>
    <p:extLst>
      <p:ext uri="{BB962C8B-B14F-4D97-AF65-F5344CB8AC3E}">
        <p14:creationId xmlns:p14="http://schemas.microsoft.com/office/powerpoint/2010/main" val="2912076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1/18/2026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52221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1/18/2026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6524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1/18/2026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4466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1/18/2026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1328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1/18/2026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47986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1/18/2026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08721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1/18/2026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66426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1/18/2026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38212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1/18/2026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84883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1/18/2026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75379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1/18/2026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2327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1/18/2026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523208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www.educba.com/angular-2-architecture/"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612390-7FD9-3A7E-F78F-3E71606EA902}"/>
              </a:ext>
            </a:extLst>
          </p:cNvPr>
          <p:cNvSpPr>
            <a:spLocks noGrp="1"/>
          </p:cNvSpPr>
          <p:nvPr>
            <p:ph type="ctrTitle"/>
          </p:nvPr>
        </p:nvSpPr>
        <p:spPr>
          <a:xfrm>
            <a:off x="517868" y="1052996"/>
            <a:ext cx="11165482" cy="2425796"/>
          </a:xfrm>
        </p:spPr>
        <p:txBody>
          <a:bodyPr anchor="b">
            <a:normAutofit/>
          </a:bodyPr>
          <a:lstStyle/>
          <a:p>
            <a:pPr>
              <a:lnSpc>
                <a:spcPct val="90000"/>
              </a:lnSpc>
            </a:pPr>
            <a:r>
              <a:rPr lang="en-US" sz="4400" dirty="0"/>
              <a:t>JavaScript és Angular </a:t>
            </a:r>
            <a:r>
              <a:rPr lang="en-US" sz="4400" dirty="0" err="1"/>
              <a:t>alapok</a:t>
            </a:r>
            <a:br>
              <a:rPr lang="en-US" sz="4400" dirty="0"/>
            </a:br>
            <a:br>
              <a:rPr lang="hu-HU" sz="3600" dirty="0"/>
            </a:br>
            <a:br>
              <a:rPr lang="hu-HU" sz="3600" dirty="0"/>
            </a:br>
            <a:r>
              <a:rPr lang="en-US" sz="2400" dirty="0"/>
              <a:t>ES6 </a:t>
            </a:r>
            <a:r>
              <a:rPr lang="en-US" sz="2400" dirty="0" err="1"/>
              <a:t>alapok</a:t>
            </a:r>
            <a:r>
              <a:rPr lang="en-US" sz="2400" dirty="0"/>
              <a:t> · TypeScript · </a:t>
            </a:r>
            <a:r>
              <a:rPr lang="hu-HU" sz="2400" dirty="0" err="1"/>
              <a:t>Angular</a:t>
            </a:r>
            <a:r>
              <a:rPr lang="hu-HU" sz="2400" dirty="0"/>
              <a:t> </a:t>
            </a:r>
            <a:r>
              <a:rPr lang="en-US" sz="2400" dirty="0"/>
              <a:t>Komponensek · Binding · Routing</a:t>
            </a:r>
            <a:br>
              <a:rPr lang="en-US" sz="2400" dirty="0"/>
            </a:br>
            <a:endParaRPr lang="en-US" sz="2200" dirty="0"/>
          </a:p>
        </p:txBody>
      </p:sp>
      <p:sp>
        <p:nvSpPr>
          <p:cNvPr id="22" name="Freeform: Shape 21">
            <a:extLst>
              <a:ext uri="{FF2B5EF4-FFF2-40B4-BE49-F238E27FC236}">
                <a16:creationId xmlns:a16="http://schemas.microsoft.com/office/drawing/2014/main" id="{BD0C058D-27D4-3139-E199-E2C11099B6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E94E0531-D614-3CB6-996E-FF0184A33A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6300216"/>
            <a:ext cx="11165482" cy="45719"/>
          </a:xfrm>
          <a:custGeom>
            <a:avLst/>
            <a:gdLst>
              <a:gd name="connsiteX0" fmla="*/ 0 w 11165482"/>
              <a:gd name="connsiteY0" fmla="*/ 0 h 45719"/>
              <a:gd name="connsiteX1" fmla="*/ 3694525 w 11165482"/>
              <a:gd name="connsiteY1" fmla="*/ 0 h 45719"/>
              <a:gd name="connsiteX2" fmla="*/ 5021183 w 11165482"/>
              <a:gd name="connsiteY2" fmla="*/ 0 h 45719"/>
              <a:gd name="connsiteX3" fmla="*/ 6144299 w 11165482"/>
              <a:gd name="connsiteY3" fmla="*/ 0 h 45719"/>
              <a:gd name="connsiteX4" fmla="*/ 8715708 w 11165482"/>
              <a:gd name="connsiteY4" fmla="*/ 0 h 45719"/>
              <a:gd name="connsiteX5" fmla="*/ 11165482 w 11165482"/>
              <a:gd name="connsiteY5" fmla="*/ 0 h 45719"/>
              <a:gd name="connsiteX6" fmla="*/ 11165482 w 11165482"/>
              <a:gd name="connsiteY6" fmla="*/ 45719 h 45719"/>
              <a:gd name="connsiteX7" fmla="*/ 8715708 w 11165482"/>
              <a:gd name="connsiteY7" fmla="*/ 45719 h 45719"/>
              <a:gd name="connsiteX8" fmla="*/ 6144299 w 11165482"/>
              <a:gd name="connsiteY8" fmla="*/ 45719 h 45719"/>
              <a:gd name="connsiteX9" fmla="*/ 5021183 w 11165482"/>
              <a:gd name="connsiteY9" fmla="*/ 45719 h 45719"/>
              <a:gd name="connsiteX10" fmla="*/ 3694525 w 11165482"/>
              <a:gd name="connsiteY10" fmla="*/ 45719 h 45719"/>
              <a:gd name="connsiteX11" fmla="*/ 0 w 11165482"/>
              <a:gd name="connsiteY11" fmla="*/ 45719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3694525 w 11165482"/>
              <a:gd name="connsiteY9" fmla="*/ 45719 h 45719"/>
              <a:gd name="connsiteX10" fmla="*/ 0 w 11165482"/>
              <a:gd name="connsiteY10" fmla="*/ 45719 h 45719"/>
              <a:gd name="connsiteX11" fmla="*/ 0 w 11165482"/>
              <a:gd name="connsiteY11" fmla="*/ 0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0 w 11165482"/>
              <a:gd name="connsiteY9" fmla="*/ 45719 h 45719"/>
              <a:gd name="connsiteX10" fmla="*/ 0 w 11165482"/>
              <a:gd name="connsiteY10"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6144299 w 11165482"/>
              <a:gd name="connsiteY6" fmla="*/ 45719 h 45719"/>
              <a:gd name="connsiteX7" fmla="*/ 5021183 w 11165482"/>
              <a:gd name="connsiteY7" fmla="*/ 45719 h 45719"/>
              <a:gd name="connsiteX8" fmla="*/ 0 w 11165482"/>
              <a:gd name="connsiteY8" fmla="*/ 45719 h 45719"/>
              <a:gd name="connsiteX9" fmla="*/ 0 w 11165482"/>
              <a:gd name="connsiteY9"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5021183 w 11165482"/>
              <a:gd name="connsiteY6" fmla="*/ 45719 h 45719"/>
              <a:gd name="connsiteX7" fmla="*/ 0 w 11165482"/>
              <a:gd name="connsiteY7" fmla="*/ 45719 h 45719"/>
              <a:gd name="connsiteX8" fmla="*/ 0 w 11165482"/>
              <a:gd name="connsiteY8"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5021183 w 11165482"/>
              <a:gd name="connsiteY5" fmla="*/ 45719 h 45719"/>
              <a:gd name="connsiteX6" fmla="*/ 0 w 11165482"/>
              <a:gd name="connsiteY6" fmla="*/ 45719 h 45719"/>
              <a:gd name="connsiteX7" fmla="*/ 0 w 11165482"/>
              <a:gd name="connsiteY7"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0 w 11165482"/>
              <a:gd name="connsiteY5" fmla="*/ 45719 h 45719"/>
              <a:gd name="connsiteX6" fmla="*/ 0 w 11165482"/>
              <a:gd name="connsiteY6"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0 w 11165482"/>
              <a:gd name="connsiteY4" fmla="*/ 45719 h 45719"/>
              <a:gd name="connsiteX5" fmla="*/ 0 w 11165482"/>
              <a:gd name="connsiteY5" fmla="*/ 0 h 45719"/>
              <a:gd name="connsiteX0" fmla="*/ 0 w 11165482"/>
              <a:gd name="connsiteY0" fmla="*/ 0 h 45719"/>
              <a:gd name="connsiteX1" fmla="*/ 11165482 w 11165482"/>
              <a:gd name="connsiteY1" fmla="*/ 0 h 45719"/>
              <a:gd name="connsiteX2" fmla="*/ 11165482 w 11165482"/>
              <a:gd name="connsiteY2" fmla="*/ 45719 h 45719"/>
              <a:gd name="connsiteX3" fmla="*/ 0 w 11165482"/>
              <a:gd name="connsiteY3" fmla="*/ 45719 h 45719"/>
              <a:gd name="connsiteX4" fmla="*/ 0 w 11165482"/>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482" h="45719">
                <a:moveTo>
                  <a:pt x="0" y="0"/>
                </a:moveTo>
                <a:lnTo>
                  <a:pt x="11165482" y="0"/>
                </a:lnTo>
                <a:lnTo>
                  <a:pt x="11165482" y="45719"/>
                </a:lnTo>
                <a:lnTo>
                  <a:pt x="0" y="4571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51574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0F56A-BB1E-8DA6-D6F7-07CE02A960D3}"/>
              </a:ext>
            </a:extLst>
          </p:cNvPr>
          <p:cNvSpPr>
            <a:spLocks noGrp="1"/>
          </p:cNvSpPr>
          <p:nvPr>
            <p:ph type="title"/>
          </p:nvPr>
        </p:nvSpPr>
        <p:spPr>
          <a:xfrm>
            <a:off x="521208" y="978408"/>
            <a:ext cx="11155680" cy="919840"/>
          </a:xfrm>
        </p:spPr>
        <p:txBody>
          <a:bodyPr>
            <a:normAutofit/>
          </a:bodyPr>
          <a:lstStyle/>
          <a:p>
            <a:r>
              <a:rPr lang="en-US" sz="4000" dirty="0" err="1"/>
              <a:t>Miért</a:t>
            </a:r>
            <a:r>
              <a:rPr lang="en-US" sz="4000" dirty="0"/>
              <a:t> JavaScript + Angular?</a:t>
            </a:r>
          </a:p>
        </p:txBody>
      </p:sp>
      <p:sp>
        <p:nvSpPr>
          <p:cNvPr id="4" name="Rectangle 1">
            <a:extLst>
              <a:ext uri="{FF2B5EF4-FFF2-40B4-BE49-F238E27FC236}">
                <a16:creationId xmlns:a16="http://schemas.microsoft.com/office/drawing/2014/main" id="{B5663ADF-31CD-7BAD-52E3-1E198A5FC27B}"/>
              </a:ext>
            </a:extLst>
          </p:cNvPr>
          <p:cNvSpPr>
            <a:spLocks noGrp="1" noChangeArrowheads="1"/>
          </p:cNvSpPr>
          <p:nvPr>
            <p:ph idx="1"/>
          </p:nvPr>
        </p:nvSpPr>
        <p:spPr bwMode="auto">
          <a:xfrm>
            <a:off x="521208" y="2380405"/>
            <a:ext cx="9734470" cy="2801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JavaScript</a:t>
            </a:r>
            <a:r>
              <a:rPr kumimoji="0" lang="en-US" altLang="en-US" sz="2400" b="0" i="0" u="none" strike="noStrike" cap="none" normalizeH="0" baseline="0" dirty="0">
                <a:ln>
                  <a:noFill/>
                </a:ln>
                <a:solidFill>
                  <a:schemeClr val="tx1"/>
                </a:solidFill>
                <a:effectLst/>
                <a:latin typeface="Arial" panose="020B0604020202020204" pitchFamily="34" charset="0"/>
              </a:rPr>
              <a:t>: a web </a:t>
            </a:r>
            <a:r>
              <a:rPr kumimoji="0" lang="en-US" altLang="en-US" sz="2400" b="0" i="0" u="none" strike="noStrike" cap="none" normalizeH="0" baseline="0" dirty="0" err="1">
                <a:ln>
                  <a:noFill/>
                </a:ln>
                <a:solidFill>
                  <a:schemeClr val="tx1"/>
                </a:solidFill>
                <a:effectLst/>
                <a:latin typeface="Arial" panose="020B0604020202020204" pitchFamily="34" charset="0"/>
              </a:rPr>
              <a:t>natív</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nyelve</a:t>
            </a:r>
            <a:endParaRPr kumimoji="0" lang="hu-HU" altLang="en-US" sz="24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50000"/>
              </a:lnSpc>
              <a:spcBef>
                <a:spcPct val="0"/>
              </a:spcBef>
              <a:spcAft>
                <a:spcPct val="0"/>
              </a:spcAft>
              <a:buFontTx/>
              <a:buChar char="•"/>
            </a:pPr>
            <a:r>
              <a:rPr lang="hu-HU" altLang="en-US" sz="2400" dirty="0">
                <a:latin typeface="Arial" panose="020B0604020202020204" pitchFamily="34" charset="0"/>
              </a:rPr>
              <a:t> </a:t>
            </a:r>
            <a:r>
              <a:rPr lang="en-US" altLang="en-US" sz="2400" b="1" dirty="0">
                <a:latin typeface="Arial" panose="020B0604020202020204" pitchFamily="34" charset="0"/>
              </a:rPr>
              <a:t>TypeScript</a:t>
            </a:r>
            <a:r>
              <a:rPr lang="en-US" altLang="en-US" sz="2400" dirty="0">
                <a:latin typeface="Arial" panose="020B0604020202020204" pitchFamily="34" charset="0"/>
              </a:rPr>
              <a:t>: </a:t>
            </a:r>
            <a:r>
              <a:rPr lang="en-US" altLang="en-US" sz="2400" dirty="0" err="1">
                <a:latin typeface="Arial" panose="020B0604020202020204" pitchFamily="34" charset="0"/>
              </a:rPr>
              <a:t>típusbiztonság</a:t>
            </a:r>
            <a:r>
              <a:rPr lang="en-US" altLang="en-US" sz="2400" dirty="0">
                <a:latin typeface="Arial" panose="020B0604020202020204" pitchFamily="34" charset="0"/>
              </a:rPr>
              <a:t>, </a:t>
            </a:r>
            <a:r>
              <a:rPr lang="en-US" altLang="en-US" sz="2400" dirty="0" err="1">
                <a:latin typeface="Arial" panose="020B0604020202020204" pitchFamily="34" charset="0"/>
              </a:rPr>
              <a:t>hibák</a:t>
            </a:r>
            <a:r>
              <a:rPr lang="en-US" altLang="en-US" sz="2400" dirty="0">
                <a:latin typeface="Arial" panose="020B0604020202020204" pitchFamily="34" charset="0"/>
              </a:rPr>
              <a:t> </a:t>
            </a:r>
            <a:r>
              <a:rPr lang="en-US" altLang="en-US" sz="2400" dirty="0" err="1">
                <a:latin typeface="Arial" panose="020B0604020202020204" pitchFamily="34" charset="0"/>
              </a:rPr>
              <a:t>megelőzése</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Angular</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struktúrált</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nagy</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projekteknél</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bevált</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keretrendszer</a:t>
            </a:r>
            <a:endParaRPr kumimoji="0" lang="hu-HU" altLang="en-US"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50000"/>
              </a:lnSpc>
              <a:spcBef>
                <a:spcPct val="0"/>
              </a:spcBef>
              <a:spcAft>
                <a:spcPct val="0"/>
              </a:spcAft>
              <a:buFontTx/>
              <a:buChar char="•"/>
            </a:pPr>
            <a:r>
              <a:rPr lang="hu-HU" sz="2400" dirty="0"/>
              <a:t> </a:t>
            </a:r>
            <a:r>
              <a:rPr lang="en-US" sz="2400" dirty="0" err="1"/>
              <a:t>Egységes</a:t>
            </a:r>
            <a:r>
              <a:rPr lang="en-US" sz="2400" dirty="0"/>
              <a:t>, </a:t>
            </a:r>
            <a:r>
              <a:rPr lang="en-US" sz="2400" dirty="0" err="1"/>
              <a:t>robusztus</a:t>
            </a:r>
            <a:r>
              <a:rPr lang="en-US" sz="2400" dirty="0"/>
              <a:t> </a:t>
            </a:r>
            <a:r>
              <a:rPr lang="en-US" sz="2400" dirty="0" err="1"/>
              <a:t>keretrendszer</a:t>
            </a:r>
            <a:endParaRPr lang="hu-HU" sz="2400" dirty="0"/>
          </a:p>
          <a:p>
            <a:pPr marL="457200" lvl="1" indent="0" eaLnBrk="0" fontAlgn="base" hangingPunct="0">
              <a:lnSpc>
                <a:spcPct val="150000"/>
              </a:lnSpc>
              <a:spcBef>
                <a:spcPct val="0"/>
              </a:spcBef>
              <a:spcAft>
                <a:spcPct val="0"/>
              </a:spcAft>
              <a:buFontTx/>
              <a:buChar char="•"/>
            </a:pPr>
            <a:r>
              <a:rPr lang="hu-HU" sz="2400" dirty="0"/>
              <a:t> </a:t>
            </a:r>
            <a:r>
              <a:rPr lang="en-US" sz="2400" dirty="0"/>
              <a:t>Nagy </a:t>
            </a:r>
            <a:r>
              <a:rPr lang="en-US" sz="2400" dirty="0" err="1"/>
              <a:t>ökoszisztéma</a:t>
            </a:r>
            <a:r>
              <a:rPr lang="en-US" sz="2400" dirty="0"/>
              <a:t>, </a:t>
            </a:r>
            <a:r>
              <a:rPr lang="en-US" sz="2400" dirty="0" err="1"/>
              <a:t>rengeteg</a:t>
            </a:r>
            <a:r>
              <a:rPr lang="en-US" sz="2400" dirty="0"/>
              <a:t> </a:t>
            </a:r>
            <a:r>
              <a:rPr lang="en-US" sz="2400" dirty="0" err="1"/>
              <a:t>támogatás</a:t>
            </a: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63087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F6E03-F824-23BA-D5B8-FF6102E2835D}"/>
              </a:ext>
            </a:extLst>
          </p:cNvPr>
          <p:cNvSpPr>
            <a:spLocks noGrp="1"/>
          </p:cNvSpPr>
          <p:nvPr>
            <p:ph type="title"/>
          </p:nvPr>
        </p:nvSpPr>
        <p:spPr>
          <a:xfrm>
            <a:off x="521208" y="978408"/>
            <a:ext cx="11155680" cy="861967"/>
          </a:xfrm>
        </p:spPr>
        <p:txBody>
          <a:bodyPr>
            <a:normAutofit/>
          </a:bodyPr>
          <a:lstStyle/>
          <a:p>
            <a:r>
              <a:rPr lang="en-US" sz="4000" dirty="0"/>
              <a:t>ES6+ </a:t>
            </a:r>
            <a:r>
              <a:rPr lang="en-US" sz="4000" dirty="0" err="1"/>
              <a:t>alapok</a:t>
            </a:r>
            <a:r>
              <a:rPr lang="en-US" sz="4000" dirty="0"/>
              <a:t> (modern JavaScript)</a:t>
            </a:r>
          </a:p>
        </p:txBody>
      </p:sp>
      <p:sp>
        <p:nvSpPr>
          <p:cNvPr id="4" name="Rectangle 1">
            <a:extLst>
              <a:ext uri="{FF2B5EF4-FFF2-40B4-BE49-F238E27FC236}">
                <a16:creationId xmlns:a16="http://schemas.microsoft.com/office/drawing/2014/main" id="{65FE7EDD-1743-78AE-A5CC-934EA92547A9}"/>
              </a:ext>
            </a:extLst>
          </p:cNvPr>
          <p:cNvSpPr>
            <a:spLocks noGrp="1" noChangeArrowheads="1"/>
          </p:cNvSpPr>
          <p:nvPr>
            <p:ph idx="1"/>
          </p:nvPr>
        </p:nvSpPr>
        <p:spPr bwMode="auto">
          <a:xfrm>
            <a:off x="521208" y="2132629"/>
            <a:ext cx="8426022" cy="334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FontTx/>
              <a:buChar char="•"/>
            </a:pPr>
            <a:r>
              <a:rPr lang="hu-HU" altLang="en-US" sz="2400" dirty="0">
                <a:latin typeface="Arial" panose="020B0604020202020204" pitchFamily="34" charset="0"/>
              </a:rPr>
              <a:t> </a:t>
            </a:r>
            <a:r>
              <a:rPr lang="hu-HU" altLang="en-US" sz="2400" dirty="0" err="1">
                <a:latin typeface="Arial" panose="020B0604020202020204" pitchFamily="34" charset="0"/>
              </a:rPr>
              <a:t>l</a:t>
            </a:r>
            <a:r>
              <a:rPr kumimoji="0" lang="hu-HU" altLang="en-US" sz="2400" b="0" i="0" u="none" strike="noStrike" cap="none" normalizeH="0" baseline="0" dirty="0" err="1">
                <a:ln>
                  <a:noFill/>
                </a:ln>
                <a:solidFill>
                  <a:schemeClr val="tx1"/>
                </a:solidFill>
                <a:effectLst/>
                <a:latin typeface="Arial" panose="020B0604020202020204" pitchFamily="34" charset="0"/>
              </a:rPr>
              <a:t>et</a:t>
            </a:r>
            <a:r>
              <a:rPr kumimoji="0" lang="hu-HU" altLang="en-US" sz="2400" b="0" i="0" u="none" strike="noStrike" cap="none" normalizeH="0" baseline="0" dirty="0">
                <a:ln>
                  <a:noFill/>
                </a:ln>
                <a:solidFill>
                  <a:schemeClr val="tx1"/>
                </a:solidFill>
                <a:effectLst/>
                <a:latin typeface="Arial" panose="020B0604020202020204" pitchFamily="34" charset="0"/>
              </a:rPr>
              <a:t> és const - változók definiálása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Arrow </a:t>
            </a:r>
            <a:r>
              <a:rPr kumimoji="0" lang="en-US" altLang="en-US" sz="2400" b="0" i="0" u="none" strike="noStrike" cap="none" normalizeH="0" baseline="0" dirty="0" err="1">
                <a:ln>
                  <a:noFill/>
                </a:ln>
                <a:solidFill>
                  <a:schemeClr val="tx1"/>
                </a:solidFill>
                <a:effectLst/>
                <a:latin typeface="Arial" panose="020B0604020202020204" pitchFamily="34" charset="0"/>
              </a:rPr>
              <a:t>függvények</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Template </a:t>
            </a:r>
            <a:r>
              <a:rPr kumimoji="0" lang="en-US" altLang="en-US" sz="2400" b="0" i="0" u="none" strike="noStrike" cap="none" normalizeH="0" baseline="0" dirty="0" err="1">
                <a:ln>
                  <a:noFill/>
                </a:ln>
                <a:solidFill>
                  <a:schemeClr val="tx1"/>
                </a:solidFill>
                <a:effectLst/>
                <a:latin typeface="Arial" panose="020B0604020202020204" pitchFamily="34" charset="0"/>
              </a:rPr>
              <a:t>literalok</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Destrukturálás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Spread </a:t>
            </a:r>
            <a:r>
              <a:rPr kumimoji="0" lang="en-US" altLang="en-US" sz="2400" b="0" i="0" u="none" strike="noStrike" cap="none" normalizeH="0" baseline="0" dirty="0" err="1">
                <a:ln>
                  <a:noFill/>
                </a:ln>
                <a:solidFill>
                  <a:schemeClr val="tx1"/>
                </a:solidFill>
                <a:effectLst/>
                <a:latin typeface="Arial" panose="020B0604020202020204" pitchFamily="34" charset="0"/>
              </a:rPr>
              <a:t>operátor</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Modulok</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555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FB8D2-D507-6FA0-1BC8-8CC77A15A77F}"/>
              </a:ext>
            </a:extLst>
          </p:cNvPr>
          <p:cNvSpPr>
            <a:spLocks noGrp="1"/>
          </p:cNvSpPr>
          <p:nvPr>
            <p:ph type="title"/>
          </p:nvPr>
        </p:nvSpPr>
        <p:spPr>
          <a:xfrm>
            <a:off x="521208" y="978408"/>
            <a:ext cx="11155680" cy="919840"/>
          </a:xfrm>
        </p:spPr>
        <p:txBody>
          <a:bodyPr>
            <a:normAutofit/>
          </a:bodyPr>
          <a:lstStyle/>
          <a:p>
            <a:r>
              <a:rPr lang="en-US" sz="4000" dirty="0"/>
              <a:t>Rövid ES6 </a:t>
            </a:r>
            <a:r>
              <a:rPr lang="en-US" sz="4000" dirty="0" err="1"/>
              <a:t>példák</a:t>
            </a:r>
            <a:endParaRPr lang="en-US" sz="4000" dirty="0"/>
          </a:p>
        </p:txBody>
      </p:sp>
      <p:pic>
        <p:nvPicPr>
          <p:cNvPr id="5" name="Picture 4">
            <a:extLst>
              <a:ext uri="{FF2B5EF4-FFF2-40B4-BE49-F238E27FC236}">
                <a16:creationId xmlns:a16="http://schemas.microsoft.com/office/drawing/2014/main" id="{005E5CC4-7BE3-9205-F428-4BA9DC1D08A5}"/>
              </a:ext>
            </a:extLst>
          </p:cNvPr>
          <p:cNvPicPr>
            <a:picLocks noChangeAspect="1"/>
          </p:cNvPicPr>
          <p:nvPr/>
        </p:nvPicPr>
        <p:blipFill>
          <a:blip r:embed="rId3"/>
          <a:stretch>
            <a:fillRect/>
          </a:stretch>
        </p:blipFill>
        <p:spPr>
          <a:xfrm>
            <a:off x="518160" y="2108692"/>
            <a:ext cx="4901196" cy="3065192"/>
          </a:xfrm>
          <a:prstGeom prst="rect">
            <a:avLst/>
          </a:prstGeom>
        </p:spPr>
      </p:pic>
      <p:pic>
        <p:nvPicPr>
          <p:cNvPr id="7" name="Picture 6">
            <a:extLst>
              <a:ext uri="{FF2B5EF4-FFF2-40B4-BE49-F238E27FC236}">
                <a16:creationId xmlns:a16="http://schemas.microsoft.com/office/drawing/2014/main" id="{2C83031C-6271-2B06-2A9B-7024AC93199F}"/>
              </a:ext>
            </a:extLst>
          </p:cNvPr>
          <p:cNvPicPr>
            <a:picLocks noChangeAspect="1"/>
          </p:cNvPicPr>
          <p:nvPr/>
        </p:nvPicPr>
        <p:blipFill>
          <a:blip r:embed="rId4"/>
          <a:stretch>
            <a:fillRect/>
          </a:stretch>
        </p:blipFill>
        <p:spPr>
          <a:xfrm>
            <a:off x="5865564" y="2108692"/>
            <a:ext cx="2259863" cy="1017801"/>
          </a:xfrm>
          <a:prstGeom prst="rect">
            <a:avLst/>
          </a:prstGeom>
        </p:spPr>
      </p:pic>
      <p:pic>
        <p:nvPicPr>
          <p:cNvPr id="9" name="Picture 8">
            <a:extLst>
              <a:ext uri="{FF2B5EF4-FFF2-40B4-BE49-F238E27FC236}">
                <a16:creationId xmlns:a16="http://schemas.microsoft.com/office/drawing/2014/main" id="{FDD15DB8-2DB4-9C59-74B2-1EBD76D9696C}"/>
              </a:ext>
            </a:extLst>
          </p:cNvPr>
          <p:cNvPicPr>
            <a:picLocks noChangeAspect="1"/>
          </p:cNvPicPr>
          <p:nvPr/>
        </p:nvPicPr>
        <p:blipFill>
          <a:blip r:embed="rId5"/>
          <a:stretch>
            <a:fillRect/>
          </a:stretch>
        </p:blipFill>
        <p:spPr>
          <a:xfrm>
            <a:off x="5865564" y="3336937"/>
            <a:ext cx="4239652" cy="806800"/>
          </a:xfrm>
          <a:prstGeom prst="rect">
            <a:avLst/>
          </a:prstGeom>
        </p:spPr>
      </p:pic>
    </p:spTree>
    <p:extLst>
      <p:ext uri="{BB962C8B-B14F-4D97-AF65-F5344CB8AC3E}">
        <p14:creationId xmlns:p14="http://schemas.microsoft.com/office/powerpoint/2010/main" val="2864264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0C86F-CEB0-6601-0568-0F9B7DB8DDCF}"/>
              </a:ext>
            </a:extLst>
          </p:cNvPr>
          <p:cNvSpPr>
            <a:spLocks noGrp="1"/>
          </p:cNvSpPr>
          <p:nvPr>
            <p:ph type="title"/>
          </p:nvPr>
        </p:nvSpPr>
        <p:spPr>
          <a:xfrm>
            <a:off x="521208" y="978408"/>
            <a:ext cx="11155680" cy="827243"/>
          </a:xfrm>
        </p:spPr>
        <p:txBody>
          <a:bodyPr>
            <a:normAutofit/>
          </a:bodyPr>
          <a:lstStyle/>
          <a:p>
            <a:r>
              <a:rPr lang="en-US" sz="4000" dirty="0"/>
              <a:t>Mi </a:t>
            </a:r>
            <a:r>
              <a:rPr lang="en-US" sz="4000" dirty="0" err="1"/>
              <a:t>az</a:t>
            </a:r>
            <a:r>
              <a:rPr lang="en-US" sz="4000" dirty="0"/>
              <a:t> a TypeScript?</a:t>
            </a:r>
          </a:p>
        </p:txBody>
      </p:sp>
      <p:sp>
        <p:nvSpPr>
          <p:cNvPr id="4" name="Rectangle 1">
            <a:extLst>
              <a:ext uri="{FF2B5EF4-FFF2-40B4-BE49-F238E27FC236}">
                <a16:creationId xmlns:a16="http://schemas.microsoft.com/office/drawing/2014/main" id="{7672F37A-8048-106A-DB75-B7A10FC8DF90}"/>
              </a:ext>
            </a:extLst>
          </p:cNvPr>
          <p:cNvSpPr>
            <a:spLocks noGrp="1" noChangeArrowheads="1"/>
          </p:cNvSpPr>
          <p:nvPr>
            <p:ph idx="1"/>
          </p:nvPr>
        </p:nvSpPr>
        <p:spPr bwMode="auto">
          <a:xfrm>
            <a:off x="521208" y="2151784"/>
            <a:ext cx="9830242" cy="334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JavaScript</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i="0" u="none" strike="noStrike" cap="none" normalizeH="0" baseline="0" dirty="0">
                <a:ln>
                  <a:noFill/>
                </a:ln>
                <a:solidFill>
                  <a:schemeClr val="tx1"/>
                </a:solidFill>
                <a:effectLst/>
                <a:latin typeface="Arial" panose="020B0604020202020204" pitchFamily="34" charset="0"/>
              </a:rPr>
              <a:t>superset</a:t>
            </a: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hu-HU" altLang="en-US" sz="2400" b="1" i="0" u="none" strike="noStrike" cap="none" normalizeH="0" baseline="0" dirty="0">
                <a:ln>
                  <a:noFill/>
                </a:ln>
                <a:solidFill>
                  <a:schemeClr val="tx1"/>
                </a:solidFill>
                <a:effectLst/>
                <a:latin typeface="Arial" panose="020B0604020202020204" pitchFamily="34" charset="0"/>
              </a:rPr>
              <a:t>kiterjesztett</a:t>
            </a:r>
            <a:r>
              <a:rPr kumimoji="0" lang="hu-HU" altLang="en-US" sz="2400" b="0" i="0" u="none" strike="noStrike" cap="none" normalizeH="0" baseline="0" dirty="0">
                <a:ln>
                  <a:noFill/>
                </a:ln>
                <a:solidFill>
                  <a:schemeClr val="tx1"/>
                </a:solidFill>
                <a:effectLst/>
                <a:latin typeface="Arial" panose="020B0604020202020204" pitchFamily="34" charset="0"/>
              </a:rPr>
              <a:t> változata)</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lang="hu-HU" altLang="en-US" sz="2400" dirty="0">
                <a:latin typeface="Arial" panose="020B0604020202020204" pitchFamily="34" charset="0"/>
              </a:rPr>
              <a:t> </a:t>
            </a:r>
            <a:r>
              <a:rPr lang="hu-HU" altLang="en-US" sz="2400" b="1" dirty="0">
                <a:latin typeface="Arial" panose="020B0604020202020204" pitchFamily="34" charset="0"/>
              </a:rPr>
              <a:t>Típusok</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segítségével</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már</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fordításkor</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hibát</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jelez</a:t>
            </a:r>
            <a:endParaRPr kumimoji="0" lang="hu-HU"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lang="hu-HU" altLang="en-US" sz="2400" dirty="0">
                <a:latin typeface="Arial" panose="020B0604020202020204" pitchFamily="34" charset="0"/>
              </a:rPr>
              <a:t> Fordítás JavaScript-re</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Angular </a:t>
            </a:r>
            <a:r>
              <a:rPr kumimoji="0" lang="en-US" altLang="en-US" sz="2400" b="0" i="0" u="none" strike="noStrike" cap="none" normalizeH="0" baseline="0" dirty="0" err="1">
                <a:ln>
                  <a:noFill/>
                </a:ln>
                <a:solidFill>
                  <a:schemeClr val="tx1"/>
                </a:solidFill>
                <a:effectLst/>
                <a:latin typeface="Arial" panose="020B0604020202020204" pitchFamily="34" charset="0"/>
              </a:rPr>
              <a:t>teljesen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erre</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épül</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Osztályok</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interfészek</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dekorátorok</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támogatása</a:t>
            </a:r>
            <a:endParaRPr kumimoji="0" lang="hu-HU" altLang="en-US" sz="24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50000"/>
              </a:lnSpc>
              <a:spcBef>
                <a:spcPct val="0"/>
              </a:spcBef>
              <a:spcAft>
                <a:spcPct val="0"/>
              </a:spcAft>
              <a:buFontTx/>
              <a:buChar char="•"/>
            </a:pPr>
            <a:r>
              <a:rPr lang="hu-HU"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Kiszámíthatóbb</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kód</a:t>
            </a:r>
            <a:endPar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1225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C5CCF-3B64-65E5-7D41-76CC06390714}"/>
              </a:ext>
            </a:extLst>
          </p:cNvPr>
          <p:cNvSpPr>
            <a:spLocks noGrp="1"/>
          </p:cNvSpPr>
          <p:nvPr>
            <p:ph type="ctrTitle"/>
          </p:nvPr>
        </p:nvSpPr>
        <p:spPr>
          <a:xfrm>
            <a:off x="521208" y="978408"/>
            <a:ext cx="11155680" cy="815668"/>
          </a:xfrm>
        </p:spPr>
        <p:txBody>
          <a:bodyPr>
            <a:normAutofit/>
          </a:bodyPr>
          <a:lstStyle/>
          <a:p>
            <a:r>
              <a:rPr lang="en-US" sz="4000" dirty="0"/>
              <a:t>TypeScript </a:t>
            </a:r>
            <a:r>
              <a:rPr lang="en-US" sz="4000" dirty="0" err="1"/>
              <a:t>példák</a:t>
            </a:r>
            <a:endParaRPr lang="en-US" sz="4000" dirty="0"/>
          </a:p>
        </p:txBody>
      </p:sp>
      <p:pic>
        <p:nvPicPr>
          <p:cNvPr id="5" name="Picture 4">
            <a:extLst>
              <a:ext uri="{FF2B5EF4-FFF2-40B4-BE49-F238E27FC236}">
                <a16:creationId xmlns:a16="http://schemas.microsoft.com/office/drawing/2014/main" id="{8DA46EA4-13CA-2314-66BF-1E0E87122B7A}"/>
              </a:ext>
            </a:extLst>
          </p:cNvPr>
          <p:cNvPicPr>
            <a:picLocks noChangeAspect="1"/>
          </p:cNvPicPr>
          <p:nvPr/>
        </p:nvPicPr>
        <p:blipFill>
          <a:blip r:embed="rId3"/>
          <a:stretch>
            <a:fillRect/>
          </a:stretch>
        </p:blipFill>
        <p:spPr>
          <a:xfrm>
            <a:off x="613805" y="2023300"/>
            <a:ext cx="4758666" cy="3752467"/>
          </a:xfrm>
          <a:prstGeom prst="rect">
            <a:avLst/>
          </a:prstGeom>
        </p:spPr>
      </p:pic>
    </p:spTree>
    <p:extLst>
      <p:ext uri="{BB962C8B-B14F-4D97-AF65-F5344CB8AC3E}">
        <p14:creationId xmlns:p14="http://schemas.microsoft.com/office/powerpoint/2010/main" val="2059084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A91F5-6596-D680-6BD2-38B4DFEB7E8E}"/>
              </a:ext>
            </a:extLst>
          </p:cNvPr>
          <p:cNvSpPr>
            <a:spLocks noGrp="1"/>
          </p:cNvSpPr>
          <p:nvPr>
            <p:ph type="title"/>
          </p:nvPr>
        </p:nvSpPr>
        <p:spPr>
          <a:xfrm>
            <a:off x="521208" y="978408"/>
            <a:ext cx="11155680" cy="827243"/>
          </a:xfrm>
        </p:spPr>
        <p:txBody>
          <a:bodyPr>
            <a:normAutofit fontScale="90000"/>
          </a:bodyPr>
          <a:lstStyle/>
          <a:p>
            <a:r>
              <a:rPr lang="en-US" dirty="0"/>
              <a:t>Angular </a:t>
            </a:r>
            <a:r>
              <a:rPr lang="en-US" dirty="0" err="1"/>
              <a:t>architektúra</a:t>
            </a:r>
            <a:r>
              <a:rPr lang="en-US" dirty="0"/>
              <a:t> </a:t>
            </a:r>
            <a:r>
              <a:rPr lang="hu-HU" dirty="0"/>
              <a:t>á</a:t>
            </a:r>
            <a:r>
              <a:rPr lang="en-US" dirty="0" err="1"/>
              <a:t>ttekintés</a:t>
            </a:r>
            <a:br>
              <a:rPr lang="en-US" dirty="0"/>
            </a:br>
            <a:endParaRPr lang="en-US" dirty="0"/>
          </a:p>
        </p:txBody>
      </p:sp>
      <p:sp>
        <p:nvSpPr>
          <p:cNvPr id="3" name="Content Placeholder 2">
            <a:extLst>
              <a:ext uri="{FF2B5EF4-FFF2-40B4-BE49-F238E27FC236}">
                <a16:creationId xmlns:a16="http://schemas.microsoft.com/office/drawing/2014/main" id="{DD5B5AA5-AE0A-72AB-7442-EB7A5998D624}"/>
              </a:ext>
            </a:extLst>
          </p:cNvPr>
          <p:cNvSpPr>
            <a:spLocks noGrp="1"/>
          </p:cNvSpPr>
          <p:nvPr>
            <p:ph idx="1"/>
          </p:nvPr>
        </p:nvSpPr>
        <p:spPr>
          <a:xfrm>
            <a:off x="8275900" y="1889163"/>
            <a:ext cx="2986267" cy="4210695"/>
          </a:xfrm>
        </p:spPr>
        <p:txBody>
          <a:bodyPr>
            <a:normAutofit lnSpcReduction="10000"/>
          </a:bodyPr>
          <a:lstStyle/>
          <a:p>
            <a:r>
              <a:rPr lang="hu-HU" dirty="0"/>
              <a:t>Komponens</a:t>
            </a:r>
          </a:p>
          <a:p>
            <a:r>
              <a:rPr lang="hu-HU" dirty="0"/>
              <a:t>Modul</a:t>
            </a:r>
          </a:p>
          <a:p>
            <a:r>
              <a:rPr lang="hu-HU" dirty="0"/>
              <a:t>Service</a:t>
            </a:r>
          </a:p>
          <a:p>
            <a:r>
              <a:rPr lang="hu-HU" dirty="0" err="1"/>
              <a:t>Template</a:t>
            </a:r>
            <a:endParaRPr lang="hu-HU" dirty="0"/>
          </a:p>
          <a:p>
            <a:r>
              <a:rPr lang="hu-HU" dirty="0" err="1"/>
              <a:t>MetaData</a:t>
            </a:r>
            <a:r>
              <a:rPr lang="hu-HU" dirty="0"/>
              <a:t> (</a:t>
            </a:r>
            <a:r>
              <a:rPr lang="hu-HU" dirty="0" err="1"/>
              <a:t>Decorator</a:t>
            </a:r>
            <a:r>
              <a:rPr lang="hu-HU" dirty="0"/>
              <a:t>)</a:t>
            </a:r>
          </a:p>
          <a:p>
            <a:r>
              <a:rPr lang="hu-HU" dirty="0"/>
              <a:t>Data </a:t>
            </a:r>
            <a:r>
              <a:rPr lang="hu-HU" dirty="0" err="1"/>
              <a:t>Binding</a:t>
            </a:r>
            <a:endParaRPr lang="hu-HU" dirty="0"/>
          </a:p>
          <a:p>
            <a:r>
              <a:rPr lang="hu-HU" dirty="0" err="1"/>
              <a:t>Directive</a:t>
            </a:r>
            <a:endParaRPr lang="hu-HU" dirty="0"/>
          </a:p>
          <a:p>
            <a:r>
              <a:rPr lang="hu-HU" dirty="0" err="1"/>
              <a:t>Pipe</a:t>
            </a:r>
            <a:endParaRPr lang="hu-HU" dirty="0"/>
          </a:p>
          <a:p>
            <a:r>
              <a:rPr lang="hu-HU" dirty="0" err="1"/>
              <a:t>Routing</a:t>
            </a:r>
            <a:endParaRPr lang="hu-HU" dirty="0"/>
          </a:p>
          <a:p>
            <a:r>
              <a:rPr lang="hu-HU" dirty="0" err="1"/>
              <a:t>Dependency</a:t>
            </a:r>
            <a:r>
              <a:rPr lang="hu-HU" dirty="0"/>
              <a:t> </a:t>
            </a:r>
            <a:r>
              <a:rPr lang="hu-HU" dirty="0" err="1"/>
              <a:t>Injection</a:t>
            </a:r>
            <a:endParaRPr lang="en-US" dirty="0"/>
          </a:p>
        </p:txBody>
      </p:sp>
      <p:pic>
        <p:nvPicPr>
          <p:cNvPr id="7" name="Picture 6">
            <a:extLst>
              <a:ext uri="{FF2B5EF4-FFF2-40B4-BE49-F238E27FC236}">
                <a16:creationId xmlns:a16="http://schemas.microsoft.com/office/drawing/2014/main" id="{A6CEDEE7-844D-EB60-1C52-5238B014D49D}"/>
              </a:ext>
            </a:extLst>
          </p:cNvPr>
          <p:cNvPicPr>
            <a:picLocks noChangeAspect="1"/>
          </p:cNvPicPr>
          <p:nvPr/>
        </p:nvPicPr>
        <p:blipFill>
          <a:blip r:embed="rId3"/>
          <a:stretch>
            <a:fillRect/>
          </a:stretch>
        </p:blipFill>
        <p:spPr>
          <a:xfrm>
            <a:off x="521208" y="2220066"/>
            <a:ext cx="7175957" cy="3269809"/>
          </a:xfrm>
          <a:prstGeom prst="rect">
            <a:avLst/>
          </a:prstGeom>
        </p:spPr>
      </p:pic>
      <p:sp>
        <p:nvSpPr>
          <p:cNvPr id="9" name="TextBox 8">
            <a:extLst>
              <a:ext uri="{FF2B5EF4-FFF2-40B4-BE49-F238E27FC236}">
                <a16:creationId xmlns:a16="http://schemas.microsoft.com/office/drawing/2014/main" id="{16AA487F-3173-1CC1-8C6A-F579FE729E3C}"/>
              </a:ext>
            </a:extLst>
          </p:cNvPr>
          <p:cNvSpPr txBox="1"/>
          <p:nvPr/>
        </p:nvSpPr>
        <p:spPr>
          <a:xfrm>
            <a:off x="431157" y="5990427"/>
            <a:ext cx="6094070" cy="646331"/>
          </a:xfrm>
          <a:prstGeom prst="rect">
            <a:avLst/>
          </a:prstGeom>
          <a:noFill/>
        </p:spPr>
        <p:txBody>
          <a:bodyPr wrap="square">
            <a:spAutoFit/>
          </a:bodyPr>
          <a:lstStyle/>
          <a:p>
            <a:r>
              <a:rPr lang="en-US" dirty="0">
                <a:hlinkClick r:id="rId4"/>
              </a:rPr>
              <a:t>https://www.educba.com/angular-2-architecture/</a:t>
            </a:r>
            <a:endParaRPr lang="hu-HU" dirty="0"/>
          </a:p>
          <a:p>
            <a:endParaRPr lang="hu-HU" dirty="0"/>
          </a:p>
        </p:txBody>
      </p:sp>
    </p:spTree>
    <p:extLst>
      <p:ext uri="{BB962C8B-B14F-4D97-AF65-F5344CB8AC3E}">
        <p14:creationId xmlns:p14="http://schemas.microsoft.com/office/powerpoint/2010/main" val="1687701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51853-9366-9DFD-22AF-4F87AF775DD6}"/>
              </a:ext>
            </a:extLst>
          </p:cNvPr>
          <p:cNvSpPr>
            <a:spLocks noGrp="1"/>
          </p:cNvSpPr>
          <p:nvPr>
            <p:ph type="title"/>
          </p:nvPr>
        </p:nvSpPr>
        <p:spPr>
          <a:xfrm>
            <a:off x="521208" y="978408"/>
            <a:ext cx="11155680" cy="827243"/>
          </a:xfrm>
        </p:spPr>
        <p:txBody>
          <a:bodyPr>
            <a:normAutofit/>
          </a:bodyPr>
          <a:lstStyle/>
          <a:p>
            <a:r>
              <a:rPr lang="en-US" sz="4000" dirty="0"/>
              <a:t>Angular </a:t>
            </a:r>
            <a:r>
              <a:rPr lang="en-US" sz="4000" dirty="0" err="1"/>
              <a:t>architektúra</a:t>
            </a:r>
            <a:r>
              <a:rPr lang="hu-HU" sz="4000" dirty="0"/>
              <a:t> - diagram</a:t>
            </a:r>
            <a:endParaRPr lang="en-US" sz="4000" dirty="0"/>
          </a:p>
        </p:txBody>
      </p:sp>
      <p:pic>
        <p:nvPicPr>
          <p:cNvPr id="4098" name="Picture 2" descr="diagram ">
            <a:extLst>
              <a:ext uri="{FF2B5EF4-FFF2-40B4-BE49-F238E27FC236}">
                <a16:creationId xmlns:a16="http://schemas.microsoft.com/office/drawing/2014/main" id="{F4F0D14D-DEAA-E5A4-770A-50694703A9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208" y="1998335"/>
            <a:ext cx="7222255" cy="3888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2190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64931-14F2-C255-3D4D-CBE43F52E5BC}"/>
              </a:ext>
            </a:extLst>
          </p:cNvPr>
          <p:cNvSpPr>
            <a:spLocks noGrp="1"/>
          </p:cNvSpPr>
          <p:nvPr>
            <p:ph type="title"/>
          </p:nvPr>
        </p:nvSpPr>
        <p:spPr>
          <a:xfrm>
            <a:off x="521208" y="978408"/>
            <a:ext cx="11155680" cy="815668"/>
          </a:xfrm>
        </p:spPr>
        <p:txBody>
          <a:bodyPr>
            <a:normAutofit/>
          </a:bodyPr>
          <a:lstStyle/>
          <a:p>
            <a:r>
              <a:rPr lang="en-US" sz="4000" dirty="0"/>
              <a:t>Angular Component (</a:t>
            </a:r>
            <a:r>
              <a:rPr lang="en-US" sz="4000" dirty="0" err="1"/>
              <a:t>komponens</a:t>
            </a:r>
            <a:r>
              <a:rPr lang="en-US" sz="4000" dirty="0"/>
              <a:t>)</a:t>
            </a:r>
          </a:p>
        </p:txBody>
      </p:sp>
      <p:sp>
        <p:nvSpPr>
          <p:cNvPr id="3" name="Content Placeholder 2">
            <a:extLst>
              <a:ext uri="{FF2B5EF4-FFF2-40B4-BE49-F238E27FC236}">
                <a16:creationId xmlns:a16="http://schemas.microsoft.com/office/drawing/2014/main" id="{81CBB196-E976-D42A-4E9E-BD2182AD8E02}"/>
              </a:ext>
            </a:extLst>
          </p:cNvPr>
          <p:cNvSpPr>
            <a:spLocks noGrp="1"/>
          </p:cNvSpPr>
          <p:nvPr>
            <p:ph idx="1"/>
          </p:nvPr>
        </p:nvSpPr>
        <p:spPr>
          <a:xfrm>
            <a:off x="521208" y="1875099"/>
            <a:ext cx="11155680" cy="4653023"/>
          </a:xfrm>
        </p:spPr>
        <p:txBody>
          <a:bodyPr>
            <a:normAutofit/>
          </a:bodyPr>
          <a:lstStyle/>
          <a:p>
            <a:pPr marL="0" indent="0">
              <a:buNone/>
            </a:pPr>
            <a:r>
              <a:rPr lang="en-US" sz="2000" dirty="0"/>
              <a:t>Az Angular </a:t>
            </a:r>
            <a:r>
              <a:rPr lang="en-US" sz="2000" b="1" dirty="0" err="1"/>
              <a:t>komponens</a:t>
            </a:r>
            <a:r>
              <a:rPr lang="en-US" sz="2000" dirty="0"/>
              <a:t> </a:t>
            </a:r>
            <a:r>
              <a:rPr lang="en-US" sz="2000" dirty="0" err="1"/>
              <a:t>egy</a:t>
            </a:r>
            <a:r>
              <a:rPr lang="en-US" sz="2000" dirty="0"/>
              <a:t> </a:t>
            </a:r>
            <a:r>
              <a:rPr lang="en-US" sz="2000" dirty="0" err="1"/>
              <a:t>újrahasznosítható</a:t>
            </a:r>
            <a:r>
              <a:rPr lang="en-US" sz="2000" dirty="0"/>
              <a:t> </a:t>
            </a:r>
            <a:r>
              <a:rPr lang="en-US" sz="2000" b="1" dirty="0" err="1"/>
              <a:t>építőelem</a:t>
            </a:r>
            <a:r>
              <a:rPr lang="en-US" sz="2000" dirty="0"/>
              <a:t>, </a:t>
            </a:r>
            <a:r>
              <a:rPr lang="en-US" sz="2000" dirty="0" err="1"/>
              <a:t>amely</a:t>
            </a:r>
            <a:r>
              <a:rPr lang="en-US" sz="2000" dirty="0"/>
              <a:t> a </a:t>
            </a:r>
            <a:r>
              <a:rPr lang="en-US" sz="2000" dirty="0" err="1"/>
              <a:t>felhasználói</a:t>
            </a:r>
            <a:r>
              <a:rPr lang="en-US" sz="2000" dirty="0"/>
              <a:t> </a:t>
            </a:r>
            <a:r>
              <a:rPr lang="en-US" sz="2000" dirty="0" err="1"/>
              <a:t>felület</a:t>
            </a:r>
            <a:r>
              <a:rPr lang="en-US" sz="2000" dirty="0"/>
              <a:t> </a:t>
            </a:r>
            <a:r>
              <a:rPr lang="en-US" sz="2000" dirty="0" err="1"/>
              <a:t>egy</a:t>
            </a:r>
            <a:r>
              <a:rPr lang="en-US" sz="2000" dirty="0"/>
              <a:t> </a:t>
            </a:r>
            <a:r>
              <a:rPr lang="en-US" sz="2000" dirty="0" err="1"/>
              <a:t>részét</a:t>
            </a:r>
            <a:r>
              <a:rPr lang="en-US" sz="2000" dirty="0"/>
              <a:t> </a:t>
            </a:r>
            <a:r>
              <a:rPr lang="en-US" sz="2000" b="1" dirty="0" err="1"/>
              <a:t>vezérli</a:t>
            </a:r>
            <a:r>
              <a:rPr lang="en-US" sz="2000" dirty="0"/>
              <a:t>, és a </a:t>
            </a:r>
            <a:r>
              <a:rPr lang="en-US" sz="2000" dirty="0" err="1"/>
              <a:t>hozzá</a:t>
            </a:r>
            <a:r>
              <a:rPr lang="en-US" sz="2000" dirty="0"/>
              <a:t> </a:t>
            </a:r>
            <a:r>
              <a:rPr lang="en-US" sz="2000" dirty="0" err="1"/>
              <a:t>tartozó</a:t>
            </a:r>
            <a:r>
              <a:rPr lang="en-US" sz="2000" dirty="0"/>
              <a:t> </a:t>
            </a:r>
            <a:r>
              <a:rPr lang="en-US" sz="2000" dirty="0" err="1"/>
              <a:t>logikát</a:t>
            </a:r>
            <a:r>
              <a:rPr lang="en-US" sz="2000" dirty="0"/>
              <a:t>, </a:t>
            </a:r>
            <a:r>
              <a:rPr lang="en-US" sz="2000" dirty="0" err="1"/>
              <a:t>sablont</a:t>
            </a:r>
            <a:r>
              <a:rPr lang="en-US" sz="2000" dirty="0"/>
              <a:t> és </a:t>
            </a:r>
            <a:r>
              <a:rPr lang="en-US" sz="2000" dirty="0" err="1"/>
              <a:t>stílust</a:t>
            </a:r>
            <a:r>
              <a:rPr lang="en-US" sz="2000" dirty="0"/>
              <a:t> </a:t>
            </a:r>
            <a:r>
              <a:rPr lang="en-US" sz="2000" dirty="0" err="1"/>
              <a:t>egységbe</a:t>
            </a:r>
            <a:r>
              <a:rPr lang="en-US" sz="2000" dirty="0"/>
              <a:t> </a:t>
            </a:r>
            <a:r>
              <a:rPr lang="en-US" sz="2000" dirty="0" err="1"/>
              <a:t>foglalja</a:t>
            </a:r>
            <a:r>
              <a:rPr lang="hu-HU" sz="2000" dirty="0"/>
              <a:t>.</a:t>
            </a:r>
          </a:p>
          <a:p>
            <a:pPr marL="0" indent="0">
              <a:lnSpc>
                <a:spcPct val="150000"/>
              </a:lnSpc>
              <a:buNone/>
            </a:pPr>
            <a:r>
              <a:rPr lang="en-US" sz="2000" dirty="0"/>
              <a:t>Mit </a:t>
            </a:r>
            <a:r>
              <a:rPr lang="en-US" sz="2000" dirty="0" err="1"/>
              <a:t>tartalmaz</a:t>
            </a:r>
            <a:r>
              <a:rPr lang="en-US" sz="2000" dirty="0"/>
              <a:t>:</a:t>
            </a:r>
          </a:p>
          <a:p>
            <a:pPr>
              <a:lnSpc>
                <a:spcPct val="150000"/>
              </a:lnSpc>
            </a:pPr>
            <a:r>
              <a:rPr lang="en-US" sz="2000" b="1" dirty="0"/>
              <a:t>TypeScript</a:t>
            </a:r>
            <a:r>
              <a:rPr lang="en-US" sz="2000" dirty="0"/>
              <a:t> </a:t>
            </a:r>
            <a:r>
              <a:rPr lang="en-US" sz="2000" dirty="0" err="1"/>
              <a:t>osztály</a:t>
            </a:r>
            <a:endParaRPr lang="en-US" sz="2000" dirty="0"/>
          </a:p>
          <a:p>
            <a:pPr>
              <a:lnSpc>
                <a:spcPct val="150000"/>
              </a:lnSpc>
            </a:pPr>
            <a:r>
              <a:rPr lang="en-US" sz="2000" b="1" dirty="0"/>
              <a:t>HTML</a:t>
            </a:r>
            <a:r>
              <a:rPr lang="en-US" sz="2000" dirty="0"/>
              <a:t> </a:t>
            </a:r>
            <a:r>
              <a:rPr lang="en-US" sz="2000" b="1" dirty="0"/>
              <a:t>template</a:t>
            </a:r>
          </a:p>
          <a:p>
            <a:pPr>
              <a:lnSpc>
                <a:spcPct val="150000"/>
              </a:lnSpc>
            </a:pPr>
            <a:r>
              <a:rPr lang="en-US" sz="2000" b="1" dirty="0"/>
              <a:t>CSS</a:t>
            </a:r>
            <a:r>
              <a:rPr lang="en-US" sz="2000" dirty="0"/>
              <a:t> </a:t>
            </a:r>
            <a:r>
              <a:rPr lang="en-US" sz="2000" dirty="0" err="1"/>
              <a:t>stílus</a:t>
            </a:r>
            <a:endParaRPr lang="en-US" sz="2000" dirty="0"/>
          </a:p>
          <a:p>
            <a:pPr>
              <a:lnSpc>
                <a:spcPct val="150000"/>
              </a:lnSpc>
            </a:pPr>
            <a:r>
              <a:rPr lang="en-US" sz="2000" b="1" dirty="0"/>
              <a:t>Decorator</a:t>
            </a:r>
            <a:r>
              <a:rPr lang="en-US" sz="2000" dirty="0"/>
              <a:t> (@Component)</a:t>
            </a:r>
          </a:p>
          <a:p>
            <a:pPr marL="0" indent="0">
              <a:lnSpc>
                <a:spcPct val="200000"/>
              </a:lnSpc>
              <a:buNone/>
            </a:pPr>
            <a:r>
              <a:rPr lang="en-US" sz="2000" dirty="0"/>
              <a:t>Minden </a:t>
            </a:r>
            <a:r>
              <a:rPr lang="en-US" sz="2000" dirty="0" err="1"/>
              <a:t>vizuális</a:t>
            </a:r>
            <a:r>
              <a:rPr lang="en-US" sz="2000" dirty="0"/>
              <a:t> </a:t>
            </a:r>
            <a:r>
              <a:rPr lang="en-US" sz="2000" dirty="0" err="1"/>
              <a:t>felület</a:t>
            </a:r>
            <a:r>
              <a:rPr lang="en-US" sz="2000" dirty="0"/>
              <a:t> </a:t>
            </a:r>
            <a:r>
              <a:rPr lang="en-US" sz="2000" dirty="0" err="1"/>
              <a:t>Angularban</a:t>
            </a:r>
            <a:r>
              <a:rPr lang="en-US" sz="2000" dirty="0"/>
              <a:t> </a:t>
            </a:r>
            <a:r>
              <a:rPr lang="en-US" sz="2000" dirty="0" err="1"/>
              <a:t>komponensekre</a:t>
            </a:r>
            <a:r>
              <a:rPr lang="en-US" sz="2000" dirty="0"/>
              <a:t> van </a:t>
            </a:r>
            <a:r>
              <a:rPr lang="en-US" sz="2000" dirty="0" err="1"/>
              <a:t>bontva</a:t>
            </a:r>
            <a:r>
              <a:rPr lang="en-US" sz="2000" dirty="0"/>
              <a:t>.</a:t>
            </a:r>
          </a:p>
        </p:txBody>
      </p:sp>
    </p:spTree>
    <p:extLst>
      <p:ext uri="{BB962C8B-B14F-4D97-AF65-F5344CB8AC3E}">
        <p14:creationId xmlns:p14="http://schemas.microsoft.com/office/powerpoint/2010/main" val="3072321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3B8F6-CB89-0925-AB54-733B977E9F8E}"/>
              </a:ext>
            </a:extLst>
          </p:cNvPr>
          <p:cNvSpPr>
            <a:spLocks noGrp="1"/>
          </p:cNvSpPr>
          <p:nvPr>
            <p:ph type="title"/>
          </p:nvPr>
        </p:nvSpPr>
        <p:spPr>
          <a:xfrm>
            <a:off x="521208" y="978408"/>
            <a:ext cx="11155680" cy="780944"/>
          </a:xfrm>
        </p:spPr>
        <p:txBody>
          <a:bodyPr>
            <a:normAutofit/>
          </a:bodyPr>
          <a:lstStyle/>
          <a:p>
            <a:r>
              <a:rPr lang="en-US" sz="4000" dirty="0"/>
              <a:t>Angular Component </a:t>
            </a:r>
            <a:r>
              <a:rPr lang="en-US" sz="4000" dirty="0" err="1"/>
              <a:t>példa</a:t>
            </a:r>
            <a:endParaRPr lang="en-US" sz="4000" dirty="0"/>
          </a:p>
        </p:txBody>
      </p:sp>
      <p:pic>
        <p:nvPicPr>
          <p:cNvPr id="7" name="Picture 6">
            <a:extLst>
              <a:ext uri="{FF2B5EF4-FFF2-40B4-BE49-F238E27FC236}">
                <a16:creationId xmlns:a16="http://schemas.microsoft.com/office/drawing/2014/main" id="{034B6D47-66FC-6EBB-1C82-D54038640DBE}"/>
              </a:ext>
            </a:extLst>
          </p:cNvPr>
          <p:cNvPicPr>
            <a:picLocks noChangeAspect="1"/>
          </p:cNvPicPr>
          <p:nvPr/>
        </p:nvPicPr>
        <p:blipFill>
          <a:blip r:embed="rId3"/>
          <a:stretch>
            <a:fillRect/>
          </a:stretch>
        </p:blipFill>
        <p:spPr>
          <a:xfrm>
            <a:off x="5926741" y="1894851"/>
            <a:ext cx="4254643" cy="3203798"/>
          </a:xfrm>
          <a:prstGeom prst="rect">
            <a:avLst/>
          </a:prstGeom>
        </p:spPr>
      </p:pic>
      <p:pic>
        <p:nvPicPr>
          <p:cNvPr id="9" name="Picture 8">
            <a:extLst>
              <a:ext uri="{FF2B5EF4-FFF2-40B4-BE49-F238E27FC236}">
                <a16:creationId xmlns:a16="http://schemas.microsoft.com/office/drawing/2014/main" id="{075BCA26-D2AC-26C6-E7DE-98A23DE6564D}"/>
              </a:ext>
            </a:extLst>
          </p:cNvPr>
          <p:cNvPicPr>
            <a:picLocks noChangeAspect="1"/>
          </p:cNvPicPr>
          <p:nvPr/>
        </p:nvPicPr>
        <p:blipFill>
          <a:blip r:embed="rId4"/>
          <a:stretch>
            <a:fillRect/>
          </a:stretch>
        </p:blipFill>
        <p:spPr>
          <a:xfrm>
            <a:off x="5926741" y="5386891"/>
            <a:ext cx="2939467" cy="701045"/>
          </a:xfrm>
          <a:prstGeom prst="rect">
            <a:avLst/>
          </a:prstGeom>
        </p:spPr>
      </p:pic>
      <p:pic>
        <p:nvPicPr>
          <p:cNvPr id="11" name="Picture 10">
            <a:extLst>
              <a:ext uri="{FF2B5EF4-FFF2-40B4-BE49-F238E27FC236}">
                <a16:creationId xmlns:a16="http://schemas.microsoft.com/office/drawing/2014/main" id="{B7FE240B-6437-D44C-6515-A5BD9F6C2944}"/>
              </a:ext>
            </a:extLst>
          </p:cNvPr>
          <p:cNvPicPr>
            <a:picLocks noChangeAspect="1"/>
          </p:cNvPicPr>
          <p:nvPr/>
        </p:nvPicPr>
        <p:blipFill>
          <a:blip r:embed="rId5"/>
          <a:stretch>
            <a:fillRect/>
          </a:stretch>
        </p:blipFill>
        <p:spPr>
          <a:xfrm>
            <a:off x="521208" y="1894850"/>
            <a:ext cx="4203562" cy="2827621"/>
          </a:xfrm>
          <a:prstGeom prst="rect">
            <a:avLst/>
          </a:prstGeom>
        </p:spPr>
      </p:pic>
    </p:spTree>
    <p:extLst>
      <p:ext uri="{BB962C8B-B14F-4D97-AF65-F5344CB8AC3E}">
        <p14:creationId xmlns:p14="http://schemas.microsoft.com/office/powerpoint/2010/main" val="3021440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7AFE1-9002-D546-9CF1-5ECCCB09FE0A}"/>
              </a:ext>
            </a:extLst>
          </p:cNvPr>
          <p:cNvSpPr>
            <a:spLocks noGrp="1"/>
          </p:cNvSpPr>
          <p:nvPr>
            <p:ph type="title"/>
          </p:nvPr>
        </p:nvSpPr>
        <p:spPr>
          <a:xfrm>
            <a:off x="521208" y="978408"/>
            <a:ext cx="11155680" cy="804093"/>
          </a:xfrm>
        </p:spPr>
        <p:txBody>
          <a:bodyPr>
            <a:normAutofit/>
          </a:bodyPr>
          <a:lstStyle/>
          <a:p>
            <a:r>
              <a:rPr lang="hu-HU" sz="4000" dirty="0"/>
              <a:t>Data </a:t>
            </a:r>
            <a:r>
              <a:rPr lang="en-US" sz="4000" dirty="0"/>
              <a:t>Binding </a:t>
            </a:r>
            <a:r>
              <a:rPr lang="en-US" sz="4000" dirty="0" err="1"/>
              <a:t>típusok</a:t>
            </a:r>
            <a:endParaRPr lang="en-US" sz="4000" dirty="0"/>
          </a:p>
        </p:txBody>
      </p:sp>
      <p:sp>
        <p:nvSpPr>
          <p:cNvPr id="4" name="Rectangle 1">
            <a:extLst>
              <a:ext uri="{FF2B5EF4-FFF2-40B4-BE49-F238E27FC236}">
                <a16:creationId xmlns:a16="http://schemas.microsoft.com/office/drawing/2014/main" id="{F721C4FE-A5B0-2202-A14D-2F88955F4008}"/>
              </a:ext>
            </a:extLst>
          </p:cNvPr>
          <p:cNvSpPr>
            <a:spLocks noGrp="1" noChangeArrowheads="1"/>
          </p:cNvSpPr>
          <p:nvPr>
            <p:ph idx="1"/>
          </p:nvPr>
        </p:nvSpPr>
        <p:spPr bwMode="auto">
          <a:xfrm>
            <a:off x="613298" y="2113133"/>
            <a:ext cx="8125588" cy="2239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err="1">
                <a:ln>
                  <a:noFill/>
                </a:ln>
                <a:solidFill>
                  <a:schemeClr val="tx1"/>
                </a:solidFill>
                <a:effectLst/>
                <a:latin typeface="Arial" panose="020B0604020202020204" pitchFamily="34" charset="0"/>
              </a:rPr>
              <a:t>Interpoláció</a:t>
            </a:r>
            <a:r>
              <a:rPr kumimoji="0" lang="en-US" altLang="en-US" sz="2400" b="0" i="0" u="none" strike="noStrike" cap="none" normalizeH="0" baseline="0" dirty="0">
                <a:ln>
                  <a:noFill/>
                </a:ln>
                <a:solidFill>
                  <a:schemeClr val="tx1"/>
                </a:solidFill>
                <a:effectLst/>
                <a:latin typeface="Arial" panose="020B0604020202020204" pitchFamily="34" charset="0"/>
              </a:rPr>
              <a:t> – </a:t>
            </a:r>
            <a:r>
              <a:rPr kumimoji="0" lang="en-US" altLang="en-US" sz="2400" b="0" i="0" u="none" strike="noStrike" cap="none" normalizeH="0" baseline="0" dirty="0">
                <a:ln>
                  <a:noFill/>
                </a:ln>
                <a:solidFill>
                  <a:schemeClr val="tx1"/>
                </a:solidFill>
                <a:effectLst/>
                <a:latin typeface="Arial Unicode MS"/>
              </a:rPr>
              <a:t>{{ value }}</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Property binding</a:t>
            </a:r>
            <a:r>
              <a:rPr kumimoji="0" lang="en-US" altLang="en-US" sz="2400" b="0" i="0" u="none" strike="noStrike" cap="none" normalizeH="0" baseline="0" dirty="0">
                <a:ln>
                  <a:noFill/>
                </a:ln>
                <a:solidFill>
                  <a:schemeClr val="tx1"/>
                </a:solidFill>
                <a:effectLst/>
                <a:latin typeface="Arial" panose="020B0604020202020204" pitchFamily="34" charset="0"/>
              </a:rPr>
              <a:t> – </a:t>
            </a:r>
            <a:r>
              <a:rPr kumimoji="0" lang="en-US" altLang="en-US" sz="2400" b="0" i="0" u="none" strike="noStrike" cap="none" normalizeH="0" baseline="0" dirty="0">
                <a:ln>
                  <a:noFill/>
                </a:ln>
                <a:solidFill>
                  <a:schemeClr val="tx1"/>
                </a:solidFill>
                <a:effectLst/>
                <a:latin typeface="Arial Unicode MS"/>
              </a:rPr>
              <a:t>[property]="value"</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Event binding</a:t>
            </a:r>
            <a:r>
              <a:rPr kumimoji="0" lang="en-US" altLang="en-US" sz="2400" b="0" i="0" u="none" strike="noStrike" cap="none" normalizeH="0" baseline="0" dirty="0">
                <a:ln>
                  <a:noFill/>
                </a:ln>
                <a:solidFill>
                  <a:schemeClr val="tx1"/>
                </a:solidFill>
                <a:effectLst/>
                <a:latin typeface="Arial" panose="020B0604020202020204" pitchFamily="34" charset="0"/>
              </a:rPr>
              <a:t> – </a:t>
            </a:r>
            <a:r>
              <a:rPr kumimoji="0" lang="en-US" altLang="en-US" sz="2400" b="0" i="0" u="none" strike="noStrike" cap="none" normalizeH="0" baseline="0" dirty="0">
                <a:ln>
                  <a:noFill/>
                </a:ln>
                <a:solidFill>
                  <a:schemeClr val="tx1"/>
                </a:solidFill>
                <a:effectLst/>
                <a:latin typeface="Arial Unicode MS"/>
              </a:rPr>
              <a:t>(click)="</a:t>
            </a:r>
            <a:r>
              <a:rPr kumimoji="0" lang="en-US" altLang="en-US" sz="2400" b="0" i="0" u="none" strike="noStrike" cap="none" normalizeH="0" baseline="0" dirty="0" err="1">
                <a:ln>
                  <a:noFill/>
                </a:ln>
                <a:solidFill>
                  <a:schemeClr val="tx1"/>
                </a:solidFill>
                <a:effectLst/>
                <a:latin typeface="Arial Unicode MS"/>
              </a:rPr>
              <a:t>doSomething</a:t>
            </a:r>
            <a:r>
              <a:rPr kumimoji="0" lang="en-US" altLang="en-US" sz="2400" b="0" i="0" u="none" strike="noStrike" cap="none" normalizeH="0" baseline="0" dirty="0">
                <a:ln>
                  <a:noFill/>
                </a:ln>
                <a:solidFill>
                  <a:schemeClr val="tx1"/>
                </a:solidFill>
                <a:effectLst/>
                <a:latin typeface="Arial Unicode MS"/>
              </a:rPr>
              <a: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lang="hu-HU" altLang="en-US" sz="2400" b="1" dirty="0">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Two-way binding</a:t>
            </a:r>
            <a:r>
              <a:rPr kumimoji="0" lang="en-US" altLang="en-US" sz="2400" b="0" i="0" u="none" strike="noStrike" cap="none" normalizeH="0" baseline="0" dirty="0">
                <a:ln>
                  <a:noFill/>
                </a:ln>
                <a:solidFill>
                  <a:schemeClr val="tx1"/>
                </a:solidFill>
                <a:effectLst/>
                <a:latin typeface="Arial" panose="020B0604020202020204" pitchFamily="34" charset="0"/>
              </a:rPr>
              <a:t> – </a:t>
            </a:r>
            <a:r>
              <a:rPr kumimoji="0" lang="en-US" altLang="en-US" sz="2400" b="0" i="0" u="none" strike="noStrike" cap="none" normalizeH="0" baseline="0" dirty="0">
                <a:ln>
                  <a:noFill/>
                </a:ln>
                <a:solidFill>
                  <a:schemeClr val="tx1"/>
                </a:solidFill>
                <a:effectLst/>
                <a:latin typeface="Arial Unicode MS"/>
              </a:rPr>
              <a:t>[(</a:t>
            </a:r>
            <a:r>
              <a:rPr kumimoji="0" lang="en-US" altLang="en-US" sz="2400" b="0" i="0" u="none" strike="noStrike" cap="none" normalizeH="0" baseline="0" dirty="0" err="1">
                <a:ln>
                  <a:noFill/>
                </a:ln>
                <a:solidFill>
                  <a:schemeClr val="tx1"/>
                </a:solidFill>
                <a:effectLst/>
                <a:latin typeface="Arial Unicode MS"/>
              </a:rPr>
              <a:t>ngModel</a:t>
            </a:r>
            <a:r>
              <a:rPr kumimoji="0" lang="en-US" altLang="en-US" sz="2400" b="0" i="0" u="none" strike="noStrike" cap="none" normalizeH="0" baseline="0" dirty="0">
                <a:ln>
                  <a:noFill/>
                </a:ln>
                <a:solidFill>
                  <a:schemeClr val="tx1"/>
                </a:solidFill>
                <a:effectLst/>
                <a:latin typeface="Arial Unicode MS"/>
              </a:rPr>
              <a:t>)]="value"</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99844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34DA5-33EA-B29B-D5E1-6F15FB50481B}"/>
              </a:ext>
            </a:extLst>
          </p:cNvPr>
          <p:cNvSpPr>
            <a:spLocks noGrp="1"/>
          </p:cNvSpPr>
          <p:nvPr>
            <p:ph type="title"/>
          </p:nvPr>
        </p:nvSpPr>
        <p:spPr>
          <a:xfrm>
            <a:off x="521208" y="978408"/>
            <a:ext cx="11155680" cy="838817"/>
          </a:xfrm>
        </p:spPr>
        <p:txBody>
          <a:bodyPr>
            <a:normAutofit/>
          </a:bodyPr>
          <a:lstStyle/>
          <a:p>
            <a:r>
              <a:rPr lang="en-US" sz="4000" dirty="0"/>
              <a:t>Routing </a:t>
            </a:r>
            <a:r>
              <a:rPr lang="en-US" sz="4000" dirty="0" err="1"/>
              <a:t>alapok</a:t>
            </a:r>
            <a:endParaRPr lang="en-US" sz="4000" dirty="0"/>
          </a:p>
        </p:txBody>
      </p:sp>
      <p:sp>
        <p:nvSpPr>
          <p:cNvPr id="4" name="Rectangle 1">
            <a:extLst>
              <a:ext uri="{FF2B5EF4-FFF2-40B4-BE49-F238E27FC236}">
                <a16:creationId xmlns:a16="http://schemas.microsoft.com/office/drawing/2014/main" id="{C9E0F0A9-4D07-D52A-E32E-E36A3612274C}"/>
              </a:ext>
            </a:extLst>
          </p:cNvPr>
          <p:cNvSpPr>
            <a:spLocks noGrp="1" noChangeArrowheads="1"/>
          </p:cNvSpPr>
          <p:nvPr>
            <p:ph idx="1"/>
          </p:nvPr>
        </p:nvSpPr>
        <p:spPr bwMode="auto">
          <a:xfrm>
            <a:off x="644847" y="2411871"/>
            <a:ext cx="7156490" cy="2793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hu-HU" altLang="en-US" sz="2400" b="0" i="0" u="none" strike="noStrike" cap="none" normalizeH="0" baseline="0" dirty="0" err="1">
                <a:ln>
                  <a:noFill/>
                </a:ln>
                <a:solidFill>
                  <a:schemeClr val="tx1"/>
                </a:solidFill>
                <a:effectLst/>
                <a:latin typeface="Arial" panose="020B0604020202020204" pitchFamily="34" charset="0"/>
              </a:rPr>
              <a:t>Single</a:t>
            </a:r>
            <a:r>
              <a:rPr kumimoji="0" lang="hu-HU" altLang="en-US" sz="2400" b="0" i="0" u="none" strike="noStrike" cap="none" normalizeH="0" baseline="0" dirty="0">
                <a:ln>
                  <a:noFill/>
                </a:ln>
                <a:solidFill>
                  <a:schemeClr val="tx1"/>
                </a:solidFill>
                <a:effectLst/>
                <a:latin typeface="Arial" panose="020B0604020202020204" pitchFamily="34" charset="0"/>
              </a:rPr>
              <a:t> Page </a:t>
            </a:r>
            <a:r>
              <a:rPr kumimoji="0" lang="hu-HU" altLang="en-US" sz="2400" b="0" i="0" u="none" strike="noStrike" cap="none" normalizeH="0" baseline="0" dirty="0" err="1">
                <a:ln>
                  <a:noFill/>
                </a:ln>
                <a:solidFill>
                  <a:schemeClr val="tx1"/>
                </a:solidFill>
                <a:effectLst/>
                <a:latin typeface="Arial" panose="020B0604020202020204" pitchFamily="34" charset="0"/>
              </a:rPr>
              <a:t>Application</a:t>
            </a: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SPA</a:t>
            </a:r>
            <a:r>
              <a:rPr kumimoji="0" lang="hu-HU" altLang="en-US" sz="2400" b="0"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működés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hu-HU" altLang="en-US" sz="2400" b="1" i="0" u="none" strike="noStrike" cap="none" normalizeH="0" baseline="0" dirty="0" err="1">
                <a:ln>
                  <a:noFill/>
                </a:ln>
                <a:solidFill>
                  <a:schemeClr val="tx1"/>
                </a:solidFill>
                <a:effectLst/>
                <a:latin typeface="Arial" panose="020B0604020202020204" pitchFamily="34" charset="0"/>
              </a:rPr>
              <a:t>Routes</a:t>
            </a: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Útvonalak</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konfigurálása</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err="1">
                <a:ln>
                  <a:noFill/>
                </a:ln>
                <a:solidFill>
                  <a:schemeClr val="tx1"/>
                </a:solidFill>
                <a:effectLst/>
                <a:latin typeface="Arial" panose="020B0604020202020204" pitchFamily="34" charset="0"/>
              </a:rPr>
              <a:t>RouterModule</a:t>
            </a: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err="1">
                <a:ln>
                  <a:noFill/>
                </a:ln>
                <a:solidFill>
                  <a:schemeClr val="tx1"/>
                </a:solidFill>
                <a:effectLst/>
                <a:latin typeface="Arial" panose="020B0604020202020204" pitchFamily="34" charset="0"/>
              </a:rPr>
              <a:t>RouterLink</a:t>
            </a:r>
            <a:r>
              <a:rPr kumimoji="0" lang="hu-HU" altLang="en-US" sz="2400" b="0" i="0" u="none" strike="noStrike" cap="none" normalizeH="0" baseline="0" dirty="0">
                <a:ln>
                  <a:noFill/>
                </a:ln>
                <a:solidFill>
                  <a:schemeClr val="tx1"/>
                </a:solidFill>
                <a:effectLst/>
                <a:latin typeface="Arial" panose="020B0604020202020204" pitchFamily="34" charset="0"/>
              </a:rPr>
              <a:t> a navigációhoz</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router-outlet</a:t>
            </a:r>
            <a:r>
              <a:rPr lang="hu-HU" altLang="en-US" sz="2400" dirty="0">
                <a:latin typeface="Arial" panose="020B0604020202020204" pitchFamily="34" charset="0"/>
              </a:rPr>
              <a:t> a megjelenítéshez</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18670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D5A42-EFA5-DBC5-1A17-04FC5429833F}"/>
              </a:ext>
            </a:extLst>
          </p:cNvPr>
          <p:cNvSpPr>
            <a:spLocks noGrp="1"/>
          </p:cNvSpPr>
          <p:nvPr>
            <p:ph type="title"/>
          </p:nvPr>
        </p:nvSpPr>
        <p:spPr>
          <a:xfrm>
            <a:off x="521208" y="978409"/>
            <a:ext cx="11155680" cy="885116"/>
          </a:xfrm>
        </p:spPr>
        <p:txBody>
          <a:bodyPr>
            <a:normAutofit/>
          </a:bodyPr>
          <a:lstStyle/>
          <a:p>
            <a:r>
              <a:rPr lang="hu-HU" sz="4000" dirty="0" err="1"/>
              <a:t>Routing</a:t>
            </a:r>
            <a:r>
              <a:rPr lang="hu-HU" sz="4000" dirty="0"/>
              <a:t> példa</a:t>
            </a:r>
            <a:endParaRPr lang="en-US" sz="4000" dirty="0"/>
          </a:p>
        </p:txBody>
      </p:sp>
      <p:pic>
        <p:nvPicPr>
          <p:cNvPr id="5" name="Picture 4">
            <a:extLst>
              <a:ext uri="{FF2B5EF4-FFF2-40B4-BE49-F238E27FC236}">
                <a16:creationId xmlns:a16="http://schemas.microsoft.com/office/drawing/2014/main" id="{AEA4D72A-ED74-8EAF-DC05-75F9958BA93D}"/>
              </a:ext>
            </a:extLst>
          </p:cNvPr>
          <p:cNvPicPr>
            <a:picLocks noChangeAspect="1"/>
          </p:cNvPicPr>
          <p:nvPr/>
        </p:nvPicPr>
        <p:blipFill>
          <a:blip r:embed="rId3"/>
          <a:stretch>
            <a:fillRect/>
          </a:stretch>
        </p:blipFill>
        <p:spPr>
          <a:xfrm>
            <a:off x="521208" y="2511537"/>
            <a:ext cx="5242320" cy="1487686"/>
          </a:xfrm>
          <a:prstGeom prst="rect">
            <a:avLst/>
          </a:prstGeom>
        </p:spPr>
      </p:pic>
      <p:pic>
        <p:nvPicPr>
          <p:cNvPr id="7" name="Picture 6">
            <a:extLst>
              <a:ext uri="{FF2B5EF4-FFF2-40B4-BE49-F238E27FC236}">
                <a16:creationId xmlns:a16="http://schemas.microsoft.com/office/drawing/2014/main" id="{FD8B6607-C6B8-F760-C81B-2BC8E082A043}"/>
              </a:ext>
            </a:extLst>
          </p:cNvPr>
          <p:cNvPicPr>
            <a:picLocks noChangeAspect="1"/>
          </p:cNvPicPr>
          <p:nvPr/>
        </p:nvPicPr>
        <p:blipFill>
          <a:blip r:embed="rId4"/>
          <a:stretch>
            <a:fillRect/>
          </a:stretch>
        </p:blipFill>
        <p:spPr>
          <a:xfrm>
            <a:off x="6281195" y="2442250"/>
            <a:ext cx="4390663" cy="3113946"/>
          </a:xfrm>
          <a:prstGeom prst="rect">
            <a:avLst/>
          </a:prstGeom>
        </p:spPr>
      </p:pic>
    </p:spTree>
    <p:extLst>
      <p:ext uri="{BB962C8B-B14F-4D97-AF65-F5344CB8AC3E}">
        <p14:creationId xmlns:p14="http://schemas.microsoft.com/office/powerpoint/2010/main" val="2025355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A8536-6755-A605-CDCB-80CB4C4EF3A1}"/>
              </a:ext>
            </a:extLst>
          </p:cNvPr>
          <p:cNvSpPr>
            <a:spLocks noGrp="1"/>
          </p:cNvSpPr>
          <p:nvPr>
            <p:ph type="title"/>
          </p:nvPr>
        </p:nvSpPr>
        <p:spPr>
          <a:xfrm>
            <a:off x="521208" y="978408"/>
            <a:ext cx="11155680" cy="861967"/>
          </a:xfrm>
        </p:spPr>
        <p:txBody>
          <a:bodyPr>
            <a:normAutofit/>
          </a:bodyPr>
          <a:lstStyle/>
          <a:p>
            <a:r>
              <a:rPr lang="hu-HU" sz="4000" dirty="0"/>
              <a:t>Service</a:t>
            </a:r>
            <a:r>
              <a:rPr lang="en-US" sz="4000" dirty="0"/>
              <a:t> és Dependency Injection</a:t>
            </a:r>
          </a:p>
        </p:txBody>
      </p:sp>
      <p:sp>
        <p:nvSpPr>
          <p:cNvPr id="4" name="Rectangle 1">
            <a:extLst>
              <a:ext uri="{FF2B5EF4-FFF2-40B4-BE49-F238E27FC236}">
                <a16:creationId xmlns:a16="http://schemas.microsoft.com/office/drawing/2014/main" id="{A27AE630-4767-A039-0DF0-99D9DA2C2556}"/>
              </a:ext>
            </a:extLst>
          </p:cNvPr>
          <p:cNvSpPr>
            <a:spLocks noGrp="1" noChangeArrowheads="1"/>
          </p:cNvSpPr>
          <p:nvPr>
            <p:ph idx="1"/>
          </p:nvPr>
        </p:nvSpPr>
        <p:spPr bwMode="auto">
          <a:xfrm>
            <a:off x="521207" y="2006594"/>
            <a:ext cx="9861284" cy="390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Üzleti</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logika</a:t>
            </a:r>
            <a:r>
              <a:rPr kumimoji="0" lang="hu-HU" altLang="en-US" sz="2400" b="0" i="0" u="none" strike="noStrike" cap="none" normalizeH="0" baseline="0" dirty="0">
                <a:ln>
                  <a:noFill/>
                </a:ln>
                <a:solidFill>
                  <a:schemeClr val="tx1"/>
                </a:solidFill>
                <a:effectLst/>
                <a:latin typeface="Arial" panose="020B0604020202020204" pitchFamily="34" charset="0"/>
              </a:rPr>
              <a:t> és adatkezelés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API </a:t>
            </a:r>
            <a:r>
              <a:rPr kumimoji="0" lang="en-US" altLang="en-US" sz="2400" b="0" i="0" u="none" strike="noStrike" cap="none" normalizeH="0" baseline="0" dirty="0" err="1">
                <a:ln>
                  <a:noFill/>
                </a:ln>
                <a:solidFill>
                  <a:schemeClr val="tx1"/>
                </a:solidFill>
                <a:effectLst/>
                <a:latin typeface="Arial" panose="020B0604020202020204" pitchFamily="34" charset="0"/>
              </a:rPr>
              <a:t>hívások</a:t>
            </a:r>
            <a:endParaRPr kumimoji="0" lang="hu-HU"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lang="hu-HU" altLang="en-US" sz="2400" dirty="0">
                <a:latin typeface="Arial" panose="020B0604020202020204" pitchFamily="34" charset="0"/>
              </a:rPr>
              <a:t> Számítások</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Állapotkezelés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None/>
              <a:tabLst/>
            </a:pPr>
            <a:endParaRPr lang="hu-HU" altLang="en-US" sz="2400" dirty="0">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hu-HU" altLang="en-US" sz="2400" b="0" i="0" u="none" strike="noStrike" cap="none" normalizeH="0" baseline="0" dirty="0">
                <a:ln>
                  <a:noFill/>
                </a:ln>
                <a:solidFill>
                  <a:schemeClr val="tx1"/>
                </a:solidFill>
                <a:effectLst/>
                <a:latin typeface="Arial" panose="020B0604020202020204" pitchFamily="34" charset="0"/>
              </a:rPr>
              <a:t>A ser</a:t>
            </a:r>
            <a:r>
              <a:rPr lang="hu-HU" altLang="en-US" sz="2400" dirty="0">
                <a:latin typeface="Arial" panose="020B0604020202020204" pitchFamily="34" charset="0"/>
              </a:rPr>
              <a:t>vice-k e</a:t>
            </a:r>
            <a:r>
              <a:rPr kumimoji="0" lang="en-US" altLang="en-US" sz="2400" b="0" i="0" u="none" strike="noStrike" cap="none" normalizeH="0" baseline="0" dirty="0" err="1">
                <a:ln>
                  <a:noFill/>
                </a:ln>
                <a:solidFill>
                  <a:schemeClr val="tx1"/>
                </a:solidFill>
                <a:effectLst/>
                <a:latin typeface="Arial" panose="020B0604020202020204" pitchFamily="34" charset="0"/>
              </a:rPr>
              <a:t>gységesítik</a:t>
            </a:r>
            <a:r>
              <a:rPr kumimoji="0" lang="en-US" altLang="en-US" sz="2400" b="0" i="0" u="none" strike="noStrike" cap="none" normalizeH="0" baseline="0" dirty="0">
                <a:ln>
                  <a:noFill/>
                </a:ln>
                <a:solidFill>
                  <a:schemeClr val="tx1"/>
                </a:solidFill>
                <a:effectLst/>
                <a:latin typeface="Arial" panose="020B0604020202020204" pitchFamily="34" charset="0"/>
              </a:rPr>
              <a:t> a </a:t>
            </a:r>
            <a:r>
              <a:rPr kumimoji="0" lang="en-US" altLang="en-US" sz="2400" b="0" i="0" u="none" strike="noStrike" cap="none" normalizeH="0" baseline="0" dirty="0" err="1">
                <a:ln>
                  <a:noFill/>
                </a:ln>
                <a:solidFill>
                  <a:schemeClr val="tx1"/>
                </a:solidFill>
                <a:effectLst/>
                <a:latin typeface="Arial" panose="020B0604020202020204" pitchFamily="34" charset="0"/>
              </a:rPr>
              <a:t>komponenseket</a:t>
            </a:r>
            <a:r>
              <a:rPr kumimoji="0" lang="hu-HU" altLang="en-US" sz="2400" b="0" i="0" u="none" strike="noStrike" cap="none" normalizeH="0" baseline="0" dirty="0">
                <a:ln>
                  <a:noFill/>
                </a:ln>
                <a:solidFill>
                  <a:schemeClr val="tx1"/>
                </a:solidFill>
                <a:effectLst/>
                <a:latin typeface="Arial" panose="020B0604020202020204" pitchFamily="34" charset="0"/>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Dependency Injection</a:t>
            </a:r>
            <a:r>
              <a:rPr kumimoji="0" lang="hu-HU" altLang="en-US" sz="2400" b="0" i="0" u="none" strike="noStrike" cap="none" normalizeH="0" baseline="0" dirty="0">
                <a:ln>
                  <a:noFill/>
                </a:ln>
                <a:solidFill>
                  <a:schemeClr val="tx1"/>
                </a:solidFill>
                <a:effectLst/>
                <a:latin typeface="Arial" panose="020B0604020202020204" pitchFamily="34" charset="0"/>
              </a:rPr>
              <a:t>: </a:t>
            </a:r>
            <a:r>
              <a:rPr lang="hu-HU" altLang="en-US" sz="2400" dirty="0">
                <a:latin typeface="Arial" panose="020B0604020202020204" pitchFamily="34" charset="0"/>
              </a:rPr>
              <a:t>A</a:t>
            </a:r>
            <a:r>
              <a:rPr kumimoji="0" lang="hu-HU" altLang="en-US" sz="2400" b="0" i="0" u="none" strike="noStrike" cap="none" normalizeH="0" baseline="0" dirty="0">
                <a:ln>
                  <a:noFill/>
                </a:ln>
                <a:solidFill>
                  <a:schemeClr val="tx1"/>
                </a:solidFill>
                <a:effectLst/>
                <a:latin typeface="Arial" panose="020B0604020202020204" pitchFamily="34" charset="0"/>
              </a:rPr>
              <a:t> service-k injektálására a komponensbe.</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82062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AFEAF-AC3C-31A9-30CA-70B812F6F649}"/>
              </a:ext>
            </a:extLst>
          </p:cNvPr>
          <p:cNvSpPr>
            <a:spLocks noGrp="1"/>
          </p:cNvSpPr>
          <p:nvPr>
            <p:ph type="title"/>
          </p:nvPr>
        </p:nvSpPr>
        <p:spPr>
          <a:xfrm>
            <a:off x="521208" y="920535"/>
            <a:ext cx="11155680" cy="769370"/>
          </a:xfrm>
        </p:spPr>
        <p:txBody>
          <a:bodyPr>
            <a:normAutofit/>
          </a:bodyPr>
          <a:lstStyle/>
          <a:p>
            <a:r>
              <a:rPr lang="hu-HU" sz="4000" dirty="0"/>
              <a:t>Service példa</a:t>
            </a:r>
            <a:endParaRPr lang="en-US" sz="4000" dirty="0"/>
          </a:p>
        </p:txBody>
      </p:sp>
      <p:pic>
        <p:nvPicPr>
          <p:cNvPr id="5" name="Picture 4">
            <a:extLst>
              <a:ext uri="{FF2B5EF4-FFF2-40B4-BE49-F238E27FC236}">
                <a16:creationId xmlns:a16="http://schemas.microsoft.com/office/drawing/2014/main" id="{AB5E2AB7-0E30-3B09-3EC5-F3B311A6B916}"/>
              </a:ext>
            </a:extLst>
          </p:cNvPr>
          <p:cNvPicPr>
            <a:picLocks noChangeAspect="1"/>
          </p:cNvPicPr>
          <p:nvPr/>
        </p:nvPicPr>
        <p:blipFill>
          <a:blip r:embed="rId3"/>
          <a:stretch>
            <a:fillRect/>
          </a:stretch>
        </p:blipFill>
        <p:spPr>
          <a:xfrm>
            <a:off x="717978" y="1770333"/>
            <a:ext cx="3726701" cy="2429501"/>
          </a:xfrm>
          <a:prstGeom prst="rect">
            <a:avLst/>
          </a:prstGeom>
        </p:spPr>
      </p:pic>
      <p:pic>
        <p:nvPicPr>
          <p:cNvPr id="9" name="Picture 8">
            <a:extLst>
              <a:ext uri="{FF2B5EF4-FFF2-40B4-BE49-F238E27FC236}">
                <a16:creationId xmlns:a16="http://schemas.microsoft.com/office/drawing/2014/main" id="{6D196FC2-F02E-F10F-C0B5-A9672E93B839}"/>
              </a:ext>
            </a:extLst>
          </p:cNvPr>
          <p:cNvPicPr>
            <a:picLocks noChangeAspect="1"/>
          </p:cNvPicPr>
          <p:nvPr/>
        </p:nvPicPr>
        <p:blipFill>
          <a:blip r:embed="rId4"/>
          <a:stretch>
            <a:fillRect/>
          </a:stretch>
        </p:blipFill>
        <p:spPr>
          <a:xfrm>
            <a:off x="5604892" y="1794075"/>
            <a:ext cx="5425781" cy="4265043"/>
          </a:xfrm>
          <a:prstGeom prst="rect">
            <a:avLst/>
          </a:prstGeom>
        </p:spPr>
      </p:pic>
      <p:pic>
        <p:nvPicPr>
          <p:cNvPr id="11" name="Picture 10">
            <a:extLst>
              <a:ext uri="{FF2B5EF4-FFF2-40B4-BE49-F238E27FC236}">
                <a16:creationId xmlns:a16="http://schemas.microsoft.com/office/drawing/2014/main" id="{DEAC5EBC-A8F2-21DA-A346-B05A41A93256}"/>
              </a:ext>
            </a:extLst>
          </p:cNvPr>
          <p:cNvPicPr>
            <a:picLocks noChangeAspect="1"/>
          </p:cNvPicPr>
          <p:nvPr/>
        </p:nvPicPr>
        <p:blipFill>
          <a:blip r:embed="rId5"/>
          <a:stretch>
            <a:fillRect/>
          </a:stretch>
        </p:blipFill>
        <p:spPr>
          <a:xfrm>
            <a:off x="719525" y="4408768"/>
            <a:ext cx="2870174" cy="2084152"/>
          </a:xfrm>
          <a:prstGeom prst="rect">
            <a:avLst/>
          </a:prstGeom>
        </p:spPr>
      </p:pic>
    </p:spTree>
    <p:extLst>
      <p:ext uri="{BB962C8B-B14F-4D97-AF65-F5344CB8AC3E}">
        <p14:creationId xmlns:p14="http://schemas.microsoft.com/office/powerpoint/2010/main" val="3240004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32E2D-F677-B187-DD35-131D6E3E63D3}"/>
              </a:ext>
            </a:extLst>
          </p:cNvPr>
          <p:cNvSpPr>
            <a:spLocks noGrp="1"/>
          </p:cNvSpPr>
          <p:nvPr>
            <p:ph type="title"/>
          </p:nvPr>
        </p:nvSpPr>
        <p:spPr>
          <a:xfrm>
            <a:off x="521208" y="978408"/>
            <a:ext cx="11155680" cy="1012438"/>
          </a:xfrm>
        </p:spPr>
        <p:txBody>
          <a:bodyPr>
            <a:normAutofit/>
          </a:bodyPr>
          <a:lstStyle/>
          <a:p>
            <a:r>
              <a:rPr lang="en-US" sz="4000" dirty="0" err="1"/>
              <a:t>Összefoglalás</a:t>
            </a:r>
            <a:endParaRPr lang="en-US" sz="4000" dirty="0"/>
          </a:p>
        </p:txBody>
      </p:sp>
      <p:sp>
        <p:nvSpPr>
          <p:cNvPr id="4" name="Rectangle 1">
            <a:extLst>
              <a:ext uri="{FF2B5EF4-FFF2-40B4-BE49-F238E27FC236}">
                <a16:creationId xmlns:a16="http://schemas.microsoft.com/office/drawing/2014/main" id="{6BCC6119-033B-FE4F-5F8E-A1F43DA8FA37}"/>
              </a:ext>
            </a:extLst>
          </p:cNvPr>
          <p:cNvSpPr>
            <a:spLocks noGrp="1" noChangeArrowheads="1"/>
          </p:cNvSpPr>
          <p:nvPr>
            <p:ph idx="1"/>
          </p:nvPr>
        </p:nvSpPr>
        <p:spPr bwMode="auto">
          <a:xfrm>
            <a:off x="521208" y="2191296"/>
            <a:ext cx="6180534" cy="334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ES6</a:t>
            </a:r>
            <a:r>
              <a:rPr kumimoji="0" lang="en-US" altLang="en-US" sz="2400" b="0" i="0" u="none" strike="noStrike" cap="none" normalizeH="0" baseline="0" dirty="0">
                <a:ln>
                  <a:noFill/>
                </a:ln>
                <a:solidFill>
                  <a:schemeClr val="tx1"/>
                </a:solidFill>
                <a:effectLst/>
                <a:latin typeface="Arial" panose="020B0604020202020204" pitchFamily="34" charset="0"/>
              </a:rPr>
              <a:t> → modern JS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TypeScript</a:t>
            </a:r>
            <a:r>
              <a:rPr kumimoji="0" lang="en-US" altLang="en-US" sz="2400" b="0" i="0" u="none" strike="noStrike" cap="none" normalizeH="0" baseline="0" dirty="0">
                <a:ln>
                  <a:noFill/>
                </a:ln>
                <a:solidFill>
                  <a:schemeClr val="tx1"/>
                </a:solidFill>
                <a:effectLst/>
                <a:latin typeface="Arial" panose="020B0604020202020204" pitchFamily="34" charset="0"/>
              </a:rPr>
              <a:t> → </a:t>
            </a:r>
            <a:r>
              <a:rPr kumimoji="0" lang="en-US" altLang="en-US" sz="2400" b="0" i="0" u="none" strike="noStrike" cap="none" normalizeH="0" baseline="0" dirty="0" err="1">
                <a:ln>
                  <a:noFill/>
                </a:ln>
                <a:solidFill>
                  <a:schemeClr val="tx1"/>
                </a:solidFill>
                <a:effectLst/>
                <a:latin typeface="Arial" panose="020B0604020202020204" pitchFamily="34" charset="0"/>
              </a:rPr>
              <a:t>hibamentesebb</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kód</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err="1">
                <a:ln>
                  <a:noFill/>
                </a:ln>
                <a:solidFill>
                  <a:schemeClr val="tx1"/>
                </a:solidFill>
                <a:effectLst/>
                <a:latin typeface="Arial" panose="020B0604020202020204" pitchFamily="34" charset="0"/>
              </a:rPr>
              <a:t>Komponensek</a:t>
            </a:r>
            <a:r>
              <a:rPr kumimoji="0" lang="en-US" altLang="en-US" sz="2400" b="0" i="0" u="none" strike="noStrike" cap="none" normalizeH="0" baseline="0" dirty="0">
                <a:ln>
                  <a:noFill/>
                </a:ln>
                <a:solidFill>
                  <a:schemeClr val="tx1"/>
                </a:solidFill>
                <a:effectLst/>
                <a:latin typeface="Arial" panose="020B0604020202020204" pitchFamily="34" charset="0"/>
              </a:rPr>
              <a:t> → UI </a:t>
            </a:r>
            <a:r>
              <a:rPr kumimoji="0" lang="en-US" altLang="en-US" sz="2400" b="0" i="0" u="none" strike="noStrike" cap="none" normalizeH="0" baseline="0" dirty="0" err="1">
                <a:ln>
                  <a:noFill/>
                </a:ln>
                <a:solidFill>
                  <a:schemeClr val="tx1"/>
                </a:solidFill>
                <a:effectLst/>
                <a:latin typeface="Arial" panose="020B0604020202020204" pitchFamily="34" charset="0"/>
              </a:rPr>
              <a:t>építőkockák</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hu-HU" altLang="en-US" sz="2400" b="1" i="0" u="none" strike="noStrike" cap="none" normalizeH="0" baseline="0" dirty="0">
                <a:ln>
                  <a:noFill/>
                </a:ln>
                <a:solidFill>
                  <a:schemeClr val="tx1"/>
                </a:solidFill>
                <a:effectLst/>
                <a:latin typeface="Arial" panose="020B0604020202020204" pitchFamily="34" charset="0"/>
              </a:rPr>
              <a:t>Data </a:t>
            </a:r>
            <a:r>
              <a:rPr kumimoji="0" lang="en-US" altLang="en-US" sz="2400" b="1" i="0" u="none" strike="noStrike" cap="none" normalizeH="0" baseline="0" dirty="0">
                <a:ln>
                  <a:noFill/>
                </a:ln>
                <a:solidFill>
                  <a:schemeClr val="tx1"/>
                </a:solidFill>
                <a:effectLst/>
                <a:latin typeface="Arial" panose="020B0604020202020204" pitchFamily="34" charset="0"/>
              </a:rPr>
              <a:t>Binding</a:t>
            </a:r>
            <a:r>
              <a:rPr kumimoji="0" lang="en-US" altLang="en-US" sz="2400" b="0" i="0" u="none" strike="noStrike" cap="none" normalizeH="0" baseline="0" dirty="0">
                <a:ln>
                  <a:noFill/>
                </a:ln>
                <a:solidFill>
                  <a:schemeClr val="tx1"/>
                </a:solidFill>
                <a:effectLst/>
                <a:latin typeface="Arial" panose="020B0604020202020204" pitchFamily="34" charset="0"/>
              </a:rPr>
              <a:t> → </a:t>
            </a:r>
            <a:r>
              <a:rPr kumimoji="0" lang="en-US" altLang="en-US" sz="2400" b="0" i="0" u="none" strike="noStrike" cap="none" normalizeH="0" baseline="0" dirty="0" err="1">
                <a:ln>
                  <a:noFill/>
                </a:ln>
                <a:solidFill>
                  <a:schemeClr val="tx1"/>
                </a:solidFill>
                <a:effectLst/>
                <a:latin typeface="Arial" panose="020B0604020202020204" pitchFamily="34" charset="0"/>
              </a:rPr>
              <a:t>adatkapcsolat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Routing</a:t>
            </a:r>
            <a:r>
              <a:rPr kumimoji="0" lang="en-US" altLang="en-US" sz="2400" b="0" i="0" u="none" strike="noStrike" cap="none" normalizeH="0" baseline="0" dirty="0">
                <a:ln>
                  <a:noFill/>
                </a:ln>
                <a:solidFill>
                  <a:schemeClr val="tx1"/>
                </a:solidFill>
                <a:effectLst/>
                <a:latin typeface="Arial" panose="020B0604020202020204" pitchFamily="34" charset="0"/>
              </a:rPr>
              <a:t> → </a:t>
            </a:r>
            <a:r>
              <a:rPr kumimoji="0" lang="en-US" altLang="en-US" sz="2400" b="0" i="0" u="none" strike="noStrike" cap="none" normalizeH="0" baseline="0" dirty="0" err="1">
                <a:ln>
                  <a:noFill/>
                </a:ln>
                <a:solidFill>
                  <a:schemeClr val="tx1"/>
                </a:solidFill>
                <a:effectLst/>
                <a:latin typeface="Arial" panose="020B0604020202020204" pitchFamily="34" charset="0"/>
              </a:rPr>
              <a:t>navigáció</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hu-HU"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err="1">
                <a:ln>
                  <a:noFill/>
                </a:ln>
                <a:solidFill>
                  <a:schemeClr val="tx1"/>
                </a:solidFill>
                <a:effectLst/>
                <a:latin typeface="Arial" panose="020B0604020202020204" pitchFamily="34" charset="0"/>
              </a:rPr>
              <a:t>Szervizek</a:t>
            </a:r>
            <a:r>
              <a:rPr kumimoji="0" lang="en-US" altLang="en-US" sz="2400" b="0" i="0" u="none" strike="noStrike" cap="none" normalizeH="0" baseline="0" dirty="0">
                <a:ln>
                  <a:noFill/>
                </a:ln>
                <a:solidFill>
                  <a:schemeClr val="tx1"/>
                </a:solidFill>
                <a:effectLst/>
                <a:latin typeface="Arial" panose="020B0604020202020204" pitchFamily="34" charset="0"/>
              </a:rPr>
              <a:t> → </a:t>
            </a:r>
            <a:r>
              <a:rPr kumimoji="0" lang="en-US" altLang="en-US" sz="2400" b="0" i="0" u="none" strike="noStrike" cap="none" normalizeH="0" baseline="0" dirty="0" err="1">
                <a:ln>
                  <a:noFill/>
                </a:ln>
                <a:solidFill>
                  <a:schemeClr val="tx1"/>
                </a:solidFill>
                <a:effectLst/>
                <a:latin typeface="Arial" panose="020B0604020202020204" pitchFamily="34" charset="0"/>
              </a:rPr>
              <a:t>logika</a:t>
            </a:r>
            <a:r>
              <a:rPr kumimoji="0" lang="hu-HU" altLang="en-US" sz="2400" b="0" i="0" u="none" strike="noStrike" cap="none" normalizeH="0" baseline="0" dirty="0">
                <a:ln>
                  <a:noFill/>
                </a:ln>
                <a:solidFill>
                  <a:schemeClr val="tx1"/>
                </a:solidFill>
                <a:effectLst/>
                <a:latin typeface="Arial" panose="020B0604020202020204" pitchFamily="34" charset="0"/>
              </a:rPr>
              <a:t> és API hívások</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47921055"/>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1289</TotalTime>
  <Words>2473</Words>
  <Application>Microsoft Office PowerPoint</Application>
  <PresentationFormat>Widescreen</PresentationFormat>
  <Paragraphs>207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Arial Unicode MS</vt:lpstr>
      <vt:lpstr>Bierstadt</vt:lpstr>
      <vt:lpstr>GestaltVTI</vt:lpstr>
      <vt:lpstr>JavaScript és Angular alapok   ES6 alapok · TypeScript · Angular Komponensek · Binding · Routing </vt:lpstr>
      <vt:lpstr>Miért JavaScript + Angular?</vt:lpstr>
      <vt:lpstr>ES6+ alapok (modern JavaScript)</vt:lpstr>
      <vt:lpstr>Rövid ES6 példák</vt:lpstr>
      <vt:lpstr>Mi az a TypeScript?</vt:lpstr>
      <vt:lpstr>TypeScript példák</vt:lpstr>
      <vt:lpstr>Angular architektúra áttekintés </vt:lpstr>
      <vt:lpstr>Angular architektúra - diagram</vt:lpstr>
      <vt:lpstr>Angular Component (komponens)</vt:lpstr>
      <vt:lpstr>Angular Component példa</vt:lpstr>
      <vt:lpstr>Data Binding típusok</vt:lpstr>
      <vt:lpstr>Routing alapok</vt:lpstr>
      <vt:lpstr>Routing példa</vt:lpstr>
      <vt:lpstr>Service és Dependency Injection</vt:lpstr>
      <vt:lpstr>Service példa</vt:lpstr>
      <vt:lpstr>Összefoglalás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Zoltan Balogh</dc:creator>
  <cp:lastModifiedBy>Zoltan Balogh</cp:lastModifiedBy>
  <cp:revision>107</cp:revision>
  <dcterms:created xsi:type="dcterms:W3CDTF">2025-11-30T15:45:28Z</dcterms:created>
  <dcterms:modified xsi:type="dcterms:W3CDTF">2026-01-18T09:34:42Z</dcterms:modified>
</cp:coreProperties>
</file>