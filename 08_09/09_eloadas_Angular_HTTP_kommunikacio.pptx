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3"/>
  </p:notesMasterIdLst>
  <p:sldIdLst>
    <p:sldId id="256" r:id="rId2"/>
    <p:sldId id="259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7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Ebben a </a:t>
            </a:r>
            <a:r>
              <a:rPr lang="hu-HU" dirty="0"/>
              <a:t>prezentációban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nézzük</a:t>
            </a:r>
            <a:r>
              <a:rPr lang="en-US" dirty="0"/>
              <a:t> meg,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Angular </a:t>
            </a:r>
            <a:r>
              <a:rPr lang="en-US" dirty="0" err="1"/>
              <a:t>alkalmazás</a:t>
            </a:r>
            <a:r>
              <a:rPr lang="en-US" dirty="0"/>
              <a:t> a </a:t>
            </a:r>
            <a:r>
              <a:rPr lang="en-US" dirty="0" err="1"/>
              <a:t>backenddel</a:t>
            </a:r>
            <a:r>
              <a:rPr lang="en-US" dirty="0"/>
              <a:t>. Nem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i="1" dirty="0" err="1"/>
              <a:t>hogyan</a:t>
            </a:r>
            <a:r>
              <a:rPr lang="en-US" i="1" dirty="0"/>
              <a:t> </a:t>
            </a:r>
            <a:r>
              <a:rPr lang="en-US" i="1" dirty="0" err="1"/>
              <a:t>küldünk</a:t>
            </a:r>
            <a:r>
              <a:rPr lang="en-US" i="1" dirty="0"/>
              <a:t> </a:t>
            </a:r>
            <a:r>
              <a:rPr lang="en-US" i="1" dirty="0" err="1"/>
              <a:t>egy</a:t>
            </a:r>
            <a:r>
              <a:rPr lang="en-US" i="1" dirty="0"/>
              <a:t> HTTP </a:t>
            </a:r>
            <a:r>
              <a:rPr lang="en-US" i="1" dirty="0" err="1"/>
              <a:t>kérést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is, </a:t>
            </a:r>
            <a:r>
              <a:rPr lang="en-US" b="1" dirty="0" err="1"/>
              <a:t>hol</a:t>
            </a:r>
            <a:r>
              <a:rPr lang="en-US" b="1" dirty="0"/>
              <a:t> a </a:t>
            </a:r>
            <a:r>
              <a:rPr lang="en-US" b="1" dirty="0" err="1"/>
              <a:t>helye</a:t>
            </a:r>
            <a:r>
              <a:rPr lang="en-US" b="1" dirty="0"/>
              <a:t> </a:t>
            </a:r>
            <a:r>
              <a:rPr lang="en-US" b="1" dirty="0" err="1"/>
              <a:t>ennek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architektúrában</a:t>
            </a:r>
            <a:r>
              <a:rPr lang="en-US" dirty="0"/>
              <a:t>, és </a:t>
            </a:r>
            <a:r>
              <a:rPr lang="en-US" b="1" dirty="0"/>
              <a:t>mi </a:t>
            </a:r>
            <a:r>
              <a:rPr lang="en-US" b="1" dirty="0" err="1"/>
              <a:t>történik</a:t>
            </a:r>
            <a:r>
              <a:rPr lang="en-US" b="1" dirty="0"/>
              <a:t> a </a:t>
            </a:r>
            <a:r>
              <a:rPr lang="en-US" b="1" dirty="0" err="1"/>
              <a:t>háttérben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hiba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 </a:t>
            </a:r>
            <a:r>
              <a:rPr lang="hu-HU" dirty="0" err="1"/>
              <a:t>Angular</a:t>
            </a:r>
            <a:r>
              <a:rPr lang="hu-HU" dirty="0"/>
              <a:t> alkalmazás tipikusan </a:t>
            </a:r>
            <a:r>
              <a:rPr lang="hu-HU" b="1" dirty="0"/>
              <a:t>nem önmagában működik</a:t>
            </a:r>
            <a:r>
              <a:rPr lang="hu-HU" dirty="0"/>
              <a:t>. A legtöbb valós alkalmazás valamilyen backend rendszerhez kapcsolódik: REST API-hoz, </a:t>
            </a:r>
            <a:r>
              <a:rPr lang="hu-HU" dirty="0" err="1"/>
              <a:t>microservice-hez</a:t>
            </a:r>
            <a:r>
              <a:rPr lang="hu-HU" dirty="0"/>
              <a:t>, adatbázist kiszolgáló szerverhez vagy akár több backendhez egyszerre.</a:t>
            </a:r>
          </a:p>
          <a:p>
            <a:endParaRPr lang="hu-HU" dirty="0"/>
          </a:p>
          <a:p>
            <a:r>
              <a:rPr lang="en-US" dirty="0"/>
              <a:t>Minden Angular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b="1" dirty="0"/>
              <a:t>a </a:t>
            </a:r>
            <a:r>
              <a:rPr lang="en-US" b="1" dirty="0" err="1"/>
              <a:t>böngészőben</a:t>
            </a:r>
            <a:r>
              <a:rPr lang="en-US" b="1" dirty="0"/>
              <a:t> fut</a:t>
            </a:r>
            <a:r>
              <a:rPr lang="en-US" dirty="0"/>
              <a:t>.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betölt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, </a:t>
            </a:r>
            <a:r>
              <a:rPr lang="en-US" dirty="0" err="1"/>
              <a:t>rákattint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gombra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kér</a:t>
            </a:r>
            <a:r>
              <a:rPr lang="en-US" dirty="0"/>
              <a:t> le, </a:t>
            </a:r>
            <a:r>
              <a:rPr lang="en-US" dirty="0" err="1"/>
              <a:t>akkor</a:t>
            </a:r>
            <a:r>
              <a:rPr lang="en-US" dirty="0"/>
              <a:t> a </a:t>
            </a:r>
            <a:r>
              <a:rPr lang="en-US" dirty="0" err="1"/>
              <a:t>böngészőből</a:t>
            </a:r>
            <a:r>
              <a:rPr lang="en-US" dirty="0"/>
              <a:t> </a:t>
            </a:r>
            <a:r>
              <a:rPr lang="en-US" b="1" dirty="0"/>
              <a:t>HTTP </a:t>
            </a:r>
            <a:r>
              <a:rPr lang="en-US" b="1" dirty="0" err="1"/>
              <a:t>kérés</a:t>
            </a:r>
            <a:r>
              <a:rPr lang="en-US" b="1" dirty="0"/>
              <a:t> </a:t>
            </a:r>
            <a:r>
              <a:rPr lang="en-US" b="1" dirty="0" err="1"/>
              <a:t>indul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dirty="0"/>
              <a:t> a backend </a:t>
            </a:r>
            <a:r>
              <a:rPr lang="en-US" dirty="0" err="1"/>
              <a:t>irányába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Angular</a:t>
            </a:r>
            <a:r>
              <a:rPr lang="hu-HU" dirty="0"/>
              <a:t> nem közvetlenül a böngésző alacsony szintű API-ját használja, hanem biztosít egy magasabb szintű eszközt: ez az </a:t>
            </a:r>
            <a:r>
              <a:rPr lang="hu-HU" b="1" dirty="0" err="1"/>
              <a:t>HttpClient</a:t>
            </a:r>
            <a:r>
              <a:rPr lang="hu-HU" dirty="0"/>
              <a:t>. </a:t>
            </a:r>
            <a:r>
              <a:rPr lang="en-US" dirty="0"/>
              <a:t>A backend </a:t>
            </a:r>
            <a:r>
              <a:rPr lang="en-US" dirty="0" err="1"/>
              <a:t>oldalon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/>
              <a:t>REST API</a:t>
            </a:r>
            <a:r>
              <a:rPr lang="en-US" dirty="0"/>
              <a:t> </a:t>
            </a:r>
            <a:r>
              <a:rPr lang="en-US" dirty="0" err="1"/>
              <a:t>várja</a:t>
            </a:r>
            <a:r>
              <a:rPr lang="en-US" dirty="0"/>
              <a:t> a </a:t>
            </a:r>
            <a:r>
              <a:rPr lang="en-US" dirty="0" err="1"/>
              <a:t>kéréseket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frontend és a backend </a:t>
            </a:r>
            <a:r>
              <a:rPr lang="en-US" dirty="0" err="1"/>
              <a:t>közötti</a:t>
            </a:r>
            <a:r>
              <a:rPr lang="en-US" dirty="0"/>
              <a:t>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dirty="0" err="1"/>
              <a:t>leggyakrabban</a:t>
            </a:r>
            <a:r>
              <a:rPr lang="en-US" dirty="0"/>
              <a:t> </a:t>
            </a:r>
            <a:r>
              <a:rPr lang="en-US" b="1" dirty="0"/>
              <a:t>JSON </a:t>
            </a:r>
            <a:r>
              <a:rPr lang="en-US" b="1" dirty="0" err="1"/>
              <a:t>formátumban</a:t>
            </a:r>
            <a:r>
              <a:rPr lang="en-US" b="1" dirty="0"/>
              <a:t> </a:t>
            </a:r>
            <a:r>
              <a:rPr lang="en-US" b="1" dirty="0" err="1"/>
              <a:t>történik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Fontos </a:t>
            </a:r>
            <a:r>
              <a:rPr lang="en-US" dirty="0" err="1"/>
              <a:t>megérteni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➡️ a frontend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várja</a:t>
            </a:r>
            <a:r>
              <a:rPr lang="en-US" b="1" dirty="0"/>
              <a:t> meg </a:t>
            </a:r>
            <a:r>
              <a:rPr lang="en-US" b="1" dirty="0" err="1"/>
              <a:t>blokkolva</a:t>
            </a:r>
            <a:r>
              <a:rPr lang="en-US" dirty="0"/>
              <a:t> a </a:t>
            </a:r>
            <a:r>
              <a:rPr lang="en-US" dirty="0" err="1"/>
              <a:t>választ</a:t>
            </a:r>
            <a:br>
              <a:rPr lang="en-US" dirty="0"/>
            </a:br>
            <a:r>
              <a:rPr lang="en-US" dirty="0"/>
              <a:t>➡️ </a:t>
            </a:r>
            <a:r>
              <a:rPr lang="en-US" dirty="0" err="1"/>
              <a:t>minden</a:t>
            </a:r>
            <a:r>
              <a:rPr lang="en-US" dirty="0"/>
              <a:t>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b="1" dirty="0" err="1"/>
              <a:t>aszinkron</a:t>
            </a:r>
            <a:br>
              <a:rPr lang="en-US" dirty="0"/>
            </a:br>
            <a:r>
              <a:rPr lang="en-US" dirty="0"/>
              <a:t>➡️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meg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Angularban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Observable-</a:t>
            </a:r>
            <a:r>
              <a:rPr lang="en-US" dirty="0" err="1"/>
              <a:t>ökkel</a:t>
            </a:r>
            <a:r>
              <a:rPr lang="en-US" dirty="0"/>
              <a:t> </a:t>
            </a:r>
            <a:r>
              <a:rPr lang="en-US" dirty="0" err="1"/>
              <a:t>kezeljük</a:t>
            </a:r>
            <a:r>
              <a:rPr lang="en-US" dirty="0"/>
              <a:t>, de a </a:t>
            </a:r>
            <a:r>
              <a:rPr lang="en-US" dirty="0" err="1"/>
              <a:t>lényeg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elv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b="0" dirty="0"/>
              <a:t>a frontend </a:t>
            </a:r>
            <a:r>
              <a:rPr lang="en-US" b="0" dirty="0" err="1"/>
              <a:t>reagál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adatra</a:t>
            </a:r>
            <a:r>
              <a:rPr lang="en-US" b="0" dirty="0"/>
              <a:t>, </a:t>
            </a:r>
            <a:r>
              <a:rPr lang="en-US" b="0" dirty="0" err="1"/>
              <a:t>amikor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megérkezik</a:t>
            </a:r>
            <a:r>
              <a:rPr lang="en-US" b="0" dirty="0"/>
              <a:t>.</a:t>
            </a:r>
            <a:endParaRPr lang="hu-HU" b="0" dirty="0"/>
          </a:p>
          <a:p>
            <a:endParaRPr lang="hu-H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b="1" dirty="0" err="1"/>
              <a:t>legfontosabb</a:t>
            </a:r>
            <a:r>
              <a:rPr lang="en-US" b="1" dirty="0"/>
              <a:t> Angular </a:t>
            </a:r>
            <a:r>
              <a:rPr lang="en-US" b="1" dirty="0" err="1"/>
              <a:t>alapszabály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komponens</a:t>
            </a:r>
            <a:r>
              <a:rPr lang="en-US" dirty="0"/>
              <a:t> </a:t>
            </a:r>
            <a:r>
              <a:rPr lang="en-US" dirty="0" err="1"/>
              <a:t>dolga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megjelenítés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felhasználói</a:t>
            </a:r>
            <a:r>
              <a:rPr lang="en-US" dirty="0"/>
              <a:t> </a:t>
            </a:r>
            <a:r>
              <a:rPr lang="en-US" dirty="0" err="1"/>
              <a:t>interakció</a:t>
            </a:r>
            <a:endParaRPr lang="en-US" dirty="0"/>
          </a:p>
          <a:p>
            <a:endParaRPr lang="hu-HU" dirty="0"/>
          </a:p>
          <a:p>
            <a:r>
              <a:rPr lang="en-US" dirty="0"/>
              <a:t>A Service </a:t>
            </a:r>
            <a:r>
              <a:rPr lang="en-US" dirty="0" err="1"/>
              <a:t>dolga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adatlekérés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számítás</a:t>
            </a:r>
            <a:endParaRPr lang="en-US" dirty="0"/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/>
              <a:t>API </a:t>
            </a:r>
            <a:r>
              <a:rPr lang="en-US" dirty="0" err="1"/>
              <a:t>kommunikáció</a:t>
            </a:r>
            <a:endParaRPr lang="hu-HU" dirty="0"/>
          </a:p>
          <a:p>
            <a:pPr marL="0" indent="0">
              <a:buFontTx/>
              <a:buNone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felelősségek szétválnak: komponens = UI logika, Service = adat és üzleti logika. </a:t>
            </a:r>
            <a:r>
              <a:rPr lang="en-US" dirty="0"/>
              <a:t>Ha </a:t>
            </a:r>
            <a:r>
              <a:rPr lang="en-US" dirty="0" err="1"/>
              <a:t>mindent</a:t>
            </a:r>
            <a:r>
              <a:rPr lang="en-US" dirty="0"/>
              <a:t> a </a:t>
            </a:r>
            <a:r>
              <a:rPr lang="en-US" dirty="0" err="1"/>
              <a:t>komponensbe</a:t>
            </a:r>
            <a:r>
              <a:rPr lang="en-US" dirty="0"/>
              <a:t> </a:t>
            </a:r>
            <a:r>
              <a:rPr lang="en-US" dirty="0" err="1"/>
              <a:t>teszünk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hu-HU" dirty="0"/>
              <a:t> </a:t>
            </a:r>
            <a:r>
              <a:rPr lang="en-US" dirty="0" err="1"/>
              <a:t>nehéz</a:t>
            </a:r>
            <a:r>
              <a:rPr lang="en-US" dirty="0"/>
              <a:t> </a:t>
            </a:r>
            <a:r>
              <a:rPr lang="en-US" dirty="0" err="1"/>
              <a:t>tesztelni</a:t>
            </a:r>
            <a:r>
              <a:rPr lang="hu-HU" dirty="0"/>
              <a:t>, </a:t>
            </a:r>
            <a:r>
              <a:rPr lang="en-US" dirty="0" err="1"/>
              <a:t>nehéz</a:t>
            </a:r>
            <a:r>
              <a:rPr lang="en-US" dirty="0"/>
              <a:t> </a:t>
            </a:r>
            <a:r>
              <a:rPr lang="en-US" dirty="0" err="1"/>
              <a:t>újrahasznosítani</a:t>
            </a:r>
            <a:r>
              <a:rPr lang="hu-HU" dirty="0"/>
              <a:t>, és </a:t>
            </a:r>
            <a:r>
              <a:rPr lang="en-US" dirty="0" err="1"/>
              <a:t>gyorsan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dirty="0" err="1"/>
              <a:t>káosz</a:t>
            </a:r>
            <a:r>
              <a:rPr lang="hu-HU" dirty="0"/>
              <a:t>”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097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service-ek </a:t>
            </a:r>
            <a:r>
              <a:rPr lang="en-US" dirty="0" err="1"/>
              <a:t>gyakran</a:t>
            </a:r>
            <a:r>
              <a:rPr lang="en-US" dirty="0"/>
              <a:t> a </a:t>
            </a:r>
            <a:r>
              <a:rPr lang="en-US" dirty="0" err="1"/>
              <a:t>backendhez</a:t>
            </a:r>
            <a:r>
              <a:rPr lang="en-US" dirty="0"/>
              <a:t> </a:t>
            </a:r>
            <a:r>
              <a:rPr lang="en-US" dirty="0" err="1"/>
              <a:t>kapcsolódnak</a:t>
            </a:r>
            <a:r>
              <a:rPr lang="en-US" dirty="0"/>
              <a:t>, és </a:t>
            </a:r>
            <a:r>
              <a:rPr lang="en-US" dirty="0" err="1"/>
              <a:t>ehhez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HttpClientet</a:t>
            </a:r>
            <a:r>
              <a:rPr lang="en-US" dirty="0"/>
              <a:t> </a:t>
            </a:r>
            <a:r>
              <a:rPr lang="en-US" dirty="0" err="1"/>
              <a:t>biztosítja</a:t>
            </a:r>
            <a:r>
              <a:rPr lang="en-US" dirty="0"/>
              <a:t>.</a:t>
            </a:r>
            <a:r>
              <a:rPr lang="hu-HU" dirty="0"/>
              <a:t> Az </a:t>
            </a:r>
            <a:r>
              <a:rPr lang="hu-HU" dirty="0" err="1"/>
              <a:t>Angular</a:t>
            </a:r>
            <a:r>
              <a:rPr lang="hu-HU" dirty="0"/>
              <a:t>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HttpClient</a:t>
            </a:r>
            <a:r>
              <a:rPr lang="hu-HU" dirty="0"/>
              <a:t> egy magas szintű API. Nem </a:t>
            </a:r>
            <a:r>
              <a:rPr lang="hu-HU" dirty="0" err="1"/>
              <a:t>raw</a:t>
            </a:r>
            <a:r>
              <a:rPr lang="hu-HU" dirty="0"/>
              <a:t> </a:t>
            </a:r>
            <a:r>
              <a:rPr lang="hu-HU" dirty="0" err="1"/>
              <a:t>fetch</a:t>
            </a:r>
            <a:r>
              <a:rPr lang="hu-HU" dirty="0"/>
              <a:t>, nem </a:t>
            </a:r>
            <a:r>
              <a:rPr lang="hu-HU" dirty="0" err="1"/>
              <a:t>XMLHttpRequest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b="1" dirty="0" err="1"/>
              <a:t>Előnyei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automatikus</a:t>
            </a:r>
            <a:r>
              <a:rPr lang="en-US" dirty="0"/>
              <a:t> JSON parse</a:t>
            </a:r>
          </a:p>
          <a:p>
            <a:r>
              <a:rPr lang="hu-HU" dirty="0"/>
              <a:t>- </a:t>
            </a:r>
            <a:r>
              <a:rPr lang="en-US" dirty="0" err="1"/>
              <a:t>típusos</a:t>
            </a:r>
            <a:r>
              <a:rPr lang="en-US" dirty="0"/>
              <a:t> </a:t>
            </a:r>
            <a:r>
              <a:rPr lang="en-US" dirty="0" err="1"/>
              <a:t>válasz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integrált</a:t>
            </a:r>
            <a:r>
              <a:rPr lang="en-US" dirty="0"/>
              <a:t> error handling</a:t>
            </a:r>
          </a:p>
          <a:p>
            <a:r>
              <a:rPr lang="hu-HU" dirty="0"/>
              <a:t>- </a:t>
            </a:r>
            <a:r>
              <a:rPr lang="en-US" dirty="0"/>
              <a:t>interceptor </a:t>
            </a:r>
            <a:r>
              <a:rPr lang="en-US" dirty="0" err="1"/>
              <a:t>támogatás</a:t>
            </a:r>
            <a:endParaRPr lang="en-US" dirty="0"/>
          </a:p>
          <a:p>
            <a:endParaRPr lang="hu-HU" dirty="0"/>
          </a:p>
          <a:p>
            <a:r>
              <a:rPr lang="hu-HU" dirty="0" err="1"/>
              <a:t>HttpClient</a:t>
            </a:r>
            <a:r>
              <a:rPr lang="hu-HU" dirty="0"/>
              <a:t> HTTP kéréseket küld, REST API végpontokat hív, JSON adatokat kezel. Nem közvetlenül adatokat ad vissza, hanem </a:t>
            </a:r>
            <a:r>
              <a:rPr lang="hu-HU" dirty="0" err="1"/>
              <a:t>Observable</a:t>
            </a:r>
            <a:r>
              <a:rPr lang="hu-HU" dirty="0"/>
              <a:t>-t.</a:t>
            </a:r>
          </a:p>
          <a:p>
            <a:endParaRPr lang="hu-HU" dirty="0"/>
          </a:p>
          <a:p>
            <a:r>
              <a:rPr lang="en-US" dirty="0"/>
              <a:t>Fontos,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komponens</a:t>
            </a:r>
            <a:r>
              <a:rPr lang="en-US" dirty="0"/>
              <a:t> </a:t>
            </a:r>
            <a:r>
              <a:rPr lang="en-US" b="1" dirty="0" err="1"/>
              <a:t>soha</a:t>
            </a:r>
            <a:r>
              <a:rPr lang="en-US" b="1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közvetlenül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 a </a:t>
            </a:r>
            <a:r>
              <a:rPr lang="en-US" dirty="0" err="1"/>
              <a:t>backenddel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komponens</a:t>
            </a:r>
            <a:r>
              <a:rPr lang="en-US" dirty="0"/>
              <a:t> a service-t </a:t>
            </a:r>
            <a:r>
              <a:rPr lang="en-US" dirty="0" err="1"/>
              <a:t>hívja</a:t>
            </a:r>
            <a:r>
              <a:rPr lang="en-US" dirty="0"/>
              <a:t>, a service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HttpClientet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tiszta</a:t>
            </a:r>
            <a:r>
              <a:rPr lang="en-US" dirty="0"/>
              <a:t> </a:t>
            </a:r>
            <a:r>
              <a:rPr lang="en-US" dirty="0" err="1"/>
              <a:t>rétegezést</a:t>
            </a:r>
            <a:r>
              <a:rPr lang="en-US" dirty="0"/>
              <a:t> és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átlátható</a:t>
            </a:r>
            <a:r>
              <a:rPr lang="en-US" dirty="0"/>
              <a:t> </a:t>
            </a:r>
            <a:r>
              <a:rPr lang="en-US" dirty="0" err="1"/>
              <a:t>felelősségeket</a:t>
            </a:r>
            <a:r>
              <a:rPr lang="en-US" dirty="0"/>
              <a:t> ad.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4501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Amikor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hu-HU" dirty="0"/>
              <a:t>, akkor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kapunk</a:t>
            </a:r>
            <a:r>
              <a:rPr lang="en-US" dirty="0"/>
              <a:t> </a:t>
            </a:r>
            <a:r>
              <a:rPr lang="en-US" dirty="0" err="1"/>
              <a:t>azonnal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hu-HU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tudjuk</a:t>
            </a:r>
            <a:r>
              <a:rPr lang="en-US" dirty="0"/>
              <a:t> </a:t>
            </a:r>
            <a:r>
              <a:rPr lang="en-US" dirty="0" err="1"/>
              <a:t>rögtön</a:t>
            </a:r>
            <a:r>
              <a:rPr lang="en-US" dirty="0"/>
              <a:t> </a:t>
            </a:r>
            <a:r>
              <a:rPr lang="en-US" dirty="0" err="1"/>
              <a:t>kiírni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hu-HU" dirty="0"/>
              <a:t>. </a:t>
            </a:r>
            <a:r>
              <a:rPr lang="en-US" dirty="0"/>
              <a:t>Az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1" dirty="0" err="1"/>
              <a:t>később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meg.</a:t>
            </a:r>
            <a:r>
              <a:rPr lang="hu-HU" dirty="0"/>
              <a:t> Ezt az aszinkron működést az </a:t>
            </a:r>
            <a:r>
              <a:rPr lang="hu-HU" dirty="0" err="1"/>
              <a:t>Observable</a:t>
            </a:r>
            <a:r>
              <a:rPr lang="hu-HU" dirty="0"/>
              <a:t> biztosítja.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660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Observable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hu-HU" dirty="0"/>
              <a:t>aszinkron </a:t>
            </a:r>
            <a:r>
              <a:rPr lang="en-US" dirty="0" err="1"/>
              <a:t>adatforrás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értéket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, </a:t>
            </a:r>
            <a:r>
              <a:rPr lang="en-US" dirty="0" err="1"/>
              <a:t>egymás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 </a:t>
            </a:r>
            <a:r>
              <a:rPr lang="en-US" dirty="0" err="1"/>
              <a:t>érkeznek</a:t>
            </a:r>
            <a:r>
              <a:rPr lang="en-US" dirty="0"/>
              <a:t> meg.</a:t>
            </a:r>
            <a:r>
              <a:rPr lang="hu-HU" dirty="0"/>
              <a:t>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mondjuk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Observable </a:t>
            </a:r>
            <a:r>
              <a:rPr lang="en-US" b="1" dirty="0" err="1"/>
              <a:t>időben</a:t>
            </a:r>
            <a:r>
              <a:rPr lang="en-US" b="1" dirty="0"/>
              <a:t> </a:t>
            </a:r>
            <a:r>
              <a:rPr lang="en-US" b="1" dirty="0" err="1"/>
              <a:t>érkező</a:t>
            </a:r>
            <a:r>
              <a:rPr lang="en-US" b="1" dirty="0"/>
              <a:t> </a:t>
            </a:r>
            <a:r>
              <a:rPr lang="en-US" b="1" dirty="0" err="1"/>
              <a:t>adatokat</a:t>
            </a:r>
            <a:r>
              <a:rPr lang="en-US" dirty="0"/>
              <a:t> </a:t>
            </a:r>
            <a:r>
              <a:rPr lang="en-US" dirty="0" err="1"/>
              <a:t>kezel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értjük</a:t>
            </a:r>
            <a:r>
              <a:rPr lang="en-US" dirty="0"/>
              <a:t> </a:t>
            </a:r>
            <a:r>
              <a:rPr lang="en-US" dirty="0" err="1"/>
              <a:t>alatta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azonnal</a:t>
            </a:r>
            <a:r>
              <a:rPr lang="en-US" b="1" dirty="0"/>
              <a:t> és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feltétlenül</a:t>
            </a:r>
            <a:r>
              <a:rPr lang="en-US" b="1" dirty="0"/>
              <a:t> </a:t>
            </a:r>
            <a:r>
              <a:rPr lang="en-US" b="1" dirty="0" err="1"/>
              <a:t>egyszerre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</a:t>
            </a:r>
            <a:r>
              <a:rPr lang="en-US" dirty="0" err="1"/>
              <a:t>rendelkezésre</a:t>
            </a:r>
            <a:r>
              <a:rPr lang="en-US" dirty="0"/>
              <a:t>.</a:t>
            </a:r>
            <a:r>
              <a:rPr lang="hu-HU" dirty="0"/>
              <a:t> </a:t>
            </a:r>
          </a:p>
          <a:p>
            <a:endParaRPr lang="hu-HU" dirty="0"/>
          </a:p>
          <a:p>
            <a:r>
              <a:rPr lang="en-US" dirty="0"/>
              <a:t>Minden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Angularban</a:t>
            </a:r>
            <a:r>
              <a:rPr lang="en-US" dirty="0"/>
              <a:t> </a:t>
            </a:r>
            <a:r>
              <a:rPr lang="en-US" b="1" dirty="0"/>
              <a:t>Observable-t ad </a:t>
            </a:r>
            <a:r>
              <a:rPr lang="en-US" b="1" dirty="0" err="1"/>
              <a:t>vissza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azonnal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hu-HU" dirty="0"/>
              <a:t>aszinkron </a:t>
            </a:r>
            <a:r>
              <a:rPr lang="en-US" dirty="0" err="1"/>
              <a:t>adatfolyam</a:t>
            </a:r>
            <a:r>
              <a:rPr lang="en-US" dirty="0"/>
              <a:t> </a:t>
            </a:r>
            <a:r>
              <a:rPr lang="en-US" dirty="0" err="1"/>
              <a:t>részeként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meg.</a:t>
            </a:r>
            <a:r>
              <a:rPr lang="hu-HU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elképzelni</a:t>
            </a:r>
            <a:r>
              <a:rPr lang="en-US" dirty="0"/>
              <a:t>, mint</a:t>
            </a:r>
            <a:r>
              <a:rPr lang="hu-HU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csapot</a:t>
            </a:r>
            <a:r>
              <a:rPr lang="en-US" dirty="0"/>
              <a:t>, amin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a </a:t>
            </a:r>
            <a:r>
              <a:rPr lang="en-US" dirty="0" err="1"/>
              <a:t>víz</a:t>
            </a:r>
            <a:r>
              <a:rPr lang="hu-HU" dirty="0"/>
              <a:t>, </a:t>
            </a:r>
            <a:r>
              <a:rPr lang="en-US" dirty="0"/>
              <a:t>mi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feliratkozunk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r>
              <a:rPr lang="en-US" dirty="0"/>
              <a:t>Az Observable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:</a:t>
            </a:r>
          </a:p>
          <a:p>
            <a:r>
              <a:rPr lang="hu-HU" dirty="0"/>
              <a:t>- Aszinkron módon </a:t>
            </a:r>
            <a:r>
              <a:rPr lang="en-US" dirty="0" err="1"/>
              <a:t>reagáljunk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adatra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megérkezik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kezeljük</a:t>
            </a:r>
            <a:r>
              <a:rPr lang="en-US" dirty="0"/>
              <a:t> a </a:t>
            </a:r>
            <a:r>
              <a:rPr lang="en-US" dirty="0" err="1"/>
              <a:t>hibákat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leiratkozzunk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 </a:t>
            </a:r>
            <a:r>
              <a:rPr lang="en-US" dirty="0" err="1"/>
              <a:t>szükség</a:t>
            </a:r>
            <a:endParaRPr lang="en-US" dirty="0"/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aszinkron</a:t>
            </a:r>
            <a:r>
              <a:rPr lang="en-US" dirty="0"/>
              <a:t> </a:t>
            </a:r>
            <a:r>
              <a:rPr lang="en-US" dirty="0" err="1"/>
              <a:t>gondolkodásmód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alapelve</a:t>
            </a:r>
            <a:r>
              <a:rPr lang="en-US" dirty="0"/>
              <a:t>, és </a:t>
            </a:r>
            <a:r>
              <a:rPr lang="en-US" dirty="0" err="1"/>
              <a:t>nélkülözhetetlen</a:t>
            </a:r>
            <a:r>
              <a:rPr lang="en-US" dirty="0"/>
              <a:t> a modern frontend </a:t>
            </a:r>
            <a:r>
              <a:rPr lang="en-US" dirty="0" err="1"/>
              <a:t>fejlesztésben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69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Angularban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b="1" dirty="0"/>
              <a:t>Observable-t ad </a:t>
            </a:r>
            <a:r>
              <a:rPr lang="en-US" b="1" dirty="0" err="1"/>
              <a:t>vissza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ígéret</a:t>
            </a:r>
            <a:r>
              <a:rPr lang="en-US" b="1" dirty="0"/>
              <a:t> </a:t>
            </a:r>
            <a:r>
              <a:rPr lang="en-US" b="1" dirty="0" err="1"/>
              <a:t>arra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1" dirty="0" err="1"/>
              <a:t>később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 fog </a:t>
            </a:r>
            <a:r>
              <a:rPr lang="en-US" dirty="0" err="1"/>
              <a:t>megérkezni</a:t>
            </a:r>
            <a:r>
              <a:rPr lang="en-US" dirty="0"/>
              <a:t>.</a:t>
            </a:r>
            <a:endParaRPr lang="hu-HU" dirty="0"/>
          </a:p>
          <a:p>
            <a:endParaRPr lang="hu-HU" b="0" dirty="0"/>
          </a:p>
          <a:p>
            <a:r>
              <a:rPr lang="en-US" dirty="0"/>
              <a:t>Az,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Observable </a:t>
            </a:r>
            <a:r>
              <a:rPr lang="en-US" i="1" dirty="0"/>
              <a:t>lazy</a:t>
            </a:r>
            <a:r>
              <a:rPr lang="en-US" dirty="0"/>
              <a:t>,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kód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indul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b="1" dirty="0"/>
              <a:t> azonal</a:t>
            </a:r>
            <a:r>
              <a:rPr lang="hu-HU" b="1" dirty="0"/>
              <a:t>,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aktiválódik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b="1" dirty="0" err="1"/>
              <a:t>feliratkozunk</a:t>
            </a:r>
            <a:r>
              <a:rPr lang="en-US" b="1" dirty="0"/>
              <a:t> </a:t>
            </a:r>
            <a:r>
              <a:rPr lang="en-US" b="1" dirty="0" err="1"/>
              <a:t>rá</a:t>
            </a:r>
            <a:r>
              <a:rPr lang="hu-HU" b="1" dirty="0"/>
              <a:t>. </a:t>
            </a:r>
            <a:r>
              <a:rPr lang="hu-HU" b="0" dirty="0"/>
              <a:t>Így</a:t>
            </a:r>
            <a:r>
              <a:rPr lang="hu-HU" b="1" dirty="0"/>
              <a:t> </a:t>
            </a:r>
            <a:r>
              <a:rPr lang="hu-HU" b="0" dirty="0"/>
              <a:t>a</a:t>
            </a:r>
            <a:r>
              <a:rPr lang="es-ES" dirty="0"/>
              <a:t> </a:t>
            </a:r>
            <a:r>
              <a:rPr lang="es-ES" dirty="0" err="1"/>
              <a:t>tényleges</a:t>
            </a:r>
            <a:r>
              <a:rPr lang="es-ES" dirty="0"/>
              <a:t> </a:t>
            </a:r>
            <a:r>
              <a:rPr lang="es-ES" dirty="0" err="1"/>
              <a:t>kérés</a:t>
            </a:r>
            <a:r>
              <a:rPr lang="es-ES" dirty="0"/>
              <a:t> </a:t>
            </a:r>
            <a:r>
              <a:rPr lang="es-ES" dirty="0" err="1"/>
              <a:t>csak</a:t>
            </a:r>
            <a:r>
              <a:rPr lang="es-ES" dirty="0"/>
              <a:t> a </a:t>
            </a:r>
            <a:r>
              <a:rPr lang="es-E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subscribe</a:t>
            </a:r>
            <a:r>
              <a:rPr lang="es-ES" dirty="0"/>
              <a:t>-</a:t>
            </a:r>
            <a:r>
              <a:rPr lang="es-ES" dirty="0" err="1"/>
              <a:t>nál</a:t>
            </a:r>
            <a:r>
              <a:rPr lang="es-ES" dirty="0"/>
              <a:t> </a:t>
            </a:r>
            <a:r>
              <a:rPr lang="es-ES" dirty="0" err="1"/>
              <a:t>indul</a:t>
            </a:r>
            <a:r>
              <a:rPr lang="es-ES" dirty="0"/>
              <a:t> el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meghívjuk</a:t>
            </a:r>
            <a:r>
              <a:rPr lang="en-US" dirty="0"/>
              <a:t>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subscribe</a:t>
            </a:r>
            <a:r>
              <a:rPr lang="en-US" dirty="0"/>
              <a:t>-</a:t>
            </a:r>
            <a:r>
              <a:rPr lang="en-US" dirty="0" err="1"/>
              <a:t>ot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három</a:t>
            </a:r>
            <a:r>
              <a:rPr lang="en-US" dirty="0"/>
              <a:t> </a:t>
            </a:r>
            <a:r>
              <a:rPr lang="en-US" dirty="0" err="1"/>
              <a:t>dolog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feliratkozunk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adatfolyamra</a:t>
            </a:r>
            <a:endParaRPr lang="hu-HU" dirty="0"/>
          </a:p>
          <a:p>
            <a:r>
              <a:rPr lang="hu-HU" dirty="0"/>
              <a:t>- </a:t>
            </a:r>
            <a:r>
              <a:rPr lang="en-US" dirty="0" err="1"/>
              <a:t>elindul</a:t>
            </a:r>
            <a:r>
              <a:rPr lang="en-US" dirty="0"/>
              <a:t> a HTTP </a:t>
            </a:r>
            <a:r>
              <a:rPr lang="en-US" dirty="0" err="1"/>
              <a:t>kérés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megadjuk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reagáljunk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eseményekre</a:t>
            </a:r>
            <a:r>
              <a:rPr lang="hu-HU" dirty="0"/>
              <a:t> (</a:t>
            </a:r>
            <a:r>
              <a:rPr lang="hu-HU" dirty="0" err="1"/>
              <a:t>next</a:t>
            </a:r>
            <a:r>
              <a:rPr lang="hu-HU" dirty="0"/>
              <a:t>, </a:t>
            </a:r>
            <a:r>
              <a:rPr lang="hu-HU" dirty="0" err="1"/>
              <a:t>error</a:t>
            </a:r>
            <a:r>
              <a:rPr lang="hu-HU" dirty="0"/>
              <a:t> és </a:t>
            </a:r>
            <a:r>
              <a:rPr lang="hu-HU" dirty="0" err="1"/>
              <a:t>complete</a:t>
            </a:r>
            <a:r>
              <a:rPr lang="hu-HU" dirty="0"/>
              <a:t> eseménykezelők)</a:t>
            </a:r>
            <a:endParaRPr lang="en-US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en-US" dirty="0"/>
              <a:t> callback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fut</a:t>
            </a:r>
            <a:r>
              <a:rPr lang="en-US" dirty="0"/>
              <a:t> le, </a:t>
            </a:r>
            <a:r>
              <a:rPr lang="en-US" dirty="0" err="1"/>
              <a:t>amikor</a:t>
            </a:r>
            <a:r>
              <a:rPr lang="en-US" dirty="0"/>
              <a:t> a backend </a:t>
            </a:r>
            <a:r>
              <a:rPr lang="en-US" b="1" dirty="0" err="1"/>
              <a:t>sikeresen</a:t>
            </a:r>
            <a:r>
              <a:rPr lang="en-US" b="1" dirty="0"/>
              <a:t> </a:t>
            </a:r>
            <a:r>
              <a:rPr lang="en-US" b="1" dirty="0" err="1"/>
              <a:t>visszaküldi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adatot</a:t>
            </a:r>
            <a:r>
              <a:rPr lang="hu-HU" b="1" dirty="0"/>
              <a:t>. </a:t>
            </a:r>
            <a:r>
              <a:rPr lang="en-US" dirty="0"/>
              <a:t>HTTP-</a:t>
            </a:r>
            <a:r>
              <a:rPr lang="en-US" dirty="0" err="1"/>
              <a:t>nél</a:t>
            </a:r>
            <a:r>
              <a:rPr lang="en-US" dirty="0"/>
              <a:t>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b="1" dirty="0" err="1"/>
              <a:t>egyszer</a:t>
            </a:r>
            <a:r>
              <a:rPr lang="en-US" b="1" dirty="0"/>
              <a:t> </a:t>
            </a:r>
            <a:r>
              <a:rPr lang="en-US" b="1" dirty="0" err="1"/>
              <a:t>fut</a:t>
            </a:r>
            <a:r>
              <a:rPr lang="en-US" b="1" dirty="0"/>
              <a:t> le</a:t>
            </a:r>
            <a:r>
              <a:rPr lang="en-US" dirty="0"/>
              <a:t>, de </a:t>
            </a:r>
            <a:r>
              <a:rPr lang="en-US" dirty="0" err="1"/>
              <a:t>az</a:t>
            </a:r>
            <a:r>
              <a:rPr lang="en-US" dirty="0"/>
              <a:t> Observable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lehetőséget</a:t>
            </a:r>
            <a:r>
              <a:rPr lang="en-US" dirty="0"/>
              <a:t> </a:t>
            </a:r>
            <a:r>
              <a:rPr lang="en-US" dirty="0" err="1"/>
              <a:t>adna</a:t>
            </a:r>
            <a:r>
              <a:rPr lang="en-US" dirty="0"/>
              <a:t> </a:t>
            </a:r>
            <a:r>
              <a:rPr lang="en-US" dirty="0" err="1"/>
              <a:t>többszöri</a:t>
            </a:r>
            <a:r>
              <a:rPr lang="en-US" dirty="0"/>
              <a:t> </a:t>
            </a:r>
            <a:r>
              <a:rPr lang="en-US" dirty="0" err="1"/>
              <a:t>értékre</a:t>
            </a:r>
            <a:r>
              <a:rPr lang="en-US" dirty="0"/>
              <a:t> is.</a:t>
            </a:r>
            <a:endParaRPr lang="hu-HU" dirty="0"/>
          </a:p>
          <a:p>
            <a:endParaRPr lang="hu-HU" b="0" dirty="0"/>
          </a:p>
          <a:p>
            <a:r>
              <a:rPr lang="en-US" dirty="0"/>
              <a:t>Ha a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hibával</a:t>
            </a:r>
            <a:r>
              <a:rPr lang="en-US" dirty="0"/>
              <a:t> </a:t>
            </a:r>
            <a:r>
              <a:rPr lang="en-US" dirty="0" err="1"/>
              <a:t>tér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hu-HU" dirty="0"/>
              <a:t>, akkor </a:t>
            </a:r>
            <a:r>
              <a:rPr lang="en-US" b="1" dirty="0" err="1"/>
              <a:t>nem</a:t>
            </a:r>
            <a:r>
              <a:rPr lang="en-US" b="1" dirty="0"/>
              <a:t>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en-US" b="1" dirty="0"/>
              <a:t> </a:t>
            </a:r>
            <a:r>
              <a:rPr lang="en-US" b="1" dirty="0" err="1"/>
              <a:t>fut</a:t>
            </a:r>
            <a:r>
              <a:rPr lang="en-US" b="1" dirty="0"/>
              <a:t> le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callback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endParaRPr lang="hu-HU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complete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adatfolyam</a:t>
            </a:r>
            <a:r>
              <a:rPr lang="en-US" dirty="0"/>
              <a:t> </a:t>
            </a:r>
            <a:r>
              <a:rPr lang="en-US" dirty="0" err="1"/>
              <a:t>befejeződött</a:t>
            </a:r>
            <a:r>
              <a:rPr lang="hu-HU" dirty="0"/>
              <a:t>, és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érték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fog </a:t>
            </a:r>
            <a:r>
              <a:rPr lang="en-US" b="1" dirty="0" err="1"/>
              <a:t>érkezni</a:t>
            </a:r>
            <a:r>
              <a:rPr lang="hu-HU" b="1" dirty="0"/>
              <a:t>. </a:t>
            </a:r>
            <a:r>
              <a:rPr lang="en-US" dirty="0"/>
              <a:t>HTTP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megtörténik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Röviden: </a:t>
            </a:r>
            <a:r>
              <a:rPr lang="en-US" dirty="0" err="1"/>
              <a:t>Angularban</a:t>
            </a:r>
            <a:r>
              <a:rPr lang="en-US" dirty="0"/>
              <a:t> a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Observable,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feliratkozáskor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és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, a </a:t>
            </a:r>
            <a:r>
              <a:rPr lang="en-US" dirty="0" err="1"/>
              <a:t>hiba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a </a:t>
            </a:r>
            <a:r>
              <a:rPr lang="en-US" dirty="0" err="1"/>
              <a:t>lezárás</a:t>
            </a:r>
            <a:r>
              <a:rPr lang="en-US" dirty="0"/>
              <a:t> </a:t>
            </a:r>
            <a:r>
              <a:rPr lang="en-US" dirty="0" err="1"/>
              <a:t>eseményként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.</a:t>
            </a:r>
          </a:p>
          <a:p>
            <a:endParaRPr lang="hu-H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66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témához</a:t>
            </a:r>
            <a:r>
              <a:rPr lang="en-US" dirty="0"/>
              <a:t> </a:t>
            </a:r>
            <a:r>
              <a:rPr lang="en-US" dirty="0" err="1"/>
              <a:t>érkeztünk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alkalmazásban</a:t>
            </a:r>
            <a:r>
              <a:rPr lang="en-US" dirty="0"/>
              <a:t> </a:t>
            </a:r>
            <a:r>
              <a:rPr lang="en-US" b="1" dirty="0" err="1"/>
              <a:t>kritikus</a:t>
            </a:r>
            <a:r>
              <a:rPr lang="en-US" dirty="0"/>
              <a:t>, </a:t>
            </a:r>
            <a:r>
              <a:rPr lang="en-US" dirty="0" err="1"/>
              <a:t>mégis</a:t>
            </a:r>
            <a:r>
              <a:rPr lang="en-US" dirty="0"/>
              <a:t> </a:t>
            </a:r>
            <a:r>
              <a:rPr lang="en-US" dirty="0" err="1"/>
              <a:t>sokszor</a:t>
            </a:r>
            <a:r>
              <a:rPr lang="en-US" dirty="0"/>
              <a:t> </a:t>
            </a:r>
            <a:r>
              <a:rPr lang="en-US" dirty="0" err="1"/>
              <a:t>alulértékelt</a:t>
            </a:r>
            <a:r>
              <a:rPr lang="en-US" dirty="0"/>
              <a:t>: </a:t>
            </a:r>
            <a:r>
              <a:rPr lang="en-US" dirty="0" err="1"/>
              <a:t>ez</a:t>
            </a:r>
            <a:r>
              <a:rPr lang="en-US" dirty="0"/>
              <a:t> a </a:t>
            </a:r>
            <a:r>
              <a:rPr lang="en-US" b="1" dirty="0" err="1"/>
              <a:t>hibakezelés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Egy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megírt</a:t>
            </a:r>
            <a:r>
              <a:rPr lang="en-US" dirty="0"/>
              <a:t> Angular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attól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soha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hibázik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attól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kiszámíthatóan</a:t>
            </a:r>
            <a:r>
              <a:rPr lang="en-US" b="1" dirty="0"/>
              <a:t> és </a:t>
            </a:r>
            <a:r>
              <a:rPr lang="en-US" b="1" dirty="0" err="1"/>
              <a:t>kezelhetően</a:t>
            </a:r>
            <a:r>
              <a:rPr lang="en-US" b="1" dirty="0"/>
              <a:t> </a:t>
            </a:r>
            <a:r>
              <a:rPr lang="en-US" b="1" dirty="0" err="1"/>
              <a:t>reagál</a:t>
            </a:r>
            <a:r>
              <a:rPr lang="en-US" b="1" dirty="0"/>
              <a:t> a </a:t>
            </a:r>
            <a:r>
              <a:rPr lang="en-US" b="1" dirty="0" err="1"/>
              <a:t>hibákra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alkalmazás</a:t>
            </a:r>
            <a:r>
              <a:rPr lang="en-US" dirty="0"/>
              <a:t> HTTP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,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számolnunk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azzal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b="1" dirty="0" err="1"/>
              <a:t>valami</a:t>
            </a:r>
            <a:r>
              <a:rPr lang="en-US" b="1" dirty="0"/>
              <a:t> </a:t>
            </a:r>
            <a:r>
              <a:rPr lang="en-US" b="1" dirty="0" err="1"/>
              <a:t>elromolhat</a:t>
            </a:r>
            <a:r>
              <a:rPr lang="hu-HU" b="1" dirty="0"/>
              <a:t>”</a:t>
            </a:r>
            <a:r>
              <a:rPr lang="hu-HU" b="0" dirty="0"/>
              <a:t>.</a:t>
            </a:r>
          </a:p>
          <a:p>
            <a:endParaRPr lang="hu-HU" b="0" dirty="0"/>
          </a:p>
          <a:p>
            <a:r>
              <a:rPr lang="en-US" dirty="0"/>
              <a:t>Fontos </a:t>
            </a:r>
            <a:r>
              <a:rPr lang="en-US" dirty="0" err="1"/>
              <a:t>különbséget</a:t>
            </a:r>
            <a:r>
              <a:rPr lang="en-US" dirty="0"/>
              <a:t> </a:t>
            </a:r>
            <a:r>
              <a:rPr lang="en-US" dirty="0" err="1"/>
              <a:t>tenni</a:t>
            </a:r>
            <a:r>
              <a:rPr lang="en-US" dirty="0"/>
              <a:t> </a:t>
            </a:r>
            <a:r>
              <a:rPr lang="en-US" b="1" dirty="0" err="1"/>
              <a:t>kétféle</a:t>
            </a:r>
            <a:r>
              <a:rPr lang="en-US" b="1" dirty="0"/>
              <a:t> </a:t>
            </a:r>
            <a:r>
              <a:rPr lang="en-US" b="1" dirty="0" err="1"/>
              <a:t>hibatípus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hu-HU" dirty="0"/>
              <a:t>: backend hiba és a hálózati hiba. Mindkettőt le kell tudni helyesen kezelni.</a:t>
            </a:r>
            <a:endParaRPr lang="en-US" dirty="0"/>
          </a:p>
          <a:p>
            <a:endParaRPr lang="hu-HU" dirty="0"/>
          </a:p>
          <a:p>
            <a:r>
              <a:rPr lang="pt-BR" dirty="0"/>
              <a:t>A hibakezelés nem a komponens dolga</a:t>
            </a:r>
            <a:r>
              <a:rPr lang="hu-HU" dirty="0"/>
              <a:t>. A service felismeri a hibát, </a:t>
            </a:r>
            <a:r>
              <a:rPr lang="hu-HU" dirty="0" err="1"/>
              <a:t>logolhatja</a:t>
            </a:r>
            <a:r>
              <a:rPr lang="hu-HU" dirty="0"/>
              <a:t>, átalakíthatja felhasználó </a:t>
            </a:r>
            <a:r>
              <a:rPr lang="hu-HU"/>
              <a:t>barát formátumba, </a:t>
            </a:r>
            <a:r>
              <a:rPr lang="hu-HU" dirty="0"/>
              <a:t>stb. A komponens csak reagál, és megjeleníti a hibaüzenetet. </a:t>
            </a:r>
            <a:r>
              <a:rPr lang="en-US" dirty="0"/>
              <a:t>Ez </a:t>
            </a:r>
            <a:r>
              <a:rPr lang="en-US" dirty="0" err="1"/>
              <a:t>tiszta</a:t>
            </a:r>
            <a:r>
              <a:rPr lang="en-US" dirty="0"/>
              <a:t> </a:t>
            </a:r>
            <a:r>
              <a:rPr lang="en-US" dirty="0" err="1"/>
              <a:t>felelősségszétválasztás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2829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</a:t>
            </a:r>
            <a:r>
              <a:rPr lang="hu-HU" dirty="0" err="1"/>
              <a:t>interceptor</a:t>
            </a:r>
            <a:r>
              <a:rPr lang="hu-HU" dirty="0"/>
              <a:t> olyan, mint egy </a:t>
            </a:r>
            <a:r>
              <a:rPr lang="hu-HU" b="1" dirty="0"/>
              <a:t>szűrő</a:t>
            </a:r>
            <a:r>
              <a:rPr lang="hu-HU" dirty="0"/>
              <a:t> a HTTP forgalomban, minden kérés és válasz átfut rajta. Az </a:t>
            </a:r>
            <a:r>
              <a:rPr lang="hu-HU" dirty="0" err="1"/>
              <a:t>interceptor</a:t>
            </a:r>
            <a:r>
              <a:rPr lang="hu-HU" dirty="0"/>
              <a:t> e</a:t>
            </a:r>
            <a:r>
              <a:rPr lang="en-US" dirty="0" err="1"/>
              <a:t>gy</a:t>
            </a:r>
            <a:r>
              <a:rPr lang="en-US" dirty="0"/>
              <a:t> </a:t>
            </a:r>
            <a:r>
              <a:rPr lang="en-US" dirty="0" err="1"/>
              <a:t>speciális</a:t>
            </a:r>
            <a:r>
              <a:rPr lang="en-US" dirty="0"/>
              <a:t> Angular </a:t>
            </a:r>
            <a:r>
              <a:rPr lang="en-US" dirty="0" err="1"/>
              <a:t>mechanizmus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minden</a:t>
            </a:r>
            <a:r>
              <a:rPr lang="en-US" b="1" dirty="0"/>
              <a:t> HTTP </a:t>
            </a:r>
            <a:r>
              <a:rPr lang="en-US" b="1" dirty="0" err="1"/>
              <a:t>kérésre</a:t>
            </a:r>
            <a:r>
              <a:rPr lang="en-US" b="1" dirty="0"/>
              <a:t> és </a:t>
            </a:r>
            <a:r>
              <a:rPr lang="en-US" b="1" dirty="0" err="1"/>
              <a:t>válaszra</a:t>
            </a:r>
            <a:r>
              <a:rPr lang="en-US" dirty="0"/>
              <a:t> </a:t>
            </a:r>
            <a:r>
              <a:rPr lang="en-US" dirty="0" err="1"/>
              <a:t>központi</a:t>
            </a:r>
            <a:r>
              <a:rPr lang="en-US" dirty="0"/>
              <a:t> </a:t>
            </a:r>
            <a:r>
              <a:rPr lang="en-US" dirty="0" err="1"/>
              <a:t>szabályokat</a:t>
            </a:r>
            <a:r>
              <a:rPr lang="hu-HU" dirty="0"/>
              <a:t> </a:t>
            </a:r>
            <a:r>
              <a:rPr lang="en-US" dirty="0" err="1"/>
              <a:t>alkalmazzunk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 err="1"/>
              <a:t>Tipikus</a:t>
            </a:r>
            <a:r>
              <a:rPr lang="en-US" dirty="0"/>
              <a:t> </a:t>
            </a:r>
            <a:r>
              <a:rPr lang="en-US" dirty="0" err="1"/>
              <a:t>példák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hitelesítési</a:t>
            </a:r>
            <a:r>
              <a:rPr lang="en-US" dirty="0"/>
              <a:t> token </a:t>
            </a:r>
            <a:r>
              <a:rPr lang="en-US" dirty="0" err="1"/>
              <a:t>hozzáadása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naplózás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globális</a:t>
            </a:r>
            <a:r>
              <a:rPr lang="en-US" dirty="0"/>
              <a:t> </a:t>
            </a:r>
            <a:r>
              <a:rPr lang="en-US" dirty="0" err="1"/>
              <a:t>hibakezelés</a:t>
            </a:r>
            <a:endParaRPr lang="hu-HU" dirty="0"/>
          </a:p>
          <a:p>
            <a:endParaRPr lang="en-US" dirty="0"/>
          </a:p>
          <a:p>
            <a:r>
              <a:rPr lang="en-US" dirty="0"/>
              <a:t>Az interceptor </a:t>
            </a:r>
            <a:r>
              <a:rPr lang="en-US" dirty="0" err="1"/>
              <a:t>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kell</a:t>
            </a:r>
            <a:r>
              <a:rPr lang="en-US" b="1" dirty="0"/>
              <a:t> </a:t>
            </a:r>
            <a:r>
              <a:rPr lang="en-US" b="1" dirty="0" err="1"/>
              <a:t>minden</a:t>
            </a:r>
            <a:r>
              <a:rPr lang="en-US" b="1" dirty="0"/>
              <a:t> </a:t>
            </a:r>
            <a:r>
              <a:rPr lang="en-US" b="1" dirty="0" err="1"/>
              <a:t>egyes</a:t>
            </a:r>
            <a:r>
              <a:rPr lang="en-US" b="1" dirty="0"/>
              <a:t> service-ben </a:t>
            </a:r>
            <a:r>
              <a:rPr lang="en-US" b="1" dirty="0" err="1"/>
              <a:t>ugyanazt</a:t>
            </a:r>
            <a:r>
              <a:rPr lang="en-US" b="1" dirty="0"/>
              <a:t> a </a:t>
            </a:r>
            <a:r>
              <a:rPr lang="en-US" b="1" dirty="0" err="1"/>
              <a:t>kódot</a:t>
            </a:r>
            <a:r>
              <a:rPr lang="en-US" b="1" dirty="0"/>
              <a:t> </a:t>
            </a:r>
            <a:r>
              <a:rPr lang="en-US" b="1" dirty="0" err="1"/>
              <a:t>megismételni</a:t>
            </a:r>
            <a:r>
              <a:rPr lang="en-US" dirty="0"/>
              <a:t>. Egy </a:t>
            </a:r>
            <a:r>
              <a:rPr lang="en-US" dirty="0" err="1"/>
              <a:t>helyen</a:t>
            </a:r>
            <a:r>
              <a:rPr lang="en-US" dirty="0"/>
              <a:t> </a:t>
            </a:r>
            <a:r>
              <a:rPr lang="en-US" dirty="0" err="1"/>
              <a:t>definiáljuk</a:t>
            </a:r>
            <a:r>
              <a:rPr lang="en-US" dirty="0"/>
              <a:t> a </a:t>
            </a:r>
            <a:r>
              <a:rPr lang="en-US" dirty="0" err="1"/>
              <a:t>szabályokat</a:t>
            </a:r>
            <a:r>
              <a:rPr lang="en-US" dirty="0"/>
              <a:t>, és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alkalmazza</a:t>
            </a:r>
            <a:r>
              <a:rPr lang="en-US" dirty="0"/>
              <a:t> </a:t>
            </a:r>
            <a:r>
              <a:rPr lang="en-US" dirty="0" err="1"/>
              <a:t>őket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572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template</a:t>
            </a:r>
            <a:r>
              <a:rPr lang="hu-HU" dirty="0"/>
              <a:t> és a komponens kezeli a felhasználói felületet, az interakciókat, amikor adatra van </a:t>
            </a:r>
            <a:r>
              <a:rPr lang="hu-HU" dirty="0" err="1"/>
              <a:t>szüskég</a:t>
            </a:r>
            <a:r>
              <a:rPr lang="hu-HU" dirty="0"/>
              <a:t> a backend-</a:t>
            </a:r>
            <a:r>
              <a:rPr lang="hu-HU" dirty="0" err="1"/>
              <a:t>ről</a:t>
            </a:r>
            <a:r>
              <a:rPr lang="hu-HU" dirty="0"/>
              <a:t>, akkor  komponens a service-</a:t>
            </a:r>
            <a:r>
              <a:rPr lang="hu-HU" dirty="0" err="1"/>
              <a:t>hez</a:t>
            </a:r>
            <a:r>
              <a:rPr lang="hu-HU" dirty="0"/>
              <a:t> fordul, aki megvalósítja az adatkommunikációt a </a:t>
            </a:r>
            <a:r>
              <a:rPr lang="hu-HU" dirty="0" err="1"/>
              <a:t>HttpClient</a:t>
            </a:r>
            <a:r>
              <a:rPr lang="hu-HU" dirty="0"/>
              <a:t> segítségével. 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HttpClient</a:t>
            </a:r>
            <a:r>
              <a:rPr lang="hu-HU" dirty="0"/>
              <a:t> valósítja meg a tényleges HTTP hívásokat a backend REST API felé. A HTTP kérés és válasz átfuthat </a:t>
            </a:r>
            <a:r>
              <a:rPr lang="hu-HU" dirty="0" err="1"/>
              <a:t>interceptorokon</a:t>
            </a:r>
            <a:r>
              <a:rPr lang="hu-HU" dirty="0"/>
              <a:t> (de ez nem mindig szükséges). A válasz </a:t>
            </a:r>
            <a:r>
              <a:rPr lang="hu-HU" dirty="0" err="1"/>
              <a:t>Observable</a:t>
            </a:r>
            <a:r>
              <a:rPr lang="hu-HU" dirty="0"/>
              <a:t>-ként érkezik, amiből a komponens megkapja az adatot.</a:t>
            </a:r>
          </a:p>
          <a:p>
            <a:endParaRPr lang="hu-HU" dirty="0"/>
          </a:p>
          <a:p>
            <a:r>
              <a:rPr lang="hu-HU" dirty="0"/>
              <a:t>A service-ben lévő függvények visszatérési értéke </a:t>
            </a:r>
            <a:r>
              <a:rPr lang="hu-HU" dirty="0" err="1"/>
              <a:t>Observable</a:t>
            </a:r>
            <a:r>
              <a:rPr lang="hu-HU" dirty="0"/>
              <a:t>, amit a komponens a feliratkozáshoz használ, hogy a </a:t>
            </a:r>
            <a:r>
              <a:rPr lang="hu-HU" dirty="0" err="1"/>
              <a:t>callback</a:t>
            </a:r>
            <a:r>
              <a:rPr lang="hu-HU" dirty="0"/>
              <a:t> eseménykezelőkben megkapja majd az adatot.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374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Ezen</a:t>
            </a:r>
            <a:r>
              <a:rPr lang="en-US" dirty="0"/>
              <a:t> a ponton </a:t>
            </a:r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összefoglalni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is </a:t>
            </a:r>
            <a:r>
              <a:rPr lang="en-US" dirty="0" err="1"/>
              <a:t>épül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tipikus</a:t>
            </a:r>
            <a:r>
              <a:rPr lang="en-US" b="0" dirty="0"/>
              <a:t> Angular </a:t>
            </a:r>
            <a:r>
              <a:rPr lang="en-US" b="0" dirty="0" err="1"/>
              <a:t>alkalmazás</a:t>
            </a:r>
            <a:r>
              <a:rPr lang="en-US" b="0" dirty="0"/>
              <a:t> </a:t>
            </a:r>
            <a:r>
              <a:rPr lang="en-US" b="0" dirty="0" err="1"/>
              <a:t>adatkezelése</a:t>
            </a:r>
            <a:r>
              <a:rPr lang="en-US" b="0" dirty="0"/>
              <a:t> és </a:t>
            </a:r>
            <a:r>
              <a:rPr lang="en-US" b="0" dirty="0" err="1"/>
              <a:t>kommunikációja</a:t>
            </a:r>
            <a:r>
              <a:rPr lang="hu-HU" b="0" dirty="0"/>
              <a:t>.</a:t>
            </a:r>
          </a:p>
          <a:p>
            <a:endParaRPr lang="hu-HU" b="0" dirty="0"/>
          </a:p>
          <a:p>
            <a:r>
              <a:rPr lang="en-US" dirty="0"/>
              <a:t>A </a:t>
            </a:r>
            <a:r>
              <a:rPr lang="en-US" b="1" dirty="0" err="1"/>
              <a:t>komponens</a:t>
            </a:r>
            <a:r>
              <a:rPr lang="en-US" dirty="0"/>
              <a:t> </a:t>
            </a:r>
            <a:r>
              <a:rPr lang="en-US" dirty="0" err="1"/>
              <a:t>feladata</a:t>
            </a:r>
            <a:r>
              <a:rPr lang="en-US" dirty="0"/>
              <a:t> </a:t>
            </a:r>
            <a:r>
              <a:rPr lang="en-US" dirty="0" err="1"/>
              <a:t>kizárólag</a:t>
            </a:r>
            <a:r>
              <a:rPr lang="en-US" dirty="0"/>
              <a:t> a </a:t>
            </a:r>
            <a:r>
              <a:rPr lang="en-US" b="1" dirty="0" err="1"/>
              <a:t>felhasználói</a:t>
            </a:r>
            <a:r>
              <a:rPr lang="en-US" b="1" dirty="0"/>
              <a:t> </a:t>
            </a:r>
            <a:r>
              <a:rPr lang="en-US" b="1" dirty="0" err="1"/>
              <a:t>felület</a:t>
            </a:r>
            <a:r>
              <a:rPr lang="en-US" b="1" dirty="0"/>
              <a:t> </a:t>
            </a:r>
            <a:r>
              <a:rPr lang="en-US" b="1" dirty="0" err="1"/>
              <a:t>kezelése</a:t>
            </a:r>
            <a:r>
              <a:rPr lang="hu-HU" b="1" dirty="0"/>
              <a:t>.</a:t>
            </a:r>
            <a:r>
              <a:rPr lang="hu-HU" b="0" dirty="0"/>
              <a:t> </a:t>
            </a:r>
            <a:r>
              <a:rPr lang="hu-HU" dirty="0"/>
              <a:t>Nem tartalmaz üzleti logikát, nem hív direkt backend API-t, és nem ismeri a rendszer belső működését.</a:t>
            </a:r>
          </a:p>
          <a:p>
            <a:endParaRPr lang="hu-HU" dirty="0"/>
          </a:p>
          <a:p>
            <a:r>
              <a:rPr lang="en-US" dirty="0"/>
              <a:t>Az Angular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szíve</a:t>
            </a:r>
            <a:r>
              <a:rPr lang="en-US" dirty="0"/>
              <a:t> a </a:t>
            </a:r>
            <a:r>
              <a:rPr lang="en-US" b="1" dirty="0"/>
              <a:t>service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Ide </a:t>
            </a:r>
            <a:r>
              <a:rPr lang="en-US" dirty="0" err="1"/>
              <a:t>kerül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kód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b="0" dirty="0" err="1"/>
              <a:t>nem</a:t>
            </a:r>
            <a:r>
              <a:rPr lang="en-US" b="0" dirty="0"/>
              <a:t> a </a:t>
            </a:r>
            <a:r>
              <a:rPr lang="en-US" b="0" dirty="0" err="1"/>
              <a:t>felhasználói</a:t>
            </a:r>
            <a:r>
              <a:rPr lang="en-US" b="0" dirty="0"/>
              <a:t> </a:t>
            </a:r>
            <a:r>
              <a:rPr lang="en-US" b="0" dirty="0" err="1"/>
              <a:t>felülethez</a:t>
            </a:r>
            <a:r>
              <a:rPr lang="en-US" b="0" dirty="0"/>
              <a:t> </a:t>
            </a:r>
            <a:r>
              <a:rPr lang="en-US" b="0" dirty="0" err="1"/>
              <a:t>kötődik</a:t>
            </a:r>
            <a:r>
              <a:rPr lang="hu-HU" b="1" dirty="0"/>
              <a:t>. </a:t>
            </a:r>
            <a:r>
              <a:rPr lang="hu-HU" dirty="0"/>
              <a:t>A service célja, hogy a komponenseket </a:t>
            </a:r>
            <a:r>
              <a:rPr lang="hu-HU" b="1" dirty="0"/>
              <a:t>tehermentesítse</a:t>
            </a:r>
            <a:r>
              <a:rPr lang="hu-HU" dirty="0"/>
              <a:t>, és egy központi helyre szervezze a működést.</a:t>
            </a:r>
          </a:p>
          <a:p>
            <a:endParaRPr lang="hu-HU" dirty="0"/>
          </a:p>
          <a:p>
            <a:r>
              <a:rPr lang="en-US" dirty="0"/>
              <a:t>A service-ek </a:t>
            </a:r>
            <a:r>
              <a:rPr lang="en-US" dirty="0" err="1"/>
              <a:t>gyakran</a:t>
            </a:r>
            <a:r>
              <a:rPr lang="en-US" dirty="0"/>
              <a:t> a </a:t>
            </a:r>
            <a:r>
              <a:rPr lang="en-US" dirty="0" err="1"/>
              <a:t>backendhez</a:t>
            </a:r>
            <a:r>
              <a:rPr lang="en-US" dirty="0"/>
              <a:t> </a:t>
            </a:r>
            <a:r>
              <a:rPr lang="en-US" dirty="0" err="1"/>
              <a:t>kapcsolódnak</a:t>
            </a:r>
            <a:r>
              <a:rPr lang="en-US" dirty="0"/>
              <a:t>, és </a:t>
            </a:r>
            <a:r>
              <a:rPr lang="en-US" dirty="0" err="1"/>
              <a:t>ehhez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HttpClientet</a:t>
            </a:r>
            <a:r>
              <a:rPr lang="en-US" dirty="0"/>
              <a:t> </a:t>
            </a:r>
            <a:r>
              <a:rPr lang="en-US" dirty="0" err="1"/>
              <a:t>biztosítja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Minden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Angularban</a:t>
            </a:r>
            <a:r>
              <a:rPr lang="en-US" dirty="0"/>
              <a:t> </a:t>
            </a:r>
            <a:r>
              <a:rPr lang="en-US" b="1" dirty="0"/>
              <a:t>Observable-t </a:t>
            </a:r>
            <a:r>
              <a:rPr lang="en-US" b="0" dirty="0"/>
              <a:t>ad </a:t>
            </a:r>
            <a:r>
              <a:rPr lang="en-US" b="0" dirty="0" err="1"/>
              <a:t>vissza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azonnal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adatfolyam</a:t>
            </a:r>
            <a:r>
              <a:rPr lang="en-US" dirty="0"/>
              <a:t> </a:t>
            </a:r>
            <a:r>
              <a:rPr lang="en-US" dirty="0" err="1"/>
              <a:t>részeként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meg.</a:t>
            </a:r>
            <a:endParaRPr lang="hu-HU" dirty="0"/>
          </a:p>
          <a:p>
            <a:endParaRPr lang="hu-HU" dirty="0"/>
          </a:p>
          <a:p>
            <a:r>
              <a:rPr lang="en-US" dirty="0"/>
              <a:t>Az </a:t>
            </a:r>
            <a:r>
              <a:rPr lang="en-US" b="1" dirty="0"/>
              <a:t>interceptor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speciális</a:t>
            </a:r>
            <a:r>
              <a:rPr lang="en-US" dirty="0"/>
              <a:t> Angular </a:t>
            </a:r>
            <a:r>
              <a:rPr lang="en-US" dirty="0" err="1"/>
              <a:t>mechanizmus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minden</a:t>
            </a:r>
            <a:r>
              <a:rPr lang="en-US" b="1" dirty="0"/>
              <a:t> HTTP </a:t>
            </a:r>
            <a:r>
              <a:rPr lang="en-US" b="1" dirty="0" err="1"/>
              <a:t>kérésre</a:t>
            </a:r>
            <a:r>
              <a:rPr lang="en-US" b="1" dirty="0"/>
              <a:t> és </a:t>
            </a:r>
            <a:r>
              <a:rPr lang="en-US" b="1" dirty="0" err="1"/>
              <a:t>válaszra</a:t>
            </a:r>
            <a:r>
              <a:rPr lang="en-US" dirty="0"/>
              <a:t> </a:t>
            </a:r>
            <a:r>
              <a:rPr lang="en-US" dirty="0" err="1"/>
              <a:t>központi</a:t>
            </a:r>
            <a:r>
              <a:rPr lang="en-US" dirty="0"/>
              <a:t> </a:t>
            </a:r>
            <a:r>
              <a:rPr lang="en-US" dirty="0" err="1"/>
              <a:t>szabályokat</a:t>
            </a:r>
            <a:r>
              <a:rPr lang="en-US" dirty="0"/>
              <a:t> </a:t>
            </a:r>
            <a:r>
              <a:rPr lang="en-US" dirty="0" err="1"/>
              <a:t>alkalmazzunk</a:t>
            </a:r>
            <a:r>
              <a:rPr lang="en-US" dirty="0"/>
              <a:t>.</a:t>
            </a:r>
            <a:endParaRPr lang="hu-HU" dirty="0"/>
          </a:p>
          <a:p>
            <a:endParaRPr lang="hu-HU" b="0" dirty="0"/>
          </a:p>
          <a:p>
            <a:r>
              <a:rPr lang="hu-HU" b="0" dirty="0"/>
              <a:t>Röviden, egy mondatban: </a:t>
            </a:r>
            <a:r>
              <a:rPr lang="en-US" dirty="0"/>
              <a:t>A </a:t>
            </a:r>
            <a:r>
              <a:rPr lang="en-US" dirty="0" err="1"/>
              <a:t>komponens</a:t>
            </a:r>
            <a:r>
              <a:rPr lang="en-US" dirty="0"/>
              <a:t> </a:t>
            </a:r>
            <a:r>
              <a:rPr lang="en-US" dirty="0" err="1"/>
              <a:t>reagál</a:t>
            </a:r>
            <a:r>
              <a:rPr lang="en-US" dirty="0"/>
              <a:t>, a service </a:t>
            </a:r>
            <a:r>
              <a:rPr lang="en-US" dirty="0" err="1"/>
              <a:t>dolgozik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HttpClient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Observable </a:t>
            </a:r>
            <a:r>
              <a:rPr lang="en-US" dirty="0" err="1"/>
              <a:t>közvetít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interceptor </a:t>
            </a:r>
            <a:r>
              <a:rPr lang="en-US" dirty="0" err="1"/>
              <a:t>szabályoz</a:t>
            </a:r>
            <a:r>
              <a:rPr lang="en-US" dirty="0"/>
              <a:t>.</a:t>
            </a:r>
            <a:endParaRPr lang="hu-H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hu-HU" sz="4400" dirty="0" err="1"/>
              <a:t>Angular</a:t>
            </a:r>
            <a:r>
              <a:rPr lang="hu-HU" sz="4400" dirty="0"/>
              <a:t> – HTTP kommunikáció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hu-HU" sz="2400" dirty="0" err="1"/>
              <a:t>Observable</a:t>
            </a:r>
            <a:r>
              <a:rPr lang="hu-HU" sz="2400" dirty="0"/>
              <a:t>-alapú aszinkron működés · </a:t>
            </a:r>
            <a:r>
              <a:rPr lang="hu-HU" sz="2400" dirty="0" err="1"/>
              <a:t>Error</a:t>
            </a:r>
            <a:r>
              <a:rPr lang="hu-HU" sz="2400" dirty="0"/>
              <a:t> </a:t>
            </a:r>
            <a:r>
              <a:rPr lang="hu-HU" sz="2400" dirty="0" err="1"/>
              <a:t>handling</a:t>
            </a:r>
            <a:r>
              <a:rPr lang="hu-HU" sz="2400" dirty="0"/>
              <a:t> · </a:t>
            </a:r>
            <a:r>
              <a:rPr lang="hu-HU" sz="2400" dirty="0" err="1"/>
              <a:t>Interceptorok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0537"/>
          </a:xfrm>
        </p:spPr>
        <p:txBody>
          <a:bodyPr>
            <a:normAutofit/>
          </a:bodyPr>
          <a:lstStyle/>
          <a:p>
            <a:r>
              <a:rPr lang="en-US" sz="4000" dirty="0"/>
              <a:t>Frontend ↔ Backend </a:t>
            </a:r>
            <a:r>
              <a:rPr lang="en-US" sz="4000" dirty="0" err="1"/>
              <a:t>kapcsolat</a:t>
            </a:r>
            <a:r>
              <a:rPr lang="en-US" sz="4000" dirty="0"/>
              <a:t> </a:t>
            </a:r>
            <a:r>
              <a:rPr lang="en-US" sz="4000" dirty="0" err="1"/>
              <a:t>Angularban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C1F7AD-2C78-11E9-2C54-3D72B89B26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77705"/>
            <a:ext cx="6000680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Angular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HttpClient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API (REST)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JSON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adatcsere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Aszinkron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C4B1D-3A6E-2719-5129-8D370EF23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5668"/>
          </a:xfrm>
        </p:spPr>
        <p:txBody>
          <a:bodyPr>
            <a:normAutofit/>
          </a:bodyPr>
          <a:lstStyle/>
          <a:p>
            <a:r>
              <a:rPr lang="en-US" sz="3600" dirty="0" err="1"/>
              <a:t>Miért</a:t>
            </a:r>
            <a:r>
              <a:rPr lang="en-US" sz="3600" dirty="0"/>
              <a:t> NEM a </a:t>
            </a:r>
            <a:r>
              <a:rPr lang="en-US" sz="3600" dirty="0" err="1"/>
              <a:t>komponens</a:t>
            </a:r>
            <a:r>
              <a:rPr lang="en-US" sz="3600" dirty="0"/>
              <a:t> </a:t>
            </a:r>
            <a:r>
              <a:rPr lang="en-US" sz="3600" dirty="0" err="1"/>
              <a:t>hívja</a:t>
            </a:r>
            <a:r>
              <a:rPr lang="en-US" sz="3600" dirty="0"/>
              <a:t> a </a:t>
            </a:r>
            <a:r>
              <a:rPr lang="en-US" sz="3600" dirty="0" err="1"/>
              <a:t>backendet</a:t>
            </a:r>
            <a:r>
              <a:rPr lang="en-US" sz="36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D0BA0-BCEA-B372-7CBB-0FF7767D5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944547"/>
            <a:ext cx="11155680" cy="42247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000" b="1" dirty="0"/>
              <a:t>Komponens</a:t>
            </a:r>
            <a:r>
              <a:rPr lang="hu-HU" sz="2000" dirty="0"/>
              <a:t> feladata az UI logika</a:t>
            </a:r>
          </a:p>
          <a:p>
            <a:pPr>
              <a:lnSpc>
                <a:spcPct val="150000"/>
              </a:lnSpc>
            </a:pPr>
            <a:r>
              <a:rPr lang="hu-HU" sz="2000" dirty="0"/>
              <a:t>Ne legyen benne üzleti logika</a:t>
            </a:r>
          </a:p>
          <a:p>
            <a:pPr>
              <a:lnSpc>
                <a:spcPct val="150000"/>
              </a:lnSpc>
            </a:pPr>
            <a:r>
              <a:rPr lang="hu-HU" sz="2000" dirty="0"/>
              <a:t>Ne legyen benne API hívások</a:t>
            </a:r>
          </a:p>
          <a:p>
            <a:pPr marL="0" indent="0">
              <a:lnSpc>
                <a:spcPct val="100000"/>
              </a:lnSpc>
              <a:buNone/>
            </a:pPr>
            <a:endParaRPr lang="hu-HU" sz="2000" dirty="0"/>
          </a:p>
          <a:p>
            <a:pPr>
              <a:lnSpc>
                <a:spcPct val="150000"/>
              </a:lnSpc>
            </a:pPr>
            <a:r>
              <a:rPr lang="hu-HU" sz="2000" b="1" dirty="0"/>
              <a:t>Service</a:t>
            </a:r>
            <a:r>
              <a:rPr lang="hu-HU" sz="2000" dirty="0"/>
              <a:t> feladata: adat és üzleti logika, API hívások</a:t>
            </a:r>
          </a:p>
          <a:p>
            <a:pPr>
              <a:lnSpc>
                <a:spcPct val="150000"/>
              </a:lnSpc>
            </a:pPr>
            <a:r>
              <a:rPr lang="hu-HU" sz="2000" dirty="0" err="1"/>
              <a:t>Újrafelhasználható</a:t>
            </a:r>
            <a:endParaRPr lang="hu-HU" sz="2000" dirty="0"/>
          </a:p>
          <a:p>
            <a:pPr>
              <a:lnSpc>
                <a:spcPct val="150000"/>
              </a:lnSpc>
            </a:pPr>
            <a:r>
              <a:rPr lang="hu-HU" sz="2000" dirty="0"/>
              <a:t>Tesztelhető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69844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068D2-C5E7-BBCC-770F-7D6D223BD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73541"/>
          </a:xfrm>
        </p:spPr>
        <p:txBody>
          <a:bodyPr>
            <a:normAutofit/>
          </a:bodyPr>
          <a:lstStyle/>
          <a:p>
            <a:r>
              <a:rPr lang="en-US" sz="4000" dirty="0" err="1"/>
              <a:t>HttpClient</a:t>
            </a:r>
            <a:r>
              <a:rPr lang="en-US" sz="4000" dirty="0"/>
              <a:t> </a:t>
            </a:r>
            <a:r>
              <a:rPr lang="en-US" sz="4000" dirty="0" err="1"/>
              <a:t>szerepe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EF27714-DC22-91C0-7B91-F2D5D04338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98327"/>
            <a:ext cx="6007422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Angular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beépített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API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hívások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JSON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feldolgozás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Observable-t ad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vissza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323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F522-E70A-23E5-B286-4A6CFD510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Mit </a:t>
            </a:r>
            <a:r>
              <a:rPr lang="en-US" sz="4000" dirty="0" err="1"/>
              <a:t>jelent</a:t>
            </a:r>
            <a:r>
              <a:rPr lang="en-US" sz="4000" dirty="0"/>
              <a:t> </a:t>
            </a:r>
            <a:r>
              <a:rPr lang="en-US" sz="4000" dirty="0" err="1"/>
              <a:t>az</a:t>
            </a:r>
            <a:r>
              <a:rPr lang="en-US" sz="4000" dirty="0"/>
              <a:t>, </a:t>
            </a:r>
            <a:r>
              <a:rPr lang="en-US" sz="4000" dirty="0" err="1"/>
              <a:t>hogy</a:t>
            </a:r>
            <a:r>
              <a:rPr lang="en-US" sz="4000" dirty="0"/>
              <a:t> </a:t>
            </a:r>
            <a:r>
              <a:rPr lang="en-US" sz="4000" dirty="0" err="1"/>
              <a:t>aszinkron</a:t>
            </a:r>
            <a:r>
              <a:rPr lang="en-US" sz="4000" dirty="0"/>
              <a:t>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FC79031-B9A4-EECD-FB56-FFE2E2E68F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94592"/>
            <a:ext cx="6689820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elindul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Angular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Kód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tovább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később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érkezik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4114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1A148-B88A-2C5B-496D-F94DF85B5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04093"/>
          </a:xfrm>
        </p:spPr>
        <p:txBody>
          <a:bodyPr>
            <a:normAutofit/>
          </a:bodyPr>
          <a:lstStyle/>
          <a:p>
            <a:r>
              <a:rPr lang="en-US" sz="4000" dirty="0"/>
              <a:t>Observable </a:t>
            </a:r>
            <a:r>
              <a:rPr lang="en-US" sz="4000" dirty="0" err="1"/>
              <a:t>alapgondolat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468659D-B03C-3605-EE6A-746991B5D3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83715"/>
            <a:ext cx="6231284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Időben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egymás után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érkező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Feliratkozás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aszinkron adatfolyamra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értéket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küldhet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Aszinkron működés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Leiratkozás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az adatfolyamról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383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4479-5E23-2BDA-869A-3BA46C738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HTTP + Observable </a:t>
            </a:r>
            <a:r>
              <a:rPr lang="en-US" sz="4000" dirty="0" err="1"/>
              <a:t>együtt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211B2-3E12-0777-9D50-9272AC920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977" y="2318937"/>
            <a:ext cx="5189134" cy="33139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HTTP </a:t>
            </a:r>
            <a:r>
              <a:rPr lang="en-US" sz="2000" dirty="0" err="1"/>
              <a:t>kérés</a:t>
            </a:r>
            <a:r>
              <a:rPr lang="en-US" sz="2000" dirty="0"/>
              <a:t> </a:t>
            </a:r>
            <a:r>
              <a:rPr lang="en-US" sz="2000" dirty="0" err="1"/>
              <a:t>csak</a:t>
            </a:r>
            <a:r>
              <a:rPr lang="en-US" sz="2000" dirty="0"/>
              <a:t> subscribe-</a:t>
            </a:r>
            <a:r>
              <a:rPr lang="en-US" sz="2000" dirty="0" err="1"/>
              <a:t>nál</a:t>
            </a:r>
            <a:r>
              <a:rPr lang="en-US" sz="2000" dirty="0"/>
              <a:t> </a:t>
            </a:r>
            <a:r>
              <a:rPr lang="en-US" sz="2000" dirty="0" err="1"/>
              <a:t>indul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/>
              <a:t>next</a:t>
            </a:r>
            <a:r>
              <a:rPr lang="en-US" sz="2000" dirty="0"/>
              <a:t> → </a:t>
            </a:r>
            <a:r>
              <a:rPr lang="en-US" sz="2000" dirty="0" err="1"/>
              <a:t>adat</a:t>
            </a:r>
            <a:r>
              <a:rPr lang="en-US" sz="2000" dirty="0"/>
              <a:t> </a:t>
            </a:r>
            <a:r>
              <a:rPr lang="en-US" sz="2000" dirty="0" err="1"/>
              <a:t>érkezik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/>
              <a:t>error</a:t>
            </a:r>
            <a:r>
              <a:rPr lang="en-US" sz="2000" dirty="0"/>
              <a:t> → </a:t>
            </a:r>
            <a:r>
              <a:rPr lang="en-US" sz="2000" dirty="0" err="1"/>
              <a:t>hiba</a:t>
            </a:r>
            <a:r>
              <a:rPr lang="en-US" sz="2000" dirty="0"/>
              <a:t> </a:t>
            </a:r>
            <a:r>
              <a:rPr lang="en-US" sz="2000" dirty="0" err="1"/>
              <a:t>történt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/>
              <a:t>complete</a:t>
            </a:r>
            <a:r>
              <a:rPr lang="en-US" sz="2000" dirty="0"/>
              <a:t> → </a:t>
            </a:r>
            <a:r>
              <a:rPr lang="en-US" sz="2000" dirty="0" err="1"/>
              <a:t>adatfolyam</a:t>
            </a:r>
            <a:r>
              <a:rPr lang="en-US" sz="2000" dirty="0"/>
              <a:t> </a:t>
            </a:r>
            <a:r>
              <a:rPr lang="en-US" sz="2000" dirty="0" err="1"/>
              <a:t>lezárult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Observable = </a:t>
            </a:r>
            <a:r>
              <a:rPr lang="en-US" sz="2000" b="1" dirty="0"/>
              <a:t>lazy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6DE9C-9E67-ACF4-84BB-E86A070DF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2318937"/>
            <a:ext cx="5189134" cy="2577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2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0C5F-2519-67AA-3FAD-A7C47A005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73541"/>
          </a:xfrm>
        </p:spPr>
        <p:txBody>
          <a:bodyPr>
            <a:normAutofit/>
          </a:bodyPr>
          <a:lstStyle/>
          <a:p>
            <a:r>
              <a:rPr lang="hu-HU" sz="4000" dirty="0"/>
              <a:t>Hibakezelés</a:t>
            </a:r>
            <a:r>
              <a:rPr lang="en-US" sz="4000" dirty="0"/>
              <a:t> </a:t>
            </a:r>
            <a:r>
              <a:rPr lang="hu-HU" sz="4000" dirty="0"/>
              <a:t>az </a:t>
            </a:r>
            <a:r>
              <a:rPr lang="en-US" sz="4000" dirty="0" err="1"/>
              <a:t>Angularban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6C2B76-8F60-E40D-D16F-D48B056AF6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09078"/>
            <a:ext cx="5574792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hibák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error vs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error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Service-ben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kezeljük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Komponens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csak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reagál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295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9424B-D742-644D-DF68-932557636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73541"/>
          </a:xfrm>
        </p:spPr>
        <p:txBody>
          <a:bodyPr>
            <a:normAutofit/>
          </a:bodyPr>
          <a:lstStyle/>
          <a:p>
            <a:r>
              <a:rPr lang="en-US" sz="4000" dirty="0"/>
              <a:t>Interceptor </a:t>
            </a:r>
            <a:r>
              <a:rPr lang="en-US" sz="4000" dirty="0" err="1"/>
              <a:t>fogalma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E295ED-4140-71AB-AB73-5523AB33029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043058"/>
            <a:ext cx="9421445" cy="33478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2400" dirty="0"/>
              <a:t>Az </a:t>
            </a:r>
            <a:r>
              <a:rPr lang="hu-HU" sz="2400" dirty="0" err="1"/>
              <a:t>interceptor</a:t>
            </a:r>
            <a:r>
              <a:rPr lang="hu-HU" sz="2400" dirty="0"/>
              <a:t> olyan, mint egy </a:t>
            </a:r>
            <a:r>
              <a:rPr lang="hu-HU" sz="2400" b="1" dirty="0"/>
              <a:t>szűrő</a:t>
            </a:r>
            <a:r>
              <a:rPr lang="hu-HU" sz="2400" dirty="0"/>
              <a:t> a HTTP forgalomban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elé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után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lép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header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hozzáadás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 token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hozzáadása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Logging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Globális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error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662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54EF-6F26-FC8E-29A1-836D7117B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HTTP </a:t>
            </a:r>
            <a:r>
              <a:rPr lang="en-US" sz="4000" dirty="0" err="1"/>
              <a:t>kommunikáció</a:t>
            </a:r>
            <a:r>
              <a:rPr lang="en-US" sz="4000" dirty="0"/>
              <a:t> </a:t>
            </a:r>
            <a:r>
              <a:rPr lang="en-US" sz="4000" dirty="0" err="1"/>
              <a:t>teljes</a:t>
            </a:r>
            <a:r>
              <a:rPr lang="en-US" sz="4000" dirty="0"/>
              <a:t> </a:t>
            </a:r>
            <a:r>
              <a:rPr lang="en-US" sz="4000" dirty="0" err="1"/>
              <a:t>képe</a:t>
            </a:r>
            <a:endParaRPr lang="en-US" sz="4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8602435-3DD2-8BC8-E016-722B1D90E2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4596" y="1782501"/>
            <a:ext cx="5202782" cy="2652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Angular 6 REST API Example - Angular 5 REST API Example Angular 4 REST API Example - Angular 6 Consume REST API">
            <a:extLst>
              <a:ext uri="{FF2B5EF4-FFF2-40B4-BE49-F238E27FC236}">
                <a16:creationId xmlns:a16="http://schemas.microsoft.com/office/drawing/2014/main" id="{B2EB9349-D2C2-E268-E41F-43085175E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622" y="2632035"/>
            <a:ext cx="6094051" cy="337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3">
            <a:extLst>
              <a:ext uri="{FF2B5EF4-FFF2-40B4-BE49-F238E27FC236}">
                <a16:creationId xmlns:a16="http://schemas.microsoft.com/office/drawing/2014/main" id="{0839BD53-2E59-7635-695A-D061FF0A95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79212" y="4633851"/>
            <a:ext cx="4397676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Komponens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Service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Service →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HttpClient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Interceptor → Backend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Observable →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Komponens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5676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414A43-85B5-EAD4-E99C-2FB2A51C79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01508"/>
            <a:ext cx="10451592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en-US" altLang="en-US" sz="2400" b="1" dirty="0" err="1">
                <a:latin typeface="Arial" panose="020B0604020202020204" pitchFamily="34" charset="0"/>
              </a:rPr>
              <a:t>Komponens</a:t>
            </a:r>
            <a:r>
              <a:rPr lang="en-US" altLang="en-US" sz="2400" dirty="0">
                <a:latin typeface="Arial" panose="020B0604020202020204" pitchFamily="34" charset="0"/>
              </a:rPr>
              <a:t> = UI </a:t>
            </a:r>
            <a:r>
              <a:rPr lang="hu-HU" altLang="en-US" sz="2400" dirty="0">
                <a:latin typeface="Arial" panose="020B0604020202020204" pitchFamily="34" charset="0"/>
              </a:rPr>
              <a:t>kezelés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Service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HttpClient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backend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kommunikáció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Observable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aszinkron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adatfolyam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Interceptor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globális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szabályok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HTTP kérésekre és válaszokra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1294</TotalTime>
  <Words>1510</Words>
  <Application>Microsoft Office PowerPoint</Application>
  <PresentationFormat>Widescreen</PresentationFormat>
  <Paragraphs>166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Bierstadt</vt:lpstr>
      <vt:lpstr>GestaltVTI</vt:lpstr>
      <vt:lpstr>Angular – HTTP kommunikáció   Observable-alapú aszinkron működés · Error handling · Interceptorok </vt:lpstr>
      <vt:lpstr>Frontend ↔ Backend kapcsolat Angularban</vt:lpstr>
      <vt:lpstr>Miért NEM a komponens hívja a backendet?</vt:lpstr>
      <vt:lpstr>HttpClient szerepe</vt:lpstr>
      <vt:lpstr>Mit jelent az, hogy aszinkron?</vt:lpstr>
      <vt:lpstr>Observable alapgondolat</vt:lpstr>
      <vt:lpstr>HTTP + Observable együtt</vt:lpstr>
      <vt:lpstr>Hibakezelés az Angularban</vt:lpstr>
      <vt:lpstr>Interceptor fogalma</vt:lpstr>
      <vt:lpstr>HTTP kommunikáció teljes képe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94</cp:revision>
  <dcterms:created xsi:type="dcterms:W3CDTF">2025-11-30T15:45:28Z</dcterms:created>
  <dcterms:modified xsi:type="dcterms:W3CDTF">2026-04-12T16:41:27Z</dcterms:modified>
</cp:coreProperties>
</file>