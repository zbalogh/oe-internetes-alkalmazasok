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8"/>
  </p:notesMasterIdLst>
  <p:sldIdLst>
    <p:sldId id="256" r:id="rId2"/>
    <p:sldId id="259" r:id="rId3"/>
    <p:sldId id="275" r:id="rId4"/>
    <p:sldId id="276" r:id="rId5"/>
    <p:sldId id="277" r:id="rId6"/>
    <p:sldId id="278" r:id="rId7"/>
    <p:sldId id="279" r:id="rId8"/>
    <p:sldId id="281" r:id="rId9"/>
    <p:sldId id="282" r:id="rId10"/>
    <p:sldId id="283" r:id="rId11"/>
    <p:sldId id="284" r:id="rId12"/>
    <p:sldId id="285" r:id="rId13"/>
    <p:sldId id="286" r:id="rId14"/>
    <p:sldId id="288" r:id="rId15"/>
    <p:sldId id="287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5182" autoAdjust="0"/>
  </p:normalViewPr>
  <p:slideViewPr>
    <p:cSldViewPr snapToGrid="0">
      <p:cViewPr varScale="1">
        <p:scale>
          <a:sx n="95" d="100"/>
          <a:sy n="95" d="100"/>
        </p:scale>
        <p:origin x="10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82E4E-5CEC-44A9-BF2B-512FB3B5604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23EBC-67FA-4278-B97C-82D0A52FD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3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</a:t>
            </a:r>
            <a:r>
              <a:rPr lang="en-US" dirty="0" err="1"/>
              <a:t>elmúlt</a:t>
            </a:r>
            <a:r>
              <a:rPr lang="en-US" dirty="0"/>
              <a:t> </a:t>
            </a:r>
            <a:r>
              <a:rPr lang="en-US" dirty="0" err="1"/>
              <a:t>években</a:t>
            </a:r>
            <a:r>
              <a:rPr lang="en-US" dirty="0"/>
              <a:t> </a:t>
            </a:r>
            <a:r>
              <a:rPr lang="en-US" dirty="0" err="1"/>
              <a:t>gyakorlatilag</a:t>
            </a:r>
            <a:r>
              <a:rPr lang="en-US" dirty="0"/>
              <a:t> </a:t>
            </a:r>
            <a:r>
              <a:rPr lang="en-US" b="1" dirty="0" err="1"/>
              <a:t>minden</a:t>
            </a:r>
            <a:r>
              <a:rPr lang="en-US" b="1" dirty="0"/>
              <a:t> </a:t>
            </a:r>
            <a:r>
              <a:rPr lang="en-US" b="1" dirty="0" err="1"/>
              <a:t>rendszer</a:t>
            </a:r>
            <a:r>
              <a:rPr lang="en-US" b="1" dirty="0"/>
              <a:t> </a:t>
            </a:r>
            <a:r>
              <a:rPr lang="en-US" b="1" dirty="0" err="1"/>
              <a:t>webes</a:t>
            </a:r>
            <a:r>
              <a:rPr lang="en-US" b="1" dirty="0"/>
              <a:t> </a:t>
            </a:r>
            <a:r>
              <a:rPr lang="en-US" b="1" dirty="0" err="1"/>
              <a:t>felületen</a:t>
            </a:r>
            <a:r>
              <a:rPr lang="en-US" b="1" dirty="0"/>
              <a:t> </a:t>
            </a:r>
            <a:r>
              <a:rPr lang="en-US" b="1" dirty="0" err="1"/>
              <a:t>keresztül</a:t>
            </a:r>
            <a:r>
              <a:rPr lang="en-US" b="1" dirty="0"/>
              <a:t> </a:t>
            </a:r>
            <a:r>
              <a:rPr lang="en-US" b="1" dirty="0" err="1"/>
              <a:t>érhető</a:t>
            </a:r>
            <a:r>
              <a:rPr lang="en-US" b="1" dirty="0"/>
              <a:t> el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Nem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klasszikus</a:t>
            </a:r>
            <a:r>
              <a:rPr lang="en-US" dirty="0"/>
              <a:t> </a:t>
            </a:r>
            <a:r>
              <a:rPr lang="en-US" dirty="0" err="1"/>
              <a:t>weboldalak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ipari</a:t>
            </a:r>
            <a:r>
              <a:rPr lang="en-US" dirty="0"/>
              <a:t> </a:t>
            </a:r>
            <a:r>
              <a:rPr lang="en-US" dirty="0" err="1"/>
              <a:t>vezérlőpanelek</a:t>
            </a:r>
            <a:r>
              <a:rPr lang="en-US" dirty="0"/>
              <a:t>, admin </a:t>
            </a:r>
            <a:r>
              <a:rPr lang="en-US" dirty="0" err="1"/>
              <a:t>felületek</a:t>
            </a:r>
            <a:r>
              <a:rPr lang="en-US" dirty="0"/>
              <a:t>, IoT </a:t>
            </a:r>
            <a:r>
              <a:rPr lang="en-US" dirty="0" err="1"/>
              <a:t>eszközök</a:t>
            </a:r>
            <a:r>
              <a:rPr lang="en-US" dirty="0"/>
              <a:t>, </a:t>
            </a:r>
            <a:r>
              <a:rPr lang="hu-HU" dirty="0"/>
              <a:t>banki és pénzügyi rendszerek, </a:t>
            </a:r>
            <a:r>
              <a:rPr lang="en-US" dirty="0" err="1"/>
              <a:t>belső</a:t>
            </a:r>
            <a:r>
              <a:rPr lang="en-US" dirty="0"/>
              <a:t> </a:t>
            </a:r>
            <a:r>
              <a:rPr lang="en-US" dirty="0" err="1"/>
              <a:t>vállalati</a:t>
            </a:r>
            <a:r>
              <a:rPr lang="en-US" dirty="0"/>
              <a:t> </a:t>
            </a:r>
            <a:r>
              <a:rPr lang="en-US" dirty="0" err="1"/>
              <a:t>rendszerek</a:t>
            </a:r>
            <a:r>
              <a:rPr lang="en-US" dirty="0"/>
              <a:t> is.</a:t>
            </a:r>
            <a:endParaRPr lang="hu-HU" dirty="0"/>
          </a:p>
          <a:p>
            <a:endParaRPr lang="hu-HU" dirty="0"/>
          </a:p>
          <a:p>
            <a:r>
              <a:rPr lang="hu-HU" b="0" dirty="0"/>
              <a:t>A</a:t>
            </a:r>
            <a:r>
              <a:rPr lang="en-US" b="0" dirty="0"/>
              <a:t> </a:t>
            </a:r>
            <a:r>
              <a:rPr lang="en-US" b="0" dirty="0" err="1"/>
              <a:t>webbiztonság</a:t>
            </a:r>
            <a:r>
              <a:rPr lang="en-US" b="0" dirty="0"/>
              <a:t> </a:t>
            </a:r>
            <a:r>
              <a:rPr lang="en-US" b="0" dirty="0" err="1"/>
              <a:t>nem</a:t>
            </a:r>
            <a:r>
              <a:rPr lang="en-US" b="0" dirty="0"/>
              <a:t> </a:t>
            </a:r>
            <a:r>
              <a:rPr lang="en-US" b="0" dirty="0" err="1"/>
              <a:t>csak</a:t>
            </a:r>
            <a:r>
              <a:rPr lang="en-US" b="0" dirty="0"/>
              <a:t> </a:t>
            </a:r>
            <a:r>
              <a:rPr lang="en-US" b="1" dirty="0" err="1"/>
              <a:t>programozói</a:t>
            </a:r>
            <a:r>
              <a:rPr lang="en-US" b="1" dirty="0"/>
              <a:t> </a:t>
            </a:r>
            <a:r>
              <a:rPr lang="en-US" b="1" dirty="0" err="1"/>
              <a:t>probléma</a:t>
            </a:r>
            <a:r>
              <a:rPr lang="hu-HU" b="0" dirty="0"/>
              <a:t>, hanem </a:t>
            </a:r>
            <a:r>
              <a:rPr lang="hu-HU" b="1" dirty="0"/>
              <a:t>rendszerszintű</a:t>
            </a:r>
            <a:r>
              <a:rPr lang="hu-HU" b="0" dirty="0"/>
              <a:t> mérnöki felelősség.</a:t>
            </a:r>
          </a:p>
          <a:p>
            <a:r>
              <a:rPr lang="en-US" dirty="0"/>
              <a:t>Egy </a:t>
            </a:r>
            <a:r>
              <a:rPr lang="en-US" dirty="0" err="1"/>
              <a:t>rosszul</a:t>
            </a:r>
            <a:r>
              <a:rPr lang="en-US" dirty="0"/>
              <a:t> </a:t>
            </a:r>
            <a:r>
              <a:rPr lang="en-US" dirty="0" err="1"/>
              <a:t>megtervezett</a:t>
            </a:r>
            <a:r>
              <a:rPr lang="en-US" dirty="0"/>
              <a:t> </a:t>
            </a:r>
            <a:r>
              <a:rPr lang="en-US" dirty="0" err="1"/>
              <a:t>rendszerarchitektúra</a:t>
            </a:r>
            <a:r>
              <a:rPr lang="en-US" dirty="0"/>
              <a:t>,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hibás</a:t>
            </a:r>
            <a:r>
              <a:rPr lang="en-US" dirty="0"/>
              <a:t> </a:t>
            </a:r>
            <a:r>
              <a:rPr lang="en-US" dirty="0" err="1"/>
              <a:t>böngésző-oldali</a:t>
            </a:r>
            <a:r>
              <a:rPr lang="en-US" dirty="0"/>
              <a:t> </a:t>
            </a:r>
            <a:r>
              <a:rPr lang="en-US" dirty="0" err="1"/>
              <a:t>beállítás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félreértett</a:t>
            </a:r>
            <a:r>
              <a:rPr lang="en-US" dirty="0"/>
              <a:t> HTTP </a:t>
            </a:r>
            <a:r>
              <a:rPr lang="en-US" dirty="0" err="1"/>
              <a:t>mechanizmus</a:t>
            </a:r>
            <a:r>
              <a:rPr lang="en-US" dirty="0"/>
              <a:t> </a:t>
            </a:r>
            <a:r>
              <a:rPr lang="en-US" dirty="0" err="1"/>
              <a:t>ugyanúgy</a:t>
            </a:r>
            <a:r>
              <a:rPr lang="en-US" dirty="0"/>
              <a:t> </a:t>
            </a:r>
            <a:r>
              <a:rPr lang="en-US" dirty="0" err="1"/>
              <a:t>sebezhetőséget</a:t>
            </a:r>
            <a:r>
              <a:rPr lang="en-US" dirty="0"/>
              <a:t> </a:t>
            </a:r>
            <a:r>
              <a:rPr lang="en-US" dirty="0" err="1"/>
              <a:t>okozhat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Ebben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előadásban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nézzük</a:t>
            </a:r>
            <a:r>
              <a:rPr lang="en-US" dirty="0"/>
              <a:t> meg:</a:t>
            </a:r>
          </a:p>
          <a:p>
            <a:r>
              <a:rPr lang="hu-HU" dirty="0"/>
              <a:t>-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b="1" dirty="0" err="1"/>
              <a:t>tipikus</a:t>
            </a:r>
            <a:r>
              <a:rPr lang="en-US" b="1" dirty="0"/>
              <a:t> </a:t>
            </a:r>
            <a:r>
              <a:rPr lang="en-US" b="1" dirty="0" err="1"/>
              <a:t>webes</a:t>
            </a:r>
            <a:r>
              <a:rPr lang="en-US" b="1" dirty="0"/>
              <a:t> </a:t>
            </a:r>
            <a:r>
              <a:rPr lang="en-US" b="1" dirty="0" err="1"/>
              <a:t>támadások</a:t>
            </a:r>
            <a:r>
              <a:rPr lang="en-US" dirty="0"/>
              <a:t> </a:t>
            </a:r>
            <a:r>
              <a:rPr lang="en-US" dirty="0" err="1"/>
              <a:t>léteznek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/>
              <a:t>mi </a:t>
            </a:r>
            <a:r>
              <a:rPr lang="en-US" dirty="0" err="1"/>
              <a:t>ezeknek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 err="1"/>
              <a:t>alapelve</a:t>
            </a:r>
            <a:r>
              <a:rPr lang="en-US" dirty="0"/>
              <a:t>,</a:t>
            </a:r>
            <a:r>
              <a:rPr lang="hu-HU" dirty="0"/>
              <a:t> és </a:t>
            </a:r>
            <a:r>
              <a:rPr lang="en-US" dirty="0" err="1"/>
              <a:t>hol</a:t>
            </a:r>
            <a:r>
              <a:rPr lang="en-US" dirty="0"/>
              <a:t> </a:t>
            </a:r>
            <a:r>
              <a:rPr lang="en-US" dirty="0" err="1"/>
              <a:t>hibázik</a:t>
            </a:r>
            <a:r>
              <a:rPr lang="en-US" dirty="0"/>
              <a:t> </a:t>
            </a:r>
            <a:r>
              <a:rPr lang="en-US" dirty="0" err="1"/>
              <a:t>gyakran</a:t>
            </a:r>
            <a:r>
              <a:rPr lang="en-US" dirty="0"/>
              <a:t> a </a:t>
            </a:r>
            <a:r>
              <a:rPr lang="en-US" b="1" dirty="0" err="1"/>
              <a:t>tervezés</a:t>
            </a:r>
            <a:r>
              <a:rPr lang="hu-HU" dirty="0"/>
              <a:t>,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/>
              <a:t>és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jelent</a:t>
            </a:r>
            <a:r>
              <a:rPr lang="en-US" dirty="0"/>
              <a:t> a </a:t>
            </a:r>
            <a:r>
              <a:rPr lang="en-US" i="1" dirty="0" err="1"/>
              <a:t>biztonságos</a:t>
            </a:r>
            <a:r>
              <a:rPr lang="en-US" i="1" dirty="0"/>
              <a:t> </a:t>
            </a:r>
            <a:r>
              <a:rPr lang="en-US" i="1" dirty="0" err="1"/>
              <a:t>gondolkodás</a:t>
            </a:r>
            <a:r>
              <a:rPr lang="en-US" dirty="0"/>
              <a:t> </a:t>
            </a:r>
            <a:r>
              <a:rPr lang="en-US" dirty="0" err="1"/>
              <a:t>webes</a:t>
            </a:r>
            <a:r>
              <a:rPr lang="en-US" dirty="0"/>
              <a:t> </a:t>
            </a:r>
            <a:r>
              <a:rPr lang="en-US" dirty="0" err="1"/>
              <a:t>rendszerek</a:t>
            </a:r>
            <a:r>
              <a:rPr lang="en-US" dirty="0"/>
              <a:t> </a:t>
            </a:r>
            <a:r>
              <a:rPr lang="en-US" dirty="0" err="1"/>
              <a:t>esetén</a:t>
            </a:r>
            <a:r>
              <a:rPr lang="en-US" dirty="0"/>
              <a:t>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0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legtöbb webes támadás:</a:t>
            </a:r>
          </a:p>
          <a:p>
            <a:r>
              <a:rPr lang="hu-HU" dirty="0"/>
              <a:t>- teljesen </a:t>
            </a:r>
            <a:r>
              <a:rPr lang="hu-HU" b="1" dirty="0"/>
              <a:t>szabványos HTTP kérésekből áll</a:t>
            </a:r>
            <a:r>
              <a:rPr lang="hu-HU" dirty="0"/>
              <a:t>,</a:t>
            </a:r>
          </a:p>
          <a:p>
            <a:r>
              <a:rPr lang="hu-HU" dirty="0"/>
              <a:t>- a böngésző normál működését használja,</a:t>
            </a:r>
          </a:p>
          <a:p>
            <a:r>
              <a:rPr lang="hu-HU" dirty="0"/>
              <a:t>- csak éppen </a:t>
            </a:r>
            <a:r>
              <a:rPr lang="hu-HU" b="1" dirty="0"/>
              <a:t>nem úgy</a:t>
            </a:r>
            <a:r>
              <a:rPr lang="hu-HU" dirty="0"/>
              <a:t>, ahogy a fejlesztő gondolta.</a:t>
            </a:r>
          </a:p>
          <a:p>
            <a:endParaRPr lang="hu-HU" dirty="0"/>
          </a:p>
          <a:p>
            <a:r>
              <a:rPr lang="hu-HU" dirty="0"/>
              <a:t>Ezért beszélünk </a:t>
            </a:r>
            <a:r>
              <a:rPr lang="hu-HU" b="1" dirty="0"/>
              <a:t>visszaélésről/kihasználásról</a:t>
            </a:r>
            <a:r>
              <a:rPr lang="hu-HU" dirty="0"/>
              <a:t>, nem </a:t>
            </a:r>
            <a:r>
              <a:rPr lang="hu-HU" dirty="0" err="1"/>
              <a:t>hackelésről</a:t>
            </a:r>
            <a:r>
              <a:rPr lang="hu-HU" dirty="0"/>
              <a:t>. </a:t>
            </a:r>
            <a:r>
              <a:rPr lang="en-US" dirty="0"/>
              <a:t>A </a:t>
            </a:r>
            <a:r>
              <a:rPr lang="en-US" dirty="0" err="1"/>
              <a:t>probléma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illegális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hu-HU" dirty="0"/>
              <a:t> </a:t>
            </a:r>
            <a:r>
              <a:rPr lang="en-US" b="1" dirty="0" err="1"/>
              <a:t>olyan</a:t>
            </a:r>
            <a:r>
              <a:rPr lang="en-US" b="1" dirty="0"/>
              <a:t> </a:t>
            </a:r>
            <a:r>
              <a:rPr lang="en-US" b="1" dirty="0" err="1"/>
              <a:t>helyzetben</a:t>
            </a:r>
            <a:r>
              <a:rPr lang="en-US" b="1" dirty="0"/>
              <a:t> </a:t>
            </a:r>
            <a:r>
              <a:rPr lang="en-US" b="1" dirty="0" err="1"/>
              <a:t>használják</a:t>
            </a:r>
            <a:r>
              <a:rPr lang="en-US" b="1" dirty="0"/>
              <a:t>, </a:t>
            </a:r>
            <a:r>
              <a:rPr lang="en-US" b="1" dirty="0" err="1"/>
              <a:t>amire</a:t>
            </a:r>
            <a:r>
              <a:rPr lang="en-US" b="1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számítottunk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A</a:t>
            </a:r>
            <a:r>
              <a:rPr lang="en-US" dirty="0"/>
              <a:t> </a:t>
            </a:r>
            <a:r>
              <a:rPr lang="en-US" dirty="0" err="1"/>
              <a:t>webbiztonság</a:t>
            </a:r>
            <a:r>
              <a:rPr lang="en-US" dirty="0"/>
              <a:t> </a:t>
            </a:r>
            <a:r>
              <a:rPr lang="en-US" dirty="0" err="1"/>
              <a:t>elsősorban</a:t>
            </a:r>
            <a:r>
              <a:rPr lang="en-US" dirty="0"/>
              <a:t> </a:t>
            </a:r>
            <a:r>
              <a:rPr lang="en-US" b="1" dirty="0" err="1"/>
              <a:t>logikai</a:t>
            </a:r>
            <a:r>
              <a:rPr lang="en-US" b="1" dirty="0"/>
              <a:t> </a:t>
            </a:r>
            <a:r>
              <a:rPr lang="en-US" b="1" dirty="0" err="1"/>
              <a:t>tervezési</a:t>
            </a:r>
            <a:r>
              <a:rPr lang="en-US" b="1" dirty="0"/>
              <a:t> </a:t>
            </a:r>
            <a:r>
              <a:rPr lang="en-US" b="1" dirty="0" err="1"/>
              <a:t>kérdés</a:t>
            </a:r>
            <a:r>
              <a:rPr lang="hu-HU" b="1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75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b="1" dirty="0" err="1"/>
              <a:t>trust</a:t>
            </a:r>
            <a:r>
              <a:rPr lang="hu-HU" b="1" dirty="0"/>
              <a:t> </a:t>
            </a:r>
            <a:r>
              <a:rPr lang="hu-HU" b="1" dirty="0" err="1"/>
              <a:t>boundary</a:t>
            </a:r>
            <a:r>
              <a:rPr lang="hu-HU" dirty="0"/>
              <a:t> azt mutatja meg, hol ér véget a megbízható környezet.</a:t>
            </a:r>
          </a:p>
          <a:p>
            <a:endParaRPr lang="hu-HU" dirty="0"/>
          </a:p>
          <a:p>
            <a:r>
              <a:rPr lang="hu-HU" dirty="0"/>
              <a:t>Webes rendszerekben:</a:t>
            </a:r>
          </a:p>
          <a:p>
            <a:r>
              <a:rPr lang="hu-HU" dirty="0"/>
              <a:t>- minden, ami a böngészőből jön, </a:t>
            </a:r>
            <a:r>
              <a:rPr lang="hu-HU" b="1" dirty="0"/>
              <a:t>gyanús</a:t>
            </a:r>
            <a:r>
              <a:rPr lang="hu-HU" dirty="0"/>
              <a:t>,</a:t>
            </a:r>
          </a:p>
          <a:p>
            <a:r>
              <a:rPr lang="hu-HU" dirty="0"/>
              <a:t>- minden input manipulálható,</a:t>
            </a:r>
          </a:p>
          <a:p>
            <a:r>
              <a:rPr lang="hu-HU" dirty="0"/>
              <a:t>- A hálózat nem megbízható.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szerveroldal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egyetlen</a:t>
            </a:r>
            <a:r>
              <a:rPr lang="en-US" dirty="0"/>
              <a:t> </a:t>
            </a:r>
            <a:r>
              <a:rPr lang="en-US" dirty="0" err="1"/>
              <a:t>hely</a:t>
            </a:r>
            <a:r>
              <a:rPr lang="en-US" dirty="0"/>
              <a:t>, </a:t>
            </a:r>
            <a:r>
              <a:rPr lang="en-US" dirty="0" err="1"/>
              <a:t>ahol</a:t>
            </a:r>
            <a:r>
              <a:rPr lang="en-US" dirty="0"/>
              <a:t> </a:t>
            </a:r>
            <a:r>
              <a:rPr lang="en-US" dirty="0" err="1"/>
              <a:t>valódi</a:t>
            </a:r>
            <a:r>
              <a:rPr lang="en-US" dirty="0"/>
              <a:t> </a:t>
            </a:r>
            <a:r>
              <a:rPr lang="en-US" dirty="0" err="1"/>
              <a:t>kontrollunk</a:t>
            </a:r>
            <a:r>
              <a:rPr lang="en-US" dirty="0"/>
              <a:t> van.</a:t>
            </a:r>
            <a:r>
              <a:rPr lang="hu-HU" dirty="0"/>
              <a:t> A szerver az első hely, ahol ellenőrizhetünk, szűrhetünk, dönthetünk. </a:t>
            </a:r>
          </a:p>
          <a:p>
            <a:endParaRPr lang="hu-HU" b="1" dirty="0"/>
          </a:p>
          <a:p>
            <a:r>
              <a:rPr lang="hu-HU" b="1" dirty="0"/>
              <a:t>Minden webes sebezhetőség</a:t>
            </a:r>
            <a:r>
              <a:rPr lang="hu-HU" dirty="0"/>
              <a:t> ott keletkezik, ahol a </a:t>
            </a:r>
            <a:r>
              <a:rPr lang="hu-HU" dirty="0" err="1"/>
              <a:t>trust</a:t>
            </a:r>
            <a:r>
              <a:rPr lang="hu-HU" dirty="0"/>
              <a:t> </a:t>
            </a:r>
            <a:r>
              <a:rPr lang="hu-HU" dirty="0" err="1"/>
              <a:t>boundary</a:t>
            </a:r>
            <a:r>
              <a:rPr lang="hu-HU" dirty="0"/>
              <a:t>-t figyelmen kívül hagyjuk.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9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</a:t>
            </a:r>
            <a:r>
              <a:rPr lang="en-US" b="1" dirty="0"/>
              <a:t>XSS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 err="1"/>
              <a:t>kliensoldali</a:t>
            </a:r>
            <a:r>
              <a:rPr lang="en-US" b="1" dirty="0"/>
              <a:t> </a:t>
            </a:r>
            <a:r>
              <a:rPr lang="en-US" b="1" dirty="0" err="1"/>
              <a:t>támadás</a:t>
            </a:r>
            <a:r>
              <a:rPr lang="en-US" dirty="0"/>
              <a:t>, </a:t>
            </a:r>
            <a:r>
              <a:rPr lang="en-US" dirty="0" err="1"/>
              <a:t>ahol</a:t>
            </a:r>
            <a:r>
              <a:rPr lang="en-US" dirty="0"/>
              <a:t> a </a:t>
            </a:r>
            <a:r>
              <a:rPr lang="en-US" dirty="0" err="1"/>
              <a:t>támadó</a:t>
            </a:r>
            <a:r>
              <a:rPr lang="en-US" dirty="0"/>
              <a:t> </a:t>
            </a:r>
            <a:r>
              <a:rPr lang="en-US" b="1" dirty="0"/>
              <a:t>JavaScript </a:t>
            </a:r>
            <a:r>
              <a:rPr lang="en-US" b="1" dirty="0" err="1"/>
              <a:t>kódot</a:t>
            </a:r>
            <a:r>
              <a:rPr lang="en-US" b="1" dirty="0"/>
              <a:t> </a:t>
            </a:r>
            <a:r>
              <a:rPr lang="en-US" b="1" dirty="0" err="1"/>
              <a:t>juttat</a:t>
            </a:r>
            <a:r>
              <a:rPr lang="en-US" b="1" dirty="0"/>
              <a:t> be </a:t>
            </a:r>
            <a:r>
              <a:rPr lang="en-US" b="1" dirty="0" err="1"/>
              <a:t>egy</a:t>
            </a:r>
            <a:r>
              <a:rPr lang="en-US" b="1" dirty="0"/>
              <a:t> legitim </a:t>
            </a:r>
            <a:r>
              <a:rPr lang="en-US" b="1" dirty="0" err="1"/>
              <a:t>webalkalmazásba</a:t>
            </a:r>
            <a:r>
              <a:rPr lang="en-US" dirty="0"/>
              <a:t>, </a:t>
            </a:r>
            <a:r>
              <a:rPr lang="en-US" dirty="0" err="1"/>
              <a:t>amit</a:t>
            </a:r>
            <a:r>
              <a:rPr lang="en-US" dirty="0"/>
              <a:t> </a:t>
            </a:r>
            <a:r>
              <a:rPr lang="en-US" dirty="0" err="1"/>
              <a:t>aztán</a:t>
            </a:r>
            <a:r>
              <a:rPr lang="en-US" dirty="0"/>
              <a:t> </a:t>
            </a:r>
            <a:r>
              <a:rPr lang="en-US" b="1" dirty="0" err="1"/>
              <a:t>más</a:t>
            </a:r>
            <a:r>
              <a:rPr lang="en-US" b="1" dirty="0"/>
              <a:t> </a:t>
            </a:r>
            <a:r>
              <a:rPr lang="en-US" b="1" dirty="0" err="1"/>
              <a:t>felhasználók</a:t>
            </a:r>
            <a:r>
              <a:rPr lang="en-US" b="1" dirty="0"/>
              <a:t> </a:t>
            </a:r>
            <a:r>
              <a:rPr lang="en-US" b="1" dirty="0" err="1"/>
              <a:t>böngészője</a:t>
            </a:r>
            <a:r>
              <a:rPr lang="en-US" b="1" dirty="0"/>
              <a:t> </a:t>
            </a:r>
            <a:r>
              <a:rPr lang="en-US" b="1" dirty="0" err="1"/>
              <a:t>hajt</a:t>
            </a:r>
            <a:r>
              <a:rPr lang="en-US" b="1" dirty="0"/>
              <a:t> </a:t>
            </a:r>
            <a:r>
              <a:rPr lang="en-US" b="1" dirty="0" err="1"/>
              <a:t>végre</a:t>
            </a:r>
            <a:r>
              <a:rPr lang="en-US" dirty="0"/>
              <a:t>, </a:t>
            </a:r>
            <a:r>
              <a:rPr lang="en-US" i="1" dirty="0"/>
              <a:t>a </a:t>
            </a:r>
            <a:r>
              <a:rPr lang="en-US" i="1" dirty="0" err="1"/>
              <a:t>weboldal</a:t>
            </a:r>
            <a:r>
              <a:rPr lang="en-US" i="1" dirty="0"/>
              <a:t> </a:t>
            </a:r>
            <a:r>
              <a:rPr lang="en-US" i="1" dirty="0" err="1"/>
              <a:t>jogosultságaival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Az XSS a Script Injection </a:t>
            </a:r>
            <a:r>
              <a:rPr lang="en-US" dirty="0" err="1"/>
              <a:t>támadások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speciális</a:t>
            </a:r>
            <a:r>
              <a:rPr lang="en-US" dirty="0"/>
              <a:t> </a:t>
            </a:r>
            <a:r>
              <a:rPr lang="en-US" dirty="0" err="1"/>
              <a:t>esete</a:t>
            </a:r>
            <a:r>
              <a:rPr lang="hu-HU" dirty="0"/>
              <a:t>.</a:t>
            </a:r>
            <a:endParaRPr lang="en-US" dirty="0"/>
          </a:p>
          <a:p>
            <a:endParaRPr lang="hu-HU" dirty="0"/>
          </a:p>
          <a:p>
            <a:r>
              <a:rPr lang="en-US" dirty="0"/>
              <a:t>Ez </a:t>
            </a:r>
            <a:r>
              <a:rPr lang="hu-HU" dirty="0"/>
              <a:t>a támadás </a:t>
            </a:r>
            <a:r>
              <a:rPr lang="en-US" dirty="0" err="1"/>
              <a:t>kritikus</a:t>
            </a:r>
            <a:r>
              <a:rPr lang="hu-HU" dirty="0"/>
              <a:t>, hiszen:</a:t>
            </a:r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kód</a:t>
            </a:r>
            <a:r>
              <a:rPr lang="en-US" dirty="0"/>
              <a:t> a </a:t>
            </a:r>
            <a:r>
              <a:rPr lang="en-US" dirty="0" err="1"/>
              <a:t>felhasználó</a:t>
            </a:r>
            <a:r>
              <a:rPr lang="en-US" dirty="0"/>
              <a:t> </a:t>
            </a:r>
            <a:r>
              <a:rPr lang="en-US" dirty="0" err="1"/>
              <a:t>nevében</a:t>
            </a:r>
            <a:r>
              <a:rPr lang="en-US" dirty="0"/>
              <a:t> </a:t>
            </a:r>
            <a:r>
              <a:rPr lang="en-US" dirty="0" err="1"/>
              <a:t>fut</a:t>
            </a:r>
            <a:r>
              <a:rPr lang="en-US" dirty="0"/>
              <a:t>,</a:t>
            </a:r>
          </a:p>
          <a:p>
            <a:r>
              <a:rPr lang="en-US" dirty="0" err="1"/>
              <a:t>hozzáfér</a:t>
            </a:r>
            <a:r>
              <a:rPr lang="en-US" dirty="0"/>
              <a:t> a </a:t>
            </a:r>
            <a:r>
              <a:rPr lang="en-US" dirty="0" err="1"/>
              <a:t>sessionhöz</a:t>
            </a:r>
            <a:r>
              <a:rPr lang="hu-HU" dirty="0"/>
              <a:t> (</a:t>
            </a:r>
            <a:r>
              <a:rPr lang="hu-HU" b="1" dirty="0"/>
              <a:t>session ellopása</a:t>
            </a:r>
            <a:r>
              <a:rPr lang="hu-HU" dirty="0"/>
              <a:t>)</a:t>
            </a:r>
            <a:r>
              <a:rPr lang="en-US" dirty="0"/>
              <a:t>,</a:t>
            </a:r>
          </a:p>
          <a:p>
            <a:r>
              <a:rPr lang="en-US" dirty="0" err="1"/>
              <a:t>módosíthatja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oldalt</a:t>
            </a:r>
            <a:r>
              <a:rPr lang="en-US" dirty="0"/>
              <a:t>,</a:t>
            </a:r>
            <a:r>
              <a:rPr lang="hu-HU" dirty="0"/>
              <a:t> megtévesztheti a felhasználót,</a:t>
            </a:r>
          </a:p>
          <a:p>
            <a:r>
              <a:rPr lang="hu-HU" dirty="0"/>
              <a:t>felhasználó nevében műveletek: kéréseket küldhet,</a:t>
            </a:r>
            <a:endParaRPr lang="en-US" dirty="0"/>
          </a:p>
          <a:p>
            <a:r>
              <a:rPr lang="en-US" dirty="0" err="1"/>
              <a:t>adatot</a:t>
            </a:r>
            <a:r>
              <a:rPr lang="en-US" dirty="0"/>
              <a:t> </a:t>
            </a:r>
            <a:r>
              <a:rPr lang="en-US" dirty="0" err="1"/>
              <a:t>küldhet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máshová</a:t>
            </a:r>
            <a:r>
              <a:rPr lang="hu-HU" dirty="0"/>
              <a:t> (</a:t>
            </a:r>
            <a:r>
              <a:rPr lang="hu-HU" b="1" dirty="0"/>
              <a:t>adatlopás</a:t>
            </a:r>
            <a:r>
              <a:rPr lang="hu-HU" dirty="0"/>
              <a:t>)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Fontos </a:t>
            </a:r>
            <a:r>
              <a:rPr lang="en-US" dirty="0" err="1"/>
              <a:t>megérteni</a:t>
            </a:r>
            <a:r>
              <a:rPr lang="en-US" dirty="0"/>
              <a:t>:</a:t>
            </a:r>
            <a:r>
              <a:rPr lang="hu-HU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hu-HU" b="1" dirty="0"/>
              <a:t>magát </a:t>
            </a:r>
            <a:r>
              <a:rPr lang="en-US" b="1" dirty="0"/>
              <a:t>a </a:t>
            </a:r>
            <a:r>
              <a:rPr lang="en-US" b="1" dirty="0" err="1"/>
              <a:t>szervert</a:t>
            </a:r>
            <a:r>
              <a:rPr lang="en-US" b="1" dirty="0"/>
              <a:t> </a:t>
            </a:r>
            <a:r>
              <a:rPr lang="en-US" b="1" dirty="0" err="1"/>
              <a:t>támadja</a:t>
            </a:r>
            <a:r>
              <a:rPr lang="en-US" b="1" dirty="0"/>
              <a:t>, </a:t>
            </a:r>
            <a:r>
              <a:rPr lang="en-US" b="1" dirty="0" err="1"/>
              <a:t>hanem</a:t>
            </a:r>
            <a:r>
              <a:rPr lang="en-US" b="1" dirty="0"/>
              <a:t> a </a:t>
            </a:r>
            <a:r>
              <a:rPr lang="en-US" b="1" dirty="0" err="1"/>
              <a:t>felhasználót</a:t>
            </a:r>
            <a:r>
              <a:rPr lang="hu-HU" b="1" dirty="0"/>
              <a:t> (a felhasználó böngészőjében).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61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XSS mögötti alapelv rendkívül egyszerű: felhasználói input bekerül a válaszba, </a:t>
            </a:r>
            <a:r>
              <a:rPr lang="hu-HU" b="1" dirty="0"/>
              <a:t>ellenőrzés vagy átalakítás (</a:t>
            </a:r>
            <a:r>
              <a:rPr lang="hu-HU" b="1" dirty="0" err="1"/>
              <a:t>escaping</a:t>
            </a:r>
            <a:r>
              <a:rPr lang="hu-HU" b="1" dirty="0"/>
              <a:t>) nélkül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weben</a:t>
            </a:r>
            <a:r>
              <a:rPr lang="en-US" dirty="0"/>
              <a:t> </a:t>
            </a:r>
            <a:r>
              <a:rPr lang="en-US" dirty="0" err="1"/>
              <a:t>különösen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hu-HU" dirty="0"/>
              <a:t>, hogy </a:t>
            </a:r>
            <a:r>
              <a:rPr lang="en-US" b="1" dirty="0" err="1"/>
              <a:t>milyen</a:t>
            </a:r>
            <a:r>
              <a:rPr lang="en-US" b="1" dirty="0"/>
              <a:t> </a:t>
            </a:r>
            <a:r>
              <a:rPr lang="en-US" b="1" dirty="0" err="1"/>
              <a:t>kontextusba</a:t>
            </a:r>
            <a:r>
              <a:rPr lang="en-US" b="1" dirty="0"/>
              <a:t> </a:t>
            </a:r>
            <a:r>
              <a:rPr lang="en-US" b="1" dirty="0" err="1"/>
              <a:t>kerül</a:t>
            </a:r>
            <a:r>
              <a:rPr lang="en-US" b="1" dirty="0"/>
              <a:t> </a:t>
            </a:r>
            <a:r>
              <a:rPr lang="en-US" b="1" dirty="0" err="1"/>
              <a:t>az</a:t>
            </a:r>
            <a:r>
              <a:rPr lang="en-US" b="1" dirty="0"/>
              <a:t> </a:t>
            </a:r>
            <a:r>
              <a:rPr lang="en-US" b="1" dirty="0" err="1"/>
              <a:t>adat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weben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/>
              <a:t>HTML </a:t>
            </a:r>
            <a:r>
              <a:rPr lang="en-US" dirty="0" err="1"/>
              <a:t>kontextus</a:t>
            </a:r>
            <a:r>
              <a:rPr lang="en-US" dirty="0"/>
              <a:t>,</a:t>
            </a:r>
          </a:p>
          <a:p>
            <a:r>
              <a:rPr lang="hu-HU" dirty="0"/>
              <a:t>-</a:t>
            </a:r>
            <a:r>
              <a:rPr lang="en-US" dirty="0"/>
              <a:t>JavaScript </a:t>
            </a:r>
            <a:r>
              <a:rPr lang="en-US" dirty="0" err="1"/>
              <a:t>kontextus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 err="1"/>
              <a:t>attribútum</a:t>
            </a:r>
            <a:r>
              <a:rPr lang="en-US" dirty="0"/>
              <a:t> </a:t>
            </a:r>
            <a:r>
              <a:rPr lang="en-US" dirty="0" err="1"/>
              <a:t>kontextus</a:t>
            </a:r>
            <a:endParaRPr lang="en-US" dirty="0"/>
          </a:p>
          <a:p>
            <a:r>
              <a:rPr lang="en-US" dirty="0"/>
              <a:t>mind </a:t>
            </a:r>
            <a:r>
              <a:rPr lang="en-US" dirty="0" err="1"/>
              <a:t>különböző</a:t>
            </a:r>
            <a:r>
              <a:rPr lang="en-US" dirty="0"/>
              <a:t> </a:t>
            </a:r>
            <a:r>
              <a:rPr lang="en-US" dirty="0" err="1"/>
              <a:t>szabályokat</a:t>
            </a:r>
            <a:r>
              <a:rPr lang="en-US" dirty="0"/>
              <a:t> </a:t>
            </a:r>
            <a:r>
              <a:rPr lang="en-US" dirty="0" err="1"/>
              <a:t>igényelnek</a:t>
            </a:r>
            <a:r>
              <a:rPr lang="en-US" dirty="0"/>
              <a:t>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23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Stored XSS</a:t>
            </a:r>
            <a:r>
              <a:rPr lang="en-US" dirty="0"/>
              <a:t>:</a:t>
            </a:r>
          </a:p>
          <a:p>
            <a:r>
              <a:rPr lang="en-US" dirty="0" err="1"/>
              <a:t>adatbázisba</a:t>
            </a:r>
            <a:r>
              <a:rPr lang="en-US" dirty="0"/>
              <a:t> </a:t>
            </a:r>
            <a:r>
              <a:rPr lang="en-US" dirty="0" err="1"/>
              <a:t>kerül</a:t>
            </a:r>
            <a:r>
              <a:rPr lang="en-US" dirty="0"/>
              <a:t>,</a:t>
            </a:r>
          </a:p>
          <a:p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felhasználót</a:t>
            </a:r>
            <a:r>
              <a:rPr lang="en-US" dirty="0"/>
              <a:t> </a:t>
            </a:r>
            <a:r>
              <a:rPr lang="en-US" dirty="0" err="1"/>
              <a:t>érint</a:t>
            </a:r>
            <a:r>
              <a:rPr lang="en-US" dirty="0"/>
              <a:t>,</a:t>
            </a:r>
          </a:p>
          <a:p>
            <a:r>
              <a:rPr lang="en-US" dirty="0" err="1"/>
              <a:t>tipikusan</a:t>
            </a:r>
            <a:r>
              <a:rPr lang="en-US" dirty="0"/>
              <a:t> </a:t>
            </a:r>
            <a:r>
              <a:rPr lang="en-US" dirty="0" err="1"/>
              <a:t>kommentek</a:t>
            </a:r>
            <a:r>
              <a:rPr lang="en-US" dirty="0"/>
              <a:t>, </a:t>
            </a:r>
            <a:r>
              <a:rPr lang="en-US" dirty="0" err="1"/>
              <a:t>leírások</a:t>
            </a:r>
            <a:r>
              <a:rPr lang="en-US" dirty="0"/>
              <a:t>.</a:t>
            </a:r>
            <a:br>
              <a:rPr lang="hu-HU" dirty="0"/>
            </a:br>
            <a:endParaRPr lang="en-US" dirty="0"/>
          </a:p>
          <a:p>
            <a:r>
              <a:rPr lang="en-US" b="1" dirty="0"/>
              <a:t>Reflected XSS</a:t>
            </a:r>
            <a:r>
              <a:rPr lang="en-US" dirty="0"/>
              <a:t>:</a:t>
            </a:r>
          </a:p>
          <a:p>
            <a:r>
              <a:rPr lang="en-US" dirty="0"/>
              <a:t>URL </a:t>
            </a:r>
            <a:r>
              <a:rPr lang="en-US" dirty="0" err="1"/>
              <a:t>vagy</a:t>
            </a:r>
            <a:r>
              <a:rPr lang="en-US" dirty="0"/>
              <a:t> form </a:t>
            </a:r>
            <a:r>
              <a:rPr lang="en-US" dirty="0" err="1"/>
              <a:t>paraméter</a:t>
            </a:r>
            <a:r>
              <a:rPr lang="en-US" dirty="0"/>
              <a:t>,</a:t>
            </a:r>
          </a:p>
          <a:p>
            <a:r>
              <a:rPr lang="en-US" dirty="0" err="1"/>
              <a:t>azonnal</a:t>
            </a:r>
            <a:r>
              <a:rPr lang="en-US" dirty="0"/>
              <a:t> </a:t>
            </a:r>
            <a:r>
              <a:rPr lang="en-US" dirty="0" err="1"/>
              <a:t>visszakerül</a:t>
            </a:r>
            <a:r>
              <a:rPr lang="en-US" dirty="0"/>
              <a:t> a </a:t>
            </a:r>
            <a:r>
              <a:rPr lang="en-US" dirty="0" err="1"/>
              <a:t>válaszba</a:t>
            </a:r>
            <a:r>
              <a:rPr lang="en-US" dirty="0"/>
              <a:t>,</a:t>
            </a:r>
          </a:p>
          <a:p>
            <a:r>
              <a:rPr lang="en-US" dirty="0" err="1"/>
              <a:t>gyakran</a:t>
            </a:r>
            <a:r>
              <a:rPr lang="en-US" dirty="0"/>
              <a:t> </a:t>
            </a:r>
            <a:r>
              <a:rPr lang="en-US" dirty="0" err="1"/>
              <a:t>hibaüzeneteknél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en-US" b="1" dirty="0"/>
              <a:t>DOM-based XSS</a:t>
            </a:r>
            <a:r>
              <a:rPr lang="en-US" dirty="0"/>
              <a:t>:</a:t>
            </a:r>
          </a:p>
          <a:p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is </a:t>
            </a:r>
            <a:r>
              <a:rPr lang="en-US" dirty="0" err="1"/>
              <a:t>tud</a:t>
            </a:r>
            <a:r>
              <a:rPr lang="en-US" dirty="0"/>
              <a:t> </a:t>
            </a:r>
            <a:r>
              <a:rPr lang="en-US" dirty="0" err="1"/>
              <a:t>róla</a:t>
            </a:r>
            <a:r>
              <a:rPr lang="en-US" dirty="0"/>
              <a:t>,</a:t>
            </a:r>
          </a:p>
          <a:p>
            <a:r>
              <a:rPr lang="en-US" dirty="0"/>
              <a:t>JavaScript </a:t>
            </a:r>
            <a:r>
              <a:rPr lang="en-US" dirty="0" err="1"/>
              <a:t>manipulálja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oldalt</a:t>
            </a:r>
            <a:r>
              <a:rPr lang="hu-HU" dirty="0"/>
              <a:t> (DOM-ot)</a:t>
            </a:r>
            <a:r>
              <a:rPr lang="en-US" dirty="0"/>
              <a:t>,</a:t>
            </a:r>
          </a:p>
          <a:p>
            <a:r>
              <a:rPr lang="en-US" dirty="0"/>
              <a:t>frontend </a:t>
            </a:r>
            <a:r>
              <a:rPr lang="en-US" dirty="0" err="1"/>
              <a:t>logikai</a:t>
            </a:r>
            <a:r>
              <a:rPr lang="en-US" dirty="0"/>
              <a:t> </a:t>
            </a:r>
            <a:r>
              <a:rPr lang="en-US" dirty="0" err="1"/>
              <a:t>hiba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közös</a:t>
            </a:r>
            <a:r>
              <a:rPr lang="en-US" dirty="0"/>
              <a:t> </a:t>
            </a:r>
            <a:r>
              <a:rPr lang="en-US" dirty="0" err="1"/>
              <a:t>pont</a:t>
            </a:r>
            <a:r>
              <a:rPr lang="en-US" dirty="0"/>
              <a:t>:</a:t>
            </a:r>
            <a:r>
              <a:rPr lang="hu-HU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megfelelő</a:t>
            </a:r>
            <a:r>
              <a:rPr lang="en-US" b="1" dirty="0"/>
              <a:t> </a:t>
            </a:r>
            <a:r>
              <a:rPr lang="en-US" b="1" dirty="0" err="1"/>
              <a:t>inputkezelés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97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Output encoding </a:t>
            </a:r>
            <a:r>
              <a:rPr lang="en-US" b="1" dirty="0" err="1"/>
              <a:t>minden</a:t>
            </a:r>
            <a:r>
              <a:rPr lang="en-US" b="1" dirty="0"/>
              <a:t> </a:t>
            </a:r>
            <a:r>
              <a:rPr lang="en-US" b="1" dirty="0" err="1"/>
              <a:t>felhasználói</a:t>
            </a:r>
            <a:r>
              <a:rPr lang="en-US" b="1" dirty="0"/>
              <a:t> </a:t>
            </a:r>
            <a:r>
              <a:rPr lang="en-US" b="1" dirty="0" err="1"/>
              <a:t>adatnál</a:t>
            </a:r>
            <a:endParaRPr lang="en-US" dirty="0"/>
          </a:p>
          <a:p>
            <a:r>
              <a:rPr lang="en-US" dirty="0" err="1"/>
              <a:t>Megjelenítéskor</a:t>
            </a:r>
            <a:r>
              <a:rPr lang="en-US" dirty="0"/>
              <a:t>,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mentéskor</a:t>
            </a:r>
            <a:endParaRPr lang="en-US" dirty="0"/>
          </a:p>
          <a:p>
            <a:r>
              <a:rPr lang="en-US" dirty="0" err="1"/>
              <a:t>Kontextusfüggően</a:t>
            </a:r>
            <a:r>
              <a:rPr lang="en-US" dirty="0"/>
              <a:t> (HTML, </a:t>
            </a:r>
            <a:r>
              <a:rPr lang="en-US" dirty="0" err="1"/>
              <a:t>attribútum</a:t>
            </a:r>
            <a:r>
              <a:rPr lang="en-US" dirty="0"/>
              <a:t>, JS, URL)</a:t>
            </a:r>
            <a:endParaRPr lang="hu-HU" dirty="0"/>
          </a:p>
          <a:p>
            <a:endParaRPr lang="en-US" dirty="0"/>
          </a:p>
          <a:p>
            <a:r>
              <a:rPr lang="en-US" b="1" dirty="0" err="1"/>
              <a:t>Biztonságos</a:t>
            </a:r>
            <a:r>
              <a:rPr lang="en-US" b="1" dirty="0"/>
              <a:t> </a:t>
            </a:r>
            <a:r>
              <a:rPr lang="en-US" b="1" dirty="0" err="1"/>
              <a:t>megjelenítés</a:t>
            </a:r>
            <a:r>
              <a:rPr lang="en-US" b="1" dirty="0"/>
              <a:t> a </a:t>
            </a:r>
            <a:r>
              <a:rPr lang="en-US" b="1" dirty="0" err="1"/>
              <a:t>frontendben</a:t>
            </a:r>
            <a:endParaRPr lang="en-US" dirty="0"/>
          </a:p>
          <a:p>
            <a:r>
              <a:rPr lang="en-US" dirty="0"/>
              <a:t>Template binding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{{ }}</a:t>
            </a:r>
            <a:r>
              <a:rPr lang="en-US" dirty="0"/>
              <a:t>) </a:t>
            </a:r>
            <a:r>
              <a:rPr lang="en-US" dirty="0" err="1"/>
              <a:t>használata</a:t>
            </a:r>
            <a:endParaRPr lang="en-US" dirty="0"/>
          </a:p>
          <a:p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az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innerHTML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/>
              <a:t>kerülése</a:t>
            </a:r>
            <a:endParaRPr lang="en-US" dirty="0"/>
          </a:p>
          <a:p>
            <a:endParaRPr lang="hu-HU" b="1" dirty="0"/>
          </a:p>
          <a:p>
            <a:r>
              <a:rPr lang="en-US" b="1" dirty="0"/>
              <a:t>DOM-based XSS </a:t>
            </a:r>
            <a:r>
              <a:rPr lang="en-US" b="1" dirty="0" err="1"/>
              <a:t>elkerülése</a:t>
            </a:r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textContent</a:t>
            </a:r>
            <a:r>
              <a:rPr lang="en-US" dirty="0"/>
              <a:t> </a:t>
            </a:r>
            <a:r>
              <a:rPr lang="en-US" dirty="0" err="1"/>
              <a:t>használata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innerHTML</a:t>
            </a:r>
            <a:r>
              <a:rPr lang="en-US" dirty="0"/>
              <a:t> </a:t>
            </a:r>
            <a:r>
              <a:rPr lang="en-US" dirty="0" err="1"/>
              <a:t>helyett</a:t>
            </a:r>
            <a:endParaRPr lang="en-US" dirty="0"/>
          </a:p>
          <a:p>
            <a:r>
              <a:rPr lang="en-US" dirty="0"/>
              <a:t>URL / hash / query </a:t>
            </a:r>
            <a:r>
              <a:rPr lang="en-US" dirty="0" err="1"/>
              <a:t>paraméterek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közvetlen</a:t>
            </a:r>
            <a:r>
              <a:rPr lang="en-US" dirty="0"/>
              <a:t> </a:t>
            </a:r>
            <a:r>
              <a:rPr lang="en-US" dirty="0" err="1"/>
              <a:t>renderelése</a:t>
            </a:r>
            <a:endParaRPr lang="hu-HU" dirty="0"/>
          </a:p>
          <a:p>
            <a:endParaRPr lang="en-US" dirty="0"/>
          </a:p>
          <a:p>
            <a:r>
              <a:rPr lang="en-US" b="1" dirty="0"/>
              <a:t>Content Security Policy (CSP)</a:t>
            </a:r>
            <a:endParaRPr lang="en-US" dirty="0"/>
          </a:p>
          <a:p>
            <a:r>
              <a:rPr lang="en-US" dirty="0"/>
              <a:t>Inline script és event handler </a:t>
            </a:r>
            <a:r>
              <a:rPr lang="en-US" dirty="0" err="1"/>
              <a:t>tiltása</a:t>
            </a:r>
            <a:endParaRPr lang="en-US" dirty="0"/>
          </a:p>
          <a:p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megbízható</a:t>
            </a:r>
            <a:r>
              <a:rPr lang="en-US" dirty="0"/>
              <a:t> </a:t>
            </a:r>
            <a:r>
              <a:rPr lang="en-US" dirty="0" err="1"/>
              <a:t>forrásból</a:t>
            </a:r>
            <a:r>
              <a:rPr lang="en-US" dirty="0"/>
              <a:t> </a:t>
            </a:r>
            <a:r>
              <a:rPr lang="en-US" dirty="0" err="1"/>
              <a:t>származó</a:t>
            </a:r>
            <a:r>
              <a:rPr lang="en-US" dirty="0"/>
              <a:t> JS </a:t>
            </a:r>
            <a:r>
              <a:rPr lang="en-US" dirty="0" err="1"/>
              <a:t>engedélyezése</a:t>
            </a:r>
            <a:endParaRPr lang="en-US" dirty="0"/>
          </a:p>
          <a:p>
            <a:endParaRPr lang="hu-HU" b="1" dirty="0"/>
          </a:p>
          <a:p>
            <a:r>
              <a:rPr lang="en-US" b="1" dirty="0"/>
              <a:t>Cookie és session </a:t>
            </a:r>
            <a:r>
              <a:rPr lang="en-US" b="1" dirty="0" err="1"/>
              <a:t>védelem</a:t>
            </a:r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HttpOnly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Secure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SameSite</a:t>
            </a:r>
            <a:r>
              <a:rPr lang="en-US" dirty="0"/>
              <a:t> </a:t>
            </a:r>
            <a:r>
              <a:rPr lang="en-US" dirty="0" err="1"/>
              <a:t>beállítások</a:t>
            </a:r>
            <a:endParaRPr lang="en-US" dirty="0"/>
          </a:p>
          <a:p>
            <a:r>
              <a:rPr lang="en-US" dirty="0"/>
              <a:t>Session </a:t>
            </a:r>
            <a:r>
              <a:rPr lang="en-US" dirty="0" err="1"/>
              <a:t>lopás</a:t>
            </a:r>
            <a:r>
              <a:rPr lang="en-US" dirty="0"/>
              <a:t> </a:t>
            </a:r>
            <a:r>
              <a:rPr lang="en-US" dirty="0" err="1"/>
              <a:t>kockázatának</a:t>
            </a:r>
            <a:r>
              <a:rPr lang="en-US" dirty="0"/>
              <a:t> </a:t>
            </a:r>
            <a:r>
              <a:rPr lang="en-US" dirty="0" err="1"/>
              <a:t>csökkentése</a:t>
            </a:r>
            <a:endParaRPr lang="en-US" dirty="0"/>
          </a:p>
          <a:p>
            <a:endParaRPr lang="hu-HU" b="1" dirty="0"/>
          </a:p>
          <a:p>
            <a:r>
              <a:rPr lang="en-US" b="1" dirty="0"/>
              <a:t>Input validation (</a:t>
            </a:r>
            <a:r>
              <a:rPr lang="en-US" b="1" dirty="0" err="1"/>
              <a:t>csak</a:t>
            </a:r>
            <a:r>
              <a:rPr lang="en-US" b="1" dirty="0"/>
              <a:t> </a:t>
            </a:r>
            <a:r>
              <a:rPr lang="en-US" b="1" dirty="0" err="1"/>
              <a:t>kiegészítés</a:t>
            </a:r>
            <a:r>
              <a:rPr lang="en-US" b="1" dirty="0"/>
              <a:t>!)</a:t>
            </a:r>
            <a:endParaRPr lang="en-US" dirty="0"/>
          </a:p>
          <a:p>
            <a:r>
              <a:rPr lang="en-US" dirty="0" err="1"/>
              <a:t>Típus</a:t>
            </a:r>
            <a:r>
              <a:rPr lang="en-US" dirty="0"/>
              <a:t>, </a:t>
            </a:r>
            <a:r>
              <a:rPr lang="en-US" dirty="0" err="1"/>
              <a:t>hossz</a:t>
            </a:r>
            <a:r>
              <a:rPr lang="en-US" dirty="0"/>
              <a:t>, </a:t>
            </a:r>
            <a:r>
              <a:rPr lang="en-US" dirty="0" err="1"/>
              <a:t>kötelező</a:t>
            </a:r>
            <a:r>
              <a:rPr lang="en-US" dirty="0"/>
              <a:t> </a:t>
            </a:r>
            <a:r>
              <a:rPr lang="en-US" dirty="0" err="1"/>
              <a:t>mezők</a:t>
            </a:r>
            <a:endParaRPr lang="en-US" dirty="0"/>
          </a:p>
          <a:p>
            <a:r>
              <a:rPr lang="en-US" dirty="0"/>
              <a:t>Nem XSS-</a:t>
            </a:r>
            <a:r>
              <a:rPr lang="en-US" dirty="0" err="1"/>
              <a:t>védelem</a:t>
            </a:r>
            <a:r>
              <a:rPr lang="en-US" dirty="0"/>
              <a:t> </a:t>
            </a:r>
            <a:r>
              <a:rPr lang="en-US" dirty="0" err="1"/>
              <a:t>önmagában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31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CSRF</a:t>
            </a:r>
            <a:r>
              <a:rPr lang="en-US" dirty="0"/>
              <a:t> </a:t>
            </a:r>
            <a:r>
              <a:rPr lang="en-US" dirty="0" err="1"/>
              <a:t>esetén</a:t>
            </a:r>
            <a:r>
              <a:rPr lang="hu-HU" dirty="0"/>
              <a:t> </a:t>
            </a:r>
            <a:r>
              <a:rPr lang="en-US" dirty="0" err="1"/>
              <a:t>nincs</a:t>
            </a:r>
            <a:r>
              <a:rPr lang="en-US" dirty="0"/>
              <a:t> </a:t>
            </a:r>
            <a:r>
              <a:rPr lang="en-US" dirty="0" err="1"/>
              <a:t>kódbefecskendezés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nincs</a:t>
            </a:r>
            <a:r>
              <a:rPr lang="en-US" dirty="0"/>
              <a:t> XSS.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támadó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használja</a:t>
            </a:r>
            <a:r>
              <a:rPr lang="en-US" dirty="0"/>
              <a:t> ki, </a:t>
            </a:r>
            <a:r>
              <a:rPr lang="en-US" dirty="0" err="1"/>
              <a:t>hogy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hu-HU" dirty="0"/>
              <a:t>„</a:t>
            </a:r>
            <a:r>
              <a:rPr lang="en-US" b="1" dirty="0" err="1"/>
              <a:t>segíteni</a:t>
            </a:r>
            <a:r>
              <a:rPr lang="en-US" b="1" dirty="0"/>
              <a:t> </a:t>
            </a:r>
            <a:r>
              <a:rPr lang="en-US" b="1" dirty="0" err="1"/>
              <a:t>akar</a:t>
            </a:r>
            <a:r>
              <a:rPr lang="hu-HU" b="1" dirty="0"/>
              <a:t>”</a:t>
            </a:r>
            <a:r>
              <a:rPr lang="en-US" dirty="0"/>
              <a:t> a </a:t>
            </a:r>
            <a:r>
              <a:rPr lang="en-US" dirty="0" err="1"/>
              <a:t>felhasználónak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A támadó a böngészőt használja fel:</a:t>
            </a:r>
          </a:p>
          <a:p>
            <a:r>
              <a:rPr lang="hu-HU" dirty="0"/>
              <a:t>- a felhasználó be van jelentkezve,</a:t>
            </a:r>
          </a:p>
          <a:p>
            <a:r>
              <a:rPr lang="hu-HU" dirty="0"/>
              <a:t>- a böngésző automatikusan küldi a </a:t>
            </a:r>
            <a:r>
              <a:rPr lang="hu-HU" dirty="0" err="1"/>
              <a:t>cookie-kat</a:t>
            </a:r>
            <a:r>
              <a:rPr lang="hu-HU" dirty="0"/>
              <a:t>,</a:t>
            </a:r>
          </a:p>
          <a:p>
            <a:r>
              <a:rPr lang="hu-HU" dirty="0"/>
              <a:t>- a támadó egy rejtett kérést indít.</a:t>
            </a:r>
          </a:p>
          <a:p>
            <a:endParaRPr lang="hu-HU" dirty="0"/>
          </a:p>
          <a:p>
            <a:r>
              <a:rPr lang="hu-HU" dirty="0"/>
              <a:t>A szerver nem lát különbséget: </a:t>
            </a:r>
            <a:r>
              <a:rPr lang="hu-HU" i="1" dirty="0"/>
              <a:t>ez is egy érvényes, hiteles kérésnek tűnik</a:t>
            </a:r>
            <a:r>
              <a:rPr lang="hu-H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16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felhasználónak a bejelentkezés után aktív session-je van a </a:t>
            </a:r>
            <a:r>
              <a:rPr lang="hu-HU" dirty="0" err="1"/>
              <a:t>cookie</a:t>
            </a:r>
            <a:r>
              <a:rPr lang="hu-HU" dirty="0"/>
              <a:t>-ban a sérülékeny weboldalra. Amikor a felhasználó akaratlanul rákattint a gyanús linkre, a rosszindulatú oldal betöltődik, és benne a rejtett HTTP kérés elindul az eredeti website felé (ahova a felhasználó korábban belépett), a böngésző pedig automatikusan küldi a </a:t>
            </a:r>
            <a:r>
              <a:rPr lang="hu-HU" dirty="0" err="1"/>
              <a:t>cookie</a:t>
            </a:r>
            <a:r>
              <a:rPr lang="hu-HU" dirty="0"/>
              <a:t>-t.</a:t>
            </a:r>
          </a:p>
          <a:p>
            <a:endParaRPr lang="hu-HU" dirty="0"/>
          </a:p>
          <a:p>
            <a:r>
              <a:rPr lang="hu-HU" dirty="0"/>
              <a:t>A CSRF alattomos, mert a felhasználó semmit nem vesz </a:t>
            </a:r>
            <a:r>
              <a:rPr lang="hu-HU" dirty="0" err="1"/>
              <a:t>észre</a:t>
            </a:r>
            <a:r>
              <a:rPr lang="hu-HU" dirty="0"/>
              <a:t>, mégis történik művelet. A CSRF támadás a böngésző „jóhiszeműségét” használja ki.</a:t>
            </a:r>
          </a:p>
          <a:p>
            <a:endParaRPr lang="hu-HU" dirty="0"/>
          </a:p>
          <a:p>
            <a:r>
              <a:rPr lang="en-US" dirty="0" err="1"/>
              <a:t>Ezért</a:t>
            </a:r>
            <a:r>
              <a:rPr lang="en-US" dirty="0"/>
              <a:t> </a:t>
            </a:r>
            <a:r>
              <a:rPr lang="en-US" dirty="0" err="1"/>
              <a:t>mondjuk</a:t>
            </a:r>
            <a:r>
              <a:rPr lang="hu-HU" dirty="0"/>
              <a:t> azt, hogy </a:t>
            </a:r>
            <a:r>
              <a:rPr lang="en-US" b="1" dirty="0"/>
              <a:t>a CSRF </a:t>
            </a:r>
            <a:r>
              <a:rPr lang="en-US" b="0" dirty="0" err="1"/>
              <a:t>nem</a:t>
            </a:r>
            <a:r>
              <a:rPr lang="en-US" b="0" dirty="0"/>
              <a:t> </a:t>
            </a:r>
            <a:r>
              <a:rPr lang="en-US" b="0" dirty="0" err="1"/>
              <a:t>hitelesítési</a:t>
            </a:r>
            <a:r>
              <a:rPr lang="en-US" b="1" dirty="0"/>
              <a:t>, </a:t>
            </a:r>
            <a:r>
              <a:rPr lang="en-US" b="1" dirty="0" err="1"/>
              <a:t>hanem</a:t>
            </a:r>
            <a:r>
              <a:rPr lang="en-US" b="1" dirty="0"/>
              <a:t> </a:t>
            </a:r>
            <a:r>
              <a:rPr lang="en-US" b="1" dirty="0" err="1"/>
              <a:t>jogosultsági</a:t>
            </a:r>
            <a:r>
              <a:rPr lang="en-US" b="1" dirty="0"/>
              <a:t> </a:t>
            </a:r>
            <a:r>
              <a:rPr lang="en-US" b="1" dirty="0" err="1"/>
              <a:t>probléma</a:t>
            </a:r>
            <a:r>
              <a:rPr lang="en-US" dirty="0"/>
              <a:t>.</a:t>
            </a:r>
            <a:r>
              <a:rPr lang="hu-HU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98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CSRF </a:t>
            </a:r>
            <a:r>
              <a:rPr lang="en-US" dirty="0" err="1"/>
              <a:t>lényege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b="1" dirty="0" err="1"/>
              <a:t>automatikusan</a:t>
            </a:r>
            <a:r>
              <a:rPr lang="en-US" dirty="0"/>
              <a:t> </a:t>
            </a:r>
            <a:r>
              <a:rPr lang="en-US" dirty="0" err="1"/>
              <a:t>csatolja</a:t>
            </a:r>
            <a:r>
              <a:rPr lang="en-US" dirty="0"/>
              <a:t> a cookie-t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kéréshez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adott</a:t>
            </a:r>
            <a:r>
              <a:rPr lang="en-US" dirty="0"/>
              <a:t> </a:t>
            </a:r>
            <a:r>
              <a:rPr lang="en-US" dirty="0" err="1"/>
              <a:t>domainre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Védelemre a</a:t>
            </a:r>
            <a:r>
              <a:rPr lang="en-US" dirty="0"/>
              <a:t> </a:t>
            </a:r>
            <a:r>
              <a:rPr lang="en-US" dirty="0" err="1"/>
              <a:t>klasszikus</a:t>
            </a:r>
            <a:r>
              <a:rPr lang="en-US" dirty="0"/>
              <a:t> </a:t>
            </a:r>
            <a:r>
              <a:rPr lang="en-US" dirty="0" err="1"/>
              <a:t>megoldás</a:t>
            </a:r>
            <a:r>
              <a:rPr lang="en-US" dirty="0"/>
              <a:t> a </a:t>
            </a:r>
            <a:r>
              <a:rPr lang="en-US" b="1" dirty="0"/>
              <a:t>CSRF token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generálja</a:t>
            </a:r>
            <a:r>
              <a:rPr lang="en-US" dirty="0"/>
              <a:t>,</a:t>
            </a:r>
            <a:r>
              <a:rPr lang="hu-HU" dirty="0"/>
              <a:t> egyedi véletlen érték,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elküldi</a:t>
            </a:r>
            <a:r>
              <a:rPr lang="hu-HU" dirty="0"/>
              <a:t> minden POST/PUT/PATCH/DELETE kéréshez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 err="1"/>
              <a:t>támadó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tudja</a:t>
            </a:r>
            <a:r>
              <a:rPr lang="en-US" dirty="0"/>
              <a:t> </a:t>
            </a:r>
            <a:r>
              <a:rPr lang="en-US" dirty="0" err="1"/>
              <a:t>kitalálni</a:t>
            </a:r>
            <a:r>
              <a:rPr lang="hu-HU" dirty="0"/>
              <a:t>,</a:t>
            </a:r>
            <a:endParaRPr lang="en-US" dirty="0"/>
          </a:p>
          <a:p>
            <a:r>
              <a:rPr lang="hu-HU" dirty="0"/>
              <a:t>- szerver minden kérés feldolgozása előtt </a:t>
            </a:r>
            <a:r>
              <a:rPr lang="hu-HU" dirty="0" err="1"/>
              <a:t>validálja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b="1" dirty="0"/>
              <a:t>CSRF token</a:t>
            </a:r>
            <a:r>
              <a:rPr lang="hu-HU" b="1" dirty="0"/>
              <a:t> </a:t>
            </a:r>
            <a:r>
              <a:rPr lang="en-US" b="1" dirty="0" err="1"/>
              <a:t>bizonyítja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alkalmazásból</a:t>
            </a:r>
            <a:r>
              <a:rPr lang="en-US" dirty="0"/>
              <a:t> </a:t>
            </a:r>
            <a:r>
              <a:rPr lang="en-US" dirty="0" err="1"/>
              <a:t>jött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a </a:t>
            </a:r>
            <a:r>
              <a:rPr lang="en-US" dirty="0" err="1"/>
              <a:t>böngészőből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b="1" dirty="0" err="1"/>
              <a:t>SameSite</a:t>
            </a:r>
            <a:r>
              <a:rPr lang="hu-HU" dirty="0"/>
              <a:t> kiegészítés esetén a böngésző csak akkor küldi a </a:t>
            </a:r>
            <a:r>
              <a:rPr lang="hu-HU" dirty="0" err="1"/>
              <a:t>cookie</a:t>
            </a:r>
            <a:r>
              <a:rPr lang="hu-HU" dirty="0"/>
              <a:t>-t, ha a kérés ugyanarról a weboldalról érkezik. (</a:t>
            </a:r>
            <a:r>
              <a:rPr lang="en-US" dirty="0" err="1"/>
              <a:t>elküldési-védelem</a:t>
            </a:r>
            <a:r>
              <a:rPr lang="hu-HU" dirty="0"/>
              <a:t>)</a:t>
            </a:r>
          </a:p>
          <a:p>
            <a:endParaRPr lang="hu-HU" dirty="0"/>
          </a:p>
          <a:p>
            <a:r>
              <a:rPr lang="en-US" b="1" dirty="0"/>
              <a:t>Same-Origin Policy</a:t>
            </a:r>
            <a:r>
              <a:rPr lang="hu-HU" b="1" dirty="0"/>
              <a:t> </a:t>
            </a:r>
            <a:r>
              <a:rPr lang="hu-HU" dirty="0"/>
              <a:t>miatt a támadó weboldala nem fér hozzá másik weboldal adataihoz, így a CSRF </a:t>
            </a:r>
            <a:r>
              <a:rPr lang="hu-HU" dirty="0" err="1"/>
              <a:t>tokenhez</a:t>
            </a:r>
            <a:r>
              <a:rPr lang="hu-HU" dirty="0"/>
              <a:t> sem. (</a:t>
            </a:r>
            <a:r>
              <a:rPr lang="en-US" dirty="0" err="1"/>
              <a:t>hozzáférés-védelem</a:t>
            </a:r>
            <a:r>
              <a:rPr lang="hu-HU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50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CORS </a:t>
            </a:r>
            <a:r>
              <a:rPr lang="en-US" b="0" dirty="0" err="1"/>
              <a:t>nem</a:t>
            </a:r>
            <a:r>
              <a:rPr lang="en-US" b="0" dirty="0"/>
              <a:t> </a:t>
            </a:r>
            <a:r>
              <a:rPr lang="hu-HU" b="0" dirty="0"/>
              <a:t>szerveroldali </a:t>
            </a:r>
            <a:r>
              <a:rPr lang="en-US" b="0" dirty="0" err="1"/>
              <a:t>biztonsági</a:t>
            </a:r>
            <a:r>
              <a:rPr lang="en-US" b="0" dirty="0"/>
              <a:t> </a:t>
            </a:r>
            <a:r>
              <a:rPr lang="en-US" b="0" dirty="0" err="1"/>
              <a:t>mechanizmus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Ez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 err="1"/>
              <a:t>böngésző</a:t>
            </a:r>
            <a:r>
              <a:rPr lang="en-US" b="1" dirty="0"/>
              <a:t> </a:t>
            </a:r>
            <a:r>
              <a:rPr lang="en-US" b="1" dirty="0" err="1"/>
              <a:t>oldali</a:t>
            </a:r>
            <a:r>
              <a:rPr lang="en-US" b="1" dirty="0"/>
              <a:t> </a:t>
            </a:r>
            <a:r>
              <a:rPr lang="en-US" b="1" dirty="0" err="1"/>
              <a:t>szabályrendszer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cél</a:t>
            </a:r>
            <a:r>
              <a:rPr lang="en-US" dirty="0"/>
              <a:t>:</a:t>
            </a:r>
            <a:r>
              <a:rPr lang="hu-HU" dirty="0"/>
              <a:t> </a:t>
            </a:r>
            <a:r>
              <a:rPr lang="en-US" dirty="0" err="1"/>
              <a:t>megakadályozni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weboldal</a:t>
            </a:r>
            <a:r>
              <a:rPr lang="en-US" dirty="0"/>
              <a:t> </a:t>
            </a:r>
            <a:r>
              <a:rPr lang="en-US" b="1" dirty="0" err="1"/>
              <a:t>más</a:t>
            </a:r>
            <a:r>
              <a:rPr lang="en-US" b="1" dirty="0"/>
              <a:t> </a:t>
            </a:r>
            <a:r>
              <a:rPr lang="en-US" b="1" dirty="0" err="1"/>
              <a:t>domainről</a:t>
            </a:r>
            <a:r>
              <a:rPr lang="en-US" b="1" dirty="0"/>
              <a:t> </a:t>
            </a:r>
            <a:r>
              <a:rPr lang="en-US" b="1" dirty="0" err="1"/>
              <a:t>adatot</a:t>
            </a:r>
            <a:r>
              <a:rPr lang="en-US" b="1" dirty="0"/>
              <a:t> </a:t>
            </a:r>
            <a:r>
              <a:rPr lang="en-US" b="1" dirty="0" err="1"/>
              <a:t>olvasson</a:t>
            </a:r>
            <a:r>
              <a:rPr lang="en-US" b="1" dirty="0"/>
              <a:t> ki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Ezért</a:t>
            </a:r>
            <a:r>
              <a:rPr lang="en-US" dirty="0"/>
              <a:t> van a </a:t>
            </a:r>
            <a:r>
              <a:rPr lang="en-US" dirty="0" err="1"/>
              <a:t>böngészőkben</a:t>
            </a:r>
            <a:r>
              <a:rPr lang="en-US" dirty="0"/>
              <a:t> a </a:t>
            </a:r>
            <a:r>
              <a:rPr lang="en-US" b="1" dirty="0"/>
              <a:t>Same-Origin Policy (SOP)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hu-HU" dirty="0"/>
              <a:t> pont ezt valósítja meg.</a:t>
            </a:r>
            <a:endParaRPr lang="en-US" dirty="0"/>
          </a:p>
          <a:p>
            <a:endParaRPr lang="hu-HU" dirty="0"/>
          </a:p>
          <a:p>
            <a:r>
              <a:rPr lang="en-US" dirty="0"/>
              <a:t>Fontos:</a:t>
            </a:r>
            <a:r>
              <a:rPr lang="hu-HU" dirty="0"/>
              <a:t> </a:t>
            </a:r>
            <a:r>
              <a:rPr lang="en-US" dirty="0"/>
              <a:t>CORS </a:t>
            </a:r>
            <a:r>
              <a:rPr lang="en-US" dirty="0" err="1"/>
              <a:t>hibák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védik</a:t>
            </a:r>
            <a:r>
              <a:rPr lang="en-US" b="1" dirty="0"/>
              <a:t> meg </a:t>
            </a:r>
            <a:r>
              <a:rPr lang="en-US" b="1" dirty="0" err="1"/>
              <a:t>az</a:t>
            </a:r>
            <a:r>
              <a:rPr lang="en-US" b="1" dirty="0"/>
              <a:t> API-t</a:t>
            </a:r>
            <a:r>
              <a:rPr lang="en-US" dirty="0"/>
              <a:t> </a:t>
            </a:r>
            <a:r>
              <a:rPr lang="hu-HU" dirty="0"/>
              <a:t>a </a:t>
            </a:r>
            <a:r>
              <a:rPr lang="en-US" dirty="0" err="1"/>
              <a:t>nem</a:t>
            </a:r>
            <a:r>
              <a:rPr lang="en-US" dirty="0"/>
              <a:t>-browser </a:t>
            </a:r>
            <a:r>
              <a:rPr lang="en-US" dirty="0" err="1"/>
              <a:t>kliensektől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/>
              <a:t>A CORS </a:t>
            </a:r>
            <a:r>
              <a:rPr lang="en-US" b="1" dirty="0" err="1"/>
              <a:t>egy</a:t>
            </a:r>
            <a:r>
              <a:rPr lang="en-US" b="1" dirty="0"/>
              <a:t> </a:t>
            </a:r>
            <a:r>
              <a:rPr lang="en-US" b="1" dirty="0" err="1"/>
              <a:t>szabályrendszer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mondja</a:t>
            </a:r>
            <a:r>
              <a:rPr lang="en-US" dirty="0"/>
              <a:t>:</a:t>
            </a:r>
            <a:endParaRPr lang="hu-HU" dirty="0"/>
          </a:p>
          <a:p>
            <a:r>
              <a:rPr lang="en-US" dirty="0"/>
              <a:t>Ha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böngészőből</a:t>
            </a:r>
            <a:r>
              <a:rPr lang="en-US" dirty="0"/>
              <a:t> </a:t>
            </a:r>
            <a:r>
              <a:rPr lang="en-US" dirty="0" err="1"/>
              <a:t>futó</a:t>
            </a:r>
            <a:r>
              <a:rPr lang="en-US" dirty="0"/>
              <a:t> JavaScript cross-origin </a:t>
            </a:r>
            <a:r>
              <a:rPr lang="en-US" dirty="0" err="1"/>
              <a:t>kérést</a:t>
            </a:r>
            <a:r>
              <a:rPr lang="en-US" dirty="0"/>
              <a:t> </a:t>
            </a:r>
            <a:r>
              <a:rPr lang="en-US" dirty="0" err="1"/>
              <a:t>indít</a:t>
            </a:r>
            <a:r>
              <a:rPr lang="en-US" dirty="0"/>
              <a:t>, 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adja</a:t>
            </a:r>
            <a:r>
              <a:rPr lang="en-US" dirty="0"/>
              <a:t> </a:t>
            </a:r>
            <a:r>
              <a:rPr lang="en-US" dirty="0" err="1"/>
              <a:t>oda</a:t>
            </a:r>
            <a:r>
              <a:rPr lang="en-US" dirty="0"/>
              <a:t> a </a:t>
            </a:r>
            <a:r>
              <a:rPr lang="en-US" dirty="0" err="1"/>
              <a:t>választ</a:t>
            </a:r>
            <a:r>
              <a:rPr lang="en-US" dirty="0"/>
              <a:t> a JS-nek, ha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ezt</a:t>
            </a:r>
            <a:r>
              <a:rPr lang="en-US" dirty="0"/>
              <a:t> </a:t>
            </a:r>
            <a:r>
              <a:rPr lang="en-US" dirty="0" err="1"/>
              <a:t>engedélyezi</a:t>
            </a:r>
            <a:r>
              <a:rPr lang="en-US" dirty="0"/>
              <a:t> CORS </a:t>
            </a:r>
            <a:r>
              <a:rPr lang="en-US" dirty="0" err="1"/>
              <a:t>headerekkel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Előfordul, hogy a frontend alkalmazásnak hozzá kell férni egy másik </a:t>
            </a:r>
            <a:r>
              <a:rPr lang="hu-HU" dirty="0" err="1"/>
              <a:t>domain</a:t>
            </a:r>
            <a:r>
              <a:rPr lang="hu-HU" dirty="0"/>
              <a:t> (vagy </a:t>
            </a:r>
            <a:r>
              <a:rPr lang="hu-HU" dirty="0" err="1"/>
              <a:t>sub-domain</a:t>
            </a:r>
            <a:r>
              <a:rPr lang="hu-HU" dirty="0"/>
              <a:t>) címen futó API szolgáltatáshoz. Ezt alapban tiltja a </a:t>
            </a:r>
            <a:r>
              <a:rPr lang="hu-HU" dirty="0" err="1"/>
              <a:t>Same-Origin</a:t>
            </a:r>
            <a:r>
              <a:rPr lang="hu-HU" dirty="0"/>
              <a:t> Policy.</a:t>
            </a:r>
            <a:endParaRPr lang="en-US" dirty="0"/>
          </a:p>
          <a:p>
            <a:r>
              <a:rPr lang="hu-HU" dirty="0"/>
              <a:t>Ebben az esetben </a:t>
            </a:r>
            <a:r>
              <a:rPr lang="hu-HU" b="1" dirty="0"/>
              <a:t>kontrollált kivételre </a:t>
            </a:r>
            <a:r>
              <a:rPr lang="hu-HU" dirty="0"/>
              <a:t>van szükség: CORS szabály, </a:t>
            </a:r>
            <a:r>
              <a:rPr lang="en-US" dirty="0"/>
              <a:t>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által</a:t>
            </a:r>
            <a:r>
              <a:rPr lang="en-US" dirty="0"/>
              <a:t> </a:t>
            </a:r>
            <a:r>
              <a:rPr lang="en-US" dirty="0" err="1"/>
              <a:t>adott</a:t>
            </a:r>
            <a:r>
              <a:rPr lang="en-US" dirty="0"/>
              <a:t> </a:t>
            </a:r>
            <a:r>
              <a:rPr lang="en-US" dirty="0" err="1"/>
              <a:t>engedély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feloldja</a:t>
            </a:r>
            <a:r>
              <a:rPr lang="en-US" dirty="0"/>
              <a:t> a SOP </a:t>
            </a:r>
            <a:r>
              <a:rPr lang="en-US" dirty="0" err="1"/>
              <a:t>korlátozását</a:t>
            </a:r>
            <a:r>
              <a:rPr lang="en-US" dirty="0"/>
              <a:t> </a:t>
            </a:r>
            <a:r>
              <a:rPr lang="en-US" dirty="0" err="1"/>
              <a:t>adott</a:t>
            </a:r>
            <a:r>
              <a:rPr lang="en-US" dirty="0"/>
              <a:t> </a:t>
            </a:r>
            <a:r>
              <a:rPr lang="hu-HU" dirty="0" err="1"/>
              <a:t>origin</a:t>
            </a:r>
            <a:r>
              <a:rPr lang="hu-HU" dirty="0"/>
              <a:t>-re (</a:t>
            </a:r>
            <a:r>
              <a:rPr lang="hu-HU" dirty="0" err="1"/>
              <a:t>domain</a:t>
            </a:r>
            <a:r>
              <a:rPr lang="hu-HU" dirty="0"/>
              <a:t>-re)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01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Secure</a:t>
            </a:r>
            <a:r>
              <a:rPr lang="en-US" dirty="0"/>
              <a:t>, </a:t>
            </a:r>
            <a:r>
              <a:rPr lang="en-US" b="1" dirty="0" err="1"/>
              <a:t>HttpOnly</a:t>
            </a:r>
            <a:r>
              <a:rPr lang="en-US" dirty="0"/>
              <a:t> és </a:t>
            </a:r>
            <a:r>
              <a:rPr lang="en-US" b="1" dirty="0" err="1"/>
              <a:t>SameSite</a:t>
            </a:r>
            <a:r>
              <a:rPr lang="en-US" dirty="0"/>
              <a:t> cookie-</a:t>
            </a:r>
            <a:r>
              <a:rPr lang="en-US" dirty="0" err="1"/>
              <a:t>beállítások</a:t>
            </a:r>
            <a:r>
              <a:rPr lang="en-US" dirty="0"/>
              <a:t> </a:t>
            </a:r>
            <a:r>
              <a:rPr lang="en-US" dirty="0" err="1"/>
              <a:t>külön-külön</a:t>
            </a:r>
            <a:r>
              <a:rPr lang="en-US" dirty="0"/>
              <a:t> </a:t>
            </a:r>
            <a:r>
              <a:rPr lang="en-US" dirty="0" err="1"/>
              <a:t>részmegoldások</a:t>
            </a:r>
            <a:r>
              <a:rPr lang="en-US" dirty="0"/>
              <a:t>, de </a:t>
            </a:r>
            <a:r>
              <a:rPr lang="en-US" dirty="0" err="1"/>
              <a:t>együtt</a:t>
            </a:r>
            <a:r>
              <a:rPr lang="en-US" dirty="0"/>
              <a:t> </a:t>
            </a:r>
            <a:r>
              <a:rPr lang="en-US" dirty="0" err="1"/>
              <a:t>hatékonyan</a:t>
            </a:r>
            <a:r>
              <a:rPr lang="en-US" dirty="0"/>
              <a:t> </a:t>
            </a:r>
            <a:r>
              <a:rPr lang="en-US" dirty="0" err="1"/>
              <a:t>csökkentik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XSS</a:t>
            </a:r>
            <a:r>
              <a:rPr lang="en-US" dirty="0"/>
              <a:t> és </a:t>
            </a:r>
            <a:r>
              <a:rPr lang="en-US" b="1" dirty="0"/>
              <a:t>CSRF</a:t>
            </a:r>
            <a:r>
              <a:rPr lang="en-US" dirty="0"/>
              <a:t> </a:t>
            </a:r>
            <a:r>
              <a:rPr lang="en-US" dirty="0" err="1"/>
              <a:t>kockázatát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b="1" dirty="0"/>
              <a:t>- </a:t>
            </a:r>
            <a:r>
              <a:rPr lang="hu-HU" b="1" dirty="0" err="1"/>
              <a:t>Secure</a:t>
            </a:r>
            <a:r>
              <a:rPr lang="hu-HU" dirty="0"/>
              <a:t> beállítás esetén csak HTTPS kapcsolaton keresztül küldi el a böngésző a </a:t>
            </a:r>
            <a:r>
              <a:rPr lang="hu-HU" dirty="0" err="1"/>
              <a:t>cookie</a:t>
            </a:r>
            <a:r>
              <a:rPr lang="hu-HU" dirty="0"/>
              <a:t>-t.</a:t>
            </a:r>
          </a:p>
          <a:p>
            <a:endParaRPr lang="hu-HU" dirty="0"/>
          </a:p>
          <a:p>
            <a:r>
              <a:rPr lang="hu-HU" b="1" dirty="0"/>
              <a:t>- </a:t>
            </a:r>
            <a:r>
              <a:rPr lang="hu-HU" b="1" dirty="0" err="1"/>
              <a:t>HttpOnly</a:t>
            </a:r>
            <a:r>
              <a:rPr lang="hu-HU" dirty="0"/>
              <a:t> beállítás esetén a böngésző csak HTTP kérések esetén küldi a </a:t>
            </a:r>
            <a:r>
              <a:rPr lang="hu-HU" dirty="0" err="1"/>
              <a:t>cookie</a:t>
            </a:r>
            <a:r>
              <a:rPr lang="hu-HU" dirty="0"/>
              <a:t>-t. JavaScript kérések nem férnek hozzá. (XSS hatásának csökkentése)</a:t>
            </a:r>
          </a:p>
          <a:p>
            <a:endParaRPr lang="hu-HU" dirty="0"/>
          </a:p>
          <a:p>
            <a:r>
              <a:rPr lang="hu-HU" b="1" dirty="0"/>
              <a:t>- </a:t>
            </a:r>
            <a:r>
              <a:rPr lang="hu-HU" b="1" dirty="0" err="1"/>
              <a:t>SameSite</a:t>
            </a:r>
            <a:r>
              <a:rPr lang="hu-HU" dirty="0"/>
              <a:t> beállítás megmondja, hogy milyen esetekben küldhető el a </a:t>
            </a:r>
            <a:r>
              <a:rPr lang="hu-HU" dirty="0" err="1"/>
              <a:t>cookie</a:t>
            </a:r>
            <a:r>
              <a:rPr lang="hu-HU" dirty="0"/>
              <a:t>. A legerősebb védelem a „</a:t>
            </a:r>
            <a:r>
              <a:rPr lang="hu-HU" b="1" dirty="0" err="1"/>
              <a:t>Strict</a:t>
            </a:r>
            <a:r>
              <a:rPr lang="hu-HU" dirty="0"/>
              <a:t>” érték, amikor a böngésző csak ugyanazon site esetén küldi el a </a:t>
            </a:r>
            <a:r>
              <a:rPr lang="hu-HU" dirty="0" err="1"/>
              <a:t>cookie</a:t>
            </a:r>
            <a:r>
              <a:rPr lang="hu-HU" dirty="0"/>
              <a:t>-t. (CSRF kockázat csökkentése)</a:t>
            </a:r>
          </a:p>
          <a:p>
            <a:endParaRPr lang="hu-HU" dirty="0"/>
          </a:p>
          <a:p>
            <a:r>
              <a:rPr lang="hu-HU" dirty="0"/>
              <a:t>E</a:t>
            </a:r>
            <a:r>
              <a:rPr lang="en-US" dirty="0" err="1"/>
              <a:t>gyik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„</a:t>
            </a:r>
            <a:r>
              <a:rPr lang="en-US" dirty="0" err="1"/>
              <a:t>csodafegyver</a:t>
            </a:r>
            <a:r>
              <a:rPr lang="en-US" dirty="0"/>
              <a:t>”</a:t>
            </a:r>
            <a:r>
              <a:rPr lang="hu-HU" dirty="0"/>
              <a:t>, de </a:t>
            </a:r>
            <a:r>
              <a:rPr lang="en-US" dirty="0" err="1"/>
              <a:t>együtt</a:t>
            </a:r>
            <a:r>
              <a:rPr lang="en-US" dirty="0"/>
              <a:t> </a:t>
            </a:r>
            <a:r>
              <a:rPr lang="en-US" b="1" dirty="0" err="1"/>
              <a:t>jelentősen</a:t>
            </a:r>
            <a:r>
              <a:rPr lang="en-US" b="1" dirty="0"/>
              <a:t> </a:t>
            </a:r>
            <a:r>
              <a:rPr lang="en-US" b="1" dirty="0" err="1"/>
              <a:t>csökkentik</a:t>
            </a:r>
            <a:r>
              <a:rPr lang="en-US" dirty="0"/>
              <a:t> a </a:t>
            </a:r>
            <a:r>
              <a:rPr lang="en-US" dirty="0" err="1"/>
              <a:t>támadási</a:t>
            </a:r>
            <a:r>
              <a:rPr lang="en-US" dirty="0"/>
              <a:t> </a:t>
            </a:r>
            <a:r>
              <a:rPr lang="en-US" dirty="0" err="1"/>
              <a:t>felületet</a:t>
            </a:r>
            <a:r>
              <a:rPr lang="hu-HU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12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input </a:t>
            </a:r>
            <a:r>
              <a:rPr lang="en-US" dirty="0" err="1"/>
              <a:t>validáció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hu-HU" b="1" dirty="0"/>
              <a:t>felhasználó élmény</a:t>
            </a:r>
            <a:r>
              <a:rPr lang="en-US" b="1" dirty="0"/>
              <a:t> </a:t>
            </a:r>
            <a:r>
              <a:rPr lang="en-US" b="1" dirty="0" err="1"/>
              <a:t>kérdés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biztonsági</a:t>
            </a:r>
            <a:r>
              <a:rPr lang="en-US" dirty="0"/>
              <a:t> </a:t>
            </a:r>
            <a:r>
              <a:rPr lang="en-US" dirty="0" err="1"/>
              <a:t>alapelv</a:t>
            </a:r>
            <a:r>
              <a:rPr lang="hu-HU" dirty="0"/>
              <a:t>. Soha ne bízz meg a felhasználó felől érkező adatokban. </a:t>
            </a:r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mondjuk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„</a:t>
            </a:r>
            <a:r>
              <a:rPr lang="en-US" dirty="0" err="1"/>
              <a:t>minden</a:t>
            </a:r>
            <a:r>
              <a:rPr lang="en-US" dirty="0"/>
              <a:t> input </a:t>
            </a:r>
            <a:r>
              <a:rPr lang="en-US" dirty="0" err="1"/>
              <a:t>gyanús</a:t>
            </a:r>
            <a:r>
              <a:rPr lang="en-US" dirty="0"/>
              <a:t>”,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értjük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felhasználó</a:t>
            </a:r>
            <a:r>
              <a:rPr lang="en-US" dirty="0"/>
              <a:t> </a:t>
            </a:r>
            <a:r>
              <a:rPr lang="en-US" dirty="0" err="1"/>
              <a:t>rosszindulatú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értjük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0" dirty="0"/>
              <a:t>a </a:t>
            </a:r>
            <a:r>
              <a:rPr lang="en-US" b="0" dirty="0" err="1"/>
              <a:t>rendszered</a:t>
            </a:r>
            <a:r>
              <a:rPr lang="en-US" b="0" dirty="0"/>
              <a:t> </a:t>
            </a:r>
            <a:r>
              <a:rPr lang="en-US" b="0" dirty="0" err="1"/>
              <a:t>szempontjából</a:t>
            </a:r>
            <a:r>
              <a:rPr lang="en-US" b="0" dirty="0"/>
              <a:t> </a:t>
            </a:r>
            <a:r>
              <a:rPr lang="en-US" b="1" dirty="0" err="1"/>
              <a:t>az</a:t>
            </a:r>
            <a:r>
              <a:rPr lang="en-US" b="1" dirty="0"/>
              <a:t> input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megbízható</a:t>
            </a:r>
            <a:r>
              <a:rPr lang="hu-HU" b="0" dirty="0"/>
              <a:t>.</a:t>
            </a:r>
          </a:p>
          <a:p>
            <a:endParaRPr lang="hu-HU" b="0" dirty="0"/>
          </a:p>
          <a:p>
            <a:r>
              <a:rPr lang="en-US" dirty="0"/>
              <a:t>Input validation </a:t>
            </a:r>
            <a:r>
              <a:rPr lang="en-US" dirty="0" err="1"/>
              <a:t>nélkül</a:t>
            </a:r>
            <a:r>
              <a:rPr lang="en-US" dirty="0"/>
              <a:t> a </a:t>
            </a:r>
            <a:r>
              <a:rPr lang="en-US" dirty="0" err="1"/>
              <a:t>rendszer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összeomolhat</a:t>
            </a:r>
            <a:r>
              <a:rPr lang="en-US" dirty="0"/>
              <a:t> (</a:t>
            </a:r>
            <a:r>
              <a:rPr lang="en-US" dirty="0" err="1"/>
              <a:t>hibás</a:t>
            </a:r>
            <a:r>
              <a:rPr lang="en-US" dirty="0"/>
              <a:t> </a:t>
            </a:r>
            <a:r>
              <a:rPr lang="en-US" dirty="0" err="1"/>
              <a:t>típus</a:t>
            </a:r>
            <a:r>
              <a:rPr lang="en-US" dirty="0"/>
              <a:t>, </a:t>
            </a:r>
            <a:r>
              <a:rPr lang="en-US" dirty="0" err="1"/>
              <a:t>hiányzó</a:t>
            </a:r>
            <a:r>
              <a:rPr lang="en-US" dirty="0"/>
              <a:t> </a:t>
            </a:r>
            <a:r>
              <a:rPr lang="en-US" dirty="0" err="1"/>
              <a:t>mező</a:t>
            </a:r>
            <a:r>
              <a:rPr lang="en-US" dirty="0"/>
              <a:t>),</a:t>
            </a:r>
          </a:p>
          <a:p>
            <a:r>
              <a:rPr lang="hu-HU" dirty="0"/>
              <a:t>- </a:t>
            </a:r>
            <a:r>
              <a:rPr lang="en-US" dirty="0" err="1"/>
              <a:t>adatbázisban</a:t>
            </a:r>
            <a:r>
              <a:rPr lang="en-US" dirty="0"/>
              <a:t> </a:t>
            </a:r>
            <a:r>
              <a:rPr lang="en-US" dirty="0" err="1"/>
              <a:t>szemét</a:t>
            </a:r>
            <a:r>
              <a:rPr lang="en-US" dirty="0"/>
              <a:t> </a:t>
            </a:r>
            <a:r>
              <a:rPr lang="en-US" dirty="0" err="1"/>
              <a:t>adatot</a:t>
            </a:r>
            <a:r>
              <a:rPr lang="en-US" dirty="0"/>
              <a:t> </a:t>
            </a:r>
            <a:r>
              <a:rPr lang="en-US" dirty="0" err="1"/>
              <a:t>tárol</a:t>
            </a:r>
            <a:r>
              <a:rPr lang="en-US" dirty="0"/>
              <a:t> (</a:t>
            </a:r>
            <a:r>
              <a:rPr lang="en-US" dirty="0" err="1"/>
              <a:t>adatminőség</a:t>
            </a:r>
            <a:r>
              <a:rPr lang="en-US" dirty="0"/>
              <a:t>),</a:t>
            </a:r>
          </a:p>
          <a:p>
            <a:r>
              <a:rPr lang="hu-HU" dirty="0"/>
              <a:t>- </a:t>
            </a:r>
            <a:r>
              <a:rPr lang="en-US" dirty="0" err="1"/>
              <a:t>üzleti</a:t>
            </a:r>
            <a:r>
              <a:rPr lang="en-US" dirty="0"/>
              <a:t> </a:t>
            </a:r>
            <a:r>
              <a:rPr lang="en-US" dirty="0" err="1"/>
              <a:t>logikai</a:t>
            </a:r>
            <a:r>
              <a:rPr lang="en-US" dirty="0"/>
              <a:t> </a:t>
            </a:r>
            <a:r>
              <a:rPr lang="en-US" dirty="0" err="1"/>
              <a:t>hibákat</a:t>
            </a:r>
            <a:r>
              <a:rPr lang="en-US" dirty="0"/>
              <a:t> </a:t>
            </a:r>
            <a:r>
              <a:rPr lang="en-US" dirty="0" err="1"/>
              <a:t>enged</a:t>
            </a:r>
            <a:r>
              <a:rPr lang="en-US" dirty="0"/>
              <a:t> (pl. </a:t>
            </a:r>
            <a:r>
              <a:rPr lang="en-US" dirty="0" err="1"/>
              <a:t>negatív</a:t>
            </a:r>
            <a:r>
              <a:rPr lang="en-US" dirty="0"/>
              <a:t> </a:t>
            </a:r>
            <a:r>
              <a:rPr lang="en-US" dirty="0" err="1"/>
              <a:t>mennyiség</a:t>
            </a:r>
            <a:r>
              <a:rPr lang="en-US" dirty="0"/>
              <a:t>, </a:t>
            </a:r>
            <a:r>
              <a:rPr lang="en-US" dirty="0" err="1"/>
              <a:t>tiltott</a:t>
            </a:r>
            <a:r>
              <a:rPr lang="en-US" dirty="0"/>
              <a:t> </a:t>
            </a:r>
            <a:r>
              <a:rPr lang="en-US" dirty="0" err="1"/>
              <a:t>státusz</a:t>
            </a:r>
            <a:r>
              <a:rPr lang="en-US" dirty="0"/>
              <a:t>),</a:t>
            </a:r>
          </a:p>
          <a:p>
            <a:r>
              <a:rPr lang="hu-HU" dirty="0"/>
              <a:t>- </a:t>
            </a:r>
            <a:r>
              <a:rPr lang="en-US" dirty="0" err="1"/>
              <a:t>támadhatóbbá</a:t>
            </a:r>
            <a:r>
              <a:rPr lang="en-US" dirty="0"/>
              <a:t> </a:t>
            </a:r>
            <a:r>
              <a:rPr lang="en-US" dirty="0" err="1"/>
              <a:t>válik</a:t>
            </a:r>
            <a:r>
              <a:rPr lang="en-US" dirty="0"/>
              <a:t> (</a:t>
            </a:r>
            <a:r>
              <a:rPr lang="en-US" dirty="0" err="1"/>
              <a:t>túl</a:t>
            </a:r>
            <a:r>
              <a:rPr lang="en-US" dirty="0"/>
              <a:t> </a:t>
            </a:r>
            <a:r>
              <a:rPr lang="en-US" dirty="0" err="1"/>
              <a:t>hosszú</a:t>
            </a:r>
            <a:r>
              <a:rPr lang="en-US" dirty="0"/>
              <a:t> input → DoS, </a:t>
            </a:r>
            <a:r>
              <a:rPr lang="en-US" dirty="0" err="1"/>
              <a:t>rossz</a:t>
            </a:r>
            <a:r>
              <a:rPr lang="en-US" dirty="0"/>
              <a:t> </a:t>
            </a:r>
            <a:r>
              <a:rPr lang="en-US" dirty="0" err="1"/>
              <a:t>formátum</a:t>
            </a:r>
            <a:r>
              <a:rPr lang="en-US" dirty="0"/>
              <a:t> → injection </a:t>
            </a:r>
            <a:r>
              <a:rPr lang="en-US" dirty="0" err="1"/>
              <a:t>próbák</a:t>
            </a:r>
            <a:r>
              <a:rPr lang="en-US" dirty="0"/>
              <a:t>).</a:t>
            </a:r>
          </a:p>
          <a:p>
            <a:endParaRPr lang="hu-HU" dirty="0"/>
          </a:p>
          <a:p>
            <a:r>
              <a:rPr lang="hu-HU" dirty="0"/>
              <a:t>Ellenőrizni kell az adat formátumát, a megengedett értéktartományt, és hosszát.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b="1" dirty="0"/>
              <a:t>frontend </a:t>
            </a:r>
            <a:r>
              <a:rPr lang="en-US" b="1" dirty="0" err="1"/>
              <a:t>validáció</a:t>
            </a:r>
            <a:r>
              <a:rPr lang="en-US" b="1" dirty="0"/>
              <a:t> </a:t>
            </a:r>
            <a:r>
              <a:rPr lang="en-US" dirty="0" err="1"/>
              <a:t>hasznos</a:t>
            </a:r>
            <a:r>
              <a:rPr lang="hu-HU" dirty="0"/>
              <a:t>, mert jobban növeli a </a:t>
            </a:r>
            <a:r>
              <a:rPr lang="hu-HU" b="1" dirty="0"/>
              <a:t>felhasználó élményt</a:t>
            </a:r>
            <a:r>
              <a:rPr lang="hu-HU" dirty="0"/>
              <a:t>, de nem elegendő, hiszen a támadó a UI-t megkerülve, közvetlenül hívhatja az API-t. Ezért a </a:t>
            </a:r>
            <a:r>
              <a:rPr lang="hu-HU" b="1" dirty="0"/>
              <a:t>backend oldali validáció biztonsági követelmény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</a:t>
            </a:r>
            <a:r>
              <a:rPr lang="en-US" dirty="0"/>
              <a:t>z input validation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helyettesít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védelmeket</a:t>
            </a:r>
            <a:r>
              <a:rPr lang="hu-HU" dirty="0"/>
              <a:t>, de </a:t>
            </a:r>
            <a:r>
              <a:rPr lang="en-US" dirty="0" err="1"/>
              <a:t>korlátozza</a:t>
            </a:r>
            <a:r>
              <a:rPr lang="en-US" dirty="0"/>
              <a:t> a </a:t>
            </a:r>
            <a:r>
              <a:rPr lang="en-US" dirty="0" err="1"/>
              <a:t>támadó</a:t>
            </a:r>
            <a:r>
              <a:rPr lang="en-US" dirty="0"/>
              <a:t> </a:t>
            </a:r>
            <a:r>
              <a:rPr lang="en-US" dirty="0" err="1"/>
              <a:t>mozgásterét</a:t>
            </a:r>
            <a:r>
              <a:rPr lang="hu-H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930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Az OWASP Top 10 </a:t>
            </a:r>
            <a:r>
              <a:rPr lang="en-US" b="0" dirty="0" err="1"/>
              <a:t>nem</a:t>
            </a:r>
            <a:r>
              <a:rPr lang="en-US" b="0" dirty="0"/>
              <a:t> </a:t>
            </a:r>
            <a:r>
              <a:rPr lang="en-US" b="0" dirty="0" err="1"/>
              <a:t>törvény</a:t>
            </a:r>
            <a:r>
              <a:rPr lang="en-US" b="0" dirty="0"/>
              <a:t> és </a:t>
            </a:r>
            <a:r>
              <a:rPr lang="en-US" b="0" dirty="0" err="1"/>
              <a:t>nem</a:t>
            </a:r>
            <a:r>
              <a:rPr lang="en-US" b="0" dirty="0"/>
              <a:t> </a:t>
            </a:r>
            <a:r>
              <a:rPr lang="en-US" b="0" dirty="0" err="1"/>
              <a:t>szabvány</a:t>
            </a:r>
            <a:r>
              <a:rPr lang="en-US" b="0" dirty="0"/>
              <a:t>, </a:t>
            </a:r>
            <a:r>
              <a:rPr lang="en-US" b="0" dirty="0" err="1"/>
              <a:t>hanem</a:t>
            </a:r>
            <a:r>
              <a:rPr lang="en-US" b="0" dirty="0"/>
              <a:t> </a:t>
            </a:r>
            <a:r>
              <a:rPr lang="en-US" b="0" dirty="0" err="1"/>
              <a:t>egy</a:t>
            </a:r>
            <a:r>
              <a:rPr lang="en-US" b="0" dirty="0"/>
              <a:t> </a:t>
            </a:r>
            <a:r>
              <a:rPr lang="en-US" b="1" dirty="0" err="1"/>
              <a:t>széles</a:t>
            </a:r>
            <a:r>
              <a:rPr lang="en-US" b="1" dirty="0"/>
              <a:t> </a:t>
            </a:r>
            <a:r>
              <a:rPr lang="en-US" b="1" dirty="0" err="1"/>
              <a:t>körben</a:t>
            </a:r>
            <a:r>
              <a:rPr lang="en-US" b="1" dirty="0"/>
              <a:t> </a:t>
            </a:r>
            <a:r>
              <a:rPr lang="en-US" b="1" dirty="0" err="1"/>
              <a:t>elfogadott</a:t>
            </a:r>
            <a:r>
              <a:rPr lang="en-US" b="1" dirty="0"/>
              <a:t> </a:t>
            </a:r>
            <a:r>
              <a:rPr lang="hu-HU" b="1" dirty="0"/>
              <a:t>biztonsági tudatosságot növelő</a:t>
            </a:r>
            <a:r>
              <a:rPr lang="en-US" b="1" dirty="0"/>
              <a:t> </a:t>
            </a:r>
            <a:r>
              <a:rPr lang="en-US" b="1" dirty="0" err="1"/>
              <a:t>dokumentum</a:t>
            </a:r>
            <a:r>
              <a:rPr lang="en-US" b="0" dirty="0"/>
              <a:t>: </a:t>
            </a:r>
            <a:r>
              <a:rPr lang="en-US" b="0" dirty="0" err="1"/>
              <a:t>arra</a:t>
            </a:r>
            <a:r>
              <a:rPr lang="en-US" b="0" dirty="0"/>
              <a:t> </a:t>
            </a:r>
            <a:r>
              <a:rPr lang="en-US" b="0" dirty="0" err="1"/>
              <a:t>való</a:t>
            </a:r>
            <a:r>
              <a:rPr lang="en-US" b="0" dirty="0"/>
              <a:t>, </a:t>
            </a:r>
            <a:r>
              <a:rPr lang="en-US" b="0" dirty="0" err="1"/>
              <a:t>hogy</a:t>
            </a:r>
            <a:r>
              <a:rPr lang="en-US" b="0" dirty="0"/>
              <a:t> </a:t>
            </a:r>
            <a:r>
              <a:rPr lang="en-US" b="0" dirty="0" err="1"/>
              <a:t>gyorsan</a:t>
            </a:r>
            <a:r>
              <a:rPr lang="en-US" b="0" dirty="0"/>
              <a:t> </a:t>
            </a:r>
            <a:r>
              <a:rPr lang="en-US" b="0" dirty="0" err="1"/>
              <a:t>megmutassa</a:t>
            </a:r>
            <a:r>
              <a:rPr lang="en-US" b="0" dirty="0"/>
              <a:t>, </a:t>
            </a:r>
            <a:r>
              <a:rPr lang="en-US" b="0" dirty="0" err="1"/>
              <a:t>mik</a:t>
            </a:r>
            <a:r>
              <a:rPr lang="en-US" b="0" dirty="0"/>
              <a:t> a </a:t>
            </a:r>
            <a:r>
              <a:rPr lang="en-US" b="0" dirty="0" err="1"/>
              <a:t>legkritikusabb</a:t>
            </a:r>
            <a:r>
              <a:rPr lang="en-US" b="0" dirty="0"/>
              <a:t> </a:t>
            </a:r>
            <a:r>
              <a:rPr lang="en-US" b="0" dirty="0" err="1"/>
              <a:t>webalkalmazás-biztonsági</a:t>
            </a:r>
            <a:r>
              <a:rPr lang="en-US" b="0" dirty="0"/>
              <a:t> </a:t>
            </a:r>
            <a:r>
              <a:rPr lang="en-US" b="0" dirty="0" err="1"/>
              <a:t>kockázatok</a:t>
            </a:r>
            <a:r>
              <a:rPr lang="en-US" b="0" dirty="0"/>
              <a:t>.</a:t>
            </a:r>
            <a:endParaRPr lang="hu-HU" b="0" dirty="0"/>
          </a:p>
          <a:p>
            <a:r>
              <a:rPr lang="en-US" dirty="0"/>
              <a:t>Az OWASP </a:t>
            </a:r>
            <a:r>
              <a:rPr lang="en-US" dirty="0" err="1"/>
              <a:t>kifejezetten</a:t>
            </a:r>
            <a:r>
              <a:rPr lang="en-US" dirty="0"/>
              <a:t> </a:t>
            </a:r>
            <a:r>
              <a:rPr lang="en-US" dirty="0" err="1"/>
              <a:t>úgy</a:t>
            </a:r>
            <a:r>
              <a:rPr lang="en-US" dirty="0"/>
              <a:t> </a:t>
            </a:r>
            <a:r>
              <a:rPr lang="en-US" dirty="0" err="1"/>
              <a:t>fogalmaz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Top 10 </a:t>
            </a:r>
            <a:r>
              <a:rPr lang="en-US" b="1" dirty="0" err="1"/>
              <a:t>széles</a:t>
            </a:r>
            <a:r>
              <a:rPr lang="en-US" b="1" dirty="0"/>
              <a:t> </a:t>
            </a:r>
            <a:r>
              <a:rPr lang="en-US" b="1" dirty="0" err="1"/>
              <a:t>konszenzus</a:t>
            </a:r>
            <a:r>
              <a:rPr lang="en-US" dirty="0"/>
              <a:t> a </a:t>
            </a:r>
            <a:r>
              <a:rPr lang="en-US" dirty="0" err="1"/>
              <a:t>legkritikusabb</a:t>
            </a:r>
            <a:r>
              <a:rPr lang="en-US" dirty="0"/>
              <a:t> </a:t>
            </a:r>
            <a:r>
              <a:rPr lang="en-US" dirty="0" err="1"/>
              <a:t>kockázatokról</a:t>
            </a:r>
            <a:r>
              <a:rPr lang="en-US" dirty="0"/>
              <a:t>, és a </a:t>
            </a:r>
            <a:r>
              <a:rPr lang="en-US" dirty="0" err="1"/>
              <a:t>kiadások</a:t>
            </a:r>
            <a:r>
              <a:rPr lang="en-US" dirty="0"/>
              <a:t> </a:t>
            </a:r>
            <a:r>
              <a:rPr lang="en-US" b="1" dirty="0" err="1"/>
              <a:t>adatokra</a:t>
            </a:r>
            <a:r>
              <a:rPr lang="en-US" b="1" dirty="0"/>
              <a:t> és </a:t>
            </a:r>
            <a:r>
              <a:rPr lang="en-US" b="1" dirty="0" err="1"/>
              <a:t>trendekre</a:t>
            </a:r>
            <a:r>
              <a:rPr lang="hu-HU" b="1" dirty="0"/>
              <a:t> (tapasztalatokra)</a:t>
            </a:r>
            <a:r>
              <a:rPr lang="en-US" b="1" dirty="0"/>
              <a:t> </a:t>
            </a:r>
            <a:r>
              <a:rPr lang="en-US" b="1" dirty="0" err="1"/>
              <a:t>támaszkodva</a:t>
            </a:r>
            <a:r>
              <a:rPr lang="en-US" b="1" dirty="0"/>
              <a:t> </a:t>
            </a:r>
            <a:r>
              <a:rPr lang="en-US" b="1" dirty="0" err="1"/>
              <a:t>frissülnek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b="0" dirty="0"/>
              <a:t>Azért mondjuk, hogy egy </a:t>
            </a:r>
            <a:r>
              <a:rPr lang="hu-HU" b="1" dirty="0"/>
              <a:t>tervezési iránytű</a:t>
            </a:r>
            <a:r>
              <a:rPr lang="hu-HU" b="0" dirty="0"/>
              <a:t>, mert segít abban,</a:t>
            </a:r>
            <a:r>
              <a:rPr lang="hu-HU" dirty="0"/>
              <a:t> mire figyelj már az architektúrában, fejlesztésben és üzemeltetésben.</a:t>
            </a:r>
          </a:p>
          <a:p>
            <a:r>
              <a:rPr lang="en-US" b="1" dirty="0" err="1"/>
              <a:t>Közös</a:t>
            </a:r>
            <a:r>
              <a:rPr lang="en-US" b="1" dirty="0"/>
              <a:t> </a:t>
            </a:r>
            <a:r>
              <a:rPr lang="en-US" b="1" dirty="0" err="1"/>
              <a:t>nyelv</a:t>
            </a:r>
            <a:r>
              <a:rPr lang="en-US" dirty="0"/>
              <a:t>: </a:t>
            </a:r>
            <a:r>
              <a:rPr lang="en-US" dirty="0" err="1"/>
              <a:t>fejlesztő</a:t>
            </a:r>
            <a:r>
              <a:rPr lang="en-US" dirty="0"/>
              <a:t>–security–management </a:t>
            </a:r>
            <a:r>
              <a:rPr lang="en-US" dirty="0" err="1"/>
              <a:t>ugyanarról</a:t>
            </a:r>
            <a:r>
              <a:rPr lang="en-US" dirty="0"/>
              <a:t> </a:t>
            </a:r>
            <a:r>
              <a:rPr lang="en-US" dirty="0" err="1"/>
              <a:t>beszél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Az aktuális, hivatalos Top 10 (2025) kategóriák: </a:t>
            </a:r>
          </a:p>
          <a:p>
            <a:r>
              <a:rPr lang="hu-HU" b="1" dirty="0"/>
              <a:t>A01: </a:t>
            </a:r>
            <a:r>
              <a:rPr lang="hu-HU" b="1" dirty="0" err="1"/>
              <a:t>Broken</a:t>
            </a:r>
            <a:r>
              <a:rPr lang="hu-HU" b="1" dirty="0"/>
              <a:t> Access </a:t>
            </a:r>
            <a:r>
              <a:rPr lang="hu-HU" b="1" dirty="0" err="1"/>
              <a:t>Control</a:t>
            </a:r>
            <a:r>
              <a:rPr lang="hu-HU" dirty="0"/>
              <a:t> – hibás jogosultság-ellenőrzés (pl. IDOR, hiányzó </a:t>
            </a:r>
            <a:r>
              <a:rPr lang="hu-HU" dirty="0" err="1"/>
              <a:t>role-check</a:t>
            </a:r>
            <a:r>
              <a:rPr lang="hu-HU" dirty="0"/>
              <a:t>; 2025-ben ide került be az SSRF is összevonás miatt) </a:t>
            </a:r>
          </a:p>
          <a:p>
            <a:r>
              <a:rPr lang="hu-HU" b="1" dirty="0"/>
              <a:t>A02: Security </a:t>
            </a:r>
            <a:r>
              <a:rPr lang="hu-HU" b="1" dirty="0" err="1"/>
              <a:t>Misconfiguration</a:t>
            </a:r>
            <a:r>
              <a:rPr lang="hu-HU" dirty="0"/>
              <a:t> – rossz konfiguráció, alapértelmezett beállítások, hibás CORS, túl sok nyitott szolgáltatás</a:t>
            </a:r>
          </a:p>
          <a:p>
            <a:r>
              <a:rPr lang="hu-HU" b="1" dirty="0"/>
              <a:t>A03: Software </a:t>
            </a:r>
            <a:r>
              <a:rPr lang="hu-HU" b="1" dirty="0" err="1"/>
              <a:t>Supply</a:t>
            </a:r>
            <a:r>
              <a:rPr lang="hu-HU" b="1" dirty="0"/>
              <a:t> </a:t>
            </a:r>
            <a:r>
              <a:rPr lang="hu-HU" b="1" dirty="0" err="1"/>
              <a:t>Chain</a:t>
            </a:r>
            <a:r>
              <a:rPr lang="hu-HU" b="1" dirty="0"/>
              <a:t> </a:t>
            </a:r>
            <a:r>
              <a:rPr lang="hu-HU" b="1" dirty="0" err="1"/>
              <a:t>Failures</a:t>
            </a:r>
            <a:r>
              <a:rPr lang="hu-HU" dirty="0"/>
              <a:t> – függőségek, </a:t>
            </a:r>
            <a:r>
              <a:rPr lang="hu-HU" dirty="0" err="1"/>
              <a:t>build</a:t>
            </a:r>
            <a:r>
              <a:rPr lang="hu-HU" dirty="0"/>
              <a:t> </a:t>
            </a:r>
            <a:r>
              <a:rPr lang="hu-HU" dirty="0" err="1"/>
              <a:t>pipeline</a:t>
            </a:r>
            <a:r>
              <a:rPr lang="hu-HU" dirty="0"/>
              <a:t>, csomagok, kompromittált komponensek/szállítói lánc</a:t>
            </a:r>
          </a:p>
          <a:p>
            <a:r>
              <a:rPr lang="hu-HU" b="1" dirty="0"/>
              <a:t>A04: </a:t>
            </a:r>
            <a:r>
              <a:rPr lang="hu-HU" b="1" dirty="0" err="1"/>
              <a:t>Cryptographic</a:t>
            </a:r>
            <a:r>
              <a:rPr lang="hu-HU" b="1" dirty="0"/>
              <a:t> </a:t>
            </a:r>
            <a:r>
              <a:rPr lang="hu-HU" b="1" dirty="0" err="1"/>
              <a:t>Failures</a:t>
            </a:r>
            <a:r>
              <a:rPr lang="hu-HU" dirty="0"/>
              <a:t> – gyenge/hibás titkosítás, rossz kulcskezelés, érzékeny adatok védelem nélkül</a:t>
            </a:r>
          </a:p>
          <a:p>
            <a:r>
              <a:rPr lang="hu-HU" b="1" dirty="0"/>
              <a:t>A05: </a:t>
            </a:r>
            <a:r>
              <a:rPr lang="hu-HU" b="1" dirty="0" err="1"/>
              <a:t>Injection</a:t>
            </a:r>
            <a:r>
              <a:rPr lang="hu-HU" dirty="0"/>
              <a:t> – SQL/</a:t>
            </a:r>
            <a:r>
              <a:rPr lang="hu-HU" dirty="0" err="1"/>
              <a:t>NoSQL</a:t>
            </a:r>
            <a:r>
              <a:rPr lang="hu-HU" dirty="0"/>
              <a:t>/LDAP/OS </a:t>
            </a:r>
            <a:r>
              <a:rPr lang="hu-HU" dirty="0" err="1"/>
              <a:t>injection</a:t>
            </a:r>
            <a:r>
              <a:rPr lang="hu-HU" dirty="0"/>
              <a:t> jellegű hibák</a:t>
            </a:r>
          </a:p>
          <a:p>
            <a:r>
              <a:rPr lang="hu-HU" b="1" dirty="0"/>
              <a:t>A06: </a:t>
            </a:r>
            <a:r>
              <a:rPr lang="hu-HU" b="1" dirty="0" err="1"/>
              <a:t>Insecure</a:t>
            </a:r>
            <a:r>
              <a:rPr lang="hu-HU" b="1" dirty="0"/>
              <a:t> Design</a:t>
            </a:r>
            <a:r>
              <a:rPr lang="hu-HU" dirty="0"/>
              <a:t> – hibás biztonsági tervezés, hiányzó </a:t>
            </a:r>
            <a:r>
              <a:rPr lang="hu-HU" dirty="0" err="1"/>
              <a:t>threat</a:t>
            </a:r>
            <a:r>
              <a:rPr lang="hu-HU" dirty="0"/>
              <a:t> </a:t>
            </a:r>
            <a:r>
              <a:rPr lang="hu-HU" dirty="0" err="1"/>
              <a:t>modeling</a:t>
            </a:r>
            <a:r>
              <a:rPr lang="hu-HU" dirty="0"/>
              <a:t>, rossz </a:t>
            </a:r>
            <a:r>
              <a:rPr lang="hu-HU" dirty="0" err="1"/>
              <a:t>trust</a:t>
            </a:r>
            <a:r>
              <a:rPr lang="hu-HU" dirty="0"/>
              <a:t> </a:t>
            </a:r>
            <a:r>
              <a:rPr lang="hu-HU" dirty="0" err="1"/>
              <a:t>boundary</a:t>
            </a:r>
            <a:r>
              <a:rPr lang="hu-HU" dirty="0"/>
              <a:t>-k</a:t>
            </a:r>
          </a:p>
          <a:p>
            <a:r>
              <a:rPr lang="hu-HU" b="1" dirty="0"/>
              <a:t>A07: </a:t>
            </a:r>
            <a:r>
              <a:rPr lang="hu-HU" b="1" dirty="0" err="1"/>
              <a:t>Authentication</a:t>
            </a:r>
            <a:r>
              <a:rPr lang="hu-HU" b="1" dirty="0"/>
              <a:t> </a:t>
            </a:r>
            <a:r>
              <a:rPr lang="hu-HU" b="1" dirty="0" err="1"/>
              <a:t>Failures</a:t>
            </a:r>
            <a:r>
              <a:rPr lang="hu-HU" dirty="0"/>
              <a:t> – hibás </a:t>
            </a:r>
            <a:r>
              <a:rPr lang="hu-HU" dirty="0" err="1"/>
              <a:t>auth</a:t>
            </a:r>
            <a:r>
              <a:rPr lang="hu-HU" dirty="0"/>
              <a:t> flow, session kezelés, jelszó/védelmi mechanizmusok hiányosságai</a:t>
            </a:r>
          </a:p>
          <a:p>
            <a:r>
              <a:rPr lang="hu-HU" b="1" dirty="0"/>
              <a:t>A08: Software </a:t>
            </a:r>
            <a:r>
              <a:rPr lang="hu-HU" b="1" dirty="0" err="1"/>
              <a:t>or</a:t>
            </a:r>
            <a:r>
              <a:rPr lang="hu-HU" b="1" dirty="0"/>
              <a:t> Data </a:t>
            </a:r>
            <a:r>
              <a:rPr lang="hu-HU" b="1" dirty="0" err="1"/>
              <a:t>Integrity</a:t>
            </a:r>
            <a:r>
              <a:rPr lang="hu-HU" b="1" dirty="0"/>
              <a:t> </a:t>
            </a:r>
            <a:r>
              <a:rPr lang="hu-HU" b="1" dirty="0" err="1"/>
              <a:t>Failures</a:t>
            </a:r>
            <a:r>
              <a:rPr lang="hu-HU" dirty="0"/>
              <a:t> – integritás, aláírások, CI/CD integritás, </a:t>
            </a:r>
            <a:r>
              <a:rPr lang="hu-HU" dirty="0" err="1"/>
              <a:t>deszerializációs</a:t>
            </a:r>
            <a:r>
              <a:rPr lang="hu-HU" dirty="0"/>
              <a:t> jellegű problémák</a:t>
            </a:r>
          </a:p>
          <a:p>
            <a:r>
              <a:rPr lang="hu-HU" b="1" dirty="0"/>
              <a:t>A09: Security </a:t>
            </a:r>
            <a:r>
              <a:rPr lang="hu-HU" b="1" dirty="0" err="1"/>
              <a:t>Logging</a:t>
            </a:r>
            <a:r>
              <a:rPr lang="hu-HU" b="1" dirty="0"/>
              <a:t> &amp; </a:t>
            </a:r>
            <a:r>
              <a:rPr lang="hu-HU" b="1" dirty="0" err="1"/>
              <a:t>Alerting</a:t>
            </a:r>
            <a:r>
              <a:rPr lang="hu-HU" b="1" dirty="0"/>
              <a:t> </a:t>
            </a:r>
            <a:r>
              <a:rPr lang="hu-HU" b="1" dirty="0" err="1"/>
              <a:t>Failures</a:t>
            </a:r>
            <a:r>
              <a:rPr lang="hu-HU" dirty="0"/>
              <a:t> – hiányos </a:t>
            </a:r>
            <a:r>
              <a:rPr lang="hu-HU" dirty="0" err="1"/>
              <a:t>logolás</a:t>
            </a:r>
            <a:r>
              <a:rPr lang="hu-HU" dirty="0"/>
              <a:t>/monitoring, incidenskezelés gyengesége</a:t>
            </a:r>
          </a:p>
          <a:p>
            <a:r>
              <a:rPr lang="hu-HU" b="1" dirty="0"/>
              <a:t>A10: </a:t>
            </a:r>
            <a:r>
              <a:rPr lang="hu-HU" b="1" dirty="0" err="1"/>
              <a:t>Mishandling</a:t>
            </a:r>
            <a:r>
              <a:rPr lang="hu-HU" b="1" dirty="0"/>
              <a:t> of </a:t>
            </a:r>
            <a:r>
              <a:rPr lang="hu-HU" b="1" dirty="0" err="1"/>
              <a:t>Exceptional</a:t>
            </a:r>
            <a:r>
              <a:rPr lang="hu-HU" b="1" dirty="0"/>
              <a:t> </a:t>
            </a:r>
            <a:r>
              <a:rPr lang="hu-HU" b="1" dirty="0" err="1"/>
              <a:t>Conditions</a:t>
            </a:r>
            <a:r>
              <a:rPr lang="hu-HU" dirty="0"/>
              <a:t> – hibakezelés/</a:t>
            </a:r>
            <a:r>
              <a:rPr lang="hu-HU" dirty="0" err="1"/>
              <a:t>edge</a:t>
            </a:r>
            <a:r>
              <a:rPr lang="hu-HU" dirty="0"/>
              <a:t>-</a:t>
            </a:r>
            <a:r>
              <a:rPr lang="hu-HU" dirty="0" err="1"/>
              <a:t>case</a:t>
            </a:r>
            <a:r>
              <a:rPr lang="hu-HU" dirty="0"/>
              <a:t>-ek rossz kezelése, nem várt állapotokból biztonsági rés (pl. hibás </a:t>
            </a:r>
            <a:r>
              <a:rPr lang="hu-HU" dirty="0" err="1"/>
              <a:t>fallback</a:t>
            </a:r>
            <a:r>
              <a:rPr lang="hu-HU" dirty="0"/>
              <a:t>, rossz </a:t>
            </a:r>
            <a:r>
              <a:rPr lang="hu-HU" dirty="0" err="1"/>
              <a:t>default</a:t>
            </a:r>
            <a:r>
              <a:rPr lang="hu-HU" dirty="0"/>
              <a:t>) 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84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Összefoglalva: </a:t>
            </a:r>
          </a:p>
          <a:p>
            <a:r>
              <a:rPr lang="hu-HU" dirty="0"/>
              <a:t>- A legtöbb támadás a böngésző működését használja,</a:t>
            </a:r>
          </a:p>
          <a:p>
            <a:r>
              <a:rPr lang="hu-HU" dirty="0"/>
              <a:t>- XSS és CSRF a leggyakoribb problémák,</a:t>
            </a:r>
          </a:p>
          <a:p>
            <a:r>
              <a:rPr lang="hu-HU" dirty="0"/>
              <a:t>- kis beállítások nagy biztonsági hatással bírnak.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7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6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8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8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2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2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1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7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2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12390-7FD9-3A7E-F78F-3E71606EA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1052996"/>
            <a:ext cx="11165482" cy="242579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 err="1"/>
              <a:t>Webbiztonság</a:t>
            </a:r>
            <a:r>
              <a:rPr lang="en-US" sz="4400" dirty="0"/>
              <a:t> </a:t>
            </a:r>
            <a:r>
              <a:rPr lang="en-US" sz="4400" dirty="0" err="1"/>
              <a:t>alapjai</a:t>
            </a:r>
            <a:br>
              <a:rPr lang="en-US" sz="4400" dirty="0"/>
            </a:br>
            <a:br>
              <a:rPr lang="hu-HU" sz="3600" dirty="0"/>
            </a:br>
            <a:br>
              <a:rPr lang="hu-HU" sz="3600" dirty="0"/>
            </a:br>
            <a:r>
              <a:rPr lang="hu-HU" sz="2400" dirty="0"/>
              <a:t>XSS, </a:t>
            </a:r>
            <a:r>
              <a:rPr lang="en-US" sz="2400" dirty="0"/>
              <a:t>CSRF, CORS, </a:t>
            </a:r>
            <a:r>
              <a:rPr lang="hu-HU" sz="2400" dirty="0" err="1"/>
              <a:t>Cookie</a:t>
            </a:r>
            <a:r>
              <a:rPr lang="hu-HU" sz="2400" dirty="0"/>
              <a:t> </a:t>
            </a:r>
            <a:r>
              <a:rPr lang="hu-HU" sz="2400" dirty="0" err="1"/>
              <a:t>security</a:t>
            </a:r>
            <a:r>
              <a:rPr lang="hu-HU" sz="2400" dirty="0"/>
              <a:t>, </a:t>
            </a:r>
            <a:r>
              <a:rPr lang="en-US" sz="2400" dirty="0"/>
              <a:t>OWASP Top 10</a:t>
            </a:r>
            <a:br>
              <a:rPr lang="en-US" sz="2400" dirty="0"/>
            </a:br>
            <a:endParaRPr lang="en-US" sz="2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F56A-BB1E-8DA6-D6F7-07CE02A9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15997"/>
          </a:xfrm>
        </p:spPr>
        <p:txBody>
          <a:bodyPr>
            <a:normAutofit/>
          </a:bodyPr>
          <a:lstStyle/>
          <a:p>
            <a:r>
              <a:rPr lang="en-US" sz="4000" dirty="0" err="1"/>
              <a:t>Webbiztonság</a:t>
            </a:r>
            <a:r>
              <a:rPr lang="en-US" sz="4000" dirty="0"/>
              <a:t> </a:t>
            </a:r>
            <a:r>
              <a:rPr lang="en-US" sz="4000" dirty="0" err="1"/>
              <a:t>alapjai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18EF2-0F32-2DE4-361C-973583F45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037836"/>
            <a:ext cx="11155680" cy="7159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err="1"/>
              <a:t>Miért</a:t>
            </a:r>
            <a:r>
              <a:rPr lang="en-US" sz="2800" b="1" dirty="0"/>
              <a:t> </a:t>
            </a:r>
            <a:r>
              <a:rPr lang="en-US" sz="2800" b="1" dirty="0" err="1"/>
              <a:t>fontos</a:t>
            </a:r>
            <a:r>
              <a:rPr lang="en-US" sz="2800" b="1" dirty="0"/>
              <a:t> a </a:t>
            </a:r>
            <a:r>
              <a:rPr lang="en-US" sz="2800" b="1" dirty="0" err="1"/>
              <a:t>webbiztonság</a:t>
            </a:r>
            <a:r>
              <a:rPr lang="en-US" sz="2800" b="1" dirty="0"/>
              <a:t>?</a:t>
            </a:r>
            <a:endParaRPr lang="hu-HU" sz="2800" b="1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676144-E8C8-737A-1645-F0F781294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" y="2930971"/>
            <a:ext cx="6945896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web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univerzális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felhasználói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felület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Kritikus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rendszerek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vezérlése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támadások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többsége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„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hackelés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Biztonság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tervezési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kérdés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</a:t>
            </a:r>
          </a:p>
        </p:txBody>
      </p:sp>
    </p:spTree>
    <p:extLst>
      <p:ext uri="{BB962C8B-B14F-4D97-AF65-F5344CB8AC3E}">
        <p14:creationId xmlns:p14="http://schemas.microsoft.com/office/powerpoint/2010/main" val="1963087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F0405-EAA2-58AF-776B-CB69AD744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29127"/>
          </a:xfrm>
        </p:spPr>
        <p:txBody>
          <a:bodyPr>
            <a:normAutofit/>
          </a:bodyPr>
          <a:lstStyle/>
          <a:p>
            <a:r>
              <a:rPr lang="en-US" sz="4000" dirty="0"/>
              <a:t>A </a:t>
            </a:r>
            <a:r>
              <a:rPr lang="en-US" sz="4000" dirty="0" err="1"/>
              <a:t>webes</a:t>
            </a:r>
            <a:r>
              <a:rPr lang="en-US" sz="4000" dirty="0"/>
              <a:t> </a:t>
            </a:r>
            <a:r>
              <a:rPr lang="en-US" sz="4000" dirty="0" err="1"/>
              <a:t>támadások</a:t>
            </a:r>
            <a:r>
              <a:rPr lang="en-US" sz="4000" dirty="0"/>
              <a:t> </a:t>
            </a:r>
            <a:r>
              <a:rPr lang="en-US" sz="4000" dirty="0" err="1"/>
              <a:t>alapgondolata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7F0B00-6FD6-DB28-C8D9-5C29258FFC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058948"/>
            <a:ext cx="9654151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 támadó nem feltör –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kihasznál</a:t>
            </a:r>
            <a:endParaRPr kumimoji="0" lang="hu-HU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Szabványos HTTP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kérések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ből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áll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Böngésző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normál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működés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ét használja ki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Logikai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tervezési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hibák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kihasználása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hu-HU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u-HU" sz="2400" dirty="0"/>
              <a:t>A</a:t>
            </a:r>
            <a:r>
              <a:rPr lang="en-US" sz="2400" dirty="0"/>
              <a:t> </a:t>
            </a:r>
            <a:r>
              <a:rPr lang="en-US" sz="2400" dirty="0" err="1"/>
              <a:t>webbiztonság</a:t>
            </a:r>
            <a:r>
              <a:rPr lang="en-US" sz="2400" dirty="0"/>
              <a:t> </a:t>
            </a:r>
            <a:r>
              <a:rPr lang="en-US" sz="2400" dirty="0" err="1"/>
              <a:t>elsősorban</a:t>
            </a:r>
            <a:r>
              <a:rPr lang="en-US" sz="2400" dirty="0"/>
              <a:t> </a:t>
            </a:r>
            <a:r>
              <a:rPr lang="en-US" sz="2400" b="1" dirty="0" err="1"/>
              <a:t>logikai</a:t>
            </a:r>
            <a:r>
              <a:rPr lang="en-US" sz="2400" b="1" dirty="0"/>
              <a:t> </a:t>
            </a:r>
            <a:r>
              <a:rPr lang="en-US" sz="2400" b="1" dirty="0" err="1"/>
              <a:t>tervezési</a:t>
            </a:r>
            <a:r>
              <a:rPr lang="en-US" sz="2400" b="1" dirty="0"/>
              <a:t> </a:t>
            </a:r>
            <a:r>
              <a:rPr lang="en-US" sz="2400" b="1" dirty="0" err="1"/>
              <a:t>kérdés</a:t>
            </a:r>
            <a:r>
              <a:rPr lang="hu-HU" sz="2400" b="1" dirty="0"/>
              <a:t>.</a:t>
            </a:r>
            <a:endParaRPr lang="hu-HU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227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47F4-50E7-6ACB-2370-57206E03D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96691"/>
          </a:xfrm>
        </p:spPr>
        <p:txBody>
          <a:bodyPr>
            <a:normAutofit/>
          </a:bodyPr>
          <a:lstStyle/>
          <a:p>
            <a:r>
              <a:rPr lang="hu-HU" sz="4000" dirty="0"/>
              <a:t>T</a:t>
            </a:r>
            <a:r>
              <a:rPr lang="en-US" sz="4000" dirty="0"/>
              <a:t>rust boundary (</a:t>
            </a:r>
            <a:r>
              <a:rPr lang="en-US" sz="4000" dirty="0" err="1"/>
              <a:t>bizalmi</a:t>
            </a:r>
            <a:r>
              <a:rPr lang="en-US" sz="4000" dirty="0"/>
              <a:t> </a:t>
            </a:r>
            <a:r>
              <a:rPr lang="en-US" sz="4000" dirty="0" err="1"/>
              <a:t>határ</a:t>
            </a:r>
            <a:r>
              <a:rPr lang="en-US" sz="4000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9593BB-8379-7D29-D583-AFA70F8703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1906354"/>
            <a:ext cx="11007177" cy="3076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webbiztonság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egyik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legfontosabb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fogalma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trust boundary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azaz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bizalmi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határ</a:t>
            </a:r>
            <a:endParaRPr lang="hu-H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hu-HU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Böngésző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megbízható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Felhasználói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input </a:t>
            </a: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megbízható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Hálózat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megbízható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Szerver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ellenőrzési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pont</a:t>
            </a: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megbízható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62220885-4DCE-D0DF-882F-87AAAC6EB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955523"/>
            <a:ext cx="5574792" cy="313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8048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365A-C912-A910-D928-68DD66BD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9840"/>
          </a:xfrm>
        </p:spPr>
        <p:txBody>
          <a:bodyPr>
            <a:normAutofit/>
          </a:bodyPr>
          <a:lstStyle/>
          <a:p>
            <a:r>
              <a:rPr lang="en-US" sz="4000" dirty="0"/>
              <a:t>XSS: Cross-Site Scripting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B34CC2-DDEE-CA7E-DE59-4FB07DE971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144641"/>
            <a:ext cx="5266134" cy="2568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Kliensoldali</a:t>
            </a: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támadás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Idegen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JavaScript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kód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felhasználó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böngészőjében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Megbízható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kontextusában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 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szervert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támadja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740F1CA-50BC-3F5C-C890-EA1B04B14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111" y="2144641"/>
            <a:ext cx="4687399" cy="247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u-HU" altLang="en-US" sz="2200" b="1" dirty="0">
                <a:latin typeface="Arial" panose="020B0604020202020204" pitchFamily="34" charset="0"/>
              </a:rPr>
              <a:t>XSS következménye: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Session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ellopása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Felhasználó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nevében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latin typeface="Arial" panose="020B0604020202020204" pitchFamily="34" charset="0"/>
              </a:rPr>
              <a:t>műveletek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000" dirty="0">
                <a:latin typeface="Arial" panose="020B0604020202020204" pitchFamily="34" charset="0"/>
              </a:rPr>
              <a:t> </a:t>
            </a:r>
            <a:r>
              <a:rPr lang="hu-HU" altLang="en-US" sz="2000" b="1" dirty="0">
                <a:latin typeface="Arial" panose="020B0604020202020204" pitchFamily="34" charset="0"/>
              </a:rPr>
              <a:t>Adatlopás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Felhasználó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latin typeface="Arial" panose="020B0604020202020204" pitchFamily="34" charset="0"/>
              </a:rPr>
              <a:t>megtévesztése</a:t>
            </a:r>
            <a:endParaRPr lang="en-US" altLang="en-US" sz="20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19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E1EE7-61F9-42CE-1C70-A0E0E7FCC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829129"/>
            <a:ext cx="4548503" cy="827243"/>
          </a:xfrm>
        </p:spPr>
        <p:txBody>
          <a:bodyPr>
            <a:normAutofit/>
          </a:bodyPr>
          <a:lstStyle/>
          <a:p>
            <a:r>
              <a:rPr lang="hu-HU" sz="4000" dirty="0"/>
              <a:t>XSS alapelve</a:t>
            </a:r>
            <a:endParaRPr lang="en-US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EF8B3C-B321-CD29-BB57-0BD95A977A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7871" y="2208218"/>
            <a:ext cx="4915602" cy="2630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Felhasználói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input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megjelenik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Kontextus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nélküli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beillesztés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HTML / JS /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attribútum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kontextus</a:t>
            </a:r>
            <a:endParaRPr kumimoji="0" lang="en-US" altLang="en-US" sz="22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Hiányzó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escaping</a:t>
            </a:r>
            <a:r>
              <a:rPr kumimoji="0" lang="hu-HU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és validáció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27C3D2-D05F-F101-4552-979EA48C4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371" y="1683421"/>
            <a:ext cx="6395553" cy="349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17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40E48-AA99-5B3E-7064-37668A9EB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57795"/>
          </a:xfrm>
        </p:spPr>
        <p:txBody>
          <a:bodyPr>
            <a:normAutofit/>
          </a:bodyPr>
          <a:lstStyle/>
          <a:p>
            <a:r>
              <a:rPr lang="en-US" sz="4000" dirty="0"/>
              <a:t>XSS </a:t>
            </a:r>
            <a:r>
              <a:rPr lang="en-US" sz="4000" dirty="0" err="1"/>
              <a:t>típusok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63EDE8-9F3B-E90F-8012-AA3A7B405B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108525"/>
            <a:ext cx="5474478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XSS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eltárolt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Reflected XSS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vissza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pattanó”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DOM-based XSS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frontend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oldali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9FB470-0C9A-4BBC-9183-6E93EFA70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234" y="3199900"/>
            <a:ext cx="4672919" cy="5607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F7BBFD-D845-A61E-10E9-7A31D8FBC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005" y="1736203"/>
            <a:ext cx="2311684" cy="9760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91955A-795C-3BB8-ABAE-27906434F2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858" y="4364004"/>
            <a:ext cx="5255672" cy="7577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3A7F21-67F1-0F51-7894-4E3ED5FB4A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3891" y="5336034"/>
            <a:ext cx="4234913" cy="51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034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A60F1-C458-0F46-3DA6-B4EEBB570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5116"/>
          </a:xfrm>
        </p:spPr>
        <p:txBody>
          <a:bodyPr>
            <a:normAutofit/>
          </a:bodyPr>
          <a:lstStyle/>
          <a:p>
            <a:r>
              <a:rPr lang="hu-HU" sz="4000" dirty="0"/>
              <a:t>XSS elleni védekezés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34069-9089-3F2D-A329-AC4F829DB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996518"/>
            <a:ext cx="8044059" cy="42422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Output encoding </a:t>
            </a:r>
            <a:r>
              <a:rPr lang="en-US" sz="2400" dirty="0" err="1"/>
              <a:t>minden</a:t>
            </a:r>
            <a:r>
              <a:rPr lang="en-US" sz="2400" dirty="0"/>
              <a:t> </a:t>
            </a:r>
            <a:r>
              <a:rPr lang="en-US" sz="2400" dirty="0" err="1"/>
              <a:t>felhasználói</a:t>
            </a:r>
            <a:r>
              <a:rPr lang="en-US" sz="2400" dirty="0"/>
              <a:t> </a:t>
            </a:r>
            <a:r>
              <a:rPr lang="en-US" sz="2400" dirty="0" err="1"/>
              <a:t>adatnál</a:t>
            </a:r>
            <a:endParaRPr lang="hu-HU" sz="2400" dirty="0"/>
          </a:p>
          <a:p>
            <a:pPr>
              <a:lnSpc>
                <a:spcPct val="150000"/>
              </a:lnSpc>
            </a:pPr>
            <a:r>
              <a:rPr lang="hu-HU" sz="2400" b="1" dirty="0" err="1"/>
              <a:t>Safe-rendering</a:t>
            </a:r>
            <a:r>
              <a:rPr lang="hu-HU" sz="2400" b="1" dirty="0"/>
              <a:t>: Biztonságos</a:t>
            </a:r>
            <a:r>
              <a:rPr lang="hu-HU" sz="2400" dirty="0"/>
              <a:t> megjelenítés</a:t>
            </a:r>
          </a:p>
          <a:p>
            <a:pPr>
              <a:lnSpc>
                <a:spcPct val="150000"/>
              </a:lnSpc>
            </a:pPr>
            <a:r>
              <a:rPr lang="hu-HU" sz="2400" b="1" dirty="0"/>
              <a:t>DOM-</a:t>
            </a:r>
            <a:r>
              <a:rPr lang="hu-HU" sz="2400" b="1" dirty="0" err="1"/>
              <a:t>based</a:t>
            </a:r>
            <a:r>
              <a:rPr lang="hu-HU" sz="2400" b="1" dirty="0"/>
              <a:t> XSS </a:t>
            </a:r>
            <a:r>
              <a:rPr lang="hu-HU" sz="2400" dirty="0"/>
              <a:t>elkerülése</a:t>
            </a:r>
          </a:p>
          <a:p>
            <a:pPr>
              <a:lnSpc>
                <a:spcPct val="150000"/>
              </a:lnSpc>
            </a:pPr>
            <a:r>
              <a:rPr lang="hu-HU" sz="2400" dirty="0" err="1"/>
              <a:t>Content</a:t>
            </a:r>
            <a:r>
              <a:rPr lang="hu-HU" sz="2400" dirty="0"/>
              <a:t> Security Policy (</a:t>
            </a:r>
            <a:r>
              <a:rPr lang="hu-HU" sz="2400" b="1" dirty="0"/>
              <a:t>CSP</a:t>
            </a:r>
            <a:r>
              <a:rPr lang="hu-HU" sz="2400" dirty="0"/>
              <a:t>)</a:t>
            </a:r>
          </a:p>
          <a:p>
            <a:pPr>
              <a:lnSpc>
                <a:spcPct val="150000"/>
              </a:lnSpc>
            </a:pPr>
            <a:r>
              <a:rPr lang="hu-HU" sz="2400" b="1" dirty="0" err="1"/>
              <a:t>Cookie</a:t>
            </a:r>
            <a:r>
              <a:rPr lang="hu-HU" sz="2400" dirty="0"/>
              <a:t> és </a:t>
            </a:r>
            <a:r>
              <a:rPr lang="hu-HU" sz="2400" b="1" dirty="0"/>
              <a:t>Session</a:t>
            </a:r>
            <a:r>
              <a:rPr lang="hu-HU" sz="2400" dirty="0"/>
              <a:t> védelem</a:t>
            </a:r>
          </a:p>
          <a:p>
            <a:pPr>
              <a:lnSpc>
                <a:spcPct val="150000"/>
              </a:lnSpc>
            </a:pPr>
            <a:r>
              <a:rPr lang="hu-HU" sz="2400" b="1" dirty="0"/>
              <a:t>Input validáció</a:t>
            </a:r>
          </a:p>
        </p:txBody>
      </p:sp>
    </p:spTree>
    <p:extLst>
      <p:ext uri="{BB962C8B-B14F-4D97-AF65-F5344CB8AC3E}">
        <p14:creationId xmlns:p14="http://schemas.microsoft.com/office/powerpoint/2010/main" val="1966744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712B-D158-BDC7-8E7B-90A6D5B4D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5116"/>
          </a:xfrm>
        </p:spPr>
        <p:txBody>
          <a:bodyPr>
            <a:normAutofit/>
          </a:bodyPr>
          <a:lstStyle/>
          <a:p>
            <a:r>
              <a:rPr lang="en-US" sz="4000" dirty="0"/>
              <a:t>CSRF: Cross-Site Request Forgery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890D8C-D4B3-2B51-0B4B-C7AEF8CDBC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80903"/>
            <a:ext cx="7118083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Böngésző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automatikus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viselkedése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Cookie-k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mindig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elküldődnek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Felhasználó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tudta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nélkül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Hiteles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szándékos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kérés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037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40C963-0A69-D606-D6F8-075AA747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en-US"/>
              <a:t>CSRF </a:t>
            </a:r>
            <a:r>
              <a:rPr lang="en-US" err="1"/>
              <a:t>lépései</a:t>
            </a:r>
            <a:endParaRPr lang="en-US"/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051" name="Picture 3" descr="What is CSRF | Cross Site Request Forgery Example | Imperva">
            <a:extLst>
              <a:ext uri="{FF2B5EF4-FFF2-40B4-BE49-F238E27FC236}">
                <a16:creationId xmlns:a16="http://schemas.microsoft.com/office/drawing/2014/main" id="{C86430DF-BD7E-2802-59D0-B76422352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3486" y="1956123"/>
            <a:ext cx="6649948" cy="3923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45F4F28-545B-F8C3-2B62-E433CE9D7E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42632" y="1269019"/>
            <a:ext cx="4365498" cy="36259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Felhasználó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bejelentkezik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Session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aktív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Rosszindulatú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oldal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betölt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Böngésző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automatikusan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küldi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cookie-t</a:t>
            </a:r>
            <a:endParaRPr lang="hu-HU" altLang="en-US" sz="20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Webalkalmazás végrehajtja a kérést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C37D10-9D12-3DFD-954F-34026226E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965" y="5807048"/>
            <a:ext cx="6754165" cy="59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1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772F6-5CE2-6171-EC68-4022D3660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04093"/>
          </a:xfrm>
        </p:spPr>
        <p:txBody>
          <a:bodyPr>
            <a:normAutofit/>
          </a:bodyPr>
          <a:lstStyle/>
          <a:p>
            <a:r>
              <a:rPr lang="en-US" sz="4000" dirty="0"/>
              <a:t>CSRF </a:t>
            </a:r>
            <a:r>
              <a:rPr lang="en-US" sz="4000" dirty="0" err="1"/>
              <a:t>elleni</a:t>
            </a:r>
            <a:r>
              <a:rPr lang="en-US" sz="4000" dirty="0"/>
              <a:t> </a:t>
            </a:r>
            <a:r>
              <a:rPr lang="en-US" sz="4000" dirty="0" err="1"/>
              <a:t>védekezés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05ACE0-CE26-9659-D131-AA841F2963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161319"/>
            <a:ext cx="9189951" cy="3217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CSRF token</a:t>
            </a:r>
            <a:endParaRPr kumimoji="0" lang="hu-HU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Egyedi,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véletlen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érték</a:t>
            </a: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amit a szerver generál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200" dirty="0">
                <a:latin typeface="Arial" panose="020B0604020202020204" pitchFamily="34" charset="0"/>
              </a:rPr>
              <a:t> A kliens elküldi minden kéréshez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Kérésenként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ellenőrizve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SameSite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kiegészítés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400" b="1" dirty="0"/>
              <a:t> </a:t>
            </a:r>
            <a:r>
              <a:rPr lang="en-US" sz="2400" b="1" dirty="0"/>
              <a:t>Same-Origin Policy</a:t>
            </a:r>
            <a:r>
              <a:rPr lang="hu-HU" sz="2400" dirty="0"/>
              <a:t> (alapértelmezett)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831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41D8F-26A5-4C9A-8D58-81855D272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61967"/>
          </a:xfrm>
        </p:spPr>
        <p:txBody>
          <a:bodyPr>
            <a:normAutofit/>
          </a:bodyPr>
          <a:lstStyle/>
          <a:p>
            <a:r>
              <a:rPr lang="en-US" sz="4000" dirty="0"/>
              <a:t>CORS</a:t>
            </a:r>
            <a:r>
              <a:rPr lang="hu-HU" sz="4000" dirty="0"/>
              <a:t>: </a:t>
            </a:r>
            <a:r>
              <a:rPr lang="hu-HU" sz="4000" dirty="0" err="1"/>
              <a:t>Cross-Origin</a:t>
            </a:r>
            <a:r>
              <a:rPr lang="hu-HU" sz="4000" dirty="0"/>
              <a:t> </a:t>
            </a:r>
            <a:r>
              <a:rPr lang="hu-HU" sz="4000" dirty="0" err="1"/>
              <a:t>Resource</a:t>
            </a:r>
            <a:r>
              <a:rPr lang="hu-HU" sz="4000" dirty="0"/>
              <a:t> </a:t>
            </a:r>
            <a:r>
              <a:rPr lang="hu-HU" sz="4000" dirty="0" err="1"/>
              <a:t>Sharing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3F4FDC-BA07-26B0-A594-6AAFC20312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1746600"/>
            <a:ext cx="10833557" cy="3655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u-HU" sz="2800" b="1" dirty="0">
                <a:latin typeface="Arial" panose="020B0604020202020204" pitchFamily="34" charset="0"/>
                <a:cs typeface="Arial" panose="020B0604020202020204" pitchFamily="34" charset="0"/>
              </a:rPr>
              <a:t>Eltérő eredetű erőforrások megosztása</a:t>
            </a:r>
            <a:endParaRPr kumimoji="0" lang="hu-HU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hu-HU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Cél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megakadályozni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az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adatolvasást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domainről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Böngésző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oldali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szabály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Same-Origin Policy</a:t>
            </a:r>
            <a:r>
              <a:rPr kumimoji="0" lang="hu-HU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(SOP) alapból tiltja a 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cross-origin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adatolvasást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 backend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védelem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hanem </a:t>
            </a:r>
            <a:r>
              <a:rPr kumimoji="0" lang="hu-HU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böngésző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által nyújtott </a:t>
            </a:r>
            <a:r>
              <a:rPr kumimoji="0" lang="hu-HU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védelem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véd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-browser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kliensektől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507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62F25-4C82-7FC1-3232-8F5DF255E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04093"/>
          </a:xfrm>
        </p:spPr>
        <p:txBody>
          <a:bodyPr>
            <a:normAutofit/>
          </a:bodyPr>
          <a:lstStyle/>
          <a:p>
            <a:r>
              <a:rPr lang="en-US" sz="4000" dirty="0"/>
              <a:t>Cookie security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FABDAF0-DBFC-C030-3EFE-A38AEB67F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08" y="2078577"/>
            <a:ext cx="11155680" cy="293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 cookie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csak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HTTPS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kapcsolaton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keresztül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kerül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elküldésre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HttpOnly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 cookie-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fér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hozzá</a:t>
            </a:r>
            <a:endParaRPr kumimoji="0" lang="hu-HU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SameSite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 cookie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cross-site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helyzetben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korlátozva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kerül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elküldésre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Együtt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alkalmazva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hatásosak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932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C59B-6402-6D6E-A988-47EB05E7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61967"/>
          </a:xfrm>
        </p:spPr>
        <p:txBody>
          <a:bodyPr>
            <a:normAutofit/>
          </a:bodyPr>
          <a:lstStyle/>
          <a:p>
            <a:r>
              <a:rPr lang="en-US" sz="4000" dirty="0"/>
              <a:t>Input validation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66F605-EDCA-CA97-D21A-0CAD3B7662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1989095"/>
            <a:ext cx="7928311" cy="3717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Aranyszabály: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Soha ne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bízz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az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inputban</a:t>
            </a:r>
            <a:r>
              <a:rPr lang="hu-HU" sz="2400" b="1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Minden input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gyanús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Ellenőrzés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kötelező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Formátum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tartomány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hossz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felelősség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en-US" sz="2400" dirty="0">
                <a:latin typeface="Arial" panose="020B0604020202020204" pitchFamily="34" charset="0"/>
              </a:rPr>
              <a:t> Nem helyettesít más védelmeket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066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2A842-17D0-0EB1-AC22-94157AAD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08265"/>
          </a:xfrm>
        </p:spPr>
        <p:txBody>
          <a:bodyPr>
            <a:normAutofit/>
          </a:bodyPr>
          <a:lstStyle/>
          <a:p>
            <a:r>
              <a:rPr lang="en-US" sz="4000" dirty="0"/>
              <a:t>OWASP Top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E94BB-9C49-4FE6-B4AF-365504C6D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46988"/>
            <a:ext cx="6354154" cy="373260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hu-HU" sz="2200" b="1" dirty="0"/>
              <a:t>OWASP</a:t>
            </a:r>
            <a:r>
              <a:rPr lang="hu-HU" sz="2200" dirty="0"/>
              <a:t>: </a:t>
            </a:r>
            <a:r>
              <a:rPr lang="en-US" sz="2200" b="1" dirty="0"/>
              <a:t>O</a:t>
            </a:r>
            <a:r>
              <a:rPr lang="en-US" sz="2200" dirty="0"/>
              <a:t>pen </a:t>
            </a:r>
            <a:r>
              <a:rPr lang="en-US" sz="2200" b="1" dirty="0"/>
              <a:t>W</a:t>
            </a:r>
            <a:r>
              <a:rPr lang="en-US" sz="2200" dirty="0"/>
              <a:t>eb </a:t>
            </a:r>
            <a:r>
              <a:rPr lang="en-US" sz="2200" b="1" dirty="0"/>
              <a:t>A</a:t>
            </a:r>
            <a:r>
              <a:rPr lang="en-US" sz="2200" dirty="0"/>
              <a:t>pplication </a:t>
            </a:r>
            <a:r>
              <a:rPr lang="en-US" sz="2200" b="1" dirty="0"/>
              <a:t>S</a:t>
            </a:r>
            <a:r>
              <a:rPr lang="en-US" sz="2200" dirty="0"/>
              <a:t>ecurity </a:t>
            </a:r>
            <a:r>
              <a:rPr lang="en-US" sz="2200" b="1" dirty="0"/>
              <a:t>P</a:t>
            </a:r>
            <a:r>
              <a:rPr lang="en-US" sz="2200" dirty="0"/>
              <a:t>roject</a:t>
            </a:r>
            <a:endParaRPr lang="hu-HU" sz="2200" dirty="0"/>
          </a:p>
          <a:p>
            <a:pPr>
              <a:lnSpc>
                <a:spcPct val="150000"/>
              </a:lnSpc>
            </a:pPr>
            <a:r>
              <a:rPr lang="en-US" sz="2200" b="1" dirty="0" err="1"/>
              <a:t>Leggyakoribb</a:t>
            </a:r>
            <a:r>
              <a:rPr lang="en-US" sz="2200" dirty="0"/>
              <a:t> </a:t>
            </a:r>
            <a:r>
              <a:rPr lang="en-US" sz="2200" dirty="0" err="1"/>
              <a:t>webes</a:t>
            </a:r>
            <a:r>
              <a:rPr lang="en-US" sz="2200" dirty="0"/>
              <a:t> </a:t>
            </a:r>
            <a:r>
              <a:rPr lang="en-US" sz="2200" b="1" dirty="0" err="1"/>
              <a:t>kockázatok</a:t>
            </a:r>
            <a:r>
              <a:rPr lang="hu-HU" sz="2200" dirty="0"/>
              <a:t> listája</a:t>
            </a:r>
          </a:p>
          <a:p>
            <a:pPr>
              <a:lnSpc>
                <a:spcPct val="150000"/>
              </a:lnSpc>
            </a:pPr>
            <a:r>
              <a:rPr lang="hu-HU" sz="2200" b="1" dirty="0"/>
              <a:t>Tapasztalaton</a:t>
            </a:r>
            <a:r>
              <a:rPr lang="hu-HU" sz="2200" dirty="0"/>
              <a:t> alapúló lista</a:t>
            </a:r>
          </a:p>
          <a:p>
            <a:pPr>
              <a:lnSpc>
                <a:spcPct val="150000"/>
              </a:lnSpc>
            </a:pPr>
            <a:r>
              <a:rPr lang="hu-HU" sz="2200" dirty="0"/>
              <a:t>Tervezési iránytű</a:t>
            </a:r>
          </a:p>
          <a:p>
            <a:pPr>
              <a:lnSpc>
                <a:spcPct val="150000"/>
              </a:lnSpc>
            </a:pPr>
            <a:r>
              <a:rPr lang="en-US" sz="2200" dirty="0" err="1"/>
              <a:t>Közös</a:t>
            </a:r>
            <a:r>
              <a:rPr lang="en-US" sz="2200" dirty="0"/>
              <a:t> </a:t>
            </a:r>
            <a:r>
              <a:rPr lang="en-US" sz="2200" dirty="0" err="1"/>
              <a:t>nyelv</a:t>
            </a:r>
            <a:endParaRPr lang="hu-HU" sz="2200" dirty="0"/>
          </a:p>
          <a:p>
            <a:pPr>
              <a:lnSpc>
                <a:spcPct val="150000"/>
              </a:lnSpc>
            </a:pPr>
            <a:r>
              <a:rPr lang="hu-HU" sz="2200" dirty="0"/>
              <a:t>Nem szabvány, hanem széles körben elfogadott biztonsági tudatosságot növelő dokumentum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57FD1-293B-5BFE-F684-42B47C32C433}"/>
              </a:ext>
            </a:extLst>
          </p:cNvPr>
          <p:cNvSpPr txBox="1"/>
          <p:nvPr/>
        </p:nvSpPr>
        <p:spPr>
          <a:xfrm>
            <a:off x="7027360" y="2146988"/>
            <a:ext cx="4838217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OWASP Top 10 </a:t>
            </a:r>
            <a:r>
              <a:rPr lang="hu-HU" b="1" dirty="0"/>
              <a:t>(in </a:t>
            </a:r>
            <a:r>
              <a:rPr lang="en-US" b="1" dirty="0"/>
              <a:t>2025</a:t>
            </a:r>
            <a:r>
              <a:rPr lang="hu-HU" b="1" dirty="0"/>
              <a:t>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 </a:t>
            </a:r>
            <a:r>
              <a:rPr lang="en-US" dirty="0"/>
              <a:t>A01: Broken Access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 </a:t>
            </a:r>
            <a:r>
              <a:rPr lang="en-US" dirty="0"/>
              <a:t>A02: Security Misconfiguration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 </a:t>
            </a:r>
            <a:r>
              <a:rPr lang="en-US" dirty="0"/>
              <a:t>A03: Software Supply Chain Failures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 </a:t>
            </a:r>
            <a:r>
              <a:rPr lang="en-US" dirty="0"/>
              <a:t>A04: Cryptographic Failures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 </a:t>
            </a:r>
            <a:r>
              <a:rPr lang="en-US" dirty="0"/>
              <a:t>A05: Injection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 </a:t>
            </a:r>
            <a:r>
              <a:rPr lang="en-US" dirty="0"/>
              <a:t>A06: Insecure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 </a:t>
            </a:r>
            <a:r>
              <a:rPr lang="en-US" dirty="0"/>
              <a:t>A07: Authentication Failures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 </a:t>
            </a:r>
            <a:r>
              <a:rPr lang="en-US" dirty="0"/>
              <a:t>A08: Software or Data Integrity Failures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 </a:t>
            </a:r>
            <a:r>
              <a:rPr lang="en-US" dirty="0"/>
              <a:t>A09: Security Logging &amp; Alerting Failures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 </a:t>
            </a:r>
            <a:r>
              <a:rPr lang="en-US" dirty="0"/>
              <a:t>A10: Mishandling of Exceptional Conditions</a:t>
            </a:r>
          </a:p>
        </p:txBody>
      </p:sp>
    </p:spTree>
    <p:extLst>
      <p:ext uri="{BB962C8B-B14F-4D97-AF65-F5344CB8AC3E}">
        <p14:creationId xmlns:p14="http://schemas.microsoft.com/office/powerpoint/2010/main" val="2499458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2E2D-F677-B187-DD35-131D6E3E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12438"/>
          </a:xfrm>
        </p:spPr>
        <p:txBody>
          <a:bodyPr>
            <a:normAutofit/>
          </a:bodyPr>
          <a:lstStyle/>
          <a:p>
            <a:r>
              <a:rPr lang="en-US" sz="4000" dirty="0" err="1"/>
              <a:t>Összefoglalás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E61F2E-C90A-7B9C-71FB-B1E0C37A38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504572"/>
            <a:ext cx="5683330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vezérlési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felület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CSRF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alapfogalmak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cookie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szerepe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en-US" sz="2400" dirty="0">
                <a:latin typeface="Arial" panose="020B0604020202020204" pitchFamily="34" charset="0"/>
              </a:rPr>
              <a:t> OWASP Top 10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92105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</TotalTime>
  <Words>2164</Words>
  <Application>Microsoft Office PowerPoint</Application>
  <PresentationFormat>Widescreen</PresentationFormat>
  <Paragraphs>293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Bierstadt</vt:lpstr>
      <vt:lpstr>GestaltVTI</vt:lpstr>
      <vt:lpstr>Webbiztonság alapjai   XSS, CSRF, CORS, Cookie security, OWASP Top 10 </vt:lpstr>
      <vt:lpstr>Webbiztonság alapjai</vt:lpstr>
      <vt:lpstr>A webes támadások alapgondolata</vt:lpstr>
      <vt:lpstr>Trust boundary (bizalmi határ)</vt:lpstr>
      <vt:lpstr>XSS: Cross-Site Scripting</vt:lpstr>
      <vt:lpstr>XSS alapelve</vt:lpstr>
      <vt:lpstr>XSS típusok</vt:lpstr>
      <vt:lpstr>XSS elleni védekezés</vt:lpstr>
      <vt:lpstr>CSRF: Cross-Site Request Forgery</vt:lpstr>
      <vt:lpstr>CSRF lépései</vt:lpstr>
      <vt:lpstr>CSRF elleni védekezés</vt:lpstr>
      <vt:lpstr>CORS: Cross-Origin Resource Sharing</vt:lpstr>
      <vt:lpstr>Cookie security</vt:lpstr>
      <vt:lpstr>Input validation</vt:lpstr>
      <vt:lpstr>OWASP Top 10</vt:lpstr>
      <vt:lpstr>Összefoglalás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Zoltan Balogh</dc:creator>
  <cp:lastModifiedBy>Zoltan Balogh</cp:lastModifiedBy>
  <cp:revision>122</cp:revision>
  <dcterms:created xsi:type="dcterms:W3CDTF">2025-11-30T15:45:28Z</dcterms:created>
  <dcterms:modified xsi:type="dcterms:W3CDTF">2026-04-26T17:07:46Z</dcterms:modified>
</cp:coreProperties>
</file>