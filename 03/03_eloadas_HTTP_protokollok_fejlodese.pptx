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86" r:id="rId1"/>
  </p:sldMasterIdLst>
  <p:notesMasterIdLst>
    <p:notesMasterId r:id="rId19"/>
  </p:notesMasterIdLst>
  <p:sldIdLst>
    <p:sldId id="256" r:id="rId2"/>
    <p:sldId id="259" r:id="rId3"/>
    <p:sldId id="260" r:id="rId4"/>
    <p:sldId id="261" r:id="rId5"/>
    <p:sldId id="262" r:id="rId6"/>
    <p:sldId id="263" r:id="rId7"/>
    <p:sldId id="264" r:id="rId8"/>
    <p:sldId id="265" r:id="rId9"/>
    <p:sldId id="266" r:id="rId10"/>
    <p:sldId id="267" r:id="rId11"/>
    <p:sldId id="268" r:id="rId12"/>
    <p:sldId id="269" r:id="rId13"/>
    <p:sldId id="270" r:id="rId14"/>
    <p:sldId id="271" r:id="rId15"/>
    <p:sldId id="272" r:id="rId16"/>
    <p:sldId id="273" r:id="rId17"/>
    <p:sldId id="274" r:id="rId18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6980" autoAdjust="0"/>
    <p:restoredTop sz="75182" autoAdjust="0"/>
  </p:normalViewPr>
  <p:slideViewPr>
    <p:cSldViewPr snapToGrid="0">
      <p:cViewPr varScale="1">
        <p:scale>
          <a:sx n="95" d="100"/>
          <a:sy n="95" d="100"/>
        </p:scale>
        <p:origin x="1080" y="8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3" Type="http://schemas.openxmlformats.org/officeDocument/2006/relationships/slide" Target="slides/slide2.xml"/><Relationship Id="rId21" Type="http://schemas.openxmlformats.org/officeDocument/2006/relationships/viewProps" Target="viewProps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presProps" Target="pres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tableStyles" Target="tableStyles.xml"/><Relationship Id="rId10" Type="http://schemas.openxmlformats.org/officeDocument/2006/relationships/slide" Target="slides/slide9.xml"/><Relationship Id="rId19" Type="http://schemas.openxmlformats.org/officeDocument/2006/relationships/notesMaster" Target="notesMasters/notesMaster1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theme" Target="theme/theme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4C482E4E-5CEC-44A9-BF2B-512FB3B5604F}" type="datetimeFigureOut">
              <a:rPr lang="en-US" smtClean="0"/>
              <a:t>2/10/2026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82D23EBC-67FA-4278-B97C-82D0A52FD2D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8009626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hu-HU" dirty="0"/>
              <a:t>A prezentációban megnézzük, hogyan fejlődött a HTTP protokoll a kezdetektől napjainkig. A HTTP mára a világ legelterjedtebb alkalmazási protokollja, a web működésének alapja, és mégis sokszor csak annyit látunk belőle, hogy 'betölt egy weboldal'. Valójában óriási technológiai fejlődés áll mögötte.</a:t>
            </a:r>
          </a:p>
          <a:p>
            <a:endParaRPr lang="hu-HU" dirty="0"/>
          </a:p>
          <a:p>
            <a:r>
              <a:rPr lang="hu-HU" dirty="0"/>
              <a:t>Fokozatosan haladunk végig a három korszakon:</a:t>
            </a:r>
            <a:br>
              <a:rPr lang="hu-HU" dirty="0"/>
            </a:br>
            <a:r>
              <a:rPr lang="hu-HU" dirty="0"/>
              <a:t>– először áttekintjük a HTTP/1.1-et, amely több mint 20 éven át meghatározta a web működését,</a:t>
            </a:r>
            <a:br>
              <a:rPr lang="hu-HU" dirty="0"/>
            </a:br>
            <a:r>
              <a:rPr lang="hu-HU" dirty="0"/>
              <a:t>– utána megnézzük, milyen teljesítményproblémák jelentek meg és hogy erre miként válaszolt a HTTP/2,</a:t>
            </a:r>
            <a:br>
              <a:rPr lang="hu-HU" dirty="0"/>
            </a:br>
            <a:r>
              <a:rPr lang="hu-HU" dirty="0"/>
              <a:t>– végül megértjük a QUIC alapú HTTP/3-at, ami már UDP-re épül, és teljesen átalakítja azt, ahogyan a kapcsolatkezelés és az adatátvitel történik.</a:t>
            </a:r>
          </a:p>
          <a:p>
            <a:endParaRPr lang="hu-HU" dirty="0"/>
          </a:p>
          <a:p>
            <a:r>
              <a:rPr lang="hu-HU" dirty="0"/>
              <a:t>A cél, hogy az előadás végére átlásd nemcsak az egyes protokollok működését, hanem azt is, hogy milyen problémát oldottak meg, és hogy a modern web miért működik sokkal gyorsabban.</a:t>
            </a:r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2D23EBC-67FA-4278-B97C-82D0A52FD2DA}" type="slidenum">
              <a:rPr lang="en-US" smtClean="0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05838370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hu-HU" dirty="0"/>
              <a:t>Hogy megértsük, miért kellett új HTTP protokollokat fejleszteni, fontos áttekinteni, hogyan változott meg a web. A 2000-es évek elején egy weboldal betöltéséhez néhány fájlt kellett letölteni – HTML, pár kép, esetleg 1–2 CSS fájl. A HTTP/1.1 erre tökéletesen megfelelt.</a:t>
            </a:r>
          </a:p>
          <a:p>
            <a:endParaRPr lang="hu-HU" dirty="0"/>
          </a:p>
          <a:p>
            <a:r>
              <a:rPr lang="hu-HU" dirty="0"/>
              <a:t>Ahogy azonban a web </a:t>
            </a:r>
            <a:r>
              <a:rPr lang="hu-HU" dirty="0" err="1"/>
              <a:t>kinőtte</a:t>
            </a:r>
            <a:r>
              <a:rPr lang="hu-HU" dirty="0"/>
              <a:t> magát, a következő jelenségek jelentek meg:</a:t>
            </a:r>
          </a:p>
          <a:p>
            <a:r>
              <a:rPr lang="hu-HU" dirty="0"/>
              <a:t>– A modern oldalak rengeteg erőforrást töltenek be: nagy képeket, több megabájtos JavaScript csomagokat, harmadik féltől származó </a:t>
            </a:r>
            <a:r>
              <a:rPr lang="hu-HU" dirty="0" err="1"/>
              <a:t>szkripteket</a:t>
            </a:r>
            <a:r>
              <a:rPr lang="hu-HU" dirty="0"/>
              <a:t>, API hívásokat.</a:t>
            </a:r>
            <a:br>
              <a:rPr lang="hu-HU" dirty="0"/>
            </a:br>
            <a:r>
              <a:rPr lang="hu-HU" dirty="0"/>
              <a:t>– A mobil internetezés elterjedésével a késleltetés felment. Mobilon egy körülbelül 100–200 </a:t>
            </a:r>
            <a:r>
              <a:rPr lang="hu-HU" dirty="0" err="1"/>
              <a:t>ms</a:t>
            </a:r>
            <a:r>
              <a:rPr lang="hu-HU" dirty="0"/>
              <a:t> RTT (</a:t>
            </a:r>
            <a:r>
              <a:rPr lang="hu-HU" dirty="0" err="1"/>
              <a:t>Round</a:t>
            </a:r>
            <a:r>
              <a:rPr lang="hu-HU" dirty="0"/>
              <a:t> </a:t>
            </a:r>
            <a:r>
              <a:rPr lang="hu-HU" dirty="0" err="1"/>
              <a:t>Trip</a:t>
            </a:r>
            <a:r>
              <a:rPr lang="hu-HU" dirty="0"/>
              <a:t> Time) teljesen átlagos — a HTTP/1.1 tervezésekor ennyi még elképzelhetetlen volt.</a:t>
            </a:r>
            <a:br>
              <a:rPr lang="hu-HU" dirty="0"/>
            </a:br>
            <a:r>
              <a:rPr lang="hu-HU" dirty="0"/>
              <a:t>– A weboldalak tipikusan 80–150 fájlt töltenek be, egy komplex SPA esetén akár többet is. A HTTP/1.1 viszont nem erre a fajta terhelésre készült. HTTP/1.1 erre technikailag nem volt felkészülve, mert egy TCP kapcsolaton egyszerre csak egy kérés várhatott választ, ezért a böngészők többszörös kapcsolatot nyitottak ugyanahhoz a szerverhez. Ez nemcsak lassú volt, hanem a TCP működésével is szembement.</a:t>
            </a:r>
          </a:p>
          <a:p>
            <a:endParaRPr lang="hu-HU" dirty="0"/>
          </a:p>
          <a:p>
            <a:r>
              <a:rPr lang="hu-HU" dirty="0"/>
              <a:t>Ezért mielőtt belemennénk a protokollok részleteibe, fontos látni, hogy a HTTP/1.1 egyszerűen '</a:t>
            </a:r>
            <a:r>
              <a:rPr lang="hu-HU" dirty="0" err="1"/>
              <a:t>kinőtte</a:t>
            </a:r>
            <a:r>
              <a:rPr lang="hu-HU" dirty="0"/>
              <a:t>' azt a környezet, amire eredetileg készült.</a:t>
            </a:r>
          </a:p>
          <a:p>
            <a:r>
              <a:rPr lang="hu-HU" dirty="0"/>
              <a:t>Megjegyzés: a HTTP/1.1 protokollt még most is sok helyen használják. Hiszen sok olyan felhasználási eset van, ahol ez a protokoll még mindig megfelelő (vagy maga az átállás költséges lenne).</a:t>
            </a:r>
          </a:p>
          <a:p>
            <a:endParaRPr lang="hu-HU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2D23EBC-67FA-4278-B97C-82D0A52FD2DA}" type="slidenum">
              <a:rPr lang="en-US" smtClean="0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91605302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 HTTP/1.1 </a:t>
            </a:r>
            <a:r>
              <a:rPr lang="en-US" dirty="0" err="1"/>
              <a:t>bevezette</a:t>
            </a:r>
            <a:r>
              <a:rPr lang="en-US" dirty="0"/>
              <a:t> a persistent </a:t>
            </a:r>
            <a:r>
              <a:rPr lang="en-US" dirty="0" err="1"/>
              <a:t>connectiont</a:t>
            </a:r>
            <a:r>
              <a:rPr lang="en-US" dirty="0"/>
              <a:t>, </a:t>
            </a:r>
            <a:r>
              <a:rPr lang="en-US" dirty="0" err="1"/>
              <a:t>tehát</a:t>
            </a:r>
            <a:r>
              <a:rPr lang="en-US" dirty="0"/>
              <a:t> </a:t>
            </a:r>
            <a:r>
              <a:rPr lang="en-US" dirty="0" err="1"/>
              <a:t>több</a:t>
            </a:r>
            <a:r>
              <a:rPr lang="en-US" dirty="0"/>
              <a:t> </a:t>
            </a:r>
            <a:r>
              <a:rPr lang="en-US" dirty="0" err="1"/>
              <a:t>kérést</a:t>
            </a:r>
            <a:r>
              <a:rPr lang="en-US" dirty="0"/>
              <a:t> is </a:t>
            </a:r>
            <a:r>
              <a:rPr lang="en-US" dirty="0" err="1"/>
              <a:t>küldhettünk</a:t>
            </a:r>
            <a:r>
              <a:rPr lang="en-US" dirty="0"/>
              <a:t> </a:t>
            </a:r>
            <a:r>
              <a:rPr lang="en-US" dirty="0" err="1"/>
              <a:t>ugyanazon</a:t>
            </a:r>
            <a:r>
              <a:rPr lang="en-US" dirty="0"/>
              <a:t> TCP </a:t>
            </a:r>
            <a:r>
              <a:rPr lang="en-US" dirty="0" err="1"/>
              <a:t>kapcsolat</a:t>
            </a:r>
            <a:r>
              <a:rPr lang="en-US" dirty="0"/>
              <a:t> </a:t>
            </a:r>
            <a:r>
              <a:rPr lang="en-US" dirty="0" err="1"/>
              <a:t>felett</a:t>
            </a:r>
            <a:r>
              <a:rPr lang="en-US" dirty="0"/>
              <a:t>. </a:t>
            </a:r>
            <a:r>
              <a:rPr lang="hu-HU" dirty="0"/>
              <a:t>A HTTP/1.1 egyetlen folytonos TCP kapcsolaton működik, ahol a kérések és válaszok egymás után, sorban utaznak. Bár a '</a:t>
            </a:r>
            <a:r>
              <a:rPr lang="hu-HU" dirty="0" err="1"/>
              <a:t>keep-alive</a:t>
            </a:r>
            <a:r>
              <a:rPr lang="hu-HU" dirty="0"/>
              <a:t>' lehetővé tette, hogy ugyanazt a kapcsolatot többször használjuk új kérésekhez, sokkal jobban hangzik, mint amennyire hatékony valójában.</a:t>
            </a:r>
          </a:p>
          <a:p>
            <a:r>
              <a:rPr lang="hu-HU" dirty="0"/>
              <a:t>Megjegyzés: </a:t>
            </a:r>
            <a:r>
              <a:rPr lang="en-US" dirty="0" err="1"/>
              <a:t>Papíron</a:t>
            </a:r>
            <a:r>
              <a:rPr lang="en-US" dirty="0"/>
              <a:t> volt </a:t>
            </a:r>
            <a:r>
              <a:rPr lang="en-US" dirty="0" err="1"/>
              <a:t>egy</a:t>
            </a:r>
            <a:r>
              <a:rPr lang="en-US" dirty="0"/>
              <a:t> </a:t>
            </a:r>
            <a:r>
              <a:rPr lang="en-US" dirty="0" err="1"/>
              <a:t>úgynevezett</a:t>
            </a:r>
            <a:r>
              <a:rPr lang="en-US" dirty="0"/>
              <a:t> pipeline </a:t>
            </a:r>
            <a:r>
              <a:rPr lang="en-US" dirty="0" err="1"/>
              <a:t>mechanizmus</a:t>
            </a:r>
            <a:r>
              <a:rPr lang="en-US" dirty="0"/>
              <a:t> is</a:t>
            </a:r>
            <a:r>
              <a:rPr lang="hu-HU" dirty="0"/>
              <a:t> (több kérés egy TCP kapcsolaton)</a:t>
            </a:r>
            <a:r>
              <a:rPr lang="en-US" dirty="0"/>
              <a:t>, de a </a:t>
            </a:r>
            <a:r>
              <a:rPr lang="en-US" dirty="0" err="1"/>
              <a:t>gyakorlatban</a:t>
            </a:r>
            <a:r>
              <a:rPr lang="en-US" dirty="0"/>
              <a:t> </a:t>
            </a:r>
            <a:r>
              <a:rPr lang="en-US" dirty="0" err="1"/>
              <a:t>nem</a:t>
            </a:r>
            <a:r>
              <a:rPr lang="en-US" dirty="0"/>
              <a:t> </a:t>
            </a:r>
            <a:r>
              <a:rPr lang="en-US" dirty="0" err="1"/>
              <a:t>használták</a:t>
            </a:r>
            <a:r>
              <a:rPr lang="en-US" dirty="0"/>
              <a:t>, </a:t>
            </a:r>
            <a:r>
              <a:rPr lang="en-US" dirty="0" err="1"/>
              <a:t>mert</a:t>
            </a:r>
            <a:r>
              <a:rPr lang="en-US" dirty="0"/>
              <a:t> </a:t>
            </a:r>
            <a:r>
              <a:rPr lang="en-US" dirty="0" err="1"/>
              <a:t>sorrendi</a:t>
            </a:r>
            <a:r>
              <a:rPr lang="en-US" dirty="0"/>
              <a:t> </a:t>
            </a:r>
            <a:r>
              <a:rPr lang="en-US" dirty="0" err="1"/>
              <a:t>problémák</a:t>
            </a:r>
            <a:r>
              <a:rPr lang="en-US" dirty="0"/>
              <a:t> </a:t>
            </a:r>
            <a:r>
              <a:rPr lang="en-US" dirty="0" err="1"/>
              <a:t>voltak</a:t>
            </a:r>
            <a:r>
              <a:rPr lang="hu-HU" dirty="0"/>
              <a:t>, és az implementációk se voltak tökéletesek. (</a:t>
            </a:r>
            <a:r>
              <a:rPr lang="en-US" dirty="0"/>
              <a:t>pipelining </a:t>
            </a:r>
            <a:r>
              <a:rPr lang="en-US" dirty="0" err="1"/>
              <a:t>gyakorlatilag</a:t>
            </a:r>
            <a:r>
              <a:rPr lang="en-US" dirty="0"/>
              <a:t> </a:t>
            </a:r>
            <a:r>
              <a:rPr lang="en-US" dirty="0" err="1"/>
              <a:t>használhatatlan</a:t>
            </a:r>
            <a:r>
              <a:rPr lang="en-US" dirty="0"/>
              <a:t> </a:t>
            </a:r>
            <a:r>
              <a:rPr lang="en-US" dirty="0" err="1"/>
              <a:t>lett</a:t>
            </a:r>
            <a:r>
              <a:rPr lang="hu-HU" dirty="0"/>
              <a:t>)</a:t>
            </a:r>
          </a:p>
          <a:p>
            <a:r>
              <a:rPr lang="hu-HU" dirty="0"/>
              <a:t>Fontos: </a:t>
            </a:r>
            <a:r>
              <a:rPr lang="en-US" dirty="0"/>
              <a:t>A HTTP/1.1 </a:t>
            </a:r>
            <a:r>
              <a:rPr lang="en-US" b="1" dirty="0" err="1"/>
              <a:t>kötelezően</a:t>
            </a:r>
            <a:r>
              <a:rPr lang="en-US" b="1" dirty="0"/>
              <a:t> </a:t>
            </a:r>
            <a:r>
              <a:rPr lang="en-US" b="1" dirty="0" err="1"/>
              <a:t>előírja</a:t>
            </a:r>
            <a:r>
              <a:rPr lang="en-US" dirty="0"/>
              <a:t>, </a:t>
            </a:r>
            <a:r>
              <a:rPr lang="en-US" dirty="0" err="1"/>
              <a:t>hogy</a:t>
            </a:r>
            <a:r>
              <a:rPr lang="hu-HU" dirty="0"/>
              <a:t> a</a:t>
            </a:r>
            <a:r>
              <a:rPr lang="en-US" dirty="0"/>
              <a:t> </a:t>
            </a:r>
            <a:r>
              <a:rPr lang="en-US" dirty="0" err="1"/>
              <a:t>válaszok</a:t>
            </a:r>
            <a:r>
              <a:rPr lang="en-US" dirty="0"/>
              <a:t> </a:t>
            </a:r>
            <a:r>
              <a:rPr lang="en-US" b="1" dirty="0" err="1"/>
              <a:t>ugyanabban</a:t>
            </a:r>
            <a:r>
              <a:rPr lang="en-US" b="1" dirty="0"/>
              <a:t> a </a:t>
            </a:r>
            <a:r>
              <a:rPr lang="en-US" b="1" dirty="0" err="1"/>
              <a:t>sorrendben</a:t>
            </a:r>
            <a:r>
              <a:rPr lang="en-US" dirty="0"/>
              <a:t> </a:t>
            </a:r>
            <a:r>
              <a:rPr lang="en-US" dirty="0" err="1"/>
              <a:t>érkezzenek</a:t>
            </a:r>
            <a:r>
              <a:rPr lang="en-US" dirty="0"/>
              <a:t> meg, mint a</a:t>
            </a:r>
            <a:r>
              <a:rPr lang="hu-HU" dirty="0"/>
              <a:t>hogy</a:t>
            </a:r>
            <a:r>
              <a:rPr lang="en-US" dirty="0"/>
              <a:t> </a:t>
            </a:r>
            <a:r>
              <a:rPr lang="hu-HU" dirty="0"/>
              <a:t>kérések el lettek küldve</a:t>
            </a:r>
            <a:r>
              <a:rPr lang="en-US" dirty="0"/>
              <a:t>.</a:t>
            </a:r>
          </a:p>
          <a:p>
            <a:endParaRPr lang="hu-HU" dirty="0"/>
          </a:p>
          <a:p>
            <a:r>
              <a:rPr lang="en-US" dirty="0" err="1"/>
              <a:t>Két</a:t>
            </a:r>
            <a:r>
              <a:rPr lang="en-US" dirty="0"/>
              <a:t> </a:t>
            </a:r>
            <a:r>
              <a:rPr lang="en-US" dirty="0" err="1"/>
              <a:t>alapvető</a:t>
            </a:r>
            <a:r>
              <a:rPr lang="en-US" dirty="0"/>
              <a:t> </a:t>
            </a:r>
            <a:r>
              <a:rPr lang="en-US" dirty="0" err="1"/>
              <a:t>probléma</a:t>
            </a:r>
            <a:r>
              <a:rPr lang="en-US" dirty="0"/>
              <a:t> van:</a:t>
            </a:r>
          </a:p>
          <a:p>
            <a:r>
              <a:rPr lang="en-US" b="1" dirty="0"/>
              <a:t>A </a:t>
            </a:r>
            <a:r>
              <a:rPr lang="en-US" b="1" dirty="0" err="1"/>
              <a:t>böngésző</a:t>
            </a:r>
            <a:r>
              <a:rPr lang="en-US" b="1" dirty="0"/>
              <a:t> </a:t>
            </a:r>
            <a:r>
              <a:rPr lang="en-US" b="1" dirty="0" err="1"/>
              <a:t>nem</a:t>
            </a:r>
            <a:r>
              <a:rPr lang="en-US" b="1" dirty="0"/>
              <a:t> </a:t>
            </a:r>
            <a:r>
              <a:rPr lang="en-US" b="1" dirty="0" err="1"/>
              <a:t>tud</a:t>
            </a:r>
            <a:r>
              <a:rPr lang="en-US" b="1" dirty="0"/>
              <a:t> </a:t>
            </a:r>
            <a:r>
              <a:rPr lang="en-US" b="1" dirty="0" err="1"/>
              <a:t>egyszerre</a:t>
            </a:r>
            <a:r>
              <a:rPr lang="en-US" b="1" dirty="0"/>
              <a:t> </a:t>
            </a:r>
            <a:r>
              <a:rPr lang="en-US" b="1" dirty="0" err="1"/>
              <a:t>több</a:t>
            </a:r>
            <a:r>
              <a:rPr lang="en-US" b="1" dirty="0"/>
              <a:t> </a:t>
            </a:r>
            <a:r>
              <a:rPr lang="en-US" b="1" dirty="0" err="1"/>
              <a:t>választ</a:t>
            </a:r>
            <a:r>
              <a:rPr lang="en-US" b="1" dirty="0"/>
              <a:t> </a:t>
            </a:r>
            <a:r>
              <a:rPr lang="en-US" b="1" dirty="0" err="1"/>
              <a:t>fogadni</a:t>
            </a:r>
            <a:r>
              <a:rPr lang="en-US" b="1" dirty="0"/>
              <a:t>.</a:t>
            </a:r>
            <a:br>
              <a:rPr lang="en-US" dirty="0"/>
            </a:br>
            <a:r>
              <a:rPr lang="en-US" dirty="0"/>
              <a:t>A HTTP/1.1 </a:t>
            </a:r>
            <a:r>
              <a:rPr lang="en-US" dirty="0" err="1"/>
              <a:t>nem</a:t>
            </a:r>
            <a:r>
              <a:rPr lang="en-US" dirty="0"/>
              <a:t> </a:t>
            </a:r>
            <a:r>
              <a:rPr lang="en-US" dirty="0" err="1"/>
              <a:t>támogatja</a:t>
            </a:r>
            <a:r>
              <a:rPr lang="en-US" dirty="0"/>
              <a:t>, </a:t>
            </a:r>
            <a:r>
              <a:rPr lang="en-US" dirty="0" err="1"/>
              <a:t>hogy</a:t>
            </a:r>
            <a:r>
              <a:rPr lang="en-US" dirty="0"/>
              <a:t> </a:t>
            </a:r>
            <a:r>
              <a:rPr lang="en-US" dirty="0" err="1"/>
              <a:t>egyszerre</a:t>
            </a:r>
            <a:r>
              <a:rPr lang="en-US" dirty="0"/>
              <a:t> </a:t>
            </a:r>
            <a:r>
              <a:rPr lang="en-US" dirty="0" err="1"/>
              <a:t>több</a:t>
            </a:r>
            <a:r>
              <a:rPr lang="en-US" dirty="0"/>
              <a:t> </a:t>
            </a:r>
            <a:r>
              <a:rPr lang="en-US" dirty="0" err="1"/>
              <a:t>válasz</a:t>
            </a:r>
            <a:r>
              <a:rPr lang="en-US" dirty="0"/>
              <a:t> </a:t>
            </a:r>
            <a:r>
              <a:rPr lang="en-US" dirty="0" err="1"/>
              <a:t>érkezzen</a:t>
            </a:r>
            <a:r>
              <a:rPr lang="en-US" dirty="0"/>
              <a:t> </a:t>
            </a:r>
            <a:r>
              <a:rPr lang="en-US" dirty="0" err="1"/>
              <a:t>egyetlen</a:t>
            </a:r>
            <a:r>
              <a:rPr lang="en-US" dirty="0"/>
              <a:t> TCP </a:t>
            </a:r>
            <a:r>
              <a:rPr lang="en-US" dirty="0" err="1"/>
              <a:t>kapcsolaton</a:t>
            </a:r>
            <a:r>
              <a:rPr lang="en-US" dirty="0"/>
              <a:t>. </a:t>
            </a:r>
            <a:r>
              <a:rPr lang="en-US" dirty="0" err="1"/>
              <a:t>Emiatt</a:t>
            </a:r>
            <a:r>
              <a:rPr lang="en-US" dirty="0"/>
              <a:t> a </a:t>
            </a:r>
            <a:r>
              <a:rPr lang="en-US" dirty="0" err="1"/>
              <a:t>böngészők</a:t>
            </a:r>
            <a:r>
              <a:rPr lang="en-US" dirty="0"/>
              <a:t> </a:t>
            </a:r>
            <a:r>
              <a:rPr lang="en-US" dirty="0" err="1"/>
              <a:t>úgy</a:t>
            </a:r>
            <a:r>
              <a:rPr lang="en-US" dirty="0"/>
              <a:t> </a:t>
            </a:r>
            <a:r>
              <a:rPr lang="en-US" dirty="0" err="1"/>
              <a:t>döntöttek</a:t>
            </a:r>
            <a:r>
              <a:rPr lang="en-US" dirty="0"/>
              <a:t>, </a:t>
            </a:r>
            <a:r>
              <a:rPr lang="en-US" dirty="0" err="1"/>
              <a:t>hogy</a:t>
            </a:r>
            <a:r>
              <a:rPr lang="en-US" dirty="0"/>
              <a:t> </a:t>
            </a:r>
            <a:r>
              <a:rPr lang="en-US" dirty="0" err="1"/>
              <a:t>több</a:t>
            </a:r>
            <a:r>
              <a:rPr lang="en-US" dirty="0"/>
              <a:t> </a:t>
            </a:r>
            <a:r>
              <a:rPr lang="en-US" dirty="0" err="1"/>
              <a:t>párhuzamos</a:t>
            </a:r>
            <a:r>
              <a:rPr lang="en-US" dirty="0"/>
              <a:t> TCP </a:t>
            </a:r>
            <a:r>
              <a:rPr lang="en-US" dirty="0" err="1"/>
              <a:t>kapcsolatot</a:t>
            </a:r>
            <a:r>
              <a:rPr lang="en-US" dirty="0"/>
              <a:t> </a:t>
            </a:r>
            <a:r>
              <a:rPr lang="en-US" dirty="0" err="1"/>
              <a:t>nyitnak</a:t>
            </a:r>
            <a:r>
              <a:rPr lang="en-US" dirty="0"/>
              <a:t> </a:t>
            </a:r>
            <a:r>
              <a:rPr lang="en-US" dirty="0" err="1"/>
              <a:t>ugyanahhoz</a:t>
            </a:r>
            <a:r>
              <a:rPr lang="en-US" dirty="0"/>
              <a:t> a </a:t>
            </a:r>
            <a:r>
              <a:rPr lang="en-US" dirty="0" err="1"/>
              <a:t>domainhez</a:t>
            </a:r>
            <a:r>
              <a:rPr lang="en-US" dirty="0"/>
              <a:t>, </a:t>
            </a:r>
            <a:r>
              <a:rPr lang="en-US" dirty="0" err="1"/>
              <a:t>általában</a:t>
            </a:r>
            <a:r>
              <a:rPr lang="en-US" dirty="0"/>
              <a:t> 6-ot. Ez a </a:t>
            </a:r>
            <a:r>
              <a:rPr lang="en-US" dirty="0" err="1"/>
              <a:t>hírhedt</a:t>
            </a:r>
            <a:r>
              <a:rPr lang="en-US" dirty="0"/>
              <a:t> 'connection limit'.</a:t>
            </a:r>
          </a:p>
          <a:p>
            <a:r>
              <a:rPr lang="en-US" b="1" dirty="0"/>
              <a:t>Head-of-line blocking:</a:t>
            </a:r>
            <a:br>
              <a:rPr lang="en-US" dirty="0"/>
            </a:br>
            <a:r>
              <a:rPr lang="en-US" dirty="0"/>
              <a:t>Ha </a:t>
            </a:r>
            <a:r>
              <a:rPr lang="en-US" dirty="0" err="1"/>
              <a:t>egy</a:t>
            </a:r>
            <a:r>
              <a:rPr lang="en-US" dirty="0"/>
              <a:t> </a:t>
            </a:r>
            <a:r>
              <a:rPr lang="en-US" dirty="0" err="1"/>
              <a:t>korábbi</a:t>
            </a:r>
            <a:r>
              <a:rPr lang="en-US" dirty="0"/>
              <a:t> </a:t>
            </a:r>
            <a:r>
              <a:rPr lang="en-US" dirty="0" err="1"/>
              <a:t>kérés</a:t>
            </a:r>
            <a:r>
              <a:rPr lang="en-US" dirty="0"/>
              <a:t> </a:t>
            </a:r>
            <a:r>
              <a:rPr lang="en-US" dirty="0" err="1"/>
              <a:t>válasza</a:t>
            </a:r>
            <a:r>
              <a:rPr lang="en-US" dirty="0"/>
              <a:t> </a:t>
            </a:r>
            <a:r>
              <a:rPr lang="en-US" dirty="0" err="1"/>
              <a:t>lassan</a:t>
            </a:r>
            <a:r>
              <a:rPr lang="en-US" dirty="0"/>
              <a:t> </a:t>
            </a:r>
            <a:r>
              <a:rPr lang="en-US" dirty="0" err="1"/>
              <a:t>jön</a:t>
            </a:r>
            <a:r>
              <a:rPr lang="en-US" dirty="0"/>
              <a:t>, </a:t>
            </a:r>
            <a:r>
              <a:rPr lang="en-US" dirty="0" err="1"/>
              <a:t>akkor</a:t>
            </a:r>
            <a:r>
              <a:rPr lang="en-US" dirty="0"/>
              <a:t> a </a:t>
            </a:r>
            <a:r>
              <a:rPr lang="en-US" dirty="0" err="1"/>
              <a:t>mögötte</a:t>
            </a:r>
            <a:r>
              <a:rPr lang="en-US" dirty="0"/>
              <a:t> </a:t>
            </a:r>
            <a:r>
              <a:rPr lang="en-US" dirty="0" err="1"/>
              <a:t>lévő</a:t>
            </a:r>
            <a:r>
              <a:rPr lang="en-US" dirty="0"/>
              <a:t> </a:t>
            </a:r>
            <a:r>
              <a:rPr lang="en-US" dirty="0" err="1"/>
              <a:t>összes</a:t>
            </a:r>
            <a:r>
              <a:rPr lang="en-US" dirty="0"/>
              <a:t> </a:t>
            </a:r>
            <a:r>
              <a:rPr lang="en-US" dirty="0" err="1"/>
              <a:t>kérés</a:t>
            </a:r>
            <a:r>
              <a:rPr lang="en-US" dirty="0"/>
              <a:t> is </a:t>
            </a:r>
            <a:r>
              <a:rPr lang="en-US" dirty="0" err="1"/>
              <a:t>várakozik</a:t>
            </a:r>
            <a:r>
              <a:rPr lang="en-US" dirty="0"/>
              <a:t>, </a:t>
            </a:r>
            <a:r>
              <a:rPr lang="en-US" dirty="0" err="1"/>
              <a:t>még</a:t>
            </a:r>
            <a:r>
              <a:rPr lang="en-US" dirty="0"/>
              <a:t> </a:t>
            </a:r>
            <a:r>
              <a:rPr lang="en-US" dirty="0" err="1"/>
              <a:t>akkor</a:t>
            </a:r>
            <a:r>
              <a:rPr lang="en-US" dirty="0"/>
              <a:t> is, ha a </a:t>
            </a:r>
            <a:r>
              <a:rPr lang="en-US" dirty="0" err="1"/>
              <a:t>szerver</a:t>
            </a:r>
            <a:r>
              <a:rPr lang="en-US" dirty="0"/>
              <a:t> </a:t>
            </a:r>
            <a:r>
              <a:rPr lang="en-US" dirty="0" err="1"/>
              <a:t>amúgy</a:t>
            </a:r>
            <a:r>
              <a:rPr lang="en-US" dirty="0"/>
              <a:t> </a:t>
            </a:r>
            <a:r>
              <a:rPr lang="en-US" dirty="0" err="1"/>
              <a:t>készen</a:t>
            </a:r>
            <a:r>
              <a:rPr lang="en-US" dirty="0"/>
              <a:t> </a:t>
            </a:r>
            <a:r>
              <a:rPr lang="en-US" dirty="0" err="1"/>
              <a:t>lenne</a:t>
            </a:r>
            <a:r>
              <a:rPr lang="en-US" dirty="0"/>
              <a:t> </a:t>
            </a:r>
            <a:r>
              <a:rPr lang="en-US" dirty="0" err="1"/>
              <a:t>rá</a:t>
            </a:r>
            <a:r>
              <a:rPr lang="en-US" dirty="0"/>
              <a:t>, </a:t>
            </a:r>
            <a:r>
              <a:rPr lang="en-US" dirty="0" err="1"/>
              <a:t>hogy</a:t>
            </a:r>
            <a:r>
              <a:rPr lang="en-US" dirty="0"/>
              <a:t> </a:t>
            </a:r>
            <a:r>
              <a:rPr lang="en-US" dirty="0" err="1"/>
              <a:t>azokat</a:t>
            </a:r>
            <a:r>
              <a:rPr lang="en-US" dirty="0"/>
              <a:t> </a:t>
            </a:r>
            <a:r>
              <a:rPr lang="en-US" dirty="0" err="1"/>
              <a:t>kiszolgálja</a:t>
            </a:r>
            <a:r>
              <a:rPr lang="en-US" dirty="0"/>
              <a:t>.</a:t>
            </a:r>
            <a:r>
              <a:rPr lang="hu-HU" dirty="0"/>
              <a:t> (Ez a HTTP/1.1 protokoll szintjén jelentkezett, annak működési elvéből.)</a:t>
            </a:r>
            <a:endParaRPr lang="en-US" dirty="0"/>
          </a:p>
          <a:p>
            <a:r>
              <a:rPr lang="en-US" dirty="0"/>
              <a:t>A </a:t>
            </a:r>
            <a:r>
              <a:rPr lang="en-US" dirty="0" err="1"/>
              <a:t>böngészők</a:t>
            </a:r>
            <a:r>
              <a:rPr lang="en-US" dirty="0"/>
              <a:t> </a:t>
            </a:r>
            <a:r>
              <a:rPr lang="en-US" dirty="0" err="1"/>
              <a:t>tehát</a:t>
            </a:r>
            <a:r>
              <a:rPr lang="en-US" dirty="0"/>
              <a:t> </a:t>
            </a:r>
            <a:r>
              <a:rPr lang="en-US" dirty="0" err="1"/>
              <a:t>trükköztek</a:t>
            </a:r>
            <a:r>
              <a:rPr lang="en-US" dirty="0"/>
              <a:t>: </a:t>
            </a:r>
            <a:r>
              <a:rPr lang="en-US" dirty="0" err="1"/>
              <a:t>több</a:t>
            </a:r>
            <a:r>
              <a:rPr lang="en-US" dirty="0"/>
              <a:t> TCP </a:t>
            </a:r>
            <a:r>
              <a:rPr lang="en-US" dirty="0" err="1"/>
              <a:t>kapcsolatot</a:t>
            </a:r>
            <a:r>
              <a:rPr lang="en-US" dirty="0"/>
              <a:t> </a:t>
            </a:r>
            <a:r>
              <a:rPr lang="en-US" dirty="0" err="1"/>
              <a:t>nyitottak</a:t>
            </a:r>
            <a:r>
              <a:rPr lang="en-US" dirty="0"/>
              <a:t>, domain </a:t>
            </a:r>
            <a:r>
              <a:rPr lang="en-US" dirty="0" err="1"/>
              <a:t>shardingot</a:t>
            </a:r>
            <a:r>
              <a:rPr lang="en-US" dirty="0"/>
              <a:t> </a:t>
            </a:r>
            <a:r>
              <a:rPr lang="en-US" dirty="0" err="1"/>
              <a:t>vezettek</a:t>
            </a:r>
            <a:r>
              <a:rPr lang="en-US" dirty="0"/>
              <a:t> be, </a:t>
            </a:r>
            <a:r>
              <a:rPr lang="en-US" dirty="0" err="1"/>
              <a:t>csak</a:t>
            </a:r>
            <a:r>
              <a:rPr lang="en-US" dirty="0"/>
              <a:t> </a:t>
            </a:r>
            <a:r>
              <a:rPr lang="en-US" dirty="0" err="1"/>
              <a:t>hogy</a:t>
            </a:r>
            <a:r>
              <a:rPr lang="en-US" dirty="0"/>
              <a:t> </a:t>
            </a:r>
            <a:r>
              <a:rPr lang="en-US" dirty="0" err="1"/>
              <a:t>megkerüljék</a:t>
            </a:r>
            <a:r>
              <a:rPr lang="en-US" dirty="0"/>
              <a:t> </a:t>
            </a:r>
            <a:r>
              <a:rPr lang="en-US" dirty="0" err="1"/>
              <a:t>azt</a:t>
            </a:r>
            <a:r>
              <a:rPr lang="en-US" dirty="0"/>
              <a:t>, </a:t>
            </a:r>
            <a:r>
              <a:rPr lang="en-US" dirty="0" err="1"/>
              <a:t>amit</a:t>
            </a:r>
            <a:r>
              <a:rPr lang="en-US" dirty="0"/>
              <a:t> a HTTP/1.1 </a:t>
            </a:r>
            <a:r>
              <a:rPr lang="en-US" dirty="0" err="1"/>
              <a:t>korlátai</a:t>
            </a:r>
            <a:r>
              <a:rPr lang="en-US" dirty="0"/>
              <a:t> </a:t>
            </a:r>
            <a:r>
              <a:rPr lang="en-US" dirty="0" err="1"/>
              <a:t>jelentettek</a:t>
            </a:r>
            <a:r>
              <a:rPr lang="en-US" dirty="0"/>
              <a:t>.</a:t>
            </a:r>
            <a:endParaRPr lang="hu-HU" dirty="0"/>
          </a:p>
          <a:p>
            <a:endParaRPr lang="en-US" dirty="0"/>
          </a:p>
          <a:p>
            <a:r>
              <a:rPr lang="hu-HU" dirty="0"/>
              <a:t>Tehát, a</a:t>
            </a:r>
            <a:r>
              <a:rPr lang="en-US" dirty="0"/>
              <a:t> </a:t>
            </a:r>
            <a:r>
              <a:rPr lang="en-US" dirty="0" err="1"/>
              <a:t>legnagyobb</a:t>
            </a:r>
            <a:r>
              <a:rPr lang="en-US" dirty="0"/>
              <a:t> </a:t>
            </a:r>
            <a:r>
              <a:rPr lang="en-US" dirty="0" err="1"/>
              <a:t>gond</a:t>
            </a:r>
            <a:r>
              <a:rPr lang="en-US" dirty="0"/>
              <a:t> a head-of-line blocking: ha </a:t>
            </a:r>
            <a:r>
              <a:rPr lang="en-US" dirty="0" err="1"/>
              <a:t>egy</a:t>
            </a:r>
            <a:r>
              <a:rPr lang="en-US" dirty="0"/>
              <a:t> </a:t>
            </a:r>
            <a:r>
              <a:rPr lang="en-US" dirty="0" err="1"/>
              <a:t>válasz</a:t>
            </a:r>
            <a:r>
              <a:rPr lang="en-US" dirty="0"/>
              <a:t> </a:t>
            </a:r>
            <a:r>
              <a:rPr lang="en-US" dirty="0" err="1"/>
              <a:t>elakadt</a:t>
            </a:r>
            <a:r>
              <a:rPr lang="en-US" dirty="0"/>
              <a:t>, </a:t>
            </a:r>
            <a:r>
              <a:rPr lang="en-US" dirty="0" err="1"/>
              <a:t>akkor</a:t>
            </a:r>
            <a:r>
              <a:rPr lang="en-US" dirty="0"/>
              <a:t> </a:t>
            </a:r>
            <a:r>
              <a:rPr lang="en-US" dirty="0" err="1"/>
              <a:t>az</a:t>
            </a:r>
            <a:r>
              <a:rPr lang="en-US" dirty="0"/>
              <a:t> </a:t>
            </a:r>
            <a:r>
              <a:rPr lang="en-US" dirty="0" err="1"/>
              <a:t>összes</a:t>
            </a:r>
            <a:r>
              <a:rPr lang="en-US" dirty="0"/>
              <a:t> </a:t>
            </a:r>
            <a:r>
              <a:rPr lang="en-US" dirty="0" err="1"/>
              <a:t>többi</a:t>
            </a:r>
            <a:r>
              <a:rPr lang="en-US" dirty="0"/>
              <a:t> </a:t>
            </a:r>
            <a:r>
              <a:rPr lang="en-US" dirty="0" err="1"/>
              <a:t>kérés</a:t>
            </a:r>
            <a:r>
              <a:rPr lang="en-US" dirty="0"/>
              <a:t> </a:t>
            </a:r>
            <a:r>
              <a:rPr lang="en-US" dirty="0" err="1"/>
              <a:t>mögötte</a:t>
            </a:r>
            <a:r>
              <a:rPr lang="en-US" dirty="0"/>
              <a:t> </a:t>
            </a:r>
            <a:r>
              <a:rPr lang="en-US" dirty="0" err="1"/>
              <a:t>várakozott</a:t>
            </a:r>
            <a:r>
              <a:rPr lang="en-US" dirty="0"/>
              <a:t>. </a:t>
            </a:r>
            <a:r>
              <a:rPr lang="en-US" dirty="0" err="1"/>
              <a:t>Ezért</a:t>
            </a:r>
            <a:r>
              <a:rPr lang="en-US" dirty="0"/>
              <a:t> a </a:t>
            </a:r>
            <a:r>
              <a:rPr lang="en-US" dirty="0" err="1"/>
              <a:t>böngészők</a:t>
            </a:r>
            <a:r>
              <a:rPr lang="en-US" dirty="0"/>
              <a:t> </a:t>
            </a:r>
            <a:r>
              <a:rPr lang="en-US" dirty="0" err="1"/>
              <a:t>elkezdtek</a:t>
            </a:r>
            <a:r>
              <a:rPr lang="en-US" dirty="0"/>
              <a:t> </a:t>
            </a:r>
            <a:r>
              <a:rPr lang="en-US" dirty="0" err="1"/>
              <a:t>több</a:t>
            </a:r>
            <a:r>
              <a:rPr lang="en-US" dirty="0"/>
              <a:t> TCP </a:t>
            </a:r>
            <a:r>
              <a:rPr lang="en-US" dirty="0" err="1"/>
              <a:t>kapcsolatot</a:t>
            </a:r>
            <a:r>
              <a:rPr lang="en-US" dirty="0"/>
              <a:t> </a:t>
            </a:r>
            <a:r>
              <a:rPr lang="en-US" dirty="0" err="1"/>
              <a:t>nyitni</a:t>
            </a:r>
            <a:r>
              <a:rPr lang="en-US" dirty="0"/>
              <a:t> </a:t>
            </a:r>
            <a:r>
              <a:rPr lang="en-US" dirty="0" err="1"/>
              <a:t>ugyanarra</a:t>
            </a:r>
            <a:r>
              <a:rPr lang="en-US" dirty="0"/>
              <a:t> a </a:t>
            </a:r>
            <a:r>
              <a:rPr lang="en-US" dirty="0" err="1"/>
              <a:t>domainre</a:t>
            </a:r>
            <a:r>
              <a:rPr lang="en-US" dirty="0"/>
              <a:t>, </a:t>
            </a:r>
            <a:r>
              <a:rPr lang="en-US" dirty="0" err="1"/>
              <a:t>általában</a:t>
            </a:r>
            <a:r>
              <a:rPr lang="en-US" dirty="0"/>
              <a:t> 6-ot. Majd </a:t>
            </a:r>
            <a:r>
              <a:rPr lang="en-US" dirty="0" err="1"/>
              <a:t>megjelent</a:t>
            </a:r>
            <a:r>
              <a:rPr lang="en-US" dirty="0"/>
              <a:t> a domain sharding, </a:t>
            </a:r>
            <a:r>
              <a:rPr lang="en-US" dirty="0" err="1"/>
              <a:t>amikor</a:t>
            </a:r>
            <a:r>
              <a:rPr lang="en-US" dirty="0"/>
              <a:t> a </a:t>
            </a:r>
            <a:r>
              <a:rPr lang="en-US" dirty="0" err="1"/>
              <a:t>weboldalak</a:t>
            </a:r>
            <a:r>
              <a:rPr lang="en-US" dirty="0"/>
              <a:t> </a:t>
            </a:r>
            <a:r>
              <a:rPr lang="en-US" dirty="0" err="1"/>
              <a:t>mesterségesen</a:t>
            </a:r>
            <a:r>
              <a:rPr lang="en-US" dirty="0"/>
              <a:t> </a:t>
            </a:r>
            <a:r>
              <a:rPr lang="en-US" dirty="0" err="1"/>
              <a:t>több</a:t>
            </a:r>
            <a:r>
              <a:rPr lang="en-US" dirty="0"/>
              <a:t> </a:t>
            </a:r>
            <a:r>
              <a:rPr lang="en-US" dirty="0" err="1"/>
              <a:t>aldomaint</a:t>
            </a:r>
            <a:r>
              <a:rPr lang="en-US" dirty="0"/>
              <a:t> </a:t>
            </a:r>
            <a:r>
              <a:rPr lang="en-US" dirty="0" err="1"/>
              <a:t>hoztak</a:t>
            </a:r>
            <a:r>
              <a:rPr lang="en-US" dirty="0"/>
              <a:t> </a:t>
            </a:r>
            <a:r>
              <a:rPr lang="en-US" dirty="0" err="1"/>
              <a:t>létre</a:t>
            </a:r>
            <a:r>
              <a:rPr lang="en-US" dirty="0"/>
              <a:t>, </a:t>
            </a:r>
            <a:r>
              <a:rPr lang="en-US" dirty="0" err="1"/>
              <a:t>hogy</a:t>
            </a:r>
            <a:r>
              <a:rPr lang="en-US" dirty="0"/>
              <a:t> </a:t>
            </a:r>
            <a:r>
              <a:rPr lang="en-US" dirty="0" err="1"/>
              <a:t>még</a:t>
            </a:r>
            <a:r>
              <a:rPr lang="en-US" dirty="0"/>
              <a:t> </a:t>
            </a:r>
            <a:r>
              <a:rPr lang="en-US" dirty="0" err="1"/>
              <a:t>több</a:t>
            </a:r>
            <a:r>
              <a:rPr lang="en-US" dirty="0"/>
              <a:t> TCP </a:t>
            </a:r>
            <a:r>
              <a:rPr lang="en-US" dirty="0" err="1"/>
              <a:t>kapcsolatot</a:t>
            </a:r>
            <a:r>
              <a:rPr lang="en-US" dirty="0"/>
              <a:t> </a:t>
            </a:r>
            <a:r>
              <a:rPr lang="en-US" dirty="0" err="1"/>
              <a:t>nyissanak</a:t>
            </a:r>
            <a:r>
              <a:rPr lang="en-US" dirty="0"/>
              <a:t>. Ez </a:t>
            </a:r>
            <a:r>
              <a:rPr lang="en-US" dirty="0" err="1"/>
              <a:t>azonban</a:t>
            </a:r>
            <a:r>
              <a:rPr lang="en-US" dirty="0"/>
              <a:t> </a:t>
            </a:r>
            <a:r>
              <a:rPr lang="en-US" dirty="0" err="1"/>
              <a:t>kerülőút</a:t>
            </a:r>
            <a:r>
              <a:rPr lang="en-US" dirty="0"/>
              <a:t> volt, </a:t>
            </a:r>
            <a:r>
              <a:rPr lang="en-US" dirty="0" err="1"/>
              <a:t>nem</a:t>
            </a:r>
            <a:r>
              <a:rPr lang="en-US" dirty="0"/>
              <a:t> </a:t>
            </a:r>
            <a:r>
              <a:rPr lang="en-US" dirty="0" err="1"/>
              <a:t>valódi</a:t>
            </a:r>
            <a:r>
              <a:rPr lang="en-US" dirty="0"/>
              <a:t> </a:t>
            </a:r>
            <a:r>
              <a:rPr lang="en-US" dirty="0" err="1"/>
              <a:t>megoldás</a:t>
            </a:r>
            <a:r>
              <a:rPr lang="en-US" dirty="0"/>
              <a:t>.</a:t>
            </a:r>
            <a:r>
              <a:rPr lang="hu-HU" dirty="0"/>
              <a:t> Ez csak bonyolította az átviteli mechanizmus (TCP kapcsolatok) kezelését.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2D23EBC-67FA-4278-B97C-82D0A52FD2DA}" type="slidenum">
              <a:rPr lang="en-US" smtClean="0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6609113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 HTTP/1.1-nél </a:t>
            </a:r>
            <a:r>
              <a:rPr lang="en-US" dirty="0" err="1"/>
              <a:t>minden</a:t>
            </a:r>
            <a:r>
              <a:rPr lang="en-US" dirty="0"/>
              <a:t> </a:t>
            </a:r>
            <a:r>
              <a:rPr lang="en-US" dirty="0" err="1"/>
              <a:t>probléma</a:t>
            </a:r>
            <a:r>
              <a:rPr lang="en-US" dirty="0"/>
              <a:t> a TCP </a:t>
            </a:r>
            <a:r>
              <a:rPr lang="en-US" dirty="0" err="1"/>
              <a:t>rétegben</a:t>
            </a:r>
            <a:r>
              <a:rPr lang="en-US" dirty="0"/>
              <a:t> </a:t>
            </a:r>
            <a:r>
              <a:rPr lang="en-US" dirty="0" err="1"/>
              <a:t>jelent</a:t>
            </a:r>
            <a:r>
              <a:rPr lang="en-US" dirty="0"/>
              <a:t> meg. A TCP </a:t>
            </a:r>
            <a:r>
              <a:rPr lang="en-US" dirty="0" err="1"/>
              <a:t>garantálja</a:t>
            </a:r>
            <a:r>
              <a:rPr lang="en-US" dirty="0"/>
              <a:t> a </a:t>
            </a:r>
            <a:r>
              <a:rPr lang="en-US" dirty="0" err="1"/>
              <a:t>sorrendet</a:t>
            </a:r>
            <a:r>
              <a:rPr lang="en-US" dirty="0"/>
              <a:t>, és </a:t>
            </a:r>
            <a:r>
              <a:rPr lang="en-US" dirty="0" err="1"/>
              <a:t>mivel</a:t>
            </a:r>
            <a:r>
              <a:rPr lang="en-US" dirty="0"/>
              <a:t> a HTTP/1.1 </a:t>
            </a:r>
            <a:r>
              <a:rPr lang="en-US" b="1" dirty="0" err="1"/>
              <a:t>soros</a:t>
            </a:r>
            <a:r>
              <a:rPr lang="en-US" b="1" dirty="0"/>
              <a:t> </a:t>
            </a:r>
            <a:r>
              <a:rPr lang="en-US" b="1" dirty="0" err="1"/>
              <a:t>módon</a:t>
            </a:r>
            <a:r>
              <a:rPr lang="en-US" b="1" dirty="0"/>
              <a:t> </a:t>
            </a:r>
            <a:r>
              <a:rPr lang="en-US" b="1" dirty="0" err="1"/>
              <a:t>dolgozott</a:t>
            </a:r>
            <a:r>
              <a:rPr lang="en-US" dirty="0"/>
              <a:t>, </a:t>
            </a:r>
            <a:r>
              <a:rPr lang="en-US" dirty="0" err="1"/>
              <a:t>egyetlen</a:t>
            </a:r>
            <a:r>
              <a:rPr lang="en-US" dirty="0"/>
              <a:t> </a:t>
            </a:r>
            <a:r>
              <a:rPr lang="en-US" dirty="0" err="1"/>
              <a:t>rossz</a:t>
            </a:r>
            <a:r>
              <a:rPr lang="en-US" dirty="0"/>
              <a:t> </a:t>
            </a:r>
            <a:r>
              <a:rPr lang="en-US" dirty="0" err="1"/>
              <a:t>csomag</a:t>
            </a:r>
            <a:r>
              <a:rPr lang="en-US" dirty="0"/>
              <a:t> </a:t>
            </a:r>
            <a:r>
              <a:rPr lang="en-US" dirty="0" err="1"/>
              <a:t>az</a:t>
            </a:r>
            <a:r>
              <a:rPr lang="en-US" dirty="0"/>
              <a:t> </a:t>
            </a:r>
            <a:r>
              <a:rPr lang="en-US" dirty="0" err="1"/>
              <a:t>egész</a:t>
            </a:r>
            <a:r>
              <a:rPr lang="en-US" dirty="0"/>
              <a:t> </a:t>
            </a:r>
            <a:r>
              <a:rPr lang="en-US" dirty="0" err="1"/>
              <a:t>kapcsolatot</a:t>
            </a:r>
            <a:r>
              <a:rPr lang="en-US" dirty="0"/>
              <a:t> </a:t>
            </a:r>
            <a:r>
              <a:rPr lang="en-US" dirty="0" err="1"/>
              <a:t>visszafogta</a:t>
            </a:r>
            <a:r>
              <a:rPr lang="en-US" dirty="0"/>
              <a:t>.</a:t>
            </a:r>
            <a:r>
              <a:rPr lang="hu-HU" dirty="0"/>
              <a:t> Tehát, a HTTP/1.1 legnagyobb ellensége a csomagvesztés és a késleltetés. Egyetlen elveszett TCP csomag esetén a teljes kapcsolat megakad addig, amíg a csomagot újra nem küldik. Mivel a böngészők egy </a:t>
            </a:r>
            <a:r>
              <a:rPr lang="hu-HU" dirty="0" err="1"/>
              <a:t>domainhez</a:t>
            </a:r>
            <a:r>
              <a:rPr lang="hu-HU" dirty="0"/>
              <a:t> 6 kapcsolatot használnak, ez azt jelenti, hogy ugyanannak az oldalnak a betöltéséhez akár 6 párhuzamos TCP kapcsolatot kell fenntartani — mindegyik külön kézfogással, külön TCP torlódásvezérléssel.</a:t>
            </a:r>
          </a:p>
          <a:p>
            <a:endParaRPr lang="hu-HU" dirty="0"/>
          </a:p>
          <a:p>
            <a:r>
              <a:rPr lang="hu-HU" dirty="0"/>
              <a:t>Mindebből látszik, hogy a </a:t>
            </a:r>
            <a:r>
              <a:rPr lang="hu-HU" b="1" dirty="0"/>
              <a:t>HOL (Head of Line </a:t>
            </a:r>
            <a:r>
              <a:rPr lang="hu-HU" b="1" dirty="0" err="1"/>
              <a:t>Blocking</a:t>
            </a:r>
            <a:r>
              <a:rPr lang="hu-HU" b="1" dirty="0"/>
              <a:t>) </a:t>
            </a:r>
            <a:r>
              <a:rPr lang="hu-HU" dirty="0"/>
              <a:t>problémája nem kerülhető meg.</a:t>
            </a:r>
          </a:p>
          <a:p>
            <a:endParaRPr lang="hu-HU" dirty="0"/>
          </a:p>
          <a:p>
            <a:r>
              <a:rPr lang="hu-HU" dirty="0"/>
              <a:t>Ezen felül nincs prioritás: ugyanúgy kezel egy kis ikont, mint a fő CSS fájlt, ami strukturálisan sem ideális.</a:t>
            </a:r>
          </a:p>
          <a:p>
            <a:endParaRPr lang="hu-HU" dirty="0"/>
          </a:p>
          <a:p>
            <a:r>
              <a:rPr lang="hu-HU" dirty="0"/>
              <a:t>Ez a sok kicsi probléma végül egy nagy problémává áll össze: a HTTP/1.1 egyszerűen nem képes hatékonyan kiszolgálni a modern weboldalakat.</a:t>
            </a:r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2D23EBC-67FA-4278-B97C-82D0A52FD2DA}" type="slidenum">
              <a:rPr lang="en-US" smtClean="0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63170080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hu-HU" dirty="0"/>
              <a:t>A Google már korán észrevette a HTTP/1.1 problémáit, ezért elkezdett dolgozni egy saját kísérleti protokollon, ez volt a SPDY („</a:t>
            </a:r>
            <a:r>
              <a:rPr lang="hu-HU" dirty="0" err="1"/>
              <a:t>speedy</a:t>
            </a:r>
            <a:r>
              <a:rPr lang="hu-HU" dirty="0"/>
              <a:t>”). Ez tekinthető a HTTP/2 elődjének, és számos ötlete egy az egyben bekerült a HTTP/2-be. Például a </a:t>
            </a:r>
            <a:r>
              <a:rPr lang="hu-HU" b="1" dirty="0"/>
              <a:t>multiplexing</a:t>
            </a:r>
            <a:r>
              <a:rPr lang="hu-HU" dirty="0"/>
              <a:t>, a </a:t>
            </a:r>
            <a:r>
              <a:rPr lang="hu-HU" b="1" dirty="0" err="1"/>
              <a:t>header</a:t>
            </a:r>
            <a:r>
              <a:rPr lang="hu-HU" b="1" dirty="0"/>
              <a:t> </a:t>
            </a:r>
            <a:r>
              <a:rPr lang="hu-HU" b="1" dirty="0" err="1"/>
              <a:t>compression</a:t>
            </a:r>
            <a:r>
              <a:rPr lang="hu-HU" b="1" dirty="0"/>
              <a:t> </a:t>
            </a:r>
            <a:r>
              <a:rPr lang="hu-HU" b="0" dirty="0"/>
              <a:t>és a</a:t>
            </a:r>
            <a:r>
              <a:rPr lang="hu-HU" b="1" dirty="0"/>
              <a:t> </a:t>
            </a:r>
            <a:r>
              <a:rPr lang="hu-HU" b="1" dirty="0" err="1"/>
              <a:t>stream</a:t>
            </a:r>
            <a:r>
              <a:rPr lang="hu-HU" b="1" dirty="0"/>
              <a:t> prioritás </a:t>
            </a:r>
            <a:r>
              <a:rPr lang="hu-HU" dirty="0"/>
              <a:t>is SPDY-</a:t>
            </a:r>
            <a:r>
              <a:rPr lang="hu-HU" dirty="0" err="1"/>
              <a:t>ból</a:t>
            </a:r>
            <a:r>
              <a:rPr lang="hu-HU" dirty="0"/>
              <a:t> származik. Az internet közösség felismerte, hogy szükség van egy új generációs HTTP-re, amely kompatibilis marad ugyan a HTTP módszerekkel/metódusokkal, URL-</a:t>
            </a:r>
            <a:r>
              <a:rPr lang="hu-HU" dirty="0" err="1"/>
              <a:t>ekkel</a:t>
            </a:r>
            <a:r>
              <a:rPr lang="hu-HU" dirty="0"/>
              <a:t> és status </a:t>
            </a:r>
            <a:r>
              <a:rPr lang="hu-HU" dirty="0" err="1"/>
              <a:t>code</a:t>
            </a:r>
            <a:r>
              <a:rPr lang="hu-HU" dirty="0"/>
              <a:t>-okkal, ugyanakkor nagy teljesítményű és hatékony.</a:t>
            </a:r>
          </a:p>
          <a:p>
            <a:endParaRPr lang="hu-HU" dirty="0"/>
          </a:p>
          <a:p>
            <a:r>
              <a:rPr lang="en-US" dirty="0"/>
              <a:t>HTTP/2 </a:t>
            </a:r>
            <a:r>
              <a:rPr lang="en-US" dirty="0" err="1"/>
              <a:t>célja</a:t>
            </a:r>
            <a:r>
              <a:rPr lang="en-US" dirty="0"/>
              <a:t> </a:t>
            </a:r>
            <a:r>
              <a:rPr lang="en-US" dirty="0" err="1"/>
              <a:t>az</a:t>
            </a:r>
            <a:r>
              <a:rPr lang="en-US" dirty="0"/>
              <a:t> volt, </a:t>
            </a:r>
            <a:r>
              <a:rPr lang="en-US" dirty="0" err="1"/>
              <a:t>hogy</a:t>
            </a:r>
            <a:r>
              <a:rPr lang="en-US" dirty="0"/>
              <a:t> a HTTP/1.1 </a:t>
            </a:r>
            <a:r>
              <a:rPr lang="en-US" dirty="0" err="1"/>
              <a:t>korlátait</a:t>
            </a:r>
            <a:r>
              <a:rPr lang="en-US" dirty="0"/>
              <a:t> </a:t>
            </a:r>
            <a:r>
              <a:rPr lang="en-US" dirty="0" err="1"/>
              <a:t>megkerülje</a:t>
            </a:r>
            <a:r>
              <a:rPr lang="en-US" dirty="0"/>
              <a:t> </a:t>
            </a:r>
            <a:r>
              <a:rPr lang="en-US" dirty="0" err="1"/>
              <a:t>anélkül</a:t>
            </a:r>
            <a:r>
              <a:rPr lang="en-US" dirty="0"/>
              <a:t>, </a:t>
            </a:r>
            <a:r>
              <a:rPr lang="en-US" dirty="0" err="1"/>
              <a:t>hogy</a:t>
            </a:r>
            <a:r>
              <a:rPr lang="en-US" dirty="0"/>
              <a:t> a HTTP API-</a:t>
            </a:r>
            <a:r>
              <a:rPr lang="en-US" dirty="0" err="1"/>
              <a:t>ját</a:t>
            </a:r>
            <a:r>
              <a:rPr lang="en-US" dirty="0"/>
              <a:t> </a:t>
            </a:r>
            <a:r>
              <a:rPr lang="en-US" dirty="0" err="1"/>
              <a:t>megváltoztatta</a:t>
            </a:r>
            <a:r>
              <a:rPr lang="en-US" dirty="0"/>
              <a:t> </a:t>
            </a:r>
            <a:r>
              <a:rPr lang="en-US" dirty="0" err="1"/>
              <a:t>volna</a:t>
            </a:r>
            <a:r>
              <a:rPr lang="en-US" dirty="0"/>
              <a:t>. A </a:t>
            </a:r>
            <a:r>
              <a:rPr lang="en-US" dirty="0" err="1"/>
              <a:t>fő</a:t>
            </a:r>
            <a:r>
              <a:rPr lang="en-US" dirty="0"/>
              <a:t> </a:t>
            </a:r>
            <a:r>
              <a:rPr lang="en-US" dirty="0" err="1"/>
              <a:t>fejlesztés</a:t>
            </a:r>
            <a:r>
              <a:rPr lang="en-US" dirty="0"/>
              <a:t> a </a:t>
            </a:r>
            <a:r>
              <a:rPr lang="en-US" b="1" dirty="0"/>
              <a:t>multiplexing</a:t>
            </a:r>
            <a:r>
              <a:rPr lang="en-US" dirty="0"/>
              <a:t>: </a:t>
            </a:r>
            <a:r>
              <a:rPr lang="en-US" dirty="0" err="1"/>
              <a:t>lehetőség</a:t>
            </a:r>
            <a:r>
              <a:rPr lang="en-US" dirty="0"/>
              <a:t> </a:t>
            </a:r>
            <a:r>
              <a:rPr lang="en-US" dirty="0" err="1"/>
              <a:t>több</a:t>
            </a:r>
            <a:r>
              <a:rPr lang="en-US" dirty="0"/>
              <a:t> </a:t>
            </a:r>
            <a:r>
              <a:rPr lang="en-US" dirty="0" err="1"/>
              <a:t>kérés</a:t>
            </a:r>
            <a:r>
              <a:rPr lang="en-US" dirty="0"/>
              <a:t> és </a:t>
            </a:r>
            <a:r>
              <a:rPr lang="en-US" dirty="0" err="1"/>
              <a:t>válasz</a:t>
            </a:r>
            <a:r>
              <a:rPr lang="en-US" dirty="0"/>
              <a:t> </a:t>
            </a:r>
            <a:r>
              <a:rPr lang="en-US" dirty="0" err="1"/>
              <a:t>párhuzamos</a:t>
            </a:r>
            <a:r>
              <a:rPr lang="en-US" dirty="0"/>
              <a:t> </a:t>
            </a:r>
            <a:r>
              <a:rPr lang="en-US" dirty="0" err="1"/>
              <a:t>küldésére</a:t>
            </a:r>
            <a:r>
              <a:rPr lang="en-US" dirty="0"/>
              <a:t> </a:t>
            </a:r>
            <a:r>
              <a:rPr lang="en-US" dirty="0" err="1"/>
              <a:t>egyetlen</a:t>
            </a:r>
            <a:r>
              <a:rPr lang="en-US" dirty="0"/>
              <a:t> TCP </a:t>
            </a:r>
            <a:r>
              <a:rPr lang="en-US" dirty="0" err="1"/>
              <a:t>kapcsolaton</a:t>
            </a:r>
            <a:r>
              <a:rPr lang="en-US" dirty="0"/>
              <a:t>. Ez </a:t>
            </a:r>
            <a:r>
              <a:rPr lang="en-US" dirty="0" err="1"/>
              <a:t>megszüntette</a:t>
            </a:r>
            <a:r>
              <a:rPr lang="en-US" dirty="0"/>
              <a:t> a domain </a:t>
            </a:r>
            <a:r>
              <a:rPr lang="en-US" dirty="0" err="1"/>
              <a:t>shardingot</a:t>
            </a:r>
            <a:r>
              <a:rPr lang="en-US" dirty="0"/>
              <a:t> és a 6 </a:t>
            </a:r>
            <a:r>
              <a:rPr lang="en-US" dirty="0" err="1"/>
              <a:t>kapcsolat-limitet</a:t>
            </a:r>
            <a:r>
              <a:rPr lang="en-US" dirty="0"/>
              <a:t>. A HTTP/2-t </a:t>
            </a:r>
            <a:r>
              <a:rPr lang="en-US" dirty="0" err="1"/>
              <a:t>úgy</a:t>
            </a:r>
            <a:r>
              <a:rPr lang="en-US" dirty="0"/>
              <a:t> </a:t>
            </a:r>
            <a:r>
              <a:rPr lang="en-US" dirty="0" err="1"/>
              <a:t>tervezték</a:t>
            </a:r>
            <a:r>
              <a:rPr lang="en-US" dirty="0"/>
              <a:t>, </a:t>
            </a:r>
            <a:r>
              <a:rPr lang="en-US" dirty="0" err="1"/>
              <a:t>hogy</a:t>
            </a:r>
            <a:r>
              <a:rPr lang="en-US" dirty="0"/>
              <a:t> a modern web </a:t>
            </a:r>
            <a:r>
              <a:rPr lang="en-US" dirty="0" err="1"/>
              <a:t>gyorsabb</a:t>
            </a:r>
            <a:r>
              <a:rPr lang="en-US" dirty="0"/>
              <a:t> és </a:t>
            </a:r>
            <a:r>
              <a:rPr lang="en-US" dirty="0" err="1"/>
              <a:t>hatékonyabb</a:t>
            </a:r>
            <a:r>
              <a:rPr lang="en-US" dirty="0"/>
              <a:t> </a:t>
            </a:r>
            <a:r>
              <a:rPr lang="en-US" dirty="0" err="1"/>
              <a:t>legyen</a:t>
            </a:r>
            <a:r>
              <a:rPr lang="en-US" dirty="0"/>
              <a:t>.</a:t>
            </a:r>
            <a:r>
              <a:rPr lang="hu-HU" dirty="0"/>
              <a:t> Szöveges protokoll helyett </a:t>
            </a:r>
            <a:r>
              <a:rPr lang="hu-HU" b="1" dirty="0"/>
              <a:t>bináris</a:t>
            </a:r>
            <a:r>
              <a:rPr lang="hu-HU" dirty="0"/>
              <a:t> </a:t>
            </a:r>
            <a:r>
              <a:rPr lang="hu-HU" b="1" dirty="0"/>
              <a:t>protokoll</a:t>
            </a:r>
            <a:r>
              <a:rPr lang="hu-HU" dirty="0"/>
              <a:t>.</a:t>
            </a:r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2D23EBC-67FA-4278-B97C-82D0A52FD2DA}" type="slidenum">
              <a:rPr lang="en-US" smtClean="0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4217640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 HTTP/2 </a:t>
            </a:r>
            <a:r>
              <a:rPr lang="en-US" dirty="0" err="1"/>
              <a:t>nem</a:t>
            </a:r>
            <a:r>
              <a:rPr lang="en-US" dirty="0"/>
              <a:t> </a:t>
            </a:r>
            <a:r>
              <a:rPr lang="en-US" dirty="0" err="1"/>
              <a:t>szöveges</a:t>
            </a:r>
            <a:r>
              <a:rPr lang="en-US" dirty="0"/>
              <a:t>, </a:t>
            </a:r>
            <a:r>
              <a:rPr lang="en-US" dirty="0" err="1"/>
              <a:t>hanem</a:t>
            </a:r>
            <a:r>
              <a:rPr lang="en-US" dirty="0"/>
              <a:t> </a:t>
            </a:r>
            <a:r>
              <a:rPr lang="en-US" b="1" dirty="0" err="1"/>
              <a:t>bináris</a:t>
            </a:r>
            <a:r>
              <a:rPr lang="en-US" dirty="0"/>
              <a:t> </a:t>
            </a:r>
            <a:r>
              <a:rPr lang="en-US" dirty="0" err="1"/>
              <a:t>protokoll</a:t>
            </a:r>
            <a:r>
              <a:rPr lang="en-US" dirty="0"/>
              <a:t>. </a:t>
            </a:r>
            <a:r>
              <a:rPr lang="en-US" dirty="0" err="1"/>
              <a:t>Ennek</a:t>
            </a:r>
            <a:r>
              <a:rPr lang="en-US" dirty="0"/>
              <a:t> </a:t>
            </a:r>
            <a:r>
              <a:rPr lang="en-US" dirty="0" err="1"/>
              <a:t>több</a:t>
            </a:r>
            <a:r>
              <a:rPr lang="en-US" dirty="0"/>
              <a:t> </a:t>
            </a:r>
            <a:r>
              <a:rPr lang="en-US" dirty="0" err="1"/>
              <a:t>előnye</a:t>
            </a:r>
            <a:r>
              <a:rPr lang="en-US" dirty="0"/>
              <a:t> van: a </a:t>
            </a:r>
            <a:r>
              <a:rPr lang="en-US" dirty="0" err="1"/>
              <a:t>szervernek</a:t>
            </a:r>
            <a:r>
              <a:rPr lang="en-US" dirty="0"/>
              <a:t> és a </a:t>
            </a:r>
            <a:r>
              <a:rPr lang="en-US" dirty="0" err="1"/>
              <a:t>böngészőnek</a:t>
            </a:r>
            <a:r>
              <a:rPr lang="en-US" dirty="0"/>
              <a:t> </a:t>
            </a:r>
            <a:r>
              <a:rPr lang="en-US" dirty="0" err="1"/>
              <a:t>kevesebb</a:t>
            </a:r>
            <a:r>
              <a:rPr lang="en-US" dirty="0"/>
              <a:t> </a:t>
            </a:r>
            <a:r>
              <a:rPr lang="en-US" dirty="0" err="1"/>
              <a:t>munkája</a:t>
            </a:r>
            <a:r>
              <a:rPr lang="en-US" dirty="0"/>
              <a:t> van, </a:t>
            </a:r>
            <a:r>
              <a:rPr lang="en-US" dirty="0" err="1"/>
              <a:t>mert</a:t>
            </a:r>
            <a:r>
              <a:rPr lang="en-US" dirty="0"/>
              <a:t> a </a:t>
            </a:r>
            <a:r>
              <a:rPr lang="en-US" dirty="0" err="1"/>
              <a:t>bináris</a:t>
            </a:r>
            <a:r>
              <a:rPr lang="en-US" dirty="0"/>
              <a:t> </a:t>
            </a:r>
            <a:r>
              <a:rPr lang="en-US" dirty="0" err="1"/>
              <a:t>formátum</a:t>
            </a:r>
            <a:r>
              <a:rPr lang="en-US" dirty="0"/>
              <a:t> </a:t>
            </a:r>
            <a:r>
              <a:rPr lang="en-US" dirty="0" err="1"/>
              <a:t>gyorsabban</a:t>
            </a:r>
            <a:r>
              <a:rPr lang="en-US" dirty="0"/>
              <a:t> </a:t>
            </a:r>
            <a:r>
              <a:rPr lang="en-US" dirty="0" err="1"/>
              <a:t>feldolgozható</a:t>
            </a:r>
            <a:r>
              <a:rPr lang="en-US" dirty="0"/>
              <a:t>. A </a:t>
            </a:r>
            <a:r>
              <a:rPr lang="en-US" dirty="0" err="1"/>
              <a:t>kommunikáció</a:t>
            </a:r>
            <a:r>
              <a:rPr lang="en-US" dirty="0"/>
              <a:t> </a:t>
            </a:r>
            <a:r>
              <a:rPr lang="en-US" b="1" dirty="0"/>
              <a:t>stream-</a:t>
            </a:r>
            <a:r>
              <a:rPr lang="en-US" b="1" dirty="0" err="1"/>
              <a:t>alapú</a:t>
            </a:r>
            <a:r>
              <a:rPr lang="en-US" dirty="0"/>
              <a:t>, </a:t>
            </a:r>
            <a:r>
              <a:rPr lang="en-US" dirty="0" err="1"/>
              <a:t>minden</a:t>
            </a:r>
            <a:r>
              <a:rPr lang="en-US" dirty="0"/>
              <a:t> </a:t>
            </a:r>
            <a:r>
              <a:rPr lang="en-US" dirty="0" err="1"/>
              <a:t>kérés</a:t>
            </a:r>
            <a:r>
              <a:rPr lang="en-US" dirty="0"/>
              <a:t> és </a:t>
            </a:r>
            <a:r>
              <a:rPr lang="en-US" dirty="0" err="1"/>
              <a:t>válasz</a:t>
            </a:r>
            <a:r>
              <a:rPr lang="en-US" dirty="0"/>
              <a:t> </a:t>
            </a:r>
            <a:r>
              <a:rPr lang="en-US" dirty="0" err="1"/>
              <a:t>egy</a:t>
            </a:r>
            <a:r>
              <a:rPr lang="en-US" dirty="0"/>
              <a:t> </a:t>
            </a:r>
            <a:r>
              <a:rPr lang="en-US" dirty="0" err="1"/>
              <a:t>külön</a:t>
            </a:r>
            <a:r>
              <a:rPr lang="en-US" dirty="0"/>
              <a:t> stream </a:t>
            </a:r>
            <a:r>
              <a:rPr lang="en-US" dirty="0" err="1"/>
              <a:t>az</a:t>
            </a:r>
            <a:r>
              <a:rPr lang="en-US" dirty="0"/>
              <a:t> </a:t>
            </a:r>
            <a:r>
              <a:rPr lang="en-US" dirty="0" err="1"/>
              <a:t>egyetlen</a:t>
            </a:r>
            <a:r>
              <a:rPr lang="en-US" dirty="0"/>
              <a:t> TCP </a:t>
            </a:r>
            <a:r>
              <a:rPr lang="en-US" dirty="0" err="1"/>
              <a:t>kapcsolat</a:t>
            </a:r>
            <a:r>
              <a:rPr lang="en-US" dirty="0"/>
              <a:t> </a:t>
            </a:r>
            <a:r>
              <a:rPr lang="en-US" dirty="0" err="1"/>
              <a:t>felett</a:t>
            </a:r>
            <a:r>
              <a:rPr lang="en-US" dirty="0"/>
              <a:t>. Ez </a:t>
            </a:r>
            <a:r>
              <a:rPr lang="en-US" dirty="0" err="1"/>
              <a:t>adja</a:t>
            </a:r>
            <a:r>
              <a:rPr lang="en-US" dirty="0"/>
              <a:t> meg a </a:t>
            </a:r>
            <a:r>
              <a:rPr lang="en-US" b="1" dirty="0" err="1"/>
              <a:t>multiplexelés</a:t>
            </a:r>
            <a:r>
              <a:rPr lang="en-US" dirty="0"/>
              <a:t> </a:t>
            </a:r>
            <a:r>
              <a:rPr lang="en-US" dirty="0" err="1"/>
              <a:t>alapját</a:t>
            </a:r>
            <a:r>
              <a:rPr lang="en-US" dirty="0"/>
              <a:t>.</a:t>
            </a:r>
            <a:endParaRPr lang="hu-HU" dirty="0"/>
          </a:p>
          <a:p>
            <a:endParaRPr lang="hu-HU" dirty="0"/>
          </a:p>
          <a:p>
            <a:r>
              <a:rPr lang="hu-HU" dirty="0"/>
              <a:t>A bináris </a:t>
            </a:r>
            <a:r>
              <a:rPr lang="hu-HU" dirty="0" err="1"/>
              <a:t>framing</a:t>
            </a:r>
            <a:r>
              <a:rPr lang="hu-HU" dirty="0"/>
              <a:t> lehetővé teszi a protokoll nagyon hatékony egyértelmű értelmezését és a strukturált adatátvitelt. </a:t>
            </a:r>
            <a:r>
              <a:rPr lang="en-US" dirty="0"/>
              <a:t>A </a:t>
            </a:r>
            <a:r>
              <a:rPr lang="en-US" dirty="0" err="1"/>
              <a:t>protokoll</a:t>
            </a:r>
            <a:r>
              <a:rPr lang="en-US" dirty="0"/>
              <a:t> </a:t>
            </a:r>
            <a:r>
              <a:rPr lang="en-US" dirty="0" err="1"/>
              <a:t>pontosan</a:t>
            </a:r>
            <a:r>
              <a:rPr lang="en-US" dirty="0"/>
              <a:t> </a:t>
            </a:r>
            <a:r>
              <a:rPr lang="en-US" dirty="0" err="1"/>
              <a:t>megmondja</a:t>
            </a:r>
            <a:r>
              <a:rPr lang="en-US" dirty="0"/>
              <a:t>, </a:t>
            </a:r>
            <a:r>
              <a:rPr lang="en-US" dirty="0" err="1"/>
              <a:t>hogyan</a:t>
            </a:r>
            <a:r>
              <a:rPr lang="en-US" dirty="0"/>
              <a:t> </a:t>
            </a:r>
            <a:r>
              <a:rPr lang="en-US" dirty="0" err="1"/>
              <a:t>kell</a:t>
            </a:r>
            <a:r>
              <a:rPr lang="en-US" dirty="0"/>
              <a:t> a </a:t>
            </a:r>
            <a:r>
              <a:rPr lang="en-US" dirty="0" err="1"/>
              <a:t>bájtfolyamot</a:t>
            </a:r>
            <a:r>
              <a:rPr lang="en-US" dirty="0"/>
              <a:t> </a:t>
            </a:r>
            <a:r>
              <a:rPr lang="en-US" b="0" dirty="0" err="1"/>
              <a:t>logikai</a:t>
            </a:r>
            <a:r>
              <a:rPr lang="en-US" b="0" dirty="0"/>
              <a:t> </a:t>
            </a:r>
            <a:r>
              <a:rPr lang="en-US" b="0" dirty="0" err="1"/>
              <a:t>egységekre</a:t>
            </a:r>
            <a:r>
              <a:rPr lang="hu-HU" b="0" dirty="0"/>
              <a:t> (</a:t>
            </a:r>
            <a:r>
              <a:rPr lang="hu-HU" b="0" dirty="0" err="1"/>
              <a:t>frame</a:t>
            </a:r>
            <a:r>
              <a:rPr lang="hu-HU" b="0" dirty="0"/>
              <a:t>)</a:t>
            </a:r>
            <a:r>
              <a:rPr lang="en-US" b="0" dirty="0"/>
              <a:t> </a:t>
            </a:r>
            <a:r>
              <a:rPr lang="en-US" b="0" dirty="0" err="1"/>
              <a:t>feldarabolni</a:t>
            </a:r>
            <a:r>
              <a:rPr lang="en-US" b="0" dirty="0"/>
              <a:t> és </a:t>
            </a:r>
            <a:r>
              <a:rPr lang="en-US" b="0" dirty="0" err="1"/>
              <a:t>feldolgozni</a:t>
            </a:r>
            <a:r>
              <a:rPr lang="en-US" dirty="0"/>
              <a:t>.</a:t>
            </a:r>
            <a:endParaRPr lang="hu-HU" dirty="0"/>
          </a:p>
          <a:p>
            <a:r>
              <a:rPr lang="hu-HU" dirty="0"/>
              <a:t>A kommunikáció '</a:t>
            </a:r>
            <a:r>
              <a:rPr lang="hu-HU" dirty="0" err="1"/>
              <a:t>frames</a:t>
            </a:r>
            <a:r>
              <a:rPr lang="hu-HU" dirty="0"/>
              <a:t>' nevű csomagokra oszlik, és minden kérésnek van egy </a:t>
            </a:r>
            <a:r>
              <a:rPr lang="hu-HU" dirty="0" err="1"/>
              <a:t>stream</a:t>
            </a:r>
            <a:r>
              <a:rPr lang="hu-HU" dirty="0"/>
              <a:t> azonosítója. Egyetlen TCP kapcsolatból így gyakorlatilag egy többcsatornás adatfolyam válik. Mindez lehetővé teszi a </a:t>
            </a:r>
            <a:r>
              <a:rPr lang="hu-HU" b="1" dirty="0"/>
              <a:t>multiplexinget</a:t>
            </a:r>
            <a:r>
              <a:rPr lang="hu-HU" dirty="0"/>
              <a:t>.</a:t>
            </a:r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2D23EBC-67FA-4278-B97C-82D0A52FD2DA}" type="slidenum">
              <a:rPr lang="en-US" smtClean="0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78267598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 </a:t>
            </a:r>
            <a:r>
              <a:rPr lang="en-US" b="1" dirty="0"/>
              <a:t>multiplexing</a:t>
            </a:r>
            <a:r>
              <a:rPr lang="en-US" dirty="0"/>
              <a:t> </a:t>
            </a:r>
            <a:r>
              <a:rPr lang="en-US" dirty="0" err="1"/>
              <a:t>lényege</a:t>
            </a:r>
            <a:r>
              <a:rPr lang="en-US" dirty="0"/>
              <a:t>, </a:t>
            </a:r>
            <a:r>
              <a:rPr lang="en-US" dirty="0" err="1"/>
              <a:t>hogy</a:t>
            </a:r>
            <a:r>
              <a:rPr lang="en-US" dirty="0"/>
              <a:t> </a:t>
            </a:r>
            <a:r>
              <a:rPr lang="en-US" dirty="0" err="1"/>
              <a:t>nem</a:t>
            </a:r>
            <a:r>
              <a:rPr lang="en-US" dirty="0"/>
              <a:t> </a:t>
            </a:r>
            <a:r>
              <a:rPr lang="en-US" dirty="0" err="1"/>
              <a:t>kell</a:t>
            </a:r>
            <a:r>
              <a:rPr lang="en-US" dirty="0"/>
              <a:t> </a:t>
            </a:r>
            <a:r>
              <a:rPr lang="en-US" dirty="0" err="1"/>
              <a:t>megvárni</a:t>
            </a:r>
            <a:r>
              <a:rPr lang="en-US" dirty="0"/>
              <a:t> </a:t>
            </a:r>
            <a:r>
              <a:rPr lang="en-US" dirty="0" err="1"/>
              <a:t>egy</a:t>
            </a:r>
            <a:r>
              <a:rPr lang="en-US" dirty="0"/>
              <a:t> stream </a:t>
            </a:r>
            <a:r>
              <a:rPr lang="en-US" dirty="0" err="1"/>
              <a:t>válaszát</a:t>
            </a:r>
            <a:r>
              <a:rPr lang="en-US" dirty="0"/>
              <a:t> </a:t>
            </a:r>
            <a:r>
              <a:rPr lang="en-US" dirty="0" err="1"/>
              <a:t>ahhoz</a:t>
            </a:r>
            <a:r>
              <a:rPr lang="en-US" dirty="0"/>
              <a:t>, </a:t>
            </a:r>
            <a:r>
              <a:rPr lang="en-US" dirty="0" err="1"/>
              <a:t>hogy</a:t>
            </a:r>
            <a:r>
              <a:rPr lang="en-US" dirty="0"/>
              <a:t> </a:t>
            </a:r>
            <a:r>
              <a:rPr lang="en-US" dirty="0" err="1"/>
              <a:t>egy</a:t>
            </a:r>
            <a:r>
              <a:rPr lang="en-US" dirty="0"/>
              <a:t> </a:t>
            </a:r>
            <a:r>
              <a:rPr lang="en-US" dirty="0" err="1"/>
              <a:t>másik</a:t>
            </a:r>
            <a:r>
              <a:rPr lang="en-US" dirty="0"/>
              <a:t> </a:t>
            </a:r>
            <a:r>
              <a:rPr lang="en-US" dirty="0" err="1"/>
              <a:t>streamben</a:t>
            </a:r>
            <a:r>
              <a:rPr lang="en-US" dirty="0"/>
              <a:t> </a:t>
            </a:r>
            <a:r>
              <a:rPr lang="en-US" dirty="0" err="1"/>
              <a:t>újabb</a:t>
            </a:r>
            <a:r>
              <a:rPr lang="en-US" dirty="0"/>
              <a:t> </a:t>
            </a:r>
            <a:r>
              <a:rPr lang="en-US" dirty="0" err="1"/>
              <a:t>kérést</a:t>
            </a:r>
            <a:r>
              <a:rPr lang="en-US" dirty="0"/>
              <a:t> </a:t>
            </a:r>
            <a:r>
              <a:rPr lang="en-US" dirty="0" err="1"/>
              <a:t>küldjünk</a:t>
            </a:r>
            <a:r>
              <a:rPr lang="en-US" dirty="0"/>
              <a:t>. Ez </a:t>
            </a:r>
            <a:r>
              <a:rPr lang="en-US" dirty="0" err="1"/>
              <a:t>teljesen</a:t>
            </a:r>
            <a:r>
              <a:rPr lang="en-US" dirty="0"/>
              <a:t> </a:t>
            </a:r>
            <a:r>
              <a:rPr lang="en-US" dirty="0" err="1"/>
              <a:t>megszünteti</a:t>
            </a:r>
            <a:r>
              <a:rPr lang="en-US" dirty="0"/>
              <a:t> a HTTP/1.1 head-of-line </a:t>
            </a:r>
            <a:r>
              <a:rPr lang="en-US" dirty="0" err="1"/>
              <a:t>blockingját</a:t>
            </a:r>
            <a:r>
              <a:rPr lang="en-US" dirty="0"/>
              <a:t> a HTTP </a:t>
            </a:r>
            <a:r>
              <a:rPr lang="en-US" dirty="0" err="1"/>
              <a:t>rétegben</a:t>
            </a:r>
            <a:r>
              <a:rPr lang="en-US" dirty="0"/>
              <a:t>. A </a:t>
            </a:r>
            <a:r>
              <a:rPr lang="en-US" dirty="0" err="1"/>
              <a:t>szerver</a:t>
            </a:r>
            <a:r>
              <a:rPr lang="en-US" dirty="0"/>
              <a:t> és a </a:t>
            </a:r>
            <a:r>
              <a:rPr lang="en-US" dirty="0" err="1"/>
              <a:t>kliens</a:t>
            </a:r>
            <a:r>
              <a:rPr lang="en-US" dirty="0"/>
              <a:t> </a:t>
            </a:r>
            <a:r>
              <a:rPr lang="en-US" b="1" dirty="0" err="1"/>
              <a:t>párhuzamosan</a:t>
            </a:r>
            <a:r>
              <a:rPr lang="en-US" b="1" dirty="0"/>
              <a:t> </a:t>
            </a:r>
            <a:r>
              <a:rPr lang="en-US" b="1" dirty="0" err="1"/>
              <a:t>dolgozik</a:t>
            </a:r>
            <a:r>
              <a:rPr lang="en-US" dirty="0"/>
              <a:t>, és </a:t>
            </a:r>
            <a:r>
              <a:rPr lang="en-US" dirty="0" err="1"/>
              <a:t>ez</a:t>
            </a:r>
            <a:r>
              <a:rPr lang="en-US" dirty="0"/>
              <a:t> </a:t>
            </a:r>
            <a:r>
              <a:rPr lang="en-US" dirty="0" err="1"/>
              <a:t>jelentős</a:t>
            </a:r>
            <a:r>
              <a:rPr lang="en-US" dirty="0"/>
              <a:t> </a:t>
            </a:r>
            <a:r>
              <a:rPr lang="en-US" dirty="0" err="1"/>
              <a:t>gyorsulást</a:t>
            </a:r>
            <a:r>
              <a:rPr lang="en-US" dirty="0"/>
              <a:t> </a:t>
            </a:r>
            <a:r>
              <a:rPr lang="en-US" dirty="0" err="1"/>
              <a:t>hoz</a:t>
            </a:r>
            <a:r>
              <a:rPr lang="en-US" dirty="0"/>
              <a:t> a </a:t>
            </a:r>
            <a:r>
              <a:rPr lang="en-US" dirty="0" err="1"/>
              <a:t>valós</a:t>
            </a:r>
            <a:r>
              <a:rPr lang="en-US" dirty="0"/>
              <a:t> </a:t>
            </a:r>
            <a:r>
              <a:rPr lang="en-US" dirty="0" err="1"/>
              <a:t>oldalak</a:t>
            </a:r>
            <a:r>
              <a:rPr lang="en-US" dirty="0"/>
              <a:t> </a:t>
            </a:r>
            <a:r>
              <a:rPr lang="en-US" dirty="0" err="1"/>
              <a:t>betöltésében</a:t>
            </a:r>
            <a:r>
              <a:rPr lang="hu-HU" dirty="0"/>
              <a:t>.</a:t>
            </a:r>
          </a:p>
          <a:p>
            <a:endParaRPr lang="hu-HU" dirty="0"/>
          </a:p>
          <a:p>
            <a:r>
              <a:rPr lang="hu-HU" dirty="0"/>
              <a:t>A multiplexing működését érdemes egy postás hasonlattal elképzelni. HTTP/1.1 esetén úgy működött minden, mintha egy postás csak egy levelet vihetne egyszerre, és nem mehet be a következő utcába, amíg az előző házban nem vették át a levelet. A HTTP/2 ezzel szemben lehetővé teszi, hogy ugyanazon csatornán több 'levélfolyam' menjen, akár egymással párhuzamosan. Megszűnik a </a:t>
            </a:r>
            <a:r>
              <a:rPr lang="hu-HU" dirty="0" err="1"/>
              <a:t>head</a:t>
            </a:r>
            <a:r>
              <a:rPr lang="hu-HU" dirty="0"/>
              <a:t>-of-line </a:t>
            </a:r>
            <a:r>
              <a:rPr lang="hu-HU" dirty="0" err="1"/>
              <a:t>blocking</a:t>
            </a:r>
            <a:r>
              <a:rPr lang="hu-HU" dirty="0"/>
              <a:t> a HTTP szinten, mert egy lassabb kérés nem akadályozza a többit. Ez óriási előrelépés, különösen nagy </a:t>
            </a:r>
            <a:r>
              <a:rPr lang="hu-HU" dirty="0" err="1"/>
              <a:t>késleltetésű</a:t>
            </a:r>
            <a:r>
              <a:rPr lang="hu-HU" dirty="0"/>
              <a:t> hálózatokon, például mobilon.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2D23EBC-67FA-4278-B97C-82D0A52FD2DA}" type="slidenum">
              <a:rPr lang="en-US" smtClean="0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302427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 HTTP </a:t>
            </a:r>
            <a:r>
              <a:rPr lang="en-US" dirty="0" err="1"/>
              <a:t>kérésekben</a:t>
            </a:r>
            <a:r>
              <a:rPr lang="en-US" dirty="0"/>
              <a:t> </a:t>
            </a:r>
            <a:r>
              <a:rPr lang="en-US" dirty="0" err="1"/>
              <a:t>minden</a:t>
            </a:r>
            <a:r>
              <a:rPr lang="en-US" dirty="0"/>
              <a:t> </a:t>
            </a:r>
            <a:r>
              <a:rPr lang="en-US" dirty="0" err="1"/>
              <a:t>egyes</a:t>
            </a:r>
            <a:r>
              <a:rPr lang="en-US" dirty="0"/>
              <a:t> </a:t>
            </a:r>
            <a:r>
              <a:rPr lang="en-US" dirty="0" err="1"/>
              <a:t>hívásnál</a:t>
            </a:r>
            <a:r>
              <a:rPr lang="en-US" dirty="0"/>
              <a:t> </a:t>
            </a:r>
            <a:r>
              <a:rPr lang="en-US" dirty="0" err="1"/>
              <a:t>rengeteg</a:t>
            </a:r>
            <a:r>
              <a:rPr lang="en-US" dirty="0"/>
              <a:t> header </a:t>
            </a:r>
            <a:r>
              <a:rPr lang="en-US" dirty="0" err="1"/>
              <a:t>ismétlődött</a:t>
            </a:r>
            <a:r>
              <a:rPr lang="en-US" dirty="0"/>
              <a:t>: cookie, user-agent, accept </a:t>
            </a:r>
            <a:r>
              <a:rPr lang="en-US" dirty="0" err="1"/>
              <a:t>stb</a:t>
            </a:r>
            <a:r>
              <a:rPr lang="en-US" dirty="0"/>
              <a:t>. A HTTP/2 </a:t>
            </a:r>
            <a:r>
              <a:rPr lang="en-US" dirty="0" err="1"/>
              <a:t>erre</a:t>
            </a:r>
            <a:r>
              <a:rPr lang="en-US" dirty="0"/>
              <a:t> </a:t>
            </a:r>
            <a:r>
              <a:rPr lang="en-US" dirty="0" err="1"/>
              <a:t>vezette</a:t>
            </a:r>
            <a:r>
              <a:rPr lang="en-US" dirty="0"/>
              <a:t> be a HPACK-et. A </a:t>
            </a:r>
            <a:r>
              <a:rPr lang="en-US" dirty="0" err="1"/>
              <a:t>rendszer</a:t>
            </a:r>
            <a:r>
              <a:rPr lang="en-US" dirty="0"/>
              <a:t> </a:t>
            </a:r>
            <a:r>
              <a:rPr lang="en-US" dirty="0" err="1"/>
              <a:t>hasonló</a:t>
            </a:r>
            <a:r>
              <a:rPr lang="en-US" dirty="0"/>
              <a:t> a dictionary </a:t>
            </a:r>
            <a:r>
              <a:rPr lang="en-US" dirty="0" err="1"/>
              <a:t>compressionhöz</a:t>
            </a:r>
            <a:r>
              <a:rPr lang="en-US" dirty="0"/>
              <a:t>: a </a:t>
            </a:r>
            <a:r>
              <a:rPr lang="en-US" dirty="0" err="1"/>
              <a:t>kliens</a:t>
            </a:r>
            <a:r>
              <a:rPr lang="en-US" dirty="0"/>
              <a:t> és a </a:t>
            </a:r>
            <a:r>
              <a:rPr lang="en-US" dirty="0" err="1"/>
              <a:t>szerver</a:t>
            </a:r>
            <a:r>
              <a:rPr lang="en-US" dirty="0"/>
              <a:t> </a:t>
            </a:r>
            <a:r>
              <a:rPr lang="en-US" dirty="0" err="1"/>
              <a:t>fenntart</a:t>
            </a:r>
            <a:r>
              <a:rPr lang="en-US" dirty="0"/>
              <a:t> </a:t>
            </a:r>
            <a:r>
              <a:rPr lang="en-US" dirty="0" err="1"/>
              <a:t>egy</a:t>
            </a:r>
            <a:r>
              <a:rPr lang="en-US" dirty="0"/>
              <a:t> </a:t>
            </a:r>
            <a:r>
              <a:rPr lang="en-US" dirty="0" err="1"/>
              <a:t>közös</a:t>
            </a:r>
            <a:r>
              <a:rPr lang="en-US" dirty="0"/>
              <a:t> </a:t>
            </a:r>
            <a:r>
              <a:rPr lang="en-US" dirty="0" err="1"/>
              <a:t>táblát</a:t>
            </a:r>
            <a:r>
              <a:rPr lang="en-US" dirty="0"/>
              <a:t>, </a:t>
            </a:r>
            <a:r>
              <a:rPr lang="en-US" dirty="0" err="1"/>
              <a:t>amiben</a:t>
            </a:r>
            <a:r>
              <a:rPr lang="en-US" dirty="0"/>
              <a:t> a </a:t>
            </a:r>
            <a:r>
              <a:rPr lang="en-US" dirty="0" err="1"/>
              <a:t>már</a:t>
            </a:r>
            <a:r>
              <a:rPr lang="en-US" dirty="0"/>
              <a:t> </a:t>
            </a:r>
            <a:r>
              <a:rPr lang="en-US" dirty="0" err="1"/>
              <a:t>elküldött</a:t>
            </a:r>
            <a:r>
              <a:rPr lang="en-US" dirty="0"/>
              <a:t> </a:t>
            </a:r>
            <a:r>
              <a:rPr lang="en-US" dirty="0" err="1"/>
              <a:t>headerek</a:t>
            </a:r>
            <a:r>
              <a:rPr lang="en-US" dirty="0"/>
              <a:t> </a:t>
            </a:r>
            <a:r>
              <a:rPr lang="en-US" dirty="0" err="1"/>
              <a:t>kódjai</a:t>
            </a:r>
            <a:r>
              <a:rPr lang="en-US" dirty="0"/>
              <a:t> </a:t>
            </a:r>
            <a:r>
              <a:rPr lang="en-US" dirty="0" err="1"/>
              <a:t>szerepelnek</a:t>
            </a:r>
            <a:r>
              <a:rPr lang="en-US" dirty="0"/>
              <a:t>. Ez </a:t>
            </a:r>
            <a:r>
              <a:rPr lang="en-US" dirty="0" err="1"/>
              <a:t>akár</a:t>
            </a:r>
            <a:r>
              <a:rPr lang="en-US" dirty="0"/>
              <a:t> 80–90%-</a:t>
            </a:r>
            <a:r>
              <a:rPr lang="en-US" dirty="0" err="1"/>
              <a:t>os</a:t>
            </a:r>
            <a:r>
              <a:rPr lang="en-US" dirty="0"/>
              <a:t> </a:t>
            </a:r>
            <a:r>
              <a:rPr lang="en-US" dirty="0" err="1"/>
              <a:t>headerméret-csökkenést</a:t>
            </a:r>
            <a:r>
              <a:rPr lang="en-US" dirty="0"/>
              <a:t> is </a:t>
            </a:r>
            <a:r>
              <a:rPr lang="en-US" dirty="0" err="1"/>
              <a:t>hoz</a:t>
            </a:r>
            <a:r>
              <a:rPr lang="en-US" dirty="0"/>
              <a:t>.</a:t>
            </a:r>
            <a:endParaRPr lang="hu-HU" dirty="0"/>
          </a:p>
          <a:p>
            <a:r>
              <a:rPr lang="en-US" dirty="0"/>
              <a:t>A HPACK </a:t>
            </a:r>
            <a:r>
              <a:rPr lang="en-US" dirty="0" err="1"/>
              <a:t>két</a:t>
            </a:r>
            <a:r>
              <a:rPr lang="en-US" dirty="0"/>
              <a:t> </a:t>
            </a:r>
            <a:r>
              <a:rPr lang="en-US" dirty="0" err="1"/>
              <a:t>mechanizmust</a:t>
            </a:r>
            <a:r>
              <a:rPr lang="en-US" dirty="0"/>
              <a:t> </a:t>
            </a:r>
            <a:r>
              <a:rPr lang="en-US" dirty="0" err="1"/>
              <a:t>használ</a:t>
            </a:r>
            <a:r>
              <a:rPr lang="en-US" dirty="0"/>
              <a:t>:</a:t>
            </a:r>
          </a:p>
          <a:p>
            <a:r>
              <a:rPr lang="en-US" dirty="0"/>
              <a:t>– Egy </a:t>
            </a:r>
            <a:r>
              <a:rPr lang="en-US" dirty="0" err="1"/>
              <a:t>statikus</a:t>
            </a:r>
            <a:r>
              <a:rPr lang="en-US" dirty="0"/>
              <a:t> </a:t>
            </a:r>
            <a:r>
              <a:rPr lang="en-US" dirty="0" err="1"/>
              <a:t>táblázatot</a:t>
            </a:r>
            <a:r>
              <a:rPr lang="en-US" dirty="0"/>
              <a:t>, </a:t>
            </a:r>
            <a:r>
              <a:rPr lang="en-US" dirty="0" err="1"/>
              <a:t>amely</a:t>
            </a:r>
            <a:r>
              <a:rPr lang="en-US" dirty="0"/>
              <a:t> </a:t>
            </a:r>
            <a:r>
              <a:rPr lang="en-US" dirty="0" err="1"/>
              <a:t>ismert</a:t>
            </a:r>
            <a:r>
              <a:rPr lang="en-US" dirty="0"/>
              <a:t>, </a:t>
            </a:r>
            <a:r>
              <a:rPr lang="en-US" dirty="0" err="1"/>
              <a:t>gyakori</a:t>
            </a:r>
            <a:r>
              <a:rPr lang="en-US" dirty="0"/>
              <a:t> </a:t>
            </a:r>
            <a:r>
              <a:rPr lang="en-US" dirty="0" err="1"/>
              <a:t>headereket</a:t>
            </a:r>
            <a:r>
              <a:rPr lang="en-US" dirty="0"/>
              <a:t> </a:t>
            </a:r>
            <a:r>
              <a:rPr lang="en-US" dirty="0" err="1"/>
              <a:t>tartalmaz</a:t>
            </a:r>
            <a:r>
              <a:rPr lang="en-US" dirty="0"/>
              <a:t>,</a:t>
            </a:r>
            <a:br>
              <a:rPr lang="en-US" dirty="0"/>
            </a:br>
            <a:r>
              <a:rPr lang="en-US" dirty="0"/>
              <a:t>– Egy </a:t>
            </a:r>
            <a:r>
              <a:rPr lang="en-US" dirty="0" err="1"/>
              <a:t>dinamikus</a:t>
            </a:r>
            <a:r>
              <a:rPr lang="en-US" dirty="0"/>
              <a:t> </a:t>
            </a:r>
            <a:r>
              <a:rPr lang="en-US" dirty="0" err="1"/>
              <a:t>táblázatot</a:t>
            </a:r>
            <a:r>
              <a:rPr lang="en-US" dirty="0"/>
              <a:t>, </a:t>
            </a:r>
            <a:r>
              <a:rPr lang="en-US" dirty="0" err="1"/>
              <a:t>amely</a:t>
            </a:r>
            <a:r>
              <a:rPr lang="en-US" dirty="0"/>
              <a:t> a </a:t>
            </a:r>
            <a:r>
              <a:rPr lang="en-US" dirty="0" err="1"/>
              <a:t>korábbi</a:t>
            </a:r>
            <a:r>
              <a:rPr lang="en-US" dirty="0"/>
              <a:t> </a:t>
            </a:r>
            <a:r>
              <a:rPr lang="en-US" dirty="0" err="1"/>
              <a:t>headereket</a:t>
            </a:r>
            <a:r>
              <a:rPr lang="en-US" dirty="0"/>
              <a:t> </a:t>
            </a:r>
            <a:r>
              <a:rPr lang="en-US" dirty="0" err="1"/>
              <a:t>eltárolja</a:t>
            </a:r>
            <a:r>
              <a:rPr lang="en-US" dirty="0"/>
              <a:t>, </a:t>
            </a:r>
            <a:r>
              <a:rPr lang="en-US" dirty="0" err="1"/>
              <a:t>így</a:t>
            </a:r>
            <a:r>
              <a:rPr lang="en-US" dirty="0"/>
              <a:t> a </a:t>
            </a:r>
            <a:r>
              <a:rPr lang="en-US" dirty="0" err="1"/>
              <a:t>következő</a:t>
            </a:r>
            <a:r>
              <a:rPr lang="en-US" dirty="0"/>
              <a:t> </a:t>
            </a:r>
            <a:r>
              <a:rPr lang="en-US" dirty="0" err="1"/>
              <a:t>kérésekben</a:t>
            </a:r>
            <a:r>
              <a:rPr lang="en-US" dirty="0"/>
              <a:t> </a:t>
            </a:r>
            <a:r>
              <a:rPr lang="en-US" dirty="0" err="1"/>
              <a:t>már</a:t>
            </a:r>
            <a:r>
              <a:rPr lang="en-US" dirty="0"/>
              <a:t> </a:t>
            </a:r>
            <a:r>
              <a:rPr lang="en-US" dirty="0" err="1"/>
              <a:t>csak</a:t>
            </a:r>
            <a:r>
              <a:rPr lang="en-US" dirty="0"/>
              <a:t> </a:t>
            </a:r>
            <a:r>
              <a:rPr lang="en-US" dirty="0" err="1"/>
              <a:t>hivatkozni</a:t>
            </a:r>
            <a:r>
              <a:rPr lang="en-US" dirty="0"/>
              <a:t> </a:t>
            </a:r>
            <a:r>
              <a:rPr lang="en-US" dirty="0" err="1"/>
              <a:t>kell</a:t>
            </a:r>
            <a:r>
              <a:rPr lang="en-US" dirty="0"/>
              <a:t> </a:t>
            </a:r>
            <a:r>
              <a:rPr lang="en-US" dirty="0" err="1"/>
              <a:t>rájuk</a:t>
            </a:r>
            <a:r>
              <a:rPr lang="en-US" dirty="0"/>
              <a:t>.</a:t>
            </a:r>
          </a:p>
          <a:p>
            <a:r>
              <a:rPr lang="en-US" dirty="0"/>
              <a:t>Ez </a:t>
            </a:r>
            <a:r>
              <a:rPr lang="en-US" dirty="0" err="1"/>
              <a:t>drasztikusan</a:t>
            </a:r>
            <a:r>
              <a:rPr lang="en-US" dirty="0"/>
              <a:t> </a:t>
            </a:r>
            <a:r>
              <a:rPr lang="en-US" dirty="0" err="1"/>
              <a:t>csökkenti</a:t>
            </a:r>
            <a:r>
              <a:rPr lang="en-US" dirty="0"/>
              <a:t> a header </a:t>
            </a:r>
            <a:r>
              <a:rPr lang="en-US" dirty="0" err="1"/>
              <a:t>méretét</a:t>
            </a:r>
            <a:r>
              <a:rPr lang="en-US" dirty="0"/>
              <a:t>. Ez </a:t>
            </a:r>
            <a:r>
              <a:rPr lang="en-US" dirty="0" err="1"/>
              <a:t>különösen</a:t>
            </a:r>
            <a:r>
              <a:rPr lang="en-US" dirty="0"/>
              <a:t> </a:t>
            </a:r>
            <a:r>
              <a:rPr lang="en-US" dirty="0" err="1"/>
              <a:t>mobil</a:t>
            </a:r>
            <a:r>
              <a:rPr lang="en-US" dirty="0"/>
              <a:t> </a:t>
            </a:r>
            <a:r>
              <a:rPr lang="en-US" dirty="0" err="1"/>
              <a:t>hálózatokon</a:t>
            </a:r>
            <a:r>
              <a:rPr lang="en-US" dirty="0"/>
              <a:t> </a:t>
            </a:r>
            <a:r>
              <a:rPr lang="en-US" dirty="0" err="1"/>
              <a:t>hatalmas</a:t>
            </a:r>
            <a:r>
              <a:rPr lang="en-US" dirty="0"/>
              <a:t> </a:t>
            </a:r>
            <a:r>
              <a:rPr lang="en-US" dirty="0" err="1"/>
              <a:t>előny</a:t>
            </a:r>
            <a:r>
              <a:rPr lang="en-US" dirty="0"/>
              <a:t>, </a:t>
            </a:r>
            <a:r>
              <a:rPr lang="en-US" dirty="0" err="1"/>
              <a:t>ahol</a:t>
            </a:r>
            <a:r>
              <a:rPr lang="en-US" dirty="0"/>
              <a:t> </a:t>
            </a:r>
            <a:r>
              <a:rPr lang="en-US" dirty="0" err="1"/>
              <a:t>minden</a:t>
            </a:r>
            <a:r>
              <a:rPr lang="en-US" dirty="0"/>
              <a:t> </a:t>
            </a:r>
            <a:r>
              <a:rPr lang="en-US" dirty="0" err="1"/>
              <a:t>bájt</a:t>
            </a:r>
            <a:r>
              <a:rPr lang="en-US" dirty="0"/>
              <a:t> </a:t>
            </a:r>
            <a:r>
              <a:rPr lang="en-US" dirty="0" err="1"/>
              <a:t>számít</a:t>
            </a:r>
            <a:r>
              <a:rPr lang="en-US" dirty="0"/>
              <a:t>.</a:t>
            </a:r>
          </a:p>
          <a:p>
            <a:endParaRPr lang="hu-HU" dirty="0"/>
          </a:p>
          <a:p>
            <a:r>
              <a:rPr lang="en-US" dirty="0"/>
              <a:t>A </a:t>
            </a:r>
            <a:r>
              <a:rPr lang="en-US" dirty="0" err="1"/>
              <a:t>prioritás</a:t>
            </a:r>
            <a:r>
              <a:rPr lang="en-US" dirty="0"/>
              <a:t> </a:t>
            </a:r>
            <a:r>
              <a:rPr lang="en-US" dirty="0" err="1"/>
              <a:t>lehetővé</a:t>
            </a:r>
            <a:r>
              <a:rPr lang="en-US" dirty="0"/>
              <a:t> </a:t>
            </a:r>
            <a:r>
              <a:rPr lang="en-US" dirty="0" err="1"/>
              <a:t>teszi</a:t>
            </a:r>
            <a:r>
              <a:rPr lang="en-US" dirty="0"/>
              <a:t>, </a:t>
            </a:r>
            <a:r>
              <a:rPr lang="en-US" dirty="0" err="1"/>
              <a:t>hogy</a:t>
            </a:r>
            <a:r>
              <a:rPr lang="en-US" dirty="0"/>
              <a:t> a </a:t>
            </a:r>
            <a:r>
              <a:rPr lang="en-US" dirty="0" err="1"/>
              <a:t>böngésző</a:t>
            </a:r>
            <a:r>
              <a:rPr lang="en-US" dirty="0"/>
              <a:t> </a:t>
            </a:r>
            <a:r>
              <a:rPr lang="en-US" dirty="0" err="1"/>
              <a:t>például</a:t>
            </a:r>
            <a:r>
              <a:rPr lang="en-US" dirty="0"/>
              <a:t> </a:t>
            </a:r>
            <a:r>
              <a:rPr lang="en-US" dirty="0" err="1"/>
              <a:t>azt</a:t>
            </a:r>
            <a:r>
              <a:rPr lang="en-US" dirty="0"/>
              <a:t> </a:t>
            </a:r>
            <a:r>
              <a:rPr lang="en-US" dirty="0" err="1"/>
              <a:t>mondja</a:t>
            </a:r>
            <a:r>
              <a:rPr lang="en-US" dirty="0"/>
              <a:t>: </a:t>
            </a:r>
            <a:r>
              <a:rPr lang="en-US" i="1" dirty="0"/>
              <a:t>a </a:t>
            </a:r>
            <a:r>
              <a:rPr lang="en-US" i="1" dirty="0" err="1"/>
              <a:t>fő</a:t>
            </a:r>
            <a:r>
              <a:rPr lang="en-US" i="1" dirty="0"/>
              <a:t> CSS és JS </a:t>
            </a:r>
            <a:r>
              <a:rPr lang="en-US" i="1" dirty="0" err="1"/>
              <a:t>fájl</a:t>
            </a:r>
            <a:r>
              <a:rPr lang="en-US" i="1" dirty="0"/>
              <a:t> </a:t>
            </a:r>
            <a:r>
              <a:rPr lang="en-US" i="1" dirty="0" err="1"/>
              <a:t>sokkal</a:t>
            </a:r>
            <a:r>
              <a:rPr lang="en-US" i="1" dirty="0"/>
              <a:t> </a:t>
            </a:r>
            <a:r>
              <a:rPr lang="en-US" i="1" dirty="0" err="1"/>
              <a:t>fontosabb</a:t>
            </a:r>
            <a:r>
              <a:rPr lang="en-US" i="1" dirty="0"/>
              <a:t>, mint a footer </a:t>
            </a:r>
            <a:r>
              <a:rPr lang="en-US" i="1" dirty="0" err="1"/>
              <a:t>ikonja</a:t>
            </a:r>
            <a:r>
              <a:rPr lang="en-US" dirty="0"/>
              <a:t>. A </a:t>
            </a:r>
            <a:r>
              <a:rPr lang="en-US" dirty="0" err="1"/>
              <a:t>szerver</a:t>
            </a:r>
            <a:r>
              <a:rPr lang="en-US" dirty="0"/>
              <a:t> </a:t>
            </a:r>
            <a:r>
              <a:rPr lang="en-US" dirty="0" err="1"/>
              <a:t>ez</a:t>
            </a:r>
            <a:r>
              <a:rPr lang="en-US" dirty="0"/>
              <a:t> </a:t>
            </a:r>
            <a:r>
              <a:rPr lang="en-US" dirty="0" err="1"/>
              <a:t>alapján</a:t>
            </a:r>
            <a:r>
              <a:rPr lang="en-US" dirty="0"/>
              <a:t> </a:t>
            </a:r>
            <a:r>
              <a:rPr lang="en-US" dirty="0" err="1"/>
              <a:t>optimalizálja</a:t>
            </a:r>
            <a:r>
              <a:rPr lang="en-US" dirty="0"/>
              <a:t> a </a:t>
            </a:r>
            <a:r>
              <a:rPr lang="en-US" dirty="0" err="1"/>
              <a:t>küldést</a:t>
            </a:r>
            <a:r>
              <a:rPr lang="en-US" dirty="0"/>
              <a:t>.</a:t>
            </a:r>
            <a:endParaRPr lang="hu-HU" dirty="0"/>
          </a:p>
          <a:p>
            <a:endParaRPr lang="hu-HU" dirty="0"/>
          </a:p>
          <a:p>
            <a:r>
              <a:rPr lang="hu-HU" dirty="0"/>
              <a:t>A HTTP/2 egyik újdonsága volt az úgynevezett server </a:t>
            </a:r>
            <a:r>
              <a:rPr lang="hu-HU" dirty="0" err="1"/>
              <a:t>push</a:t>
            </a:r>
            <a:r>
              <a:rPr lang="hu-HU" dirty="0"/>
              <a:t>, ahol a szerver előre elküldhetett olyan erőforrásokat, amiket a böngésző még nem kért, de biztosan szüksége lesz rájuk. Ez hasznosnak tűnt, de nehéz volt jól konfigurálni. Végül a böngészők elkezdték kivezetni, mert több problémát okozott mint amennyit segített. Ettől még jó példa arra, hogy a HTTP/2 szeretett volna okosabb lenni, mint a HTTP/1.1.</a:t>
            </a:r>
          </a:p>
          <a:p>
            <a:endParaRPr lang="hu-HU" dirty="0"/>
          </a:p>
          <a:p>
            <a:r>
              <a:rPr lang="hu-HU" dirty="0"/>
              <a:t>Megjegyzés: A Google GRPC protokollja HHTP/2 felett működik, ami erősen épít a Server </a:t>
            </a:r>
            <a:r>
              <a:rPr lang="hu-HU" dirty="0" err="1"/>
              <a:t>Push</a:t>
            </a:r>
            <a:r>
              <a:rPr lang="hu-HU" dirty="0"/>
              <a:t> funkcióra. Sőt a HTTP/2 képes </a:t>
            </a:r>
            <a:r>
              <a:rPr lang="hu-HU" dirty="0" err="1"/>
              <a:t>Client</a:t>
            </a:r>
            <a:r>
              <a:rPr lang="hu-HU" dirty="0"/>
              <a:t> </a:t>
            </a:r>
            <a:r>
              <a:rPr lang="hu-HU" dirty="0" err="1"/>
              <a:t>Push</a:t>
            </a:r>
            <a:r>
              <a:rPr lang="hu-HU" dirty="0"/>
              <a:t> működésre, akár egyszerre mind a </a:t>
            </a:r>
            <a:r>
              <a:rPr lang="hu-HU" dirty="0" err="1"/>
              <a:t>Client</a:t>
            </a:r>
            <a:r>
              <a:rPr lang="hu-HU" dirty="0"/>
              <a:t> és Server </a:t>
            </a:r>
            <a:r>
              <a:rPr lang="hu-HU" dirty="0" err="1"/>
              <a:t>Push-ra</a:t>
            </a:r>
            <a:r>
              <a:rPr lang="hu-HU" dirty="0"/>
              <a:t>.</a:t>
            </a:r>
          </a:p>
          <a:p>
            <a:endParaRPr lang="hu-HU" dirty="0"/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2D23EBC-67FA-4278-B97C-82D0A52FD2DA}" type="slidenum">
              <a:rPr lang="en-US" smtClean="0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28668994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hu-HU" dirty="0"/>
              <a:t>Fontos megérteni, hogy bár a HTTP/2 sokat javított a működésen, a TCP továbbra is szűk keresztmetszet maradt. A TCP protokoll jellemzője az egyetlen byte-</a:t>
            </a:r>
            <a:r>
              <a:rPr lang="hu-HU" dirty="0" err="1"/>
              <a:t>stream</a:t>
            </a:r>
            <a:r>
              <a:rPr lang="hu-HU" dirty="0"/>
              <a:t> és a globális szintű sorrendhelyes átvitel. Ha TCP szinten elveszik egy csomag, a teljes kapcsolat megakad egy időre. Ez azt jelenti, hogy hiába van sok </a:t>
            </a:r>
            <a:r>
              <a:rPr lang="hu-HU" dirty="0" err="1"/>
              <a:t>streamünk</a:t>
            </a:r>
            <a:r>
              <a:rPr lang="hu-HU" dirty="0"/>
              <a:t> a HTTP/2-ben, a TCP miatt még mindig előfordulhat olyan </a:t>
            </a:r>
            <a:r>
              <a:rPr lang="hu-HU" dirty="0" err="1"/>
              <a:t>head</a:t>
            </a:r>
            <a:r>
              <a:rPr lang="hu-HU" dirty="0"/>
              <a:t>-of-line </a:t>
            </a:r>
            <a:r>
              <a:rPr lang="hu-HU" dirty="0" err="1"/>
              <a:t>blocking</a:t>
            </a:r>
            <a:r>
              <a:rPr lang="hu-HU" dirty="0"/>
              <a:t>, amit már nem lehet kijavítani.</a:t>
            </a:r>
          </a:p>
          <a:p>
            <a:endParaRPr lang="hu-HU" dirty="0"/>
          </a:p>
          <a:p>
            <a:r>
              <a:rPr lang="hu-HU" dirty="0"/>
              <a:t>A HTTP/2 nagy újítása a multiplexing, de egy dolgot nem tudott megoldani: továbbra is TCP felett működött. Ha TCP szinten elveszik egy csomag, minden </a:t>
            </a:r>
            <a:r>
              <a:rPr lang="hu-HU" dirty="0" err="1"/>
              <a:t>stream</a:t>
            </a:r>
            <a:r>
              <a:rPr lang="hu-HU" dirty="0"/>
              <a:t> megáll vagy lassul, amíg az </a:t>
            </a:r>
            <a:r>
              <a:rPr lang="hu-HU" dirty="0" err="1"/>
              <a:t>újraküldés</a:t>
            </a:r>
            <a:r>
              <a:rPr lang="hu-HU" dirty="0"/>
              <a:t> meg nem történik. Ez különösen mobil vagy Wifi hálózatokon nagy probléma. Ez az egyik fő ok, ami miatt hamar felmerült egy új generáció igénye — a HTTP/3.</a:t>
            </a:r>
          </a:p>
          <a:p>
            <a:endParaRPr lang="hu-HU" dirty="0"/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2D23EBC-67FA-4278-B97C-82D0A52FD2DA}" type="slidenum">
              <a:rPr lang="en-US" smtClean="0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83793743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hu-HU" dirty="0"/>
              <a:t>A QUIC-</a:t>
            </a:r>
            <a:r>
              <a:rPr lang="hu-HU" dirty="0" err="1"/>
              <a:t>et</a:t>
            </a:r>
            <a:r>
              <a:rPr lang="hu-HU" dirty="0"/>
              <a:t> eredetileg a Google fejlesztette ki, majd IETF standard lett. A legfontosabb különbség, hogy UDP felett működik, nem TCP felett. A QUIC gyakorlatilag </a:t>
            </a:r>
            <a:r>
              <a:rPr lang="hu-HU" dirty="0" err="1"/>
              <a:t>újraimplementálja</a:t>
            </a:r>
            <a:r>
              <a:rPr lang="hu-HU" dirty="0"/>
              <a:t> a TCP legjobb tulajdonságait (megbízható szállítás, sorrendkezelés), de </a:t>
            </a:r>
            <a:r>
              <a:rPr lang="hu-HU" dirty="0" err="1"/>
              <a:t>stream</a:t>
            </a:r>
            <a:r>
              <a:rPr lang="hu-HU" dirty="0"/>
              <a:t>-alapú formában. És mindez alapból titkosítottan történik, tehát nincs külön TLS </a:t>
            </a:r>
            <a:r>
              <a:rPr lang="hu-HU" dirty="0" err="1"/>
              <a:t>handshake</a:t>
            </a:r>
            <a:r>
              <a:rPr lang="hu-HU" dirty="0"/>
              <a:t>.</a:t>
            </a:r>
          </a:p>
          <a:p>
            <a:endParaRPr lang="hu-HU" dirty="0"/>
          </a:p>
          <a:p>
            <a:r>
              <a:rPr lang="hu-HU" dirty="0"/>
              <a:t>A HTTP/3 alapprotokollja a QUIC, egy teljesen új szintű technológia, amely már nem a TCP-re, hanem az UDP-re épül. Az UDP lehetővé tette, hogy a Google és később az IETF saját ‘mini-</a:t>
            </a:r>
            <a:r>
              <a:rPr lang="hu-HU" dirty="0" err="1"/>
              <a:t>transport</a:t>
            </a:r>
            <a:r>
              <a:rPr lang="hu-HU" dirty="0"/>
              <a:t> protokollt’ építsen föléje.</a:t>
            </a:r>
          </a:p>
          <a:p>
            <a:r>
              <a:rPr lang="hu-HU" dirty="0"/>
              <a:t>A QUIC nemcsak a HTTP/2 új verziója, hanem egy új </a:t>
            </a:r>
            <a:r>
              <a:rPr lang="hu-HU" dirty="0" err="1"/>
              <a:t>transport</a:t>
            </a:r>
            <a:r>
              <a:rPr lang="hu-HU" dirty="0"/>
              <a:t> protokoll: saját torlódásvezérléssel, saját titkosítással, saját </a:t>
            </a:r>
            <a:r>
              <a:rPr lang="hu-HU" dirty="0" err="1"/>
              <a:t>stream</a:t>
            </a:r>
            <a:r>
              <a:rPr lang="hu-HU" dirty="0"/>
              <a:t> kezelésével.</a:t>
            </a:r>
          </a:p>
          <a:p>
            <a:r>
              <a:rPr lang="hu-HU" dirty="0"/>
              <a:t>Mivel </a:t>
            </a:r>
            <a:r>
              <a:rPr lang="hu-HU" dirty="0" err="1"/>
              <a:t>user</a:t>
            </a:r>
            <a:r>
              <a:rPr lang="hu-HU" dirty="0"/>
              <a:t>-</a:t>
            </a:r>
            <a:r>
              <a:rPr lang="hu-HU" dirty="0" err="1"/>
              <a:t>space</a:t>
            </a:r>
            <a:r>
              <a:rPr lang="hu-HU" dirty="0"/>
              <a:t>-ben fut, sokkal gyorsabban fejleszthető, mint a kernelbe épített TCP. Ez volt a legnagyobb áttörés a HTTP történetében a 90-es évek óta.</a:t>
            </a:r>
          </a:p>
          <a:p>
            <a:endParaRPr lang="hu-HU" dirty="0"/>
          </a:p>
          <a:p>
            <a:r>
              <a:rPr lang="en-US" dirty="0"/>
              <a:t>HTTP/3 a QUIC stream </a:t>
            </a:r>
            <a:r>
              <a:rPr lang="en-US" dirty="0" err="1"/>
              <a:t>modelljét</a:t>
            </a:r>
            <a:r>
              <a:rPr lang="en-US" dirty="0"/>
              <a:t> </a:t>
            </a:r>
            <a:r>
              <a:rPr lang="en-US" dirty="0" err="1"/>
              <a:t>használja</a:t>
            </a:r>
            <a:r>
              <a:rPr lang="en-US" dirty="0"/>
              <a:t>, </a:t>
            </a:r>
            <a:r>
              <a:rPr lang="en-US" dirty="0" err="1"/>
              <a:t>ahol</a:t>
            </a:r>
            <a:r>
              <a:rPr lang="en-US" dirty="0"/>
              <a:t> </a:t>
            </a:r>
            <a:r>
              <a:rPr lang="en-US" dirty="0" err="1"/>
              <a:t>minden</a:t>
            </a:r>
            <a:r>
              <a:rPr lang="en-US" dirty="0"/>
              <a:t> </a:t>
            </a:r>
            <a:r>
              <a:rPr lang="en-US" dirty="0" err="1"/>
              <a:t>logikai</a:t>
            </a:r>
            <a:r>
              <a:rPr lang="en-US" dirty="0"/>
              <a:t> </a:t>
            </a:r>
            <a:r>
              <a:rPr lang="en-US" dirty="0" err="1"/>
              <a:t>adatfolyam</a:t>
            </a:r>
            <a:r>
              <a:rPr lang="en-US" dirty="0"/>
              <a:t> </a:t>
            </a:r>
            <a:r>
              <a:rPr lang="en-US" dirty="0" err="1"/>
              <a:t>saját</a:t>
            </a:r>
            <a:r>
              <a:rPr lang="en-US" dirty="0"/>
              <a:t> </a:t>
            </a:r>
            <a:r>
              <a:rPr lang="en-US" dirty="0" err="1"/>
              <a:t>sorrenddel</a:t>
            </a:r>
            <a:r>
              <a:rPr lang="en-US" dirty="0"/>
              <a:t> és </a:t>
            </a:r>
            <a:r>
              <a:rPr lang="en-US" dirty="0" err="1"/>
              <a:t>újraküldéssel</a:t>
            </a:r>
            <a:r>
              <a:rPr lang="en-US" dirty="0"/>
              <a:t> </a:t>
            </a:r>
            <a:r>
              <a:rPr lang="en-US" dirty="0" err="1"/>
              <a:t>rendelkezik</a:t>
            </a:r>
            <a:r>
              <a:rPr lang="en-US" dirty="0"/>
              <a:t>, </a:t>
            </a:r>
            <a:r>
              <a:rPr lang="en-US" dirty="0" err="1"/>
              <a:t>így</a:t>
            </a:r>
            <a:r>
              <a:rPr lang="en-US" dirty="0"/>
              <a:t> </a:t>
            </a:r>
            <a:r>
              <a:rPr lang="en-US" dirty="0" err="1"/>
              <a:t>egy</a:t>
            </a:r>
            <a:r>
              <a:rPr lang="en-US" dirty="0"/>
              <a:t> stream </a:t>
            </a:r>
            <a:r>
              <a:rPr lang="en-US" dirty="0" err="1"/>
              <a:t>csomagvesztése</a:t>
            </a:r>
            <a:r>
              <a:rPr lang="en-US" dirty="0"/>
              <a:t> </a:t>
            </a:r>
            <a:r>
              <a:rPr lang="en-US" dirty="0" err="1"/>
              <a:t>nem</a:t>
            </a:r>
            <a:r>
              <a:rPr lang="en-US" dirty="0"/>
              <a:t> </a:t>
            </a:r>
            <a:r>
              <a:rPr lang="en-US" dirty="0" err="1"/>
              <a:t>blokkolja</a:t>
            </a:r>
            <a:r>
              <a:rPr lang="en-US" dirty="0"/>
              <a:t> a </a:t>
            </a:r>
            <a:r>
              <a:rPr lang="en-US" dirty="0" err="1"/>
              <a:t>többit</a:t>
            </a:r>
            <a:r>
              <a:rPr lang="en-US" dirty="0"/>
              <a:t>.</a:t>
            </a:r>
            <a:r>
              <a:rPr lang="hu-HU" dirty="0"/>
              <a:t> A HOL </a:t>
            </a:r>
            <a:r>
              <a:rPr lang="hu-HU" dirty="0" err="1"/>
              <a:t>blocking</a:t>
            </a:r>
            <a:r>
              <a:rPr lang="hu-HU" dirty="0"/>
              <a:t> megszűnik, mert nincs többé egyetlen globális byte-</a:t>
            </a:r>
            <a:r>
              <a:rPr lang="hu-HU" dirty="0" err="1"/>
              <a:t>stream</a:t>
            </a:r>
            <a:r>
              <a:rPr lang="hu-HU" dirty="0"/>
              <a:t>.</a:t>
            </a:r>
          </a:p>
          <a:p>
            <a:endParaRPr lang="hu-HU" dirty="0"/>
          </a:p>
          <a:p>
            <a:r>
              <a:rPr lang="en-US" dirty="0"/>
              <a:t>A QUIC </a:t>
            </a:r>
            <a:r>
              <a:rPr lang="en-US" dirty="0" err="1"/>
              <a:t>egyik</a:t>
            </a:r>
            <a:r>
              <a:rPr lang="en-US" dirty="0"/>
              <a:t> </a:t>
            </a:r>
            <a:r>
              <a:rPr lang="en-US" dirty="0" err="1"/>
              <a:t>legnagyobb</a:t>
            </a:r>
            <a:r>
              <a:rPr lang="en-US" dirty="0"/>
              <a:t> </a:t>
            </a:r>
            <a:r>
              <a:rPr lang="en-US" dirty="0" err="1"/>
              <a:t>előnye</a:t>
            </a:r>
            <a:r>
              <a:rPr lang="en-US" dirty="0"/>
              <a:t>, </a:t>
            </a:r>
            <a:r>
              <a:rPr lang="en-US" dirty="0" err="1"/>
              <a:t>hogy</a:t>
            </a:r>
            <a:r>
              <a:rPr lang="en-US" dirty="0"/>
              <a:t> a </a:t>
            </a:r>
            <a:r>
              <a:rPr lang="en-US" dirty="0" err="1"/>
              <a:t>titkosítás</a:t>
            </a:r>
            <a:r>
              <a:rPr lang="en-US" dirty="0"/>
              <a:t> </a:t>
            </a:r>
            <a:r>
              <a:rPr lang="en-US" dirty="0" err="1"/>
              <a:t>része</a:t>
            </a:r>
            <a:r>
              <a:rPr lang="en-US" dirty="0"/>
              <a:t> a </a:t>
            </a:r>
            <a:r>
              <a:rPr lang="en-US" dirty="0" err="1"/>
              <a:t>protokollnak</a:t>
            </a:r>
            <a:r>
              <a:rPr lang="en-US" dirty="0"/>
              <a:t>. </a:t>
            </a:r>
            <a:r>
              <a:rPr lang="en-US" dirty="0" err="1"/>
              <a:t>Nincs</a:t>
            </a:r>
            <a:r>
              <a:rPr lang="en-US" dirty="0"/>
              <a:t> </a:t>
            </a:r>
            <a:r>
              <a:rPr lang="en-US" dirty="0" err="1"/>
              <a:t>külön</a:t>
            </a:r>
            <a:r>
              <a:rPr lang="en-US" dirty="0"/>
              <a:t> TCP handshake + TLS handshake</a:t>
            </a:r>
            <a:r>
              <a:rPr lang="hu-HU" dirty="0"/>
              <a:t> mint a HTTP/1.1 és HTTP/2 esetén</a:t>
            </a:r>
            <a:r>
              <a:rPr lang="en-US" dirty="0"/>
              <a:t>. A QUIC </a:t>
            </a:r>
            <a:r>
              <a:rPr lang="en-US" dirty="0" err="1"/>
              <a:t>ezt</a:t>
            </a:r>
            <a:r>
              <a:rPr lang="en-US" dirty="0"/>
              <a:t> </a:t>
            </a:r>
            <a:r>
              <a:rPr lang="en-US" dirty="0" err="1"/>
              <a:t>összevonja</a:t>
            </a:r>
            <a:r>
              <a:rPr lang="en-US" dirty="0"/>
              <a:t>, </a:t>
            </a:r>
            <a:r>
              <a:rPr lang="en-US" dirty="0" err="1"/>
              <a:t>így</a:t>
            </a:r>
            <a:r>
              <a:rPr lang="en-US" dirty="0"/>
              <a:t> </a:t>
            </a:r>
            <a:r>
              <a:rPr lang="en-US" dirty="0" err="1"/>
              <a:t>sokkal</a:t>
            </a:r>
            <a:r>
              <a:rPr lang="en-US" dirty="0"/>
              <a:t> </a:t>
            </a:r>
            <a:r>
              <a:rPr lang="en-US" dirty="0" err="1"/>
              <a:t>kevesebb</a:t>
            </a:r>
            <a:r>
              <a:rPr lang="en-US" dirty="0"/>
              <a:t> round-trip </a:t>
            </a:r>
            <a:r>
              <a:rPr lang="en-US" dirty="0" err="1"/>
              <a:t>szükséges</a:t>
            </a:r>
            <a:r>
              <a:rPr lang="en-US" dirty="0"/>
              <a:t> </a:t>
            </a:r>
            <a:r>
              <a:rPr lang="en-US" dirty="0" err="1"/>
              <a:t>egy</a:t>
            </a:r>
            <a:r>
              <a:rPr lang="en-US" dirty="0"/>
              <a:t> </a:t>
            </a:r>
            <a:r>
              <a:rPr lang="en-US" dirty="0" err="1"/>
              <a:t>kapcsolat</a:t>
            </a:r>
            <a:r>
              <a:rPr lang="hu-HU" dirty="0"/>
              <a:t> </a:t>
            </a:r>
            <a:r>
              <a:rPr lang="en-US" dirty="0" err="1"/>
              <a:t>felépítéséhez</a:t>
            </a:r>
            <a:r>
              <a:rPr lang="hu-HU" dirty="0"/>
              <a:t>.</a:t>
            </a:r>
          </a:p>
          <a:p>
            <a:endParaRPr lang="hu-HU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2D23EBC-67FA-4278-B97C-82D0A52FD2DA}" type="slidenum">
              <a:rPr lang="en-US" smtClean="0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53512074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QUIC-ben </a:t>
            </a:r>
            <a:r>
              <a:rPr lang="en-US" dirty="0" err="1"/>
              <a:t>minden</a:t>
            </a:r>
            <a:r>
              <a:rPr lang="en-US" dirty="0"/>
              <a:t> stream </a:t>
            </a:r>
            <a:r>
              <a:rPr lang="en-US" dirty="0" err="1"/>
              <a:t>teljesen</a:t>
            </a:r>
            <a:r>
              <a:rPr lang="en-US" dirty="0"/>
              <a:t> </a:t>
            </a:r>
            <a:r>
              <a:rPr lang="en-US" dirty="0" err="1"/>
              <a:t>független</a:t>
            </a:r>
            <a:r>
              <a:rPr lang="en-US" dirty="0"/>
              <a:t> </a:t>
            </a:r>
            <a:r>
              <a:rPr lang="en-US" dirty="0" err="1"/>
              <a:t>egymástól</a:t>
            </a:r>
            <a:r>
              <a:rPr lang="en-US" dirty="0"/>
              <a:t>. Ha </a:t>
            </a:r>
            <a:r>
              <a:rPr lang="en-US" dirty="0" err="1"/>
              <a:t>az</a:t>
            </a:r>
            <a:r>
              <a:rPr lang="en-US" dirty="0"/>
              <a:t> </a:t>
            </a:r>
            <a:r>
              <a:rPr lang="en-US" dirty="0" err="1"/>
              <a:t>egyik</a:t>
            </a:r>
            <a:r>
              <a:rPr lang="en-US" dirty="0"/>
              <a:t> stream </a:t>
            </a:r>
            <a:r>
              <a:rPr lang="en-US" dirty="0" err="1"/>
              <a:t>csomagja</a:t>
            </a:r>
            <a:r>
              <a:rPr lang="en-US" dirty="0"/>
              <a:t> </a:t>
            </a:r>
            <a:r>
              <a:rPr lang="en-US" dirty="0" err="1"/>
              <a:t>elveszik</a:t>
            </a:r>
            <a:r>
              <a:rPr lang="en-US" dirty="0"/>
              <a:t>, </a:t>
            </a:r>
            <a:r>
              <a:rPr lang="en-US" dirty="0" err="1"/>
              <a:t>az</a:t>
            </a:r>
            <a:r>
              <a:rPr lang="en-US" dirty="0"/>
              <a:t> </a:t>
            </a:r>
            <a:r>
              <a:rPr lang="en-US" b="1" dirty="0" err="1"/>
              <a:t>nem</a:t>
            </a:r>
            <a:r>
              <a:rPr lang="en-US" dirty="0"/>
              <a:t> </a:t>
            </a:r>
            <a:r>
              <a:rPr lang="en-US" dirty="0" err="1"/>
              <a:t>akadályozza</a:t>
            </a:r>
            <a:r>
              <a:rPr lang="en-US" dirty="0"/>
              <a:t> a </a:t>
            </a:r>
            <a:r>
              <a:rPr lang="en-US" dirty="0" err="1"/>
              <a:t>többit</a:t>
            </a:r>
            <a:r>
              <a:rPr lang="en-US" dirty="0"/>
              <a:t> — </a:t>
            </a:r>
            <a:r>
              <a:rPr lang="en-US" dirty="0" err="1"/>
              <a:t>szemben</a:t>
            </a:r>
            <a:r>
              <a:rPr lang="en-US" dirty="0"/>
              <a:t> a HTTP/2 </a:t>
            </a:r>
            <a:r>
              <a:rPr lang="en-US" dirty="0" err="1"/>
              <a:t>fölötti</a:t>
            </a:r>
            <a:r>
              <a:rPr lang="en-US" dirty="0"/>
              <a:t> TCP-vel.</a:t>
            </a:r>
          </a:p>
          <a:p>
            <a:r>
              <a:rPr lang="en-US" dirty="0"/>
              <a:t>Ez </a:t>
            </a:r>
            <a:r>
              <a:rPr lang="en-US" dirty="0" err="1"/>
              <a:t>azt</a:t>
            </a:r>
            <a:r>
              <a:rPr lang="en-US" dirty="0"/>
              <a:t> </a:t>
            </a:r>
            <a:r>
              <a:rPr lang="en-US" dirty="0" err="1"/>
              <a:t>jelenti</a:t>
            </a:r>
            <a:r>
              <a:rPr lang="en-US" dirty="0"/>
              <a:t>, </a:t>
            </a:r>
            <a:r>
              <a:rPr lang="en-US" dirty="0" err="1"/>
              <a:t>hogy</a:t>
            </a:r>
            <a:r>
              <a:rPr lang="en-US" dirty="0"/>
              <a:t> a QUIC </a:t>
            </a:r>
            <a:r>
              <a:rPr lang="en-US" dirty="0" err="1"/>
              <a:t>valódi</a:t>
            </a:r>
            <a:r>
              <a:rPr lang="en-US" dirty="0"/>
              <a:t> </a:t>
            </a:r>
            <a:r>
              <a:rPr lang="en-US" dirty="0" err="1"/>
              <a:t>multiplexinget</a:t>
            </a:r>
            <a:r>
              <a:rPr lang="en-US" dirty="0"/>
              <a:t> </a:t>
            </a:r>
            <a:r>
              <a:rPr lang="en-US" dirty="0" err="1"/>
              <a:t>nyújt</a:t>
            </a:r>
            <a:r>
              <a:rPr lang="en-US" dirty="0"/>
              <a:t>. A </a:t>
            </a:r>
            <a:r>
              <a:rPr lang="en-US" dirty="0" err="1"/>
              <a:t>weboldalak</a:t>
            </a:r>
            <a:r>
              <a:rPr lang="en-US" dirty="0"/>
              <a:t> </a:t>
            </a:r>
            <a:r>
              <a:rPr lang="en-US" dirty="0" err="1"/>
              <a:t>gyorsabban</a:t>
            </a:r>
            <a:r>
              <a:rPr lang="en-US" dirty="0"/>
              <a:t> </a:t>
            </a:r>
            <a:r>
              <a:rPr lang="en-US" dirty="0" err="1"/>
              <a:t>töltődnek</a:t>
            </a:r>
            <a:r>
              <a:rPr lang="en-US" dirty="0"/>
              <a:t>, </a:t>
            </a:r>
            <a:r>
              <a:rPr lang="en-US" dirty="0" err="1"/>
              <a:t>még</a:t>
            </a:r>
            <a:r>
              <a:rPr lang="en-US" dirty="0"/>
              <a:t> </a:t>
            </a:r>
            <a:r>
              <a:rPr lang="en-US" dirty="0" err="1"/>
              <a:t>mobilon</a:t>
            </a:r>
            <a:r>
              <a:rPr lang="en-US" dirty="0"/>
              <a:t>, </a:t>
            </a:r>
            <a:r>
              <a:rPr lang="en-US" dirty="0" err="1"/>
              <a:t>instabil</a:t>
            </a:r>
            <a:r>
              <a:rPr lang="en-US" dirty="0"/>
              <a:t> </a:t>
            </a:r>
            <a:r>
              <a:rPr lang="en-US" dirty="0" err="1"/>
              <a:t>hálózaton</a:t>
            </a:r>
            <a:r>
              <a:rPr lang="en-US" dirty="0"/>
              <a:t> is</a:t>
            </a:r>
          </a:p>
          <a:p>
            <a:endParaRPr lang="hu-HU" dirty="0"/>
          </a:p>
          <a:p>
            <a:r>
              <a:rPr lang="hu-HU" dirty="0"/>
              <a:t>A HTTP/3 valójában nagyon hasonlít a HTTP/2-höz: bináris </a:t>
            </a:r>
            <a:r>
              <a:rPr lang="hu-HU" dirty="0" err="1"/>
              <a:t>framing</a:t>
            </a:r>
            <a:r>
              <a:rPr lang="hu-HU" dirty="0"/>
              <a:t>, multiplexing, </a:t>
            </a:r>
            <a:r>
              <a:rPr lang="hu-HU" dirty="0" err="1"/>
              <a:t>header</a:t>
            </a:r>
            <a:r>
              <a:rPr lang="hu-HU" dirty="0"/>
              <a:t> </a:t>
            </a:r>
            <a:r>
              <a:rPr lang="hu-HU" dirty="0" err="1"/>
              <a:t>compression</a:t>
            </a:r>
            <a:r>
              <a:rPr lang="hu-HU" dirty="0"/>
              <a:t>. A hatalmas különbség az, hogy a QUIC </a:t>
            </a:r>
            <a:r>
              <a:rPr lang="hu-HU" dirty="0" err="1"/>
              <a:t>streamjei</a:t>
            </a:r>
            <a:r>
              <a:rPr lang="hu-HU" dirty="0"/>
              <a:t> teljesen függetlenek egymástól. Ha egy </a:t>
            </a:r>
            <a:r>
              <a:rPr lang="hu-HU" dirty="0" err="1"/>
              <a:t>stream</a:t>
            </a:r>
            <a:r>
              <a:rPr lang="hu-HU" dirty="0"/>
              <a:t> csomagja elveszik, csak az a </a:t>
            </a:r>
            <a:r>
              <a:rPr lang="hu-HU" dirty="0" err="1"/>
              <a:t>stream</a:t>
            </a:r>
            <a:r>
              <a:rPr lang="hu-HU" dirty="0"/>
              <a:t> lassul, a többi nem. Ezzel a </a:t>
            </a:r>
            <a:r>
              <a:rPr lang="hu-HU" dirty="0" err="1"/>
              <a:t>head</a:t>
            </a:r>
            <a:r>
              <a:rPr lang="hu-HU" dirty="0"/>
              <a:t>-of-line </a:t>
            </a:r>
            <a:r>
              <a:rPr lang="hu-HU" dirty="0" err="1"/>
              <a:t>blocking</a:t>
            </a:r>
            <a:r>
              <a:rPr lang="hu-HU" dirty="0"/>
              <a:t> végleg megszűnik.</a:t>
            </a:r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2D23EBC-67FA-4278-B97C-82D0A52FD2DA}" type="slidenum">
              <a:rPr lang="en-US" smtClean="0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77966366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 err="1"/>
              <a:t>Nincs</a:t>
            </a:r>
            <a:r>
              <a:rPr lang="en-US" dirty="0"/>
              <a:t> </a:t>
            </a:r>
            <a:r>
              <a:rPr lang="en-US" dirty="0" err="1"/>
              <a:t>külön</a:t>
            </a:r>
            <a:r>
              <a:rPr lang="en-US" dirty="0"/>
              <a:t> TCP handshake és </a:t>
            </a:r>
            <a:r>
              <a:rPr lang="en-US" dirty="0" err="1"/>
              <a:t>nincs</a:t>
            </a:r>
            <a:r>
              <a:rPr lang="en-US" dirty="0"/>
              <a:t> </a:t>
            </a:r>
            <a:r>
              <a:rPr lang="en-US" dirty="0" err="1"/>
              <a:t>külön</a:t>
            </a:r>
            <a:r>
              <a:rPr lang="en-US" dirty="0"/>
              <a:t> TLS handshake. </a:t>
            </a:r>
            <a:r>
              <a:rPr lang="en-US" dirty="0" err="1"/>
              <a:t>További</a:t>
            </a:r>
            <a:r>
              <a:rPr lang="en-US" dirty="0"/>
              <a:t> </a:t>
            </a:r>
            <a:r>
              <a:rPr lang="en-US" dirty="0" err="1"/>
              <a:t>előny</a:t>
            </a:r>
            <a:r>
              <a:rPr lang="en-US" dirty="0"/>
              <a:t>, </a:t>
            </a:r>
            <a:r>
              <a:rPr lang="en-US" dirty="0" err="1"/>
              <a:t>hogy</a:t>
            </a:r>
            <a:r>
              <a:rPr lang="en-US" dirty="0"/>
              <a:t> a QUIC </a:t>
            </a:r>
            <a:r>
              <a:rPr lang="en-US" dirty="0" err="1"/>
              <a:t>kapcsolat</a:t>
            </a:r>
            <a:r>
              <a:rPr lang="en-US" dirty="0"/>
              <a:t> </a:t>
            </a:r>
            <a:r>
              <a:rPr lang="en-US" dirty="0" err="1"/>
              <a:t>képes</a:t>
            </a:r>
            <a:r>
              <a:rPr lang="en-US" dirty="0"/>
              <a:t> </a:t>
            </a:r>
            <a:r>
              <a:rPr lang="en-US" dirty="0" err="1"/>
              <a:t>túlélni</a:t>
            </a:r>
            <a:r>
              <a:rPr lang="en-US" dirty="0"/>
              <a:t> </a:t>
            </a:r>
            <a:r>
              <a:rPr lang="en-US" dirty="0" err="1"/>
              <a:t>az</a:t>
            </a:r>
            <a:r>
              <a:rPr lang="en-US" dirty="0"/>
              <a:t> IP </a:t>
            </a:r>
            <a:r>
              <a:rPr lang="en-US" dirty="0" err="1"/>
              <a:t>cím</a:t>
            </a:r>
            <a:r>
              <a:rPr lang="en-US" dirty="0"/>
              <a:t> </a:t>
            </a:r>
            <a:r>
              <a:rPr lang="en-US" dirty="0" err="1"/>
              <a:t>változását</a:t>
            </a:r>
            <a:r>
              <a:rPr lang="en-US" dirty="0"/>
              <a:t>, </a:t>
            </a:r>
            <a:r>
              <a:rPr lang="en-US" dirty="0" err="1"/>
              <a:t>például</a:t>
            </a:r>
            <a:r>
              <a:rPr lang="en-US" dirty="0"/>
              <a:t> ha </a:t>
            </a:r>
            <a:r>
              <a:rPr lang="en-US" dirty="0" err="1"/>
              <a:t>Wifi-ről</a:t>
            </a:r>
            <a:r>
              <a:rPr lang="en-US" dirty="0"/>
              <a:t> </a:t>
            </a:r>
            <a:r>
              <a:rPr lang="en-US" dirty="0" err="1"/>
              <a:t>mobilnetre</a:t>
            </a:r>
            <a:r>
              <a:rPr lang="en-US" dirty="0"/>
              <a:t> </a:t>
            </a:r>
            <a:r>
              <a:rPr lang="en-US" dirty="0" err="1"/>
              <a:t>váltunk</a:t>
            </a:r>
            <a:r>
              <a:rPr lang="en-US" dirty="0"/>
              <a:t>.</a:t>
            </a:r>
            <a:endParaRPr lang="hu-HU" dirty="0"/>
          </a:p>
          <a:p>
            <a:r>
              <a:rPr lang="hu-HU" dirty="0"/>
              <a:t>A HTTP/3 elsősorban mobil hálózatokra készült – ott érződik a legnagyobb előnye. Mivel minden </a:t>
            </a:r>
            <a:r>
              <a:rPr lang="hu-HU" dirty="0" err="1"/>
              <a:t>stream</a:t>
            </a:r>
            <a:r>
              <a:rPr lang="hu-HU" dirty="0"/>
              <a:t> független, csomagvesztés esetén is folyamatos marad az adatátvitel. A NAT-barát működés miatt sokkal stabilabb a kapcsolat mobil eszközökön, ahol gyakori a hálózatváltás és az IP-változás.</a:t>
            </a:r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2D23EBC-67FA-4278-B97C-82D0A52FD2DA}" type="slidenum">
              <a:rPr lang="en-US" smtClean="0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46442018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hu-HU" dirty="0"/>
              <a:t>Ez az összefoglaló táblázat mutatja legjobban a három protokoll közötti különbséget. A HTTP/1.1 még TCP-s, egyetlen csatornán dolgozik, blokkol és sok erőforrást fogyaszt. A HTTP/2 már egy sokkal modernebb protokoll, de a TCP szintű problémákat nem oldja meg. A HTTP/3 és a QUIC viszont teljesen új alapokra helyezi az egész rendszert, ami a következő években várhatóan a web többségében szabványossá válik.</a:t>
            </a:r>
          </a:p>
          <a:p>
            <a:endParaRPr lang="hu-HU" dirty="0"/>
          </a:p>
          <a:p>
            <a:r>
              <a:rPr lang="en-US" dirty="0"/>
              <a:t>A </a:t>
            </a:r>
            <a:r>
              <a:rPr lang="en-US" dirty="0" err="1"/>
              <a:t>gyakorlatban</a:t>
            </a:r>
            <a:r>
              <a:rPr lang="en-US" dirty="0"/>
              <a:t> a HTTP/2 és a HTTP/3 </a:t>
            </a:r>
            <a:r>
              <a:rPr lang="en-US" dirty="0" err="1"/>
              <a:t>közti</a:t>
            </a:r>
            <a:r>
              <a:rPr lang="en-US" dirty="0"/>
              <a:t> </a:t>
            </a:r>
            <a:r>
              <a:rPr lang="en-US" dirty="0" err="1"/>
              <a:t>különbség</a:t>
            </a:r>
            <a:r>
              <a:rPr lang="en-US" dirty="0"/>
              <a:t> </a:t>
            </a:r>
            <a:r>
              <a:rPr lang="en-US" dirty="0" err="1"/>
              <a:t>nem</a:t>
            </a:r>
            <a:r>
              <a:rPr lang="en-US" dirty="0"/>
              <a:t> </a:t>
            </a:r>
            <a:r>
              <a:rPr lang="en-US" dirty="0" err="1"/>
              <a:t>minden</a:t>
            </a:r>
            <a:r>
              <a:rPr lang="en-US" dirty="0"/>
              <a:t> </a:t>
            </a:r>
            <a:r>
              <a:rPr lang="en-US" dirty="0" err="1"/>
              <a:t>esetben</a:t>
            </a:r>
            <a:r>
              <a:rPr lang="en-US" dirty="0"/>
              <a:t> </a:t>
            </a:r>
            <a:r>
              <a:rPr lang="en-US" dirty="0" err="1"/>
              <a:t>látványos</a:t>
            </a:r>
            <a:r>
              <a:rPr lang="en-US" dirty="0"/>
              <a:t>, de </a:t>
            </a:r>
            <a:r>
              <a:rPr lang="en-US" dirty="0" err="1"/>
              <a:t>instabil</a:t>
            </a:r>
            <a:r>
              <a:rPr lang="en-US" dirty="0"/>
              <a:t> </a:t>
            </a:r>
            <a:r>
              <a:rPr lang="en-US" dirty="0" err="1"/>
              <a:t>hálózatokon</a:t>
            </a:r>
            <a:r>
              <a:rPr lang="en-US" dirty="0"/>
              <a:t> — </a:t>
            </a:r>
            <a:r>
              <a:rPr lang="en-US" dirty="0" err="1"/>
              <a:t>mobil</a:t>
            </a:r>
            <a:r>
              <a:rPr lang="en-US" dirty="0"/>
              <a:t>, </a:t>
            </a:r>
            <a:r>
              <a:rPr lang="en-US" dirty="0" err="1"/>
              <a:t>wifi</a:t>
            </a:r>
            <a:r>
              <a:rPr lang="en-US" dirty="0"/>
              <a:t> — a HTTP/3 </a:t>
            </a:r>
            <a:r>
              <a:rPr lang="en-US" dirty="0" err="1"/>
              <a:t>jelentős</a:t>
            </a:r>
            <a:r>
              <a:rPr lang="en-US" dirty="0"/>
              <a:t> </a:t>
            </a:r>
            <a:r>
              <a:rPr lang="en-US" dirty="0" err="1"/>
              <a:t>előnyt</a:t>
            </a:r>
            <a:r>
              <a:rPr lang="en-US" dirty="0"/>
              <a:t> </a:t>
            </a:r>
            <a:r>
              <a:rPr lang="en-US" dirty="0" err="1"/>
              <a:t>mutat</a:t>
            </a:r>
            <a:r>
              <a:rPr lang="en-US" dirty="0"/>
              <a:t>.</a:t>
            </a:r>
            <a:endParaRPr lang="hu-HU" dirty="0"/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2D23EBC-67FA-4278-B97C-82D0A52FD2DA}" type="slidenum">
              <a:rPr lang="en-US" smtClean="0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7328985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hu-HU" dirty="0"/>
              <a:t>A HTTP/3 ma már egyre elterjedtebb a nagy szolgáltatók között. A Google, a YouTube, a Facebook, a </a:t>
            </a:r>
            <a:r>
              <a:rPr lang="hu-HU" dirty="0" err="1"/>
              <a:t>Cloudflare</a:t>
            </a:r>
            <a:r>
              <a:rPr lang="hu-HU" dirty="0"/>
              <a:t> teljes mértékben támogatja. A nagy böngészők szintén. </a:t>
            </a:r>
          </a:p>
          <a:p>
            <a:r>
              <a:rPr lang="hu-HU" dirty="0"/>
              <a:t>A HTTP/3 azonban lassabban terjed el, mert új infrastruktúra, új tűzfal-, NAT- és proxy beállításokat igényel.</a:t>
            </a:r>
          </a:p>
          <a:p>
            <a:r>
              <a:rPr lang="hu-HU" dirty="0"/>
              <a:t>De a trend egyértelmű: a web forgalmának egy része már most HTTP/3-on zajlik, és ez folyamatosan nő.</a:t>
            </a:r>
          </a:p>
          <a:p>
            <a:r>
              <a:rPr lang="en-US" dirty="0"/>
              <a:t>A </a:t>
            </a:r>
            <a:r>
              <a:rPr lang="en-US" dirty="0" err="1"/>
              <a:t>böngészők</a:t>
            </a:r>
            <a:r>
              <a:rPr lang="en-US" dirty="0"/>
              <a:t> </a:t>
            </a:r>
            <a:r>
              <a:rPr lang="en-US" dirty="0" err="1"/>
              <a:t>többsége</a:t>
            </a:r>
            <a:r>
              <a:rPr lang="en-US" dirty="0"/>
              <a:t> </a:t>
            </a:r>
            <a:r>
              <a:rPr lang="en-US" dirty="0" err="1"/>
              <a:t>már</a:t>
            </a:r>
            <a:r>
              <a:rPr lang="en-US" dirty="0"/>
              <a:t> </a:t>
            </a:r>
            <a:r>
              <a:rPr lang="en-US" dirty="0" err="1"/>
              <a:t>teljesen</a:t>
            </a:r>
            <a:r>
              <a:rPr lang="en-US" dirty="0"/>
              <a:t> </a:t>
            </a:r>
            <a:r>
              <a:rPr lang="en-US" dirty="0" err="1"/>
              <a:t>támogatja</a:t>
            </a:r>
            <a:r>
              <a:rPr lang="en-US" dirty="0"/>
              <a:t> a HTTP/3-at. Safari </a:t>
            </a:r>
            <a:r>
              <a:rPr lang="en-US" dirty="0" err="1"/>
              <a:t>néha</a:t>
            </a:r>
            <a:r>
              <a:rPr lang="en-US" dirty="0"/>
              <a:t> </a:t>
            </a:r>
            <a:r>
              <a:rPr lang="en-US" dirty="0" err="1"/>
              <a:t>lemaradásban</a:t>
            </a:r>
            <a:r>
              <a:rPr lang="en-US" dirty="0"/>
              <a:t> van, de </a:t>
            </a:r>
            <a:r>
              <a:rPr lang="en-US" dirty="0" err="1"/>
              <a:t>már</a:t>
            </a:r>
            <a:r>
              <a:rPr lang="en-US" dirty="0"/>
              <a:t> </a:t>
            </a:r>
            <a:r>
              <a:rPr lang="en-US" dirty="0" err="1"/>
              <a:t>ott</a:t>
            </a:r>
            <a:r>
              <a:rPr lang="en-US" dirty="0"/>
              <a:t> is </a:t>
            </a:r>
            <a:r>
              <a:rPr lang="en-US" dirty="0" err="1"/>
              <a:t>bekapcsolták</a:t>
            </a:r>
            <a:r>
              <a:rPr lang="en-US" dirty="0"/>
              <a:t>. A HTTP/3 </a:t>
            </a:r>
            <a:r>
              <a:rPr lang="en-US" dirty="0" err="1"/>
              <a:t>tehát</a:t>
            </a:r>
            <a:r>
              <a:rPr lang="en-US" dirty="0"/>
              <a:t> </a:t>
            </a:r>
            <a:r>
              <a:rPr lang="en-US" dirty="0" err="1"/>
              <a:t>már</a:t>
            </a:r>
            <a:r>
              <a:rPr lang="en-US" dirty="0"/>
              <a:t> </a:t>
            </a:r>
            <a:r>
              <a:rPr lang="en-US" dirty="0" err="1"/>
              <a:t>nem</a:t>
            </a:r>
            <a:r>
              <a:rPr lang="en-US" dirty="0"/>
              <a:t> a </a:t>
            </a:r>
            <a:r>
              <a:rPr lang="en-US" dirty="0" err="1"/>
              <a:t>jövő</a:t>
            </a:r>
            <a:r>
              <a:rPr lang="en-US" dirty="0"/>
              <a:t>, </a:t>
            </a:r>
            <a:r>
              <a:rPr lang="en-US" dirty="0" err="1"/>
              <a:t>hanem</a:t>
            </a:r>
            <a:r>
              <a:rPr lang="en-US" dirty="0"/>
              <a:t> a </a:t>
            </a:r>
            <a:r>
              <a:rPr lang="en-US" dirty="0" err="1"/>
              <a:t>jelen</a:t>
            </a:r>
            <a:r>
              <a:rPr lang="en-US" dirty="0"/>
              <a:t>.</a:t>
            </a:r>
            <a:endParaRPr lang="hu-HU" dirty="0"/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2D23EBC-67FA-4278-B97C-82D0A52FD2DA}" type="slidenum">
              <a:rPr lang="en-US" smtClean="0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58546730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hu-HU" dirty="0"/>
              <a:t>Ezzel lezárjuk az áttekintést. Remélhetőleg mostanra tisztán látható, milyen fejlődés vezetett a HTTP/1.1-től a HTTP/2-n át a HTTP/3-ig. A HTTP/3 nemcsak egy új protokoll, hanem egy új gondolkodásmód is: megmutatta, hogy a </a:t>
            </a:r>
            <a:r>
              <a:rPr lang="hu-HU" dirty="0" err="1"/>
              <a:t>transport</a:t>
            </a:r>
            <a:r>
              <a:rPr lang="hu-HU" dirty="0"/>
              <a:t> réteghez is hozzá lehet nyúlni, és nem kell örökre a TCP korlátait elfogadni.</a:t>
            </a:r>
          </a:p>
          <a:p>
            <a:r>
              <a:rPr lang="hu-HU" dirty="0"/>
              <a:t>A három generáció közötti különbségek nem csak technikai részletek, hanem közvetlen hatással vannak arra, hogy az internet mennyire gyorsnak érződik. A HTTP/3 a jelenleg legfejlettebb protokoll a webes kommunikációban, és ahogy egyre több szolgáltatás áll át rá, a felhasználók számára a web gyorsabbnak és megbízhatóbbnak fog tűnni.</a:t>
            </a:r>
          </a:p>
          <a:p>
            <a:endParaRPr lang="hu-HU" dirty="0"/>
          </a:p>
          <a:p>
            <a:r>
              <a:rPr lang="hu-HU"/>
              <a:t>Megjegyzés: A </a:t>
            </a:r>
            <a:r>
              <a:rPr lang="hu-HU" dirty="0"/>
              <a:t>HTTP/1.1 protokollt még mindig sok helyen használják, ez is mutatja, hogy 2 évtizedes működése során mennyire elterjedt és a hátrányai ellenére sok helyen megfelelően és megbízhatóan használható.</a:t>
            </a:r>
          </a:p>
          <a:p>
            <a:endParaRPr lang="hu-HU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2D23EBC-67FA-4278-B97C-82D0A52FD2DA}" type="slidenum">
              <a:rPr lang="en-US" smtClean="0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20765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Freeform: Shape 6">
            <a:extLst>
              <a:ext uri="{FF2B5EF4-FFF2-40B4-BE49-F238E27FC236}">
                <a16:creationId xmlns:a16="http://schemas.microsoft.com/office/drawing/2014/main" id="{EA67E988-5919-57BB-C7DE-D3EAD38A304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517870" y="6209925"/>
            <a:ext cx="11155680" cy="45719"/>
          </a:xfrm>
          <a:custGeom>
            <a:avLst/>
            <a:gdLst>
              <a:gd name="connsiteX0" fmla="*/ 0 w 8715708"/>
              <a:gd name="connsiteY0" fmla="*/ 0 h 45719"/>
              <a:gd name="connsiteX1" fmla="*/ 3694525 w 8715708"/>
              <a:gd name="connsiteY1" fmla="*/ 0 h 45719"/>
              <a:gd name="connsiteX2" fmla="*/ 5021183 w 8715708"/>
              <a:gd name="connsiteY2" fmla="*/ 0 h 45719"/>
              <a:gd name="connsiteX3" fmla="*/ 8715708 w 8715708"/>
              <a:gd name="connsiteY3" fmla="*/ 0 h 45719"/>
              <a:gd name="connsiteX4" fmla="*/ 8715708 w 8715708"/>
              <a:gd name="connsiteY4" fmla="*/ 45719 h 45719"/>
              <a:gd name="connsiteX5" fmla="*/ 5021183 w 8715708"/>
              <a:gd name="connsiteY5" fmla="*/ 45719 h 45719"/>
              <a:gd name="connsiteX6" fmla="*/ 3694525 w 8715708"/>
              <a:gd name="connsiteY6" fmla="*/ 45719 h 45719"/>
              <a:gd name="connsiteX7" fmla="*/ 0 w 8715708"/>
              <a:gd name="connsiteY7" fmla="*/ 45719 h 4571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</a:cxnLst>
            <a:rect l="l" t="t" r="r" b="b"/>
            <a:pathLst>
              <a:path w="8715708" h="45719">
                <a:moveTo>
                  <a:pt x="0" y="0"/>
                </a:moveTo>
                <a:lnTo>
                  <a:pt x="3694525" y="0"/>
                </a:lnTo>
                <a:lnTo>
                  <a:pt x="5021183" y="0"/>
                </a:lnTo>
                <a:lnTo>
                  <a:pt x="8715708" y="0"/>
                </a:lnTo>
                <a:lnTo>
                  <a:pt x="8715708" y="45719"/>
                </a:lnTo>
                <a:lnTo>
                  <a:pt x="5021183" y="45719"/>
                </a:lnTo>
                <a:lnTo>
                  <a:pt x="3694525" y="45719"/>
                </a:lnTo>
                <a:lnTo>
                  <a:pt x="0" y="45719"/>
                </a:lnTo>
                <a:close/>
              </a:path>
            </a:pathLst>
          </a:cu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5B2327B2-BA4B-2C04-0751-5CB63D4AA425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521208" y="978408"/>
            <a:ext cx="11155680" cy="3429000"/>
          </a:xfrm>
        </p:spPr>
        <p:txBody>
          <a:bodyPr anchor="t">
            <a:normAutofit/>
          </a:bodyPr>
          <a:lstStyle>
            <a:lvl1pPr algn="l">
              <a:defRPr sz="72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E7201176-DC7A-4C3D-3D8F-352526DA7B5D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521208" y="4480560"/>
            <a:ext cx="7104888" cy="1399032"/>
          </a:xfrm>
        </p:spPr>
        <p:txBody>
          <a:bodyPr anchor="b">
            <a:normAutofit/>
          </a:bodyPr>
          <a:lstStyle>
            <a:lvl1pPr marL="0" indent="0" algn="l">
              <a:buNone/>
              <a:defRPr sz="2200" i="1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C67DC221-9A2E-7459-102F-C3CFB27CC38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80C50CD-E178-4744-9B35-B2F624D6C5E9}" type="datetimeFigureOut">
              <a:rPr lang="en-US" smtClean="0"/>
              <a:t>2/10/2026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A5020671-6F7D-3A03-EEC1-661A87F96F4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F2453D3A-E0F9-8386-2A6C-96671FBB15A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48CC95F-0247-41B6-91CF-DC97C76A708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5222107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FA26D03-149A-DAB3-4B2A-E9B74F2E251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3C1E73D-41A7-9934-0990-9208B952329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F8BB2A3F-E719-673C-5D56-F663712D0E7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80C50CD-E178-4744-9B35-B2F624D6C5E9}" type="datetimeFigureOut">
              <a:rPr lang="en-US" smtClean="0"/>
              <a:t>2/10/2026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04AE594A-52F5-D85E-343C-ADFEE3C72E0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207D5C9C-B2E2-FC26-E459-9E880EF975B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48CC95F-0247-41B6-91CF-DC97C76A708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6524901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029D51F-B2D5-2804-4F7C-C99850FBD05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21208" y="978408"/>
            <a:ext cx="5020056" cy="4288536"/>
          </a:xfrm>
        </p:spPr>
        <p:txBody>
          <a:bodyPr anchor="t">
            <a:normAutofit/>
          </a:bodyPr>
          <a:lstStyle>
            <a:lvl1pPr>
              <a:defRPr sz="5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15FE5516-03B6-C488-EB4A-68AE681EDFB8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521208" y="5266944"/>
            <a:ext cx="5020056" cy="1088136"/>
          </a:xfrm>
        </p:spPr>
        <p:txBody>
          <a:bodyPr anchor="b">
            <a:normAutofit/>
          </a:bodyPr>
          <a:lstStyle>
            <a:lvl1pPr marL="0" indent="0">
              <a:buNone/>
              <a:defRPr sz="2200" i="1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50ECB4D7-49A7-D050-70B9-11A1E2D445D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80C50CD-E178-4744-9B35-B2F624D6C5E9}" type="datetimeFigureOut">
              <a:rPr lang="en-US" smtClean="0"/>
              <a:t>2/10/2026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8A9A913F-AD00-C1EE-B01A-8590671C014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314FC386-B2AF-6FAD-D053-E22D48CD728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48CC95F-0247-41B6-91CF-DC97C76A7088}" type="slidenum">
              <a:rPr lang="en-US" smtClean="0"/>
              <a:t>‹#›</a:t>
            </a:fld>
            <a:endParaRPr lang="en-US"/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4E1E1B67-3BFF-F04B-52F4-7E724FB3B24D}"/>
              </a:ext>
            </a:extLst>
          </p:cNvPr>
          <p:cNvSpPr/>
          <p:nvPr/>
        </p:nvSpPr>
        <p:spPr>
          <a:xfrm>
            <a:off x="517870" y="508090"/>
            <a:ext cx="5021183" cy="149279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24466914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3CE3B21-CF4D-1B01-0F4E-D32C1B218B6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FB39FF2-6858-B514-B695-58442557D0C1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521208" y="2578608"/>
            <a:ext cx="5166360" cy="376732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8FA30130-974D-B91D-5B93-EC52AABDB5B0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519672" y="2578608"/>
            <a:ext cx="5166360" cy="376732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515BED99-6FD7-9C6B-1152-A6E42715BB7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80C50CD-E178-4744-9B35-B2F624D6C5E9}" type="datetimeFigureOut">
              <a:rPr lang="en-US" smtClean="0"/>
              <a:t>2/10/2026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BA253AAC-5967-2565-A715-82D3505ABF0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A4B51313-69FB-E016-3CC1-62CA476ED21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48CC95F-0247-41B6-91CF-DC97C76A708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1328916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8B3DF9D-B849-CE37-97E4-AD37F880677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21208" y="978408"/>
            <a:ext cx="11164824" cy="1216152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79D4C626-4008-960A-E601-6AA9F4BB8D8B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521208" y="2340864"/>
            <a:ext cx="5166360" cy="658368"/>
          </a:xfrm>
        </p:spPr>
        <p:txBody>
          <a:bodyPr anchor="b">
            <a:normAutofit/>
          </a:bodyPr>
          <a:lstStyle>
            <a:lvl1pPr marL="0" indent="0">
              <a:buNone/>
              <a:defRPr sz="2200" b="0" i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806E8D6C-AC07-ED6B-2EA8-9C40A5AEA748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521208" y="3035808"/>
            <a:ext cx="5166360" cy="3310128"/>
          </a:xfrm>
        </p:spPr>
        <p:txBody>
          <a:bodyPr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3C52617E-C6D9-246B-E7B7-8159DF17C0A3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519672" y="2340864"/>
            <a:ext cx="5166360" cy="658368"/>
          </a:xfrm>
        </p:spPr>
        <p:txBody>
          <a:bodyPr anchor="b">
            <a:normAutofit/>
          </a:bodyPr>
          <a:lstStyle>
            <a:lvl1pPr marL="0" indent="0">
              <a:buNone/>
              <a:defRPr sz="2200" b="0" i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3DBC2094-7EBC-02C5-5AB5-233E63080A9C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519672" y="3035808"/>
            <a:ext cx="5166360" cy="3310128"/>
          </a:xfrm>
        </p:spPr>
        <p:txBody>
          <a:bodyPr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23010BD2-59B4-FD2E-3C5E-C83AE600398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80C50CD-E178-4744-9B35-B2F624D6C5E9}" type="datetimeFigureOut">
              <a:rPr lang="en-US" smtClean="0"/>
              <a:t>2/10/2026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E72B35C4-A654-7759-BDA0-94D9D1A2166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F55F4347-2EC0-CA6E-2637-8048456D7EC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48CC95F-0247-41B6-91CF-DC97C76A708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47986535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734716D-52F2-C7FB-83B1-2DA1AD375EA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56F4A371-AC27-6A28-32E6-74A28371BF5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80C50CD-E178-4744-9B35-B2F624D6C5E9}" type="datetimeFigureOut">
              <a:rPr lang="en-US" smtClean="0"/>
              <a:t>2/10/2026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D155941A-A24E-885D-E894-0326F4C4004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99D5E5B4-971F-FF6A-1B07-A5C85370552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48CC95F-0247-41B6-91CF-DC97C76A708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08721478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199F431F-E6DC-4137-3092-A30A0A3628E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80C50CD-E178-4744-9B35-B2F624D6C5E9}" type="datetimeFigureOut">
              <a:rPr lang="en-US" smtClean="0"/>
              <a:t>2/10/2026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06AC814B-67B4-C70F-FA51-6205D5E2CB8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91EAA9C9-D895-DD20-1089-EA75EA42895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48CC95F-0247-41B6-91CF-DC97C76A708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66426185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BB50562-884C-9053-70C1-3B72A0B45EA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21208" y="978408"/>
            <a:ext cx="5020056" cy="2459736"/>
          </a:xfrm>
        </p:spPr>
        <p:txBody>
          <a:bodyPr anchor="t">
            <a:noAutofit/>
          </a:bodyPr>
          <a:lstStyle>
            <a:lvl1pPr>
              <a:defRPr sz="4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318F509-68F0-39D5-1A8B-CE246715AE4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519672" y="987424"/>
            <a:ext cx="5166360" cy="5358384"/>
          </a:xfrm>
        </p:spPr>
        <p:txBody>
          <a:bodyPr>
            <a:normAutofit/>
          </a:bodyPr>
          <a:lstStyle>
            <a:lvl1pPr>
              <a:defRPr sz="2000"/>
            </a:lvl1pPr>
            <a:lvl2pPr>
              <a:defRPr sz="1800"/>
            </a:lvl2pPr>
            <a:lvl3pPr>
              <a:defRPr sz="1600"/>
            </a:lvl3pPr>
            <a:lvl4pPr>
              <a:defRPr sz="1400"/>
            </a:lvl4pPr>
            <a:lvl5pPr>
              <a:defRPr sz="14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F158E37C-27CE-3A84-FC74-BDCCD8A9A3EC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521208" y="3575304"/>
            <a:ext cx="5020056" cy="2770632"/>
          </a:xfrm>
        </p:spPr>
        <p:txBody>
          <a:bodyPr>
            <a:normAutofit/>
          </a:bodyPr>
          <a:lstStyle>
            <a:lvl1pPr marL="0" indent="0">
              <a:buNone/>
              <a:defRPr sz="2200" i="1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02A95F79-E23E-11D2-40BF-66ED340195D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80C50CD-E178-4744-9B35-B2F624D6C5E9}" type="datetimeFigureOut">
              <a:rPr lang="en-US" smtClean="0"/>
              <a:t>2/10/2026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4457F7FC-06F3-3D89-5D1A-4EC4B1D7355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9554ACD5-6E0B-5713-DC9A-41E9D62AB12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48CC95F-0247-41B6-91CF-DC97C76A708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38212906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F5B2D45-7CDB-D38C-2AAE-273F797674E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21208" y="978408"/>
            <a:ext cx="5020056" cy="2459736"/>
          </a:xfrm>
        </p:spPr>
        <p:txBody>
          <a:bodyPr anchor="t">
            <a:noAutofit/>
          </a:bodyPr>
          <a:lstStyle>
            <a:lvl1pPr>
              <a:defRPr sz="4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CCBF0855-1744-56E4-B115-3A3C5EA7834B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6519672" y="987424"/>
            <a:ext cx="5166360" cy="5358384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385E8A1D-28AE-4A19-BD96-401D4822A53D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521208" y="3575304"/>
            <a:ext cx="5020056" cy="2770632"/>
          </a:xfrm>
        </p:spPr>
        <p:txBody>
          <a:bodyPr>
            <a:normAutofit/>
          </a:bodyPr>
          <a:lstStyle>
            <a:lvl1pPr marL="0" indent="0">
              <a:buNone/>
              <a:defRPr sz="2200" i="1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97327DDB-CE95-4C89-DFC5-7DDBFC24E89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80C50CD-E178-4744-9B35-B2F624D6C5E9}" type="datetimeFigureOut">
              <a:rPr lang="en-US" smtClean="0"/>
              <a:t>2/10/2026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0522C835-F3B5-943C-FFC4-D5BA9666AF3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68709891-6E3C-ADED-01DD-15FCED37AF4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48CC95F-0247-41B6-91CF-DC97C76A708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84883906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6C36771-E72D-FAD8-771E-3E196DD2E1C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DB5BB827-257D-60D9-792F-E69590042971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2CE5D2E7-C856-F78A-E88C-375474982A5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80C50CD-E178-4744-9B35-B2F624D6C5E9}" type="datetimeFigureOut">
              <a:rPr lang="en-US" smtClean="0"/>
              <a:t>2/10/2026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0FDAB289-9591-51C9-9E3C-B6F2ACC6A62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27FE037C-790D-7442-8E43-D2740B3952B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48CC95F-0247-41B6-91CF-DC97C76A708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75379836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C2635151-A38B-3766-6A32-FF1DF7687D9F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659368" y="978408"/>
            <a:ext cx="2551176" cy="5367528"/>
          </a:xfrm>
        </p:spPr>
        <p:txBody>
          <a:bodyPr vert="eaVert"/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33D132D1-640C-FB9A-AD6F-D845738349F6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521208" y="978408"/>
            <a:ext cx="8010144" cy="5367528"/>
          </a:xfrm>
        </p:spPr>
        <p:txBody>
          <a:bodyPr vert="eaVert"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6955F80A-4BA7-8ED8-9A62-B9219427262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80C50CD-E178-4744-9B35-B2F624D6C5E9}" type="datetimeFigureOut">
              <a:rPr lang="en-US" smtClean="0"/>
              <a:t>2/10/2026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85E38113-D55A-A1A0-D1FE-53C95860FB6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68919DDB-F89D-4B2D-21A2-82AF1D1023E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48CC95F-0247-41B6-91CF-DC97C76A7088}" type="slidenum">
              <a:rPr lang="en-US" smtClean="0"/>
              <a:t>‹#›</a:t>
            </a:fld>
            <a:endParaRPr lang="en-US"/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262572D8-D485-1DB1-34B1-C35C61C89940}"/>
              </a:ext>
            </a:extLst>
          </p:cNvPr>
          <p:cNvSpPr/>
          <p:nvPr/>
        </p:nvSpPr>
        <p:spPr>
          <a:xfrm rot="5400000">
            <a:off x="8936623" y="3585018"/>
            <a:ext cx="5325734" cy="149279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62327106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C31A28D7-6581-4956-AAE3-9104804DF55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21208" y="978408"/>
            <a:ext cx="11155680" cy="1463040"/>
          </a:xfrm>
          <a:prstGeom prst="rect">
            <a:avLst/>
          </a:prstGeom>
        </p:spPr>
        <p:txBody>
          <a:bodyPr vert="horz" lIns="91440" tIns="45720" rIns="91440" bIns="45720" rtlCol="0" anchor="t">
            <a:normAutofit/>
          </a:bodyPr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F3CFCCA4-57A4-08A1-FC45-D2BBA66FABFA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521208" y="2578608"/>
            <a:ext cx="11155680" cy="376732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B0FAA0F4-2442-8D45-3C3D-1B8F55C8683A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521208" y="6419088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900">
                <a:solidFill>
                  <a:schemeClr val="tx1"/>
                </a:solidFill>
              </a:defRPr>
            </a:lvl1pPr>
          </a:lstStyle>
          <a:p>
            <a:fld id="{E80C50CD-E178-4744-9B35-B2F624D6C5E9}" type="datetimeFigureOut">
              <a:rPr lang="en-US" smtClean="0"/>
              <a:pPr/>
              <a:t>2/10/2026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9E03785E-FB42-1D54-92AC-D0A61A8FABD4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521208" y="100584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900">
                <a:solidFill>
                  <a:schemeClr val="tx1"/>
                </a:solidFill>
              </a:defRPr>
            </a:lvl1pPr>
          </a:lstStyle>
          <a:p>
            <a:endParaRPr lang="en-US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BCC9CF34-1274-DB45-4809-90E5D244A9AE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457432" y="6419088"/>
            <a:ext cx="64008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900">
                <a:solidFill>
                  <a:schemeClr val="tx1"/>
                </a:solidFill>
              </a:defRPr>
            </a:lvl1pPr>
          </a:lstStyle>
          <a:p>
            <a:fld id="{148CC95F-0247-41B6-91CF-DC97C76A7088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7" name="Freeform: Shape 6">
            <a:extLst>
              <a:ext uri="{FF2B5EF4-FFF2-40B4-BE49-F238E27FC236}">
                <a16:creationId xmlns:a16="http://schemas.microsoft.com/office/drawing/2014/main" id="{774A975B-A886-5202-0489-6965514A0D1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517869" y="508090"/>
            <a:ext cx="11153214" cy="149279"/>
          </a:xfrm>
          <a:custGeom>
            <a:avLst/>
            <a:gdLst>
              <a:gd name="connsiteX0" fmla="*/ 0 w 8085002"/>
              <a:gd name="connsiteY0" fmla="*/ 0 h 149279"/>
              <a:gd name="connsiteX1" fmla="*/ 8085002 w 8085002"/>
              <a:gd name="connsiteY1" fmla="*/ 0 h 149279"/>
              <a:gd name="connsiteX2" fmla="*/ 8085002 w 8085002"/>
              <a:gd name="connsiteY2" fmla="*/ 149279 h 149279"/>
              <a:gd name="connsiteX3" fmla="*/ 0 w 8085002"/>
              <a:gd name="connsiteY3" fmla="*/ 149279 h 14927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8085002" h="149279">
                <a:moveTo>
                  <a:pt x="0" y="0"/>
                </a:moveTo>
                <a:lnTo>
                  <a:pt x="8085002" y="0"/>
                </a:lnTo>
                <a:lnTo>
                  <a:pt x="8085002" y="149279"/>
                </a:lnTo>
                <a:lnTo>
                  <a:pt x="0" y="149279"/>
                </a:lnTo>
                <a:close/>
              </a:path>
            </a:pathLst>
          </a:cu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5232088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81" r:id="rId1"/>
    <p:sldLayoutId id="2147483682" r:id="rId2"/>
    <p:sldLayoutId id="2147483683" r:id="rId3"/>
    <p:sldLayoutId id="2147483684" r:id="rId4"/>
    <p:sldLayoutId id="2147483685" r:id="rId5"/>
    <p:sldLayoutId id="2147483679" r:id="rId6"/>
    <p:sldLayoutId id="2147483675" r:id="rId7"/>
    <p:sldLayoutId id="2147483676" r:id="rId8"/>
    <p:sldLayoutId id="2147483677" r:id="rId9"/>
    <p:sldLayoutId id="2147483678" r:id="rId10"/>
    <p:sldLayoutId id="2147483680" r:id="rId11"/>
  </p:sldLayoutIdLst>
  <p:txStyles>
    <p:titleStyle>
      <a:lvl1pPr algn="l" defTabSz="914400" rtl="0" eaLnBrk="1" latinLnBrk="0" hangingPunct="1">
        <a:lnSpc>
          <a:spcPct val="100000"/>
        </a:lnSpc>
        <a:spcBef>
          <a:spcPct val="0"/>
        </a:spcBef>
        <a:buNone/>
        <a:defRPr sz="4400" b="1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110000"/>
        </a:lnSpc>
        <a:spcBef>
          <a:spcPts val="10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110000"/>
        </a:lnSpc>
        <a:spcBef>
          <a:spcPts val="500"/>
        </a:spcBef>
        <a:buFont typeface="Arial" panose="020B0604020202020204" pitchFamily="34" charset="0"/>
        <a:buChar char="•"/>
        <a:defRPr sz="16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110000"/>
        </a:lnSpc>
        <a:spcBef>
          <a:spcPts val="500"/>
        </a:spcBef>
        <a:buFont typeface="Arial" panose="020B0604020202020204" pitchFamily="34" charset="0"/>
        <a:buChar char="•"/>
        <a:defRPr sz="1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110000"/>
        </a:lnSpc>
        <a:spcBef>
          <a:spcPts val="500"/>
        </a:spcBef>
        <a:buFont typeface="Arial" panose="020B0604020202020204" pitchFamily="34" charset="0"/>
        <a:buChar char="•"/>
        <a:defRPr sz="12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110000"/>
        </a:lnSpc>
        <a:spcBef>
          <a:spcPts val="500"/>
        </a:spcBef>
        <a:buFont typeface="Arial" panose="020B0604020202020204" pitchFamily="34" charset="0"/>
        <a:buChar char="•"/>
        <a:defRPr sz="12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20" name="Rectangle 19">
            <a:extLst>
              <a:ext uri="{FF2B5EF4-FFF2-40B4-BE49-F238E27FC236}">
                <a16:creationId xmlns:a16="http://schemas.microsoft.com/office/drawing/2014/main" id="{FAF3766F-DEF3-4802-BB0D-7A18EDD9704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88952" cy="6857995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07612390-7FD9-3A7E-F78F-3E71606EA902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517868" y="1052996"/>
            <a:ext cx="11165482" cy="2425796"/>
          </a:xfrm>
        </p:spPr>
        <p:txBody>
          <a:bodyPr anchor="b">
            <a:normAutofit fontScale="90000"/>
          </a:bodyPr>
          <a:lstStyle/>
          <a:p>
            <a:pPr>
              <a:lnSpc>
                <a:spcPct val="90000"/>
              </a:lnSpc>
            </a:pPr>
            <a:r>
              <a:rPr lang="hu-HU" sz="4400" dirty="0"/>
              <a:t>A webes kommunikáció fejlődése és modern protokollok működése</a:t>
            </a:r>
            <a:br>
              <a:rPr lang="hu-HU" sz="3600" dirty="0"/>
            </a:br>
            <a:br>
              <a:rPr lang="hu-HU" sz="3600" dirty="0"/>
            </a:br>
            <a:br>
              <a:rPr lang="hu-HU" sz="3600" dirty="0"/>
            </a:br>
            <a:r>
              <a:rPr lang="en-US" sz="2200" dirty="0"/>
              <a:t>HTTP/1.1 → HTTP/2 → HTTP/3</a:t>
            </a:r>
          </a:p>
        </p:txBody>
      </p:sp>
      <p:sp>
        <p:nvSpPr>
          <p:cNvPr id="22" name="Freeform: Shape 21">
            <a:extLst>
              <a:ext uri="{FF2B5EF4-FFF2-40B4-BE49-F238E27FC236}">
                <a16:creationId xmlns:a16="http://schemas.microsoft.com/office/drawing/2014/main" id="{BD0C058D-27D4-3139-E199-E2C11099B62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517869" y="508090"/>
            <a:ext cx="11153214" cy="149279"/>
          </a:xfrm>
          <a:custGeom>
            <a:avLst/>
            <a:gdLst>
              <a:gd name="connsiteX0" fmla="*/ 0 w 8085002"/>
              <a:gd name="connsiteY0" fmla="*/ 0 h 149279"/>
              <a:gd name="connsiteX1" fmla="*/ 8085002 w 8085002"/>
              <a:gd name="connsiteY1" fmla="*/ 0 h 149279"/>
              <a:gd name="connsiteX2" fmla="*/ 8085002 w 8085002"/>
              <a:gd name="connsiteY2" fmla="*/ 149279 h 149279"/>
              <a:gd name="connsiteX3" fmla="*/ 0 w 8085002"/>
              <a:gd name="connsiteY3" fmla="*/ 149279 h 14927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8085002" h="149279">
                <a:moveTo>
                  <a:pt x="0" y="0"/>
                </a:moveTo>
                <a:lnTo>
                  <a:pt x="8085002" y="0"/>
                </a:lnTo>
                <a:lnTo>
                  <a:pt x="8085002" y="149279"/>
                </a:lnTo>
                <a:lnTo>
                  <a:pt x="0" y="149279"/>
                </a:lnTo>
                <a:close/>
              </a:path>
            </a:pathLst>
          </a:cu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/>
          </a:p>
        </p:txBody>
      </p:sp>
      <p:sp>
        <p:nvSpPr>
          <p:cNvPr id="24" name="Freeform: Shape 23">
            <a:extLst>
              <a:ext uri="{FF2B5EF4-FFF2-40B4-BE49-F238E27FC236}">
                <a16:creationId xmlns:a16="http://schemas.microsoft.com/office/drawing/2014/main" id="{E94E0531-D614-3CB6-996E-FF0184A33A5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517868" y="6300216"/>
            <a:ext cx="11165482" cy="45719"/>
          </a:xfrm>
          <a:custGeom>
            <a:avLst/>
            <a:gdLst>
              <a:gd name="connsiteX0" fmla="*/ 0 w 11165482"/>
              <a:gd name="connsiteY0" fmla="*/ 0 h 45719"/>
              <a:gd name="connsiteX1" fmla="*/ 3694525 w 11165482"/>
              <a:gd name="connsiteY1" fmla="*/ 0 h 45719"/>
              <a:gd name="connsiteX2" fmla="*/ 5021183 w 11165482"/>
              <a:gd name="connsiteY2" fmla="*/ 0 h 45719"/>
              <a:gd name="connsiteX3" fmla="*/ 6144299 w 11165482"/>
              <a:gd name="connsiteY3" fmla="*/ 0 h 45719"/>
              <a:gd name="connsiteX4" fmla="*/ 8715708 w 11165482"/>
              <a:gd name="connsiteY4" fmla="*/ 0 h 45719"/>
              <a:gd name="connsiteX5" fmla="*/ 11165482 w 11165482"/>
              <a:gd name="connsiteY5" fmla="*/ 0 h 45719"/>
              <a:gd name="connsiteX6" fmla="*/ 11165482 w 11165482"/>
              <a:gd name="connsiteY6" fmla="*/ 45719 h 45719"/>
              <a:gd name="connsiteX7" fmla="*/ 8715708 w 11165482"/>
              <a:gd name="connsiteY7" fmla="*/ 45719 h 45719"/>
              <a:gd name="connsiteX8" fmla="*/ 6144299 w 11165482"/>
              <a:gd name="connsiteY8" fmla="*/ 45719 h 45719"/>
              <a:gd name="connsiteX9" fmla="*/ 5021183 w 11165482"/>
              <a:gd name="connsiteY9" fmla="*/ 45719 h 45719"/>
              <a:gd name="connsiteX10" fmla="*/ 3694525 w 11165482"/>
              <a:gd name="connsiteY10" fmla="*/ 45719 h 45719"/>
              <a:gd name="connsiteX11" fmla="*/ 0 w 11165482"/>
              <a:gd name="connsiteY11" fmla="*/ 45719 h 45719"/>
              <a:gd name="connsiteX0" fmla="*/ 0 w 11165482"/>
              <a:gd name="connsiteY0" fmla="*/ 0 h 45719"/>
              <a:gd name="connsiteX1" fmla="*/ 3694525 w 11165482"/>
              <a:gd name="connsiteY1" fmla="*/ 0 h 45719"/>
              <a:gd name="connsiteX2" fmla="*/ 6144299 w 11165482"/>
              <a:gd name="connsiteY2" fmla="*/ 0 h 45719"/>
              <a:gd name="connsiteX3" fmla="*/ 8715708 w 11165482"/>
              <a:gd name="connsiteY3" fmla="*/ 0 h 45719"/>
              <a:gd name="connsiteX4" fmla="*/ 11165482 w 11165482"/>
              <a:gd name="connsiteY4" fmla="*/ 0 h 45719"/>
              <a:gd name="connsiteX5" fmla="*/ 11165482 w 11165482"/>
              <a:gd name="connsiteY5" fmla="*/ 45719 h 45719"/>
              <a:gd name="connsiteX6" fmla="*/ 8715708 w 11165482"/>
              <a:gd name="connsiteY6" fmla="*/ 45719 h 45719"/>
              <a:gd name="connsiteX7" fmla="*/ 6144299 w 11165482"/>
              <a:gd name="connsiteY7" fmla="*/ 45719 h 45719"/>
              <a:gd name="connsiteX8" fmla="*/ 5021183 w 11165482"/>
              <a:gd name="connsiteY8" fmla="*/ 45719 h 45719"/>
              <a:gd name="connsiteX9" fmla="*/ 3694525 w 11165482"/>
              <a:gd name="connsiteY9" fmla="*/ 45719 h 45719"/>
              <a:gd name="connsiteX10" fmla="*/ 0 w 11165482"/>
              <a:gd name="connsiteY10" fmla="*/ 45719 h 45719"/>
              <a:gd name="connsiteX11" fmla="*/ 0 w 11165482"/>
              <a:gd name="connsiteY11" fmla="*/ 0 h 45719"/>
              <a:gd name="connsiteX0" fmla="*/ 0 w 11165482"/>
              <a:gd name="connsiteY0" fmla="*/ 0 h 45719"/>
              <a:gd name="connsiteX1" fmla="*/ 3694525 w 11165482"/>
              <a:gd name="connsiteY1" fmla="*/ 0 h 45719"/>
              <a:gd name="connsiteX2" fmla="*/ 6144299 w 11165482"/>
              <a:gd name="connsiteY2" fmla="*/ 0 h 45719"/>
              <a:gd name="connsiteX3" fmla="*/ 8715708 w 11165482"/>
              <a:gd name="connsiteY3" fmla="*/ 0 h 45719"/>
              <a:gd name="connsiteX4" fmla="*/ 11165482 w 11165482"/>
              <a:gd name="connsiteY4" fmla="*/ 0 h 45719"/>
              <a:gd name="connsiteX5" fmla="*/ 11165482 w 11165482"/>
              <a:gd name="connsiteY5" fmla="*/ 45719 h 45719"/>
              <a:gd name="connsiteX6" fmla="*/ 8715708 w 11165482"/>
              <a:gd name="connsiteY6" fmla="*/ 45719 h 45719"/>
              <a:gd name="connsiteX7" fmla="*/ 6144299 w 11165482"/>
              <a:gd name="connsiteY7" fmla="*/ 45719 h 45719"/>
              <a:gd name="connsiteX8" fmla="*/ 5021183 w 11165482"/>
              <a:gd name="connsiteY8" fmla="*/ 45719 h 45719"/>
              <a:gd name="connsiteX9" fmla="*/ 0 w 11165482"/>
              <a:gd name="connsiteY9" fmla="*/ 45719 h 45719"/>
              <a:gd name="connsiteX10" fmla="*/ 0 w 11165482"/>
              <a:gd name="connsiteY10" fmla="*/ 0 h 45719"/>
              <a:gd name="connsiteX0" fmla="*/ 0 w 11165482"/>
              <a:gd name="connsiteY0" fmla="*/ 0 h 45719"/>
              <a:gd name="connsiteX1" fmla="*/ 6144299 w 11165482"/>
              <a:gd name="connsiteY1" fmla="*/ 0 h 45719"/>
              <a:gd name="connsiteX2" fmla="*/ 8715708 w 11165482"/>
              <a:gd name="connsiteY2" fmla="*/ 0 h 45719"/>
              <a:gd name="connsiteX3" fmla="*/ 11165482 w 11165482"/>
              <a:gd name="connsiteY3" fmla="*/ 0 h 45719"/>
              <a:gd name="connsiteX4" fmla="*/ 11165482 w 11165482"/>
              <a:gd name="connsiteY4" fmla="*/ 45719 h 45719"/>
              <a:gd name="connsiteX5" fmla="*/ 8715708 w 11165482"/>
              <a:gd name="connsiteY5" fmla="*/ 45719 h 45719"/>
              <a:gd name="connsiteX6" fmla="*/ 6144299 w 11165482"/>
              <a:gd name="connsiteY6" fmla="*/ 45719 h 45719"/>
              <a:gd name="connsiteX7" fmla="*/ 5021183 w 11165482"/>
              <a:gd name="connsiteY7" fmla="*/ 45719 h 45719"/>
              <a:gd name="connsiteX8" fmla="*/ 0 w 11165482"/>
              <a:gd name="connsiteY8" fmla="*/ 45719 h 45719"/>
              <a:gd name="connsiteX9" fmla="*/ 0 w 11165482"/>
              <a:gd name="connsiteY9" fmla="*/ 0 h 45719"/>
              <a:gd name="connsiteX0" fmla="*/ 0 w 11165482"/>
              <a:gd name="connsiteY0" fmla="*/ 0 h 45719"/>
              <a:gd name="connsiteX1" fmla="*/ 6144299 w 11165482"/>
              <a:gd name="connsiteY1" fmla="*/ 0 h 45719"/>
              <a:gd name="connsiteX2" fmla="*/ 8715708 w 11165482"/>
              <a:gd name="connsiteY2" fmla="*/ 0 h 45719"/>
              <a:gd name="connsiteX3" fmla="*/ 11165482 w 11165482"/>
              <a:gd name="connsiteY3" fmla="*/ 0 h 45719"/>
              <a:gd name="connsiteX4" fmla="*/ 11165482 w 11165482"/>
              <a:gd name="connsiteY4" fmla="*/ 45719 h 45719"/>
              <a:gd name="connsiteX5" fmla="*/ 8715708 w 11165482"/>
              <a:gd name="connsiteY5" fmla="*/ 45719 h 45719"/>
              <a:gd name="connsiteX6" fmla="*/ 5021183 w 11165482"/>
              <a:gd name="connsiteY6" fmla="*/ 45719 h 45719"/>
              <a:gd name="connsiteX7" fmla="*/ 0 w 11165482"/>
              <a:gd name="connsiteY7" fmla="*/ 45719 h 45719"/>
              <a:gd name="connsiteX8" fmla="*/ 0 w 11165482"/>
              <a:gd name="connsiteY8" fmla="*/ 0 h 45719"/>
              <a:gd name="connsiteX0" fmla="*/ 0 w 11165482"/>
              <a:gd name="connsiteY0" fmla="*/ 0 h 45719"/>
              <a:gd name="connsiteX1" fmla="*/ 8715708 w 11165482"/>
              <a:gd name="connsiteY1" fmla="*/ 0 h 45719"/>
              <a:gd name="connsiteX2" fmla="*/ 11165482 w 11165482"/>
              <a:gd name="connsiteY2" fmla="*/ 0 h 45719"/>
              <a:gd name="connsiteX3" fmla="*/ 11165482 w 11165482"/>
              <a:gd name="connsiteY3" fmla="*/ 45719 h 45719"/>
              <a:gd name="connsiteX4" fmla="*/ 8715708 w 11165482"/>
              <a:gd name="connsiteY4" fmla="*/ 45719 h 45719"/>
              <a:gd name="connsiteX5" fmla="*/ 5021183 w 11165482"/>
              <a:gd name="connsiteY5" fmla="*/ 45719 h 45719"/>
              <a:gd name="connsiteX6" fmla="*/ 0 w 11165482"/>
              <a:gd name="connsiteY6" fmla="*/ 45719 h 45719"/>
              <a:gd name="connsiteX7" fmla="*/ 0 w 11165482"/>
              <a:gd name="connsiteY7" fmla="*/ 0 h 45719"/>
              <a:gd name="connsiteX0" fmla="*/ 0 w 11165482"/>
              <a:gd name="connsiteY0" fmla="*/ 0 h 45719"/>
              <a:gd name="connsiteX1" fmla="*/ 8715708 w 11165482"/>
              <a:gd name="connsiteY1" fmla="*/ 0 h 45719"/>
              <a:gd name="connsiteX2" fmla="*/ 11165482 w 11165482"/>
              <a:gd name="connsiteY2" fmla="*/ 0 h 45719"/>
              <a:gd name="connsiteX3" fmla="*/ 11165482 w 11165482"/>
              <a:gd name="connsiteY3" fmla="*/ 45719 h 45719"/>
              <a:gd name="connsiteX4" fmla="*/ 8715708 w 11165482"/>
              <a:gd name="connsiteY4" fmla="*/ 45719 h 45719"/>
              <a:gd name="connsiteX5" fmla="*/ 0 w 11165482"/>
              <a:gd name="connsiteY5" fmla="*/ 45719 h 45719"/>
              <a:gd name="connsiteX6" fmla="*/ 0 w 11165482"/>
              <a:gd name="connsiteY6" fmla="*/ 0 h 45719"/>
              <a:gd name="connsiteX0" fmla="*/ 0 w 11165482"/>
              <a:gd name="connsiteY0" fmla="*/ 0 h 45719"/>
              <a:gd name="connsiteX1" fmla="*/ 8715708 w 11165482"/>
              <a:gd name="connsiteY1" fmla="*/ 0 h 45719"/>
              <a:gd name="connsiteX2" fmla="*/ 11165482 w 11165482"/>
              <a:gd name="connsiteY2" fmla="*/ 0 h 45719"/>
              <a:gd name="connsiteX3" fmla="*/ 11165482 w 11165482"/>
              <a:gd name="connsiteY3" fmla="*/ 45719 h 45719"/>
              <a:gd name="connsiteX4" fmla="*/ 0 w 11165482"/>
              <a:gd name="connsiteY4" fmla="*/ 45719 h 45719"/>
              <a:gd name="connsiteX5" fmla="*/ 0 w 11165482"/>
              <a:gd name="connsiteY5" fmla="*/ 0 h 45719"/>
              <a:gd name="connsiteX0" fmla="*/ 0 w 11165482"/>
              <a:gd name="connsiteY0" fmla="*/ 0 h 45719"/>
              <a:gd name="connsiteX1" fmla="*/ 11165482 w 11165482"/>
              <a:gd name="connsiteY1" fmla="*/ 0 h 45719"/>
              <a:gd name="connsiteX2" fmla="*/ 11165482 w 11165482"/>
              <a:gd name="connsiteY2" fmla="*/ 45719 h 45719"/>
              <a:gd name="connsiteX3" fmla="*/ 0 w 11165482"/>
              <a:gd name="connsiteY3" fmla="*/ 45719 h 45719"/>
              <a:gd name="connsiteX4" fmla="*/ 0 w 11165482"/>
              <a:gd name="connsiteY4" fmla="*/ 0 h 4571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11165482" h="45719">
                <a:moveTo>
                  <a:pt x="0" y="0"/>
                </a:moveTo>
                <a:lnTo>
                  <a:pt x="11165482" y="0"/>
                </a:lnTo>
                <a:lnTo>
                  <a:pt x="11165482" y="45719"/>
                </a:lnTo>
                <a:lnTo>
                  <a:pt x="0" y="45719"/>
                </a:lnTo>
                <a:lnTo>
                  <a:pt x="0" y="0"/>
                </a:lnTo>
                <a:close/>
              </a:path>
            </a:pathLst>
          </a:cu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5157462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withEffect">
                                  <p:stCondLst>
                                    <p:cond delay="1000"/>
                                  </p:stCondLst>
                                  <p:iterate>
                                    <p:tmPct val="10000"/>
                                  </p:iterate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7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/>
    </p:bldLst>
  </p:timing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AB0F56A-BB1E-8DA6-D6F7-07CE02A960D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21208" y="978408"/>
            <a:ext cx="11155680" cy="987552"/>
          </a:xfrm>
        </p:spPr>
        <p:txBody>
          <a:bodyPr>
            <a:normAutofit/>
          </a:bodyPr>
          <a:lstStyle/>
          <a:p>
            <a:r>
              <a:rPr lang="en-US" sz="4000" dirty="0" err="1"/>
              <a:t>Miért</a:t>
            </a:r>
            <a:r>
              <a:rPr lang="en-US" sz="4000" dirty="0"/>
              <a:t> </a:t>
            </a:r>
            <a:r>
              <a:rPr lang="en-US" sz="4000" dirty="0" err="1"/>
              <a:t>kellett</a:t>
            </a:r>
            <a:r>
              <a:rPr lang="en-US" sz="4000" dirty="0"/>
              <a:t> </a:t>
            </a:r>
            <a:r>
              <a:rPr lang="en-US" sz="4000" dirty="0" err="1"/>
              <a:t>fejlődni</a:t>
            </a:r>
            <a:r>
              <a:rPr lang="en-US" sz="4000" dirty="0"/>
              <a:t> a HTTP-nek?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F918EF2-0F32-2DE4-361C-973583F4517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21208" y="2240280"/>
            <a:ext cx="11155680" cy="3767328"/>
          </a:xfrm>
        </p:spPr>
        <p:txBody>
          <a:bodyPr>
            <a:normAutofit/>
          </a:bodyPr>
          <a:lstStyle/>
          <a:p>
            <a:pPr marL="0" indent="0">
              <a:lnSpc>
                <a:spcPct val="150000"/>
              </a:lnSpc>
              <a:buNone/>
            </a:pPr>
            <a:r>
              <a:rPr lang="en-US" sz="2400" dirty="0"/>
              <a:t>• </a:t>
            </a:r>
            <a:r>
              <a:rPr lang="en-US" sz="2400" dirty="0" err="1"/>
              <a:t>Weboldalak</a:t>
            </a:r>
            <a:r>
              <a:rPr lang="en-US" sz="2400" dirty="0"/>
              <a:t> </a:t>
            </a:r>
            <a:r>
              <a:rPr lang="en-US" sz="2400" b="1" dirty="0" err="1"/>
              <a:t>komplexebbé</a:t>
            </a:r>
            <a:r>
              <a:rPr lang="en-US" sz="2400" dirty="0"/>
              <a:t> </a:t>
            </a:r>
            <a:r>
              <a:rPr lang="en-US" sz="2400" dirty="0" err="1"/>
              <a:t>váltak</a:t>
            </a:r>
            <a:br>
              <a:rPr lang="en-US" sz="2400" dirty="0"/>
            </a:br>
            <a:r>
              <a:rPr lang="en-US" sz="2400" dirty="0"/>
              <a:t>• </a:t>
            </a:r>
            <a:r>
              <a:rPr lang="en-US" sz="2400" b="1" dirty="0"/>
              <a:t>Sok </a:t>
            </a:r>
            <a:r>
              <a:rPr lang="en-US" sz="2400" b="1" dirty="0" err="1"/>
              <a:t>erőforrás</a:t>
            </a:r>
            <a:r>
              <a:rPr lang="en-US" sz="2400" dirty="0"/>
              <a:t>: JS, CSS, </a:t>
            </a:r>
            <a:r>
              <a:rPr lang="en-US" sz="2400" dirty="0" err="1"/>
              <a:t>képek</a:t>
            </a:r>
            <a:r>
              <a:rPr lang="en-US" sz="2400" dirty="0"/>
              <a:t>, API </a:t>
            </a:r>
            <a:r>
              <a:rPr lang="en-US" sz="2400" dirty="0" err="1"/>
              <a:t>hívások</a:t>
            </a:r>
            <a:br>
              <a:rPr lang="en-US" sz="2400" dirty="0"/>
            </a:br>
            <a:r>
              <a:rPr lang="en-US" sz="2400" dirty="0"/>
              <a:t>• </a:t>
            </a:r>
            <a:r>
              <a:rPr lang="en-US" sz="2400" b="1" dirty="0"/>
              <a:t>Mobil </a:t>
            </a:r>
            <a:r>
              <a:rPr lang="en-US" sz="2400" b="1" dirty="0" err="1"/>
              <a:t>kliensek</a:t>
            </a:r>
            <a:r>
              <a:rPr lang="en-US" sz="2400" dirty="0"/>
              <a:t>: </a:t>
            </a:r>
            <a:r>
              <a:rPr lang="en-US" sz="2400" dirty="0" err="1"/>
              <a:t>nagy</a:t>
            </a:r>
            <a:r>
              <a:rPr lang="en-US" sz="2400" dirty="0"/>
              <a:t> </a:t>
            </a:r>
            <a:r>
              <a:rPr lang="en-US" sz="2400" dirty="0" err="1"/>
              <a:t>késleltetés</a:t>
            </a:r>
            <a:r>
              <a:rPr lang="en-US" sz="2400" dirty="0"/>
              <a:t>, </a:t>
            </a:r>
            <a:r>
              <a:rPr lang="en-US" sz="2400" dirty="0" err="1"/>
              <a:t>instabil</a:t>
            </a:r>
            <a:r>
              <a:rPr lang="en-US" sz="2400" dirty="0"/>
              <a:t> </a:t>
            </a:r>
            <a:r>
              <a:rPr lang="en-US" sz="2400" dirty="0" err="1"/>
              <a:t>hálózat</a:t>
            </a:r>
            <a:br>
              <a:rPr lang="en-US" sz="2400" dirty="0"/>
            </a:br>
            <a:r>
              <a:rPr lang="en-US" sz="2400" dirty="0"/>
              <a:t>• HTTP/1.1 </a:t>
            </a:r>
            <a:r>
              <a:rPr lang="en-US" sz="2400" dirty="0" err="1"/>
              <a:t>eredeti</a:t>
            </a:r>
            <a:r>
              <a:rPr lang="en-US" sz="2400" dirty="0"/>
              <a:t> </a:t>
            </a:r>
            <a:r>
              <a:rPr lang="en-US" sz="2400" dirty="0" err="1"/>
              <a:t>tervezési</a:t>
            </a:r>
            <a:r>
              <a:rPr lang="en-US" sz="2400" dirty="0"/>
              <a:t> </a:t>
            </a:r>
            <a:r>
              <a:rPr lang="en-US" sz="2400" dirty="0" err="1"/>
              <a:t>céljai</a:t>
            </a:r>
            <a:r>
              <a:rPr lang="en-US" sz="2400" dirty="0"/>
              <a:t> </a:t>
            </a:r>
            <a:r>
              <a:rPr lang="en-US" sz="2400" dirty="0" err="1"/>
              <a:t>már</a:t>
            </a:r>
            <a:r>
              <a:rPr lang="en-US" sz="2400" dirty="0"/>
              <a:t> </a:t>
            </a:r>
            <a:r>
              <a:rPr lang="en-US" sz="2400" dirty="0" err="1"/>
              <a:t>nem</a:t>
            </a:r>
            <a:r>
              <a:rPr lang="en-US" sz="2400" dirty="0"/>
              <a:t> </a:t>
            </a:r>
            <a:r>
              <a:rPr lang="en-US" sz="2400" dirty="0" err="1"/>
              <a:t>voltak</a:t>
            </a:r>
            <a:r>
              <a:rPr lang="en-US" sz="2400" dirty="0"/>
              <a:t> </a:t>
            </a:r>
            <a:r>
              <a:rPr lang="en-US" sz="2400" dirty="0" err="1"/>
              <a:t>elegendők</a:t>
            </a:r>
            <a:endParaRPr lang="en-US" sz="2400" dirty="0"/>
          </a:p>
        </p:txBody>
      </p:sp>
    </p:spTree>
    <p:extLst>
      <p:ext uri="{BB962C8B-B14F-4D97-AF65-F5344CB8AC3E}">
        <p14:creationId xmlns:p14="http://schemas.microsoft.com/office/powerpoint/2010/main" val="1963087886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9" name="Rectangle 8">
            <a:extLst>
              <a:ext uri="{FF2B5EF4-FFF2-40B4-BE49-F238E27FC236}">
                <a16:creationId xmlns:a16="http://schemas.microsoft.com/office/drawing/2014/main" id="{9EE42DCE-4A4F-44C4-84E5-261B3BEEF1D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88952" cy="6857995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3382F0AC-A450-5FFA-6253-3D6FB446C0F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21207" y="978408"/>
            <a:ext cx="7419025" cy="850392"/>
          </a:xfrm>
        </p:spPr>
        <p:txBody>
          <a:bodyPr>
            <a:normAutofit/>
          </a:bodyPr>
          <a:lstStyle/>
          <a:p>
            <a:r>
              <a:rPr lang="hu-HU" sz="4000" dirty="0"/>
              <a:t>HTTP/1.1 működése röviden</a:t>
            </a:r>
            <a:endParaRPr lang="en-US" sz="4000" dirty="0"/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887F59F2-5FBC-40CD-AD35-376AECE49EA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517870" y="508090"/>
            <a:ext cx="6281928" cy="149279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03189D7-16D6-677E-95C4-FDD239FAC34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91196" y="2023023"/>
            <a:ext cx="8490757" cy="3767328"/>
          </a:xfrm>
        </p:spPr>
        <p:txBody>
          <a:bodyPr>
            <a:normAutofit/>
          </a:bodyPr>
          <a:lstStyle/>
          <a:p>
            <a:pPr marL="0" indent="0">
              <a:lnSpc>
                <a:spcPct val="150000"/>
              </a:lnSpc>
              <a:buNone/>
            </a:pPr>
            <a:r>
              <a:rPr lang="en-US" sz="2000" dirty="0"/>
              <a:t>• TCP </a:t>
            </a:r>
            <a:r>
              <a:rPr lang="hu-HU" sz="2000" dirty="0"/>
              <a:t>átviteli protokollra épül</a:t>
            </a:r>
          </a:p>
          <a:p>
            <a:pPr marL="0" indent="0">
              <a:lnSpc>
                <a:spcPct val="150000"/>
              </a:lnSpc>
              <a:spcBef>
                <a:spcPts val="0"/>
              </a:spcBef>
              <a:buNone/>
            </a:pPr>
            <a:r>
              <a:rPr lang="en-US" sz="2000" dirty="0"/>
              <a:t>• </a:t>
            </a:r>
            <a:r>
              <a:rPr lang="hu-HU" sz="2000" b="1" dirty="0" err="1"/>
              <a:t>So</a:t>
            </a:r>
            <a:r>
              <a:rPr lang="en-US" sz="2000" b="1" dirty="0" err="1"/>
              <a:t>rrendkényszeres</a:t>
            </a:r>
            <a:r>
              <a:rPr lang="en-US" sz="2000" dirty="0"/>
              <a:t> </a:t>
            </a:r>
            <a:r>
              <a:rPr lang="en-US" sz="2000" dirty="0" err="1"/>
              <a:t>protokoll</a:t>
            </a:r>
            <a:br>
              <a:rPr lang="en-US" sz="2000" dirty="0"/>
            </a:br>
            <a:r>
              <a:rPr lang="en-US" sz="2000" dirty="0"/>
              <a:t>• </a:t>
            </a:r>
            <a:r>
              <a:rPr lang="en-US" sz="2000" b="1" dirty="0"/>
              <a:t>Persistent Connections </a:t>
            </a:r>
            <a:r>
              <a:rPr lang="en-US" sz="2000" dirty="0"/>
              <a:t>(Keep-Alive)</a:t>
            </a:r>
            <a:br>
              <a:rPr lang="en-US" sz="2000" dirty="0"/>
            </a:br>
            <a:r>
              <a:rPr lang="en-US" sz="2000" dirty="0"/>
              <a:t>• Pipelining (</a:t>
            </a:r>
            <a:r>
              <a:rPr lang="en-US" sz="2000" dirty="0" err="1"/>
              <a:t>papíron</a:t>
            </a:r>
            <a:r>
              <a:rPr lang="en-US" sz="2000" dirty="0"/>
              <a:t> </a:t>
            </a:r>
            <a:r>
              <a:rPr lang="en-US" sz="2000" dirty="0" err="1"/>
              <a:t>létezett</a:t>
            </a:r>
            <a:r>
              <a:rPr lang="en-US" sz="2000" dirty="0"/>
              <a:t>, de </a:t>
            </a:r>
            <a:r>
              <a:rPr lang="hu-HU" sz="2000" dirty="0"/>
              <a:t>gyakorlatban </a:t>
            </a:r>
            <a:r>
              <a:rPr lang="en-US" sz="2000" dirty="0" err="1"/>
              <a:t>nem</a:t>
            </a:r>
            <a:r>
              <a:rPr lang="en-US" sz="2000" dirty="0"/>
              <a:t> </a:t>
            </a:r>
            <a:r>
              <a:rPr lang="en-US" sz="2000" dirty="0" err="1"/>
              <a:t>használták</a:t>
            </a:r>
            <a:r>
              <a:rPr lang="en-US" sz="2000" dirty="0"/>
              <a:t>)</a:t>
            </a:r>
            <a:br>
              <a:rPr lang="en-US" sz="2000" dirty="0"/>
            </a:br>
            <a:r>
              <a:rPr lang="en-US" sz="2000" dirty="0"/>
              <a:t>• </a:t>
            </a:r>
            <a:r>
              <a:rPr lang="en-US" sz="2000" b="1" dirty="0"/>
              <a:t>Head-of-Line Blocking </a:t>
            </a:r>
            <a:r>
              <a:rPr lang="en-US" sz="2000" dirty="0"/>
              <a:t>(HOL)</a:t>
            </a:r>
            <a:r>
              <a:rPr lang="hu-HU" sz="2000" dirty="0"/>
              <a:t> az alkalmazási rétegben</a:t>
            </a:r>
            <a:br>
              <a:rPr lang="en-US" sz="2000" dirty="0"/>
            </a:br>
            <a:r>
              <a:rPr lang="en-US" sz="2000" dirty="0"/>
              <a:t>• 6 </a:t>
            </a:r>
            <a:r>
              <a:rPr lang="en-US" sz="2000" dirty="0" err="1"/>
              <a:t>kapcsolatos</a:t>
            </a:r>
            <a:r>
              <a:rPr lang="en-US" sz="2000" dirty="0"/>
              <a:t> limit </a:t>
            </a:r>
            <a:r>
              <a:rPr lang="en-US" sz="2000" dirty="0" err="1"/>
              <a:t>böngészőnként</a:t>
            </a:r>
            <a:r>
              <a:rPr lang="hu-HU" sz="2000" dirty="0"/>
              <a:t> egy </a:t>
            </a:r>
            <a:r>
              <a:rPr lang="hu-HU" sz="2000" dirty="0" err="1"/>
              <a:t>domain</a:t>
            </a:r>
            <a:r>
              <a:rPr lang="hu-HU" sz="2000" dirty="0"/>
              <a:t>-re (</a:t>
            </a:r>
            <a:r>
              <a:rPr lang="en-US" sz="2000" dirty="0"/>
              <a:t>domain sharding</a:t>
            </a:r>
            <a:r>
              <a:rPr lang="hu-HU" sz="2000" dirty="0"/>
              <a:t>)</a:t>
            </a:r>
            <a:endParaRPr lang="en-US" sz="2000" dirty="0"/>
          </a:p>
        </p:txBody>
      </p:sp>
      <p:pic>
        <p:nvPicPr>
          <p:cNvPr id="4" name="Picture 3" descr="A diagram of a diagram&#10;&#10;AI-generated content may be incorrect.">
            <a:extLst>
              <a:ext uri="{FF2B5EF4-FFF2-40B4-BE49-F238E27FC236}">
                <a16:creationId xmlns:a16="http://schemas.microsoft.com/office/drawing/2014/main" id="{23FC0A28-1971-4EE6-CB33-CB6418B43DEE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078354" y="379068"/>
            <a:ext cx="2592439" cy="609985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981257912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AE7573E-579D-44B5-D090-FD9974FE58F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21208" y="978408"/>
            <a:ext cx="11155680" cy="1035587"/>
          </a:xfrm>
        </p:spPr>
        <p:txBody>
          <a:bodyPr>
            <a:normAutofit/>
          </a:bodyPr>
          <a:lstStyle/>
          <a:p>
            <a:r>
              <a:rPr lang="en-US" sz="4000"/>
              <a:t>HTTP/1.1 teljesítménykorlátai</a:t>
            </a:r>
            <a:endParaRPr lang="en-US" sz="4000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DD24446-AAE6-2FDF-4CB2-C548CC7F3B1E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21208" y="2314937"/>
            <a:ext cx="8692240" cy="4030999"/>
          </a:xfrm>
        </p:spPr>
        <p:txBody>
          <a:bodyPr>
            <a:normAutofit/>
          </a:bodyPr>
          <a:lstStyle/>
          <a:p>
            <a:pPr marL="0" indent="0">
              <a:lnSpc>
                <a:spcPct val="150000"/>
              </a:lnSpc>
              <a:buNone/>
            </a:pPr>
            <a:r>
              <a:rPr lang="en-US" sz="2400" dirty="0"/>
              <a:t>• </a:t>
            </a:r>
            <a:r>
              <a:rPr lang="en-US" sz="2400" b="1" dirty="0" err="1"/>
              <a:t>Sorrendkényszer</a:t>
            </a:r>
            <a:r>
              <a:rPr lang="en-US" sz="2400" dirty="0"/>
              <a:t> </a:t>
            </a:r>
            <a:r>
              <a:rPr lang="en-US" sz="2400" dirty="0" err="1"/>
              <a:t>miatt</a:t>
            </a:r>
            <a:r>
              <a:rPr lang="en-US" sz="2400" dirty="0"/>
              <a:t> </a:t>
            </a:r>
            <a:r>
              <a:rPr lang="en-US" sz="2400" dirty="0" err="1"/>
              <a:t>nagyon</a:t>
            </a:r>
            <a:r>
              <a:rPr lang="en-US" sz="2400" dirty="0"/>
              <a:t> </a:t>
            </a:r>
            <a:r>
              <a:rPr lang="en-US" sz="2400" dirty="0" err="1"/>
              <a:t>érzékeny</a:t>
            </a:r>
            <a:r>
              <a:rPr lang="en-US" sz="2400" dirty="0"/>
              <a:t> a </a:t>
            </a:r>
            <a:r>
              <a:rPr lang="en-US" sz="2400" dirty="0" err="1"/>
              <a:t>csomagvesztésre</a:t>
            </a:r>
            <a:br>
              <a:rPr lang="en-US" sz="2400" dirty="0"/>
            </a:br>
            <a:r>
              <a:rPr lang="en-US" sz="2400" dirty="0"/>
              <a:t>• </a:t>
            </a:r>
            <a:r>
              <a:rPr lang="en-US" sz="2400" b="1" dirty="0" err="1"/>
              <a:t>Több</a:t>
            </a:r>
            <a:r>
              <a:rPr lang="en-US" sz="2400" b="1" dirty="0"/>
              <a:t> TCP </a:t>
            </a:r>
            <a:r>
              <a:rPr lang="en-US" sz="2400" b="1" dirty="0" err="1"/>
              <a:t>kapcsolat</a:t>
            </a:r>
            <a:r>
              <a:rPr lang="en-US" sz="2400" b="1" dirty="0"/>
              <a:t> </a:t>
            </a:r>
            <a:r>
              <a:rPr lang="en-US" sz="2400" dirty="0"/>
              <a:t>→ </a:t>
            </a:r>
            <a:r>
              <a:rPr lang="en-US" sz="2400" dirty="0" err="1"/>
              <a:t>nagy</a:t>
            </a:r>
            <a:r>
              <a:rPr lang="en-US" sz="2400" dirty="0"/>
              <a:t> overhead</a:t>
            </a:r>
            <a:br>
              <a:rPr lang="en-US" sz="2400" dirty="0"/>
            </a:br>
            <a:r>
              <a:rPr lang="en-US" sz="2400" dirty="0"/>
              <a:t>• </a:t>
            </a:r>
            <a:r>
              <a:rPr lang="en-US" sz="2400" b="1" dirty="0"/>
              <a:t>HOL blocking </a:t>
            </a:r>
            <a:r>
              <a:rPr lang="en-US" sz="2400" dirty="0" err="1"/>
              <a:t>problémája</a:t>
            </a:r>
            <a:r>
              <a:rPr lang="en-US" sz="2400" dirty="0"/>
              <a:t> </a:t>
            </a:r>
            <a:r>
              <a:rPr lang="en-US" sz="2400" dirty="0" err="1"/>
              <a:t>nem</a:t>
            </a:r>
            <a:r>
              <a:rPr lang="en-US" sz="2400" dirty="0"/>
              <a:t> </a:t>
            </a:r>
            <a:r>
              <a:rPr lang="en-US" sz="2400" dirty="0" err="1"/>
              <a:t>kerülhető</a:t>
            </a:r>
            <a:r>
              <a:rPr lang="en-US" sz="2400" dirty="0"/>
              <a:t> meg</a:t>
            </a:r>
            <a:br>
              <a:rPr lang="en-US" sz="2400" dirty="0"/>
            </a:br>
            <a:r>
              <a:rPr lang="en-US" sz="2400" dirty="0"/>
              <a:t>• A </a:t>
            </a:r>
            <a:r>
              <a:rPr lang="en-US" sz="2400" dirty="0" err="1"/>
              <a:t>protokoll</a:t>
            </a:r>
            <a:r>
              <a:rPr lang="en-US" sz="2400" dirty="0"/>
              <a:t> </a:t>
            </a:r>
            <a:r>
              <a:rPr lang="en-US" sz="2400" dirty="0" err="1"/>
              <a:t>nem</a:t>
            </a:r>
            <a:r>
              <a:rPr lang="en-US" sz="2400" dirty="0"/>
              <a:t> </a:t>
            </a:r>
            <a:r>
              <a:rPr lang="en-US" sz="2400" dirty="0" err="1"/>
              <a:t>tudja</a:t>
            </a:r>
            <a:r>
              <a:rPr lang="en-US" sz="2400" dirty="0"/>
              <a:t> </a:t>
            </a:r>
            <a:r>
              <a:rPr lang="en-US" sz="2400" dirty="0" err="1"/>
              <a:t>priorizálni</a:t>
            </a:r>
            <a:r>
              <a:rPr lang="en-US" sz="2400" dirty="0"/>
              <a:t> a </a:t>
            </a:r>
            <a:r>
              <a:rPr lang="en-US" sz="2400" dirty="0" err="1"/>
              <a:t>kéréseket</a:t>
            </a:r>
            <a:endParaRPr lang="en-US" sz="2400" dirty="0"/>
          </a:p>
        </p:txBody>
      </p:sp>
    </p:spTree>
    <p:extLst>
      <p:ext uri="{BB962C8B-B14F-4D97-AF65-F5344CB8AC3E}">
        <p14:creationId xmlns:p14="http://schemas.microsoft.com/office/powerpoint/2010/main" val="622577121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65D7F79-E191-A6D0-D770-F71C667DC08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21208" y="978408"/>
            <a:ext cx="11155680" cy="931415"/>
          </a:xfrm>
        </p:spPr>
        <p:txBody>
          <a:bodyPr>
            <a:normAutofit/>
          </a:bodyPr>
          <a:lstStyle/>
          <a:p>
            <a:r>
              <a:rPr lang="es-ES" sz="4000" dirty="0"/>
              <a:t>Mi </a:t>
            </a:r>
            <a:r>
              <a:rPr lang="es-ES" sz="4000" dirty="0" err="1"/>
              <a:t>hozta</a:t>
            </a:r>
            <a:r>
              <a:rPr lang="es-ES" sz="4000" dirty="0"/>
              <a:t> el a HTTP/2 </a:t>
            </a:r>
            <a:r>
              <a:rPr lang="es-ES" sz="4000" dirty="0" err="1"/>
              <a:t>fejlesztését</a:t>
            </a:r>
            <a:r>
              <a:rPr lang="es-ES" sz="4000" dirty="0"/>
              <a:t>?</a:t>
            </a:r>
            <a:endParaRPr lang="en-US" sz="4000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43008E6-D6DC-B764-A6FE-E310BB82C4E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21208" y="2028694"/>
            <a:ext cx="11155680" cy="4140612"/>
          </a:xfrm>
        </p:spPr>
        <p:txBody>
          <a:bodyPr>
            <a:noAutofit/>
          </a:bodyPr>
          <a:lstStyle/>
          <a:p>
            <a:pPr marL="0" indent="0">
              <a:lnSpc>
                <a:spcPct val="150000"/>
              </a:lnSpc>
              <a:buNone/>
            </a:pPr>
            <a:r>
              <a:rPr lang="en-US" sz="2400" dirty="0"/>
              <a:t>• A </a:t>
            </a:r>
            <a:r>
              <a:rPr lang="en-US" sz="2400" b="1" dirty="0"/>
              <a:t>multiplexing</a:t>
            </a:r>
            <a:r>
              <a:rPr lang="en-US" sz="2400" dirty="0"/>
              <a:t> </a:t>
            </a:r>
            <a:r>
              <a:rPr lang="en-US" sz="2400" dirty="0" err="1"/>
              <a:t>iránti</a:t>
            </a:r>
            <a:r>
              <a:rPr lang="en-US" sz="2400" dirty="0"/>
              <a:t> </a:t>
            </a:r>
            <a:r>
              <a:rPr lang="en-US" sz="2400" dirty="0" err="1"/>
              <a:t>igény</a:t>
            </a:r>
            <a:br>
              <a:rPr lang="en-US" sz="2400" dirty="0"/>
            </a:br>
            <a:r>
              <a:rPr lang="en-US" sz="2400" dirty="0"/>
              <a:t>• </a:t>
            </a:r>
            <a:r>
              <a:rPr lang="en-US" sz="2400" dirty="0" err="1"/>
              <a:t>Oldalak</a:t>
            </a:r>
            <a:r>
              <a:rPr lang="en-US" sz="2400" dirty="0"/>
              <a:t> </a:t>
            </a:r>
            <a:r>
              <a:rPr lang="en-US" sz="2400" b="1" dirty="0" err="1"/>
              <a:t>komplexitása</a:t>
            </a:r>
            <a:endParaRPr lang="hu-HU" sz="2400" b="1" dirty="0"/>
          </a:p>
          <a:p>
            <a:pPr marL="0" indent="0">
              <a:lnSpc>
                <a:spcPct val="150000"/>
              </a:lnSpc>
              <a:buNone/>
            </a:pPr>
            <a:r>
              <a:rPr lang="en-US" sz="2400" dirty="0"/>
              <a:t>• </a:t>
            </a:r>
            <a:r>
              <a:rPr lang="en-US" sz="2400" dirty="0" err="1"/>
              <a:t>Gyorsabb</a:t>
            </a:r>
            <a:r>
              <a:rPr lang="en-US" sz="2400" dirty="0"/>
              <a:t> </a:t>
            </a:r>
            <a:r>
              <a:rPr lang="en-US" sz="2400" dirty="0" err="1"/>
              <a:t>oldalbetöltés</a:t>
            </a:r>
            <a:endParaRPr lang="hu-HU" sz="2400" dirty="0"/>
          </a:p>
          <a:p>
            <a:pPr marL="0" indent="0">
              <a:lnSpc>
                <a:spcPct val="150000"/>
              </a:lnSpc>
              <a:buNone/>
            </a:pPr>
            <a:r>
              <a:rPr lang="en-US" sz="2400" dirty="0"/>
              <a:t>• </a:t>
            </a:r>
            <a:r>
              <a:rPr lang="en-US" sz="2400" b="1" dirty="0" err="1"/>
              <a:t>Kevesebb</a:t>
            </a:r>
            <a:r>
              <a:rPr lang="hu-HU" sz="2400" b="1" dirty="0"/>
              <a:t> (egyetlen)</a:t>
            </a:r>
            <a:r>
              <a:rPr lang="en-US" sz="2400" b="1" dirty="0"/>
              <a:t> TCP </a:t>
            </a:r>
            <a:r>
              <a:rPr lang="en-US" sz="2400" dirty="0" err="1"/>
              <a:t>kapcsolat</a:t>
            </a:r>
            <a:br>
              <a:rPr lang="en-US" sz="2400" dirty="0"/>
            </a:br>
            <a:r>
              <a:rPr lang="en-US" sz="2400" dirty="0"/>
              <a:t>• Mobil </a:t>
            </a:r>
            <a:r>
              <a:rPr lang="en-US" sz="2400" dirty="0" err="1"/>
              <a:t>hálózatok</a:t>
            </a:r>
            <a:r>
              <a:rPr lang="hu-HU" sz="2400" dirty="0"/>
              <a:t> megjelenése</a:t>
            </a:r>
          </a:p>
          <a:p>
            <a:pPr marL="0" indent="0">
              <a:lnSpc>
                <a:spcPct val="150000"/>
              </a:lnSpc>
              <a:buNone/>
            </a:pPr>
            <a:r>
              <a:rPr lang="en-US" sz="2400" dirty="0"/>
              <a:t>• SPDY </a:t>
            </a:r>
            <a:r>
              <a:rPr lang="hu-HU" sz="2400" dirty="0"/>
              <a:t> („</a:t>
            </a:r>
            <a:r>
              <a:rPr lang="hu-HU" sz="2400" dirty="0" err="1"/>
              <a:t>speedy</a:t>
            </a:r>
            <a:r>
              <a:rPr lang="hu-HU" sz="2400" dirty="0"/>
              <a:t>”) </a:t>
            </a:r>
            <a:r>
              <a:rPr lang="en-US" sz="2400" dirty="0"/>
              <a:t>Google</a:t>
            </a:r>
            <a:r>
              <a:rPr lang="hu-HU" sz="2400" dirty="0"/>
              <a:t> </a:t>
            </a:r>
            <a:r>
              <a:rPr lang="hu-HU" sz="2400" dirty="0" err="1"/>
              <a:t>kisérleti</a:t>
            </a:r>
            <a:r>
              <a:rPr lang="hu-HU" sz="2400" dirty="0"/>
              <a:t> protokollja alapozta meg</a:t>
            </a:r>
            <a:br>
              <a:rPr lang="en-US" sz="2400" dirty="0"/>
            </a:br>
            <a:endParaRPr lang="en-US" sz="2400" dirty="0"/>
          </a:p>
        </p:txBody>
      </p:sp>
    </p:spTree>
    <p:extLst>
      <p:ext uri="{BB962C8B-B14F-4D97-AF65-F5344CB8AC3E}">
        <p14:creationId xmlns:p14="http://schemas.microsoft.com/office/powerpoint/2010/main" val="466956734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12" name="Rectangle 11">
            <a:extLst>
              <a:ext uri="{FF2B5EF4-FFF2-40B4-BE49-F238E27FC236}">
                <a16:creationId xmlns:a16="http://schemas.microsoft.com/office/drawing/2014/main" id="{4065D9BE-A58D-6E8A-D4A2-5056F3C5E9C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88952" cy="6857995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8240D313-8FBE-35C4-77E0-6A76B1BDEAB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21208" y="978408"/>
            <a:ext cx="6469901" cy="896691"/>
          </a:xfrm>
        </p:spPr>
        <p:txBody>
          <a:bodyPr>
            <a:normAutofit/>
          </a:bodyPr>
          <a:lstStyle/>
          <a:p>
            <a:r>
              <a:rPr lang="en-US" sz="4000" dirty="0"/>
              <a:t>HTTP/2: </a:t>
            </a:r>
            <a:r>
              <a:rPr lang="en-US" sz="4000" dirty="0" err="1"/>
              <a:t>Bináris</a:t>
            </a:r>
            <a:r>
              <a:rPr lang="hu-HU" sz="4000" dirty="0"/>
              <a:t> protokoll</a:t>
            </a:r>
            <a:endParaRPr lang="en-US" sz="4000" dirty="0"/>
          </a:p>
        </p:txBody>
      </p:sp>
      <p:sp>
        <p:nvSpPr>
          <p:cNvPr id="14" name="Freeform: Shape 13">
            <a:extLst>
              <a:ext uri="{FF2B5EF4-FFF2-40B4-BE49-F238E27FC236}">
                <a16:creationId xmlns:a16="http://schemas.microsoft.com/office/drawing/2014/main" id="{A745E793-BC99-8991-71CD-53FFBB6A8F6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517870" y="508090"/>
            <a:ext cx="11156260" cy="149279"/>
          </a:xfrm>
          <a:custGeom>
            <a:avLst/>
            <a:gdLst>
              <a:gd name="connsiteX0" fmla="*/ 0 w 11156260"/>
              <a:gd name="connsiteY0" fmla="*/ 0 h 149279"/>
              <a:gd name="connsiteX1" fmla="*/ 11156260 w 11156260"/>
              <a:gd name="connsiteY1" fmla="*/ 0 h 149279"/>
              <a:gd name="connsiteX2" fmla="*/ 11156260 w 11156260"/>
              <a:gd name="connsiteY2" fmla="*/ 149279 h 149279"/>
              <a:gd name="connsiteX3" fmla="*/ 0 w 11156260"/>
              <a:gd name="connsiteY3" fmla="*/ 149279 h 14927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11156260" h="149279">
                <a:moveTo>
                  <a:pt x="0" y="0"/>
                </a:moveTo>
                <a:lnTo>
                  <a:pt x="11156260" y="0"/>
                </a:lnTo>
                <a:lnTo>
                  <a:pt x="11156260" y="149279"/>
                </a:lnTo>
                <a:lnTo>
                  <a:pt x="0" y="149279"/>
                </a:lnTo>
                <a:close/>
              </a:path>
            </a:pathLst>
          </a:cu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11258A4-25DC-9CD9-FEF8-4499C3590B4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7870" y="2112264"/>
            <a:ext cx="6091274" cy="3767328"/>
          </a:xfrm>
        </p:spPr>
        <p:txBody>
          <a:bodyPr>
            <a:normAutofit/>
          </a:bodyPr>
          <a:lstStyle/>
          <a:p>
            <a:pPr marL="0" indent="0">
              <a:lnSpc>
                <a:spcPct val="150000"/>
              </a:lnSpc>
              <a:buNone/>
            </a:pPr>
            <a:r>
              <a:rPr lang="en-US" sz="2000" dirty="0"/>
              <a:t>• A HTTP/2 </a:t>
            </a:r>
            <a:r>
              <a:rPr lang="en-US" sz="2000" b="1" dirty="0" err="1"/>
              <a:t>bináris</a:t>
            </a:r>
            <a:r>
              <a:rPr lang="en-US" sz="2000" dirty="0"/>
              <a:t> </a:t>
            </a:r>
            <a:r>
              <a:rPr lang="en-US" sz="2000" dirty="0" err="1"/>
              <a:t>protokoll</a:t>
            </a:r>
            <a:br>
              <a:rPr lang="en-US" sz="2000" dirty="0"/>
            </a:br>
            <a:r>
              <a:rPr lang="en-US" sz="2000" dirty="0"/>
              <a:t>• </a:t>
            </a:r>
            <a:r>
              <a:rPr lang="en-US" sz="2000" dirty="0" err="1"/>
              <a:t>Kérések</a:t>
            </a:r>
            <a:r>
              <a:rPr lang="en-US" sz="2000" dirty="0"/>
              <a:t> és </a:t>
            </a:r>
            <a:r>
              <a:rPr lang="en-US" sz="2000" dirty="0" err="1"/>
              <a:t>válaszok</a:t>
            </a:r>
            <a:r>
              <a:rPr lang="en-US" sz="2000" dirty="0"/>
              <a:t> </a:t>
            </a:r>
            <a:r>
              <a:rPr lang="en-US" sz="2000" b="1" dirty="0" err="1"/>
              <a:t>keretekre</a:t>
            </a:r>
            <a:r>
              <a:rPr lang="en-US" sz="2000" dirty="0"/>
              <a:t> (</a:t>
            </a:r>
            <a:r>
              <a:rPr lang="en-US" sz="2000" b="1" dirty="0"/>
              <a:t>frames</a:t>
            </a:r>
            <a:r>
              <a:rPr lang="en-US" sz="2000" dirty="0"/>
              <a:t>) </a:t>
            </a:r>
            <a:r>
              <a:rPr lang="en-US" sz="2000" dirty="0" err="1"/>
              <a:t>oszlanak</a:t>
            </a:r>
            <a:endParaRPr lang="hu-HU" sz="2000" dirty="0"/>
          </a:p>
          <a:p>
            <a:pPr marL="0" indent="0">
              <a:lnSpc>
                <a:spcPct val="150000"/>
              </a:lnSpc>
              <a:spcBef>
                <a:spcPts val="0"/>
              </a:spcBef>
              <a:buNone/>
            </a:pPr>
            <a:r>
              <a:rPr lang="en-US" sz="2000" dirty="0"/>
              <a:t>• </a:t>
            </a:r>
            <a:r>
              <a:rPr lang="en-US" sz="2000" b="1" dirty="0"/>
              <a:t>Stream</a:t>
            </a:r>
            <a:r>
              <a:rPr lang="en-US" sz="2000" dirty="0"/>
              <a:t> </a:t>
            </a:r>
            <a:r>
              <a:rPr lang="en-US" sz="2000" dirty="0" err="1"/>
              <a:t>alapú</a:t>
            </a:r>
            <a:r>
              <a:rPr lang="en-US" sz="2000" dirty="0"/>
              <a:t> </a:t>
            </a:r>
            <a:r>
              <a:rPr lang="en-US" sz="2000" dirty="0" err="1"/>
              <a:t>kommunikáció</a:t>
            </a:r>
            <a:br>
              <a:rPr lang="en-US" sz="2000" dirty="0"/>
            </a:br>
            <a:r>
              <a:rPr lang="en-US" sz="2000" dirty="0"/>
              <a:t>• </a:t>
            </a:r>
            <a:r>
              <a:rPr lang="en-US" sz="2000" dirty="0" err="1"/>
              <a:t>Külön</a:t>
            </a:r>
            <a:r>
              <a:rPr lang="en-US" sz="2000" dirty="0"/>
              <a:t> stream-ek </a:t>
            </a:r>
            <a:r>
              <a:rPr lang="en-US" sz="2000" b="1" dirty="0" err="1"/>
              <a:t>egyetlen</a:t>
            </a:r>
            <a:r>
              <a:rPr lang="en-US" sz="2000" b="1" dirty="0"/>
              <a:t> TCP </a:t>
            </a:r>
            <a:r>
              <a:rPr lang="en-US" sz="2000" dirty="0" err="1"/>
              <a:t>kapcsolaton</a:t>
            </a:r>
            <a:endParaRPr lang="en-US" sz="2000" dirty="0"/>
          </a:p>
        </p:txBody>
      </p:sp>
      <p:pic>
        <p:nvPicPr>
          <p:cNvPr id="7" name="Picture 6" descr="A diagram of a computer&#10;&#10;AI-generated content may be incorrect.">
            <a:extLst>
              <a:ext uri="{FF2B5EF4-FFF2-40B4-BE49-F238E27FC236}">
                <a16:creationId xmlns:a16="http://schemas.microsoft.com/office/drawing/2014/main" id="{9F56CF2B-7AB0-898F-9E6A-C13DAA886A71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293438" y="3429000"/>
            <a:ext cx="5579200" cy="276170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149951575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DAF1040-965F-2593-BA5A-16377BB0B0D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21208" y="978408"/>
            <a:ext cx="11155680" cy="954564"/>
          </a:xfrm>
        </p:spPr>
        <p:txBody>
          <a:bodyPr>
            <a:normAutofit/>
          </a:bodyPr>
          <a:lstStyle/>
          <a:p>
            <a:r>
              <a:rPr lang="en-US" sz="4000" dirty="0"/>
              <a:t>HTTP/2 Multiplexing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150856C-BF15-3549-80C3-FA4505AE059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68630" y="2138770"/>
            <a:ext cx="8255451" cy="3822192"/>
          </a:xfrm>
        </p:spPr>
        <p:txBody>
          <a:bodyPr>
            <a:normAutofit/>
          </a:bodyPr>
          <a:lstStyle/>
          <a:p>
            <a:pPr marL="0" indent="0">
              <a:lnSpc>
                <a:spcPct val="150000"/>
              </a:lnSpc>
              <a:buNone/>
            </a:pPr>
            <a:r>
              <a:rPr lang="hu-HU" sz="2400" dirty="0"/>
              <a:t>• </a:t>
            </a:r>
            <a:r>
              <a:rPr lang="hu-HU" sz="2400" b="1" dirty="0"/>
              <a:t>Több kérés és válasz </a:t>
            </a:r>
            <a:r>
              <a:rPr lang="hu-HU" sz="2400" dirty="0"/>
              <a:t>párhuzamosan</a:t>
            </a:r>
            <a:br>
              <a:rPr lang="hu-HU" sz="2400" dirty="0"/>
            </a:br>
            <a:r>
              <a:rPr lang="hu-HU" sz="2400" dirty="0"/>
              <a:t>• A böngésző </a:t>
            </a:r>
            <a:r>
              <a:rPr lang="hu-HU" sz="2400" b="1" dirty="0"/>
              <a:t>nem </a:t>
            </a:r>
            <a:r>
              <a:rPr lang="hu-HU" sz="2400" b="1" dirty="0" err="1"/>
              <a:t>blokkolódik</a:t>
            </a:r>
            <a:br>
              <a:rPr lang="hu-HU" sz="2400" dirty="0"/>
            </a:br>
            <a:r>
              <a:rPr lang="hu-HU" sz="2400" dirty="0"/>
              <a:t>• </a:t>
            </a:r>
            <a:r>
              <a:rPr lang="hu-HU" sz="2400" b="1" dirty="0"/>
              <a:t>Megszűnik a HOL </a:t>
            </a:r>
            <a:r>
              <a:rPr lang="hu-HU" sz="2400" b="1" dirty="0" err="1"/>
              <a:t>blocking</a:t>
            </a:r>
            <a:r>
              <a:rPr lang="hu-HU" sz="2400" b="1" dirty="0"/>
              <a:t> </a:t>
            </a:r>
            <a:r>
              <a:rPr lang="hu-HU" sz="2400" dirty="0"/>
              <a:t>a HTTP protokoll szinten</a:t>
            </a:r>
            <a:br>
              <a:rPr lang="hu-HU" sz="2400" dirty="0"/>
            </a:br>
            <a:r>
              <a:rPr lang="hu-HU" sz="2400" dirty="0"/>
              <a:t>• Nincs szükség több TCP kapcsolatra</a:t>
            </a:r>
          </a:p>
          <a:p>
            <a:pPr marL="0" indent="0">
              <a:lnSpc>
                <a:spcPct val="150000"/>
              </a:lnSpc>
              <a:spcBef>
                <a:spcPts val="0"/>
              </a:spcBef>
              <a:buNone/>
            </a:pPr>
            <a:r>
              <a:rPr lang="hu-HU" sz="2400" dirty="0"/>
              <a:t>• </a:t>
            </a:r>
            <a:r>
              <a:rPr lang="hu-HU" sz="2400" b="1" dirty="0"/>
              <a:t>Egy TCP kapcsolat</a:t>
            </a:r>
            <a:r>
              <a:rPr lang="hu-HU" sz="2400" dirty="0"/>
              <a:t>, sok </a:t>
            </a:r>
            <a:r>
              <a:rPr lang="hu-HU" sz="2400" dirty="0" err="1"/>
              <a:t>stream</a:t>
            </a:r>
            <a:endParaRPr lang="hu-HU" sz="2400" dirty="0"/>
          </a:p>
          <a:p>
            <a:pPr marL="0" indent="0">
              <a:lnSpc>
                <a:spcPct val="150000"/>
              </a:lnSpc>
              <a:spcBef>
                <a:spcPts val="0"/>
              </a:spcBef>
              <a:buNone/>
            </a:pPr>
            <a:r>
              <a:rPr lang="hu-HU" sz="2400" dirty="0"/>
              <a:t>• Minden </a:t>
            </a:r>
            <a:r>
              <a:rPr lang="hu-HU" sz="2400" dirty="0" err="1"/>
              <a:t>stream</a:t>
            </a:r>
            <a:r>
              <a:rPr lang="hu-HU" sz="2400" dirty="0"/>
              <a:t> kap egy azonosítót (</a:t>
            </a:r>
            <a:r>
              <a:rPr lang="hu-HU" sz="2400" dirty="0" err="1"/>
              <a:t>Stream</a:t>
            </a:r>
            <a:r>
              <a:rPr lang="hu-HU" sz="2400" dirty="0"/>
              <a:t> ID)</a:t>
            </a:r>
          </a:p>
          <a:p>
            <a:pPr marL="0" indent="0">
              <a:lnSpc>
                <a:spcPct val="150000"/>
              </a:lnSpc>
              <a:spcBef>
                <a:spcPts val="0"/>
              </a:spcBef>
              <a:buNone/>
            </a:pPr>
            <a:endParaRPr lang="hu-HU" sz="2400" dirty="0"/>
          </a:p>
        </p:txBody>
      </p:sp>
      <p:pic>
        <p:nvPicPr>
          <p:cNvPr id="5" name="Picture 4" descr="A close-up of a phone screen&#10;&#10;AI-generated content may be incorrect.">
            <a:extLst>
              <a:ext uri="{FF2B5EF4-FFF2-40B4-BE49-F238E27FC236}">
                <a16:creationId xmlns:a16="http://schemas.microsoft.com/office/drawing/2014/main" id="{50379D27-DCE0-07FF-23C8-515DBDE41D22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207116" y="978408"/>
            <a:ext cx="2463676" cy="559385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602189305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26" name="Picture 2">
            <a:extLst>
              <a:ext uri="{FF2B5EF4-FFF2-40B4-BE49-F238E27FC236}">
                <a16:creationId xmlns:a16="http://schemas.microsoft.com/office/drawing/2014/main" id="{6293E9C0-F7E4-6EF4-0F3C-C031AC0C2CA4}"/>
              </a:ext>
            </a:extLst>
          </p:cNvPr>
          <p:cNvPicPr>
            <a:picLocks noGrp="1" noChangeAspect="1" noChangeArrowheads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528797" y="1030146"/>
            <a:ext cx="8677571" cy="529194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40406661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46DFE1D-75F1-4A52-6AA9-8466809746C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21208" y="978408"/>
            <a:ext cx="11155680" cy="1128184"/>
          </a:xfrm>
        </p:spPr>
        <p:txBody>
          <a:bodyPr>
            <a:normAutofit/>
          </a:bodyPr>
          <a:lstStyle/>
          <a:p>
            <a:r>
              <a:rPr lang="hu-HU" sz="4000" dirty="0"/>
              <a:t>HTTP/2 egyéb újdonságai</a:t>
            </a:r>
            <a:endParaRPr lang="en-US" sz="4000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9FDFEAA-D8FD-659C-F843-028D3E57BEC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160" y="2254517"/>
            <a:ext cx="11155680" cy="3767328"/>
          </a:xfrm>
        </p:spPr>
        <p:txBody>
          <a:bodyPr>
            <a:normAutofit/>
          </a:bodyPr>
          <a:lstStyle/>
          <a:p>
            <a:pPr>
              <a:lnSpc>
                <a:spcPct val="150000"/>
              </a:lnSpc>
            </a:pPr>
            <a:r>
              <a:rPr lang="hu-HU" sz="2400" b="1" dirty="0"/>
              <a:t>HPACK</a:t>
            </a:r>
            <a:r>
              <a:rPr lang="hu-HU" sz="2400" dirty="0"/>
              <a:t>: </a:t>
            </a:r>
            <a:r>
              <a:rPr lang="hu-HU" sz="2400" dirty="0" err="1"/>
              <a:t>Header</a:t>
            </a:r>
            <a:r>
              <a:rPr lang="hu-HU" sz="2400" dirty="0"/>
              <a:t> </a:t>
            </a:r>
            <a:r>
              <a:rPr lang="hu-HU" sz="2400" dirty="0" err="1"/>
              <a:t>Compression</a:t>
            </a:r>
            <a:endParaRPr lang="hu-HU" sz="2400" dirty="0"/>
          </a:p>
          <a:p>
            <a:pPr>
              <a:lnSpc>
                <a:spcPct val="150000"/>
              </a:lnSpc>
            </a:pPr>
            <a:r>
              <a:rPr lang="en-US" sz="2400" dirty="0"/>
              <a:t>HPACK </a:t>
            </a:r>
            <a:r>
              <a:rPr lang="en-US" sz="2400" b="1" dirty="0" err="1"/>
              <a:t>tömöríti</a:t>
            </a:r>
            <a:r>
              <a:rPr lang="en-US" sz="2400" dirty="0"/>
              <a:t> </a:t>
            </a:r>
            <a:r>
              <a:rPr lang="en-US" sz="2400" b="1" dirty="0"/>
              <a:t>a</a:t>
            </a:r>
            <a:r>
              <a:rPr lang="en-US" sz="2400" dirty="0"/>
              <a:t> </a:t>
            </a:r>
            <a:r>
              <a:rPr lang="en-US" sz="2400" b="1" dirty="0" err="1"/>
              <a:t>fejléceket</a:t>
            </a:r>
            <a:r>
              <a:rPr lang="hu-HU" sz="2400" dirty="0"/>
              <a:t>, ezáltal j</a:t>
            </a:r>
            <a:r>
              <a:rPr lang="en-US" sz="2400" dirty="0" err="1"/>
              <a:t>elentős</a:t>
            </a:r>
            <a:r>
              <a:rPr lang="en-US" sz="2400" dirty="0"/>
              <a:t> </a:t>
            </a:r>
            <a:r>
              <a:rPr lang="en-US" sz="2400" dirty="0" err="1"/>
              <a:t>sávszélességcsökkenés</a:t>
            </a:r>
            <a:endParaRPr lang="hu-HU" sz="2400" dirty="0"/>
          </a:p>
          <a:p>
            <a:pPr>
              <a:lnSpc>
                <a:spcPct val="150000"/>
              </a:lnSpc>
            </a:pPr>
            <a:r>
              <a:rPr lang="hu-HU" sz="2400" b="1" dirty="0" err="1"/>
              <a:t>Stream</a:t>
            </a:r>
            <a:r>
              <a:rPr lang="hu-HU" sz="2400" dirty="0"/>
              <a:t> </a:t>
            </a:r>
            <a:r>
              <a:rPr lang="hu-HU" sz="2400" b="1" dirty="0" err="1"/>
              <a:t>priorítások</a:t>
            </a:r>
            <a:r>
              <a:rPr lang="hu-HU" sz="2400" dirty="0"/>
              <a:t>: böngésző közölheti, mi fontosabb</a:t>
            </a:r>
          </a:p>
          <a:p>
            <a:pPr>
              <a:lnSpc>
                <a:spcPct val="150000"/>
              </a:lnSpc>
            </a:pPr>
            <a:r>
              <a:rPr lang="en-US" sz="2400" b="1" dirty="0"/>
              <a:t>Server Push</a:t>
            </a:r>
            <a:r>
              <a:rPr lang="en-US" sz="2400" dirty="0"/>
              <a:t>: </a:t>
            </a:r>
            <a:r>
              <a:rPr lang="en-US" sz="2400" dirty="0" err="1"/>
              <a:t>előre</a:t>
            </a:r>
            <a:r>
              <a:rPr lang="en-US" sz="2400" dirty="0"/>
              <a:t> </a:t>
            </a:r>
            <a:r>
              <a:rPr lang="en-US" sz="2400" dirty="0" err="1"/>
              <a:t>küldött</a:t>
            </a:r>
            <a:r>
              <a:rPr lang="en-US" sz="2400" dirty="0"/>
              <a:t> </a:t>
            </a:r>
            <a:r>
              <a:rPr lang="en-US" sz="2400" dirty="0" err="1"/>
              <a:t>erőforrások</a:t>
            </a:r>
            <a:endParaRPr lang="en-US" sz="2400" dirty="0"/>
          </a:p>
        </p:txBody>
      </p:sp>
    </p:spTree>
    <p:extLst>
      <p:ext uri="{BB962C8B-B14F-4D97-AF65-F5344CB8AC3E}">
        <p14:creationId xmlns:p14="http://schemas.microsoft.com/office/powerpoint/2010/main" val="1368436067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40C1F62-8F0D-2F87-BB08-B504B0CECBA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21208" y="978408"/>
            <a:ext cx="11155680" cy="966139"/>
          </a:xfrm>
        </p:spPr>
        <p:txBody>
          <a:bodyPr>
            <a:normAutofit/>
          </a:bodyPr>
          <a:lstStyle/>
          <a:p>
            <a:r>
              <a:rPr lang="en-US" sz="4000" dirty="0"/>
              <a:t>HTTP/2 </a:t>
            </a:r>
            <a:r>
              <a:rPr lang="en-US" sz="4000" dirty="0" err="1"/>
              <a:t>hátránya</a:t>
            </a:r>
            <a:r>
              <a:rPr lang="en-US" sz="4000" dirty="0"/>
              <a:t>: TCP HOL blocking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579DCE8-15BA-CD97-3AA6-D32EA7198F5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21208" y="2254517"/>
            <a:ext cx="11155680" cy="3767328"/>
          </a:xfrm>
        </p:spPr>
        <p:txBody>
          <a:bodyPr/>
          <a:lstStyle/>
          <a:p>
            <a:pPr marL="0" indent="0">
              <a:lnSpc>
                <a:spcPct val="150000"/>
              </a:lnSpc>
              <a:buNone/>
            </a:pPr>
            <a:r>
              <a:rPr lang="hu-HU" dirty="0"/>
              <a:t>• </a:t>
            </a:r>
            <a:r>
              <a:rPr lang="hu-HU" sz="2400" dirty="0"/>
              <a:t>A HTTP-szintű HOL </a:t>
            </a:r>
            <a:r>
              <a:rPr lang="hu-HU" sz="2400" dirty="0" err="1"/>
              <a:t>blocking</a:t>
            </a:r>
            <a:r>
              <a:rPr lang="hu-HU" sz="2400" dirty="0"/>
              <a:t> ugyan megszűnt</a:t>
            </a:r>
            <a:br>
              <a:rPr lang="hu-HU" sz="2400" dirty="0"/>
            </a:br>
            <a:r>
              <a:rPr lang="hu-HU" sz="2400" dirty="0"/>
              <a:t>• De a </a:t>
            </a:r>
            <a:r>
              <a:rPr lang="hu-HU" sz="2400" b="1" dirty="0"/>
              <a:t>TCP-szintű HOL </a:t>
            </a:r>
            <a:r>
              <a:rPr lang="hu-HU" sz="2400" dirty="0"/>
              <a:t>még mindig fennáll</a:t>
            </a:r>
            <a:br>
              <a:rPr lang="hu-HU" sz="2400" dirty="0"/>
            </a:br>
            <a:r>
              <a:rPr lang="hu-HU" sz="2400" dirty="0"/>
              <a:t>• </a:t>
            </a:r>
            <a:r>
              <a:rPr lang="hu-HU" sz="2400" b="1" dirty="0"/>
              <a:t>Csomagvesztés</a:t>
            </a:r>
            <a:r>
              <a:rPr lang="hu-HU" sz="2400" dirty="0"/>
              <a:t> továbbra is lassítja az egész kapcsolatot</a:t>
            </a:r>
          </a:p>
          <a:p>
            <a:pPr marL="0" indent="0">
              <a:lnSpc>
                <a:spcPct val="150000"/>
              </a:lnSpc>
              <a:spcBef>
                <a:spcPts val="0"/>
              </a:spcBef>
              <a:buNone/>
            </a:pPr>
            <a:r>
              <a:rPr lang="hu-HU" sz="2400" dirty="0"/>
              <a:t>• </a:t>
            </a:r>
            <a:r>
              <a:rPr lang="en-US" sz="2400" dirty="0"/>
              <a:t>Egy </a:t>
            </a:r>
            <a:r>
              <a:rPr lang="en-US" sz="2400" dirty="0" err="1"/>
              <a:t>elveszett</a:t>
            </a:r>
            <a:r>
              <a:rPr lang="en-US" sz="2400" dirty="0"/>
              <a:t> </a:t>
            </a:r>
            <a:r>
              <a:rPr lang="en-US" sz="2400" dirty="0" err="1"/>
              <a:t>csomag</a:t>
            </a:r>
            <a:r>
              <a:rPr lang="en-US" sz="2400" dirty="0"/>
              <a:t> → </a:t>
            </a:r>
            <a:r>
              <a:rPr lang="en-US" sz="2400" dirty="0" err="1"/>
              <a:t>minden</a:t>
            </a:r>
            <a:r>
              <a:rPr lang="en-US" sz="2400" dirty="0"/>
              <a:t> stream </a:t>
            </a:r>
            <a:r>
              <a:rPr lang="en-US" sz="2400" dirty="0" err="1"/>
              <a:t>lassul</a:t>
            </a:r>
            <a:endParaRPr lang="hu-HU" sz="2400" dirty="0"/>
          </a:p>
          <a:p>
            <a:pPr marL="0" indent="0">
              <a:buNone/>
            </a:pP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749712792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E53B083-9AC7-2C9A-D111-455A21FDF22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21208" y="978408"/>
            <a:ext cx="11155680" cy="838817"/>
          </a:xfrm>
        </p:spPr>
        <p:txBody>
          <a:bodyPr>
            <a:normAutofit/>
          </a:bodyPr>
          <a:lstStyle/>
          <a:p>
            <a:r>
              <a:rPr lang="en-US" sz="4000" dirty="0"/>
              <a:t>HTTP/3 és a QUIC </a:t>
            </a:r>
            <a:r>
              <a:rPr lang="en-US" sz="4000" dirty="0" err="1"/>
              <a:t>protokoll</a:t>
            </a:r>
            <a:endParaRPr lang="en-US" sz="4000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E8591FF-0A4A-7A92-EA1F-454E706A62F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21208" y="2300816"/>
            <a:ext cx="11155680" cy="3767328"/>
          </a:xfrm>
        </p:spPr>
        <p:txBody>
          <a:bodyPr>
            <a:normAutofit/>
          </a:bodyPr>
          <a:lstStyle/>
          <a:p>
            <a:pPr marL="0" indent="0">
              <a:lnSpc>
                <a:spcPct val="150000"/>
              </a:lnSpc>
              <a:spcBef>
                <a:spcPts val="0"/>
              </a:spcBef>
              <a:buNone/>
            </a:pPr>
            <a:r>
              <a:rPr lang="en-US" sz="2400" dirty="0"/>
              <a:t>• </a:t>
            </a:r>
            <a:r>
              <a:rPr lang="en-US" sz="2400" b="1" dirty="0"/>
              <a:t>UDP</a:t>
            </a:r>
            <a:r>
              <a:rPr lang="en-US" sz="2400" dirty="0"/>
              <a:t> </a:t>
            </a:r>
            <a:r>
              <a:rPr lang="en-US" sz="2400" dirty="0" err="1"/>
              <a:t>alapú</a:t>
            </a:r>
            <a:r>
              <a:rPr lang="hu-HU" sz="2400" dirty="0"/>
              <a:t> protokoll, ami csak „hordozó”</a:t>
            </a:r>
          </a:p>
          <a:p>
            <a:pPr marL="0" indent="0">
              <a:lnSpc>
                <a:spcPct val="150000"/>
              </a:lnSpc>
              <a:spcBef>
                <a:spcPts val="0"/>
              </a:spcBef>
              <a:buNone/>
            </a:pPr>
            <a:r>
              <a:rPr lang="en-US" sz="2400" dirty="0"/>
              <a:t>• Google </a:t>
            </a:r>
            <a:r>
              <a:rPr lang="en-US" sz="2400" dirty="0" err="1"/>
              <a:t>fejlesztése</a:t>
            </a:r>
            <a:br>
              <a:rPr lang="en-US" sz="2400" dirty="0"/>
            </a:br>
            <a:r>
              <a:rPr lang="en-US" sz="2400" dirty="0"/>
              <a:t>• </a:t>
            </a:r>
            <a:r>
              <a:rPr lang="en-US" sz="2400" b="1" dirty="0"/>
              <a:t>QUIC</a:t>
            </a:r>
            <a:r>
              <a:rPr lang="hu-HU" sz="2400" b="1" dirty="0"/>
              <a:t> („</a:t>
            </a:r>
            <a:r>
              <a:rPr lang="hu-HU" sz="2400" b="1" dirty="0" err="1"/>
              <a:t>quick</a:t>
            </a:r>
            <a:r>
              <a:rPr lang="hu-HU" sz="2400" b="1" dirty="0"/>
              <a:t>”)</a:t>
            </a:r>
            <a:r>
              <a:rPr lang="en-US" sz="2400" dirty="0"/>
              <a:t>: User-space</a:t>
            </a:r>
            <a:r>
              <a:rPr lang="hu-HU" sz="2400" dirty="0"/>
              <a:t> (alkalmazás </a:t>
            </a:r>
            <a:r>
              <a:rPr lang="hu-HU" sz="2400" dirty="0" err="1"/>
              <a:t>rétegbeli</a:t>
            </a:r>
            <a:r>
              <a:rPr lang="hu-HU" sz="2400" dirty="0"/>
              <a:t>)</a:t>
            </a:r>
            <a:r>
              <a:rPr lang="en-US" sz="2400" dirty="0"/>
              <a:t> </a:t>
            </a:r>
            <a:r>
              <a:rPr lang="en-US" sz="2400" dirty="0" err="1"/>
              <a:t>implementáció</a:t>
            </a:r>
            <a:br>
              <a:rPr lang="en-US" sz="2400" dirty="0"/>
            </a:br>
            <a:r>
              <a:rPr lang="en-US" sz="2400" dirty="0"/>
              <a:t>• </a:t>
            </a:r>
            <a:r>
              <a:rPr lang="en-US" sz="2400" b="1" dirty="0" err="1"/>
              <a:t>Beépített</a:t>
            </a:r>
            <a:r>
              <a:rPr lang="en-US" sz="2400" b="1" dirty="0"/>
              <a:t> </a:t>
            </a:r>
            <a:r>
              <a:rPr lang="en-US" sz="2400" b="1" dirty="0" err="1"/>
              <a:t>titkosítás</a:t>
            </a:r>
            <a:r>
              <a:rPr lang="en-US" sz="2400" b="1" dirty="0"/>
              <a:t> </a:t>
            </a:r>
            <a:r>
              <a:rPr lang="en-US" sz="2400" dirty="0"/>
              <a:t>(TLS 1.3)</a:t>
            </a:r>
            <a:r>
              <a:rPr lang="hu-HU" sz="2400" dirty="0"/>
              <a:t>, ami kötelező</a:t>
            </a:r>
          </a:p>
          <a:p>
            <a:pPr marL="0" indent="0">
              <a:lnSpc>
                <a:spcPct val="150000"/>
              </a:lnSpc>
              <a:spcBef>
                <a:spcPts val="0"/>
              </a:spcBef>
              <a:buNone/>
            </a:pPr>
            <a:r>
              <a:rPr lang="en-US" sz="2400" dirty="0"/>
              <a:t>• </a:t>
            </a:r>
            <a:r>
              <a:rPr lang="en-US" sz="2400" b="1" dirty="0"/>
              <a:t>Multiplexing</a:t>
            </a:r>
            <a:r>
              <a:rPr lang="hu-HU" sz="2400" dirty="0"/>
              <a:t> és </a:t>
            </a:r>
            <a:r>
              <a:rPr lang="hu-HU" sz="2400" b="1" dirty="0"/>
              <a:t>streaming</a:t>
            </a:r>
            <a:r>
              <a:rPr lang="hu-HU" sz="2400" dirty="0"/>
              <a:t> támogatása</a:t>
            </a:r>
          </a:p>
          <a:p>
            <a:pPr marL="0" indent="0">
              <a:lnSpc>
                <a:spcPct val="150000"/>
              </a:lnSpc>
              <a:spcBef>
                <a:spcPts val="0"/>
              </a:spcBef>
              <a:buNone/>
            </a:pPr>
            <a:r>
              <a:rPr lang="en-US" sz="2400" dirty="0"/>
              <a:t>• </a:t>
            </a:r>
            <a:r>
              <a:rPr lang="hu-HU" sz="2400" dirty="0"/>
              <a:t>QUIC saját bináris </a:t>
            </a:r>
            <a:r>
              <a:rPr lang="hu-HU" sz="2400" dirty="0" err="1"/>
              <a:t>transport</a:t>
            </a:r>
            <a:r>
              <a:rPr lang="hu-HU" sz="2400" dirty="0"/>
              <a:t> protokoll, </a:t>
            </a:r>
            <a:r>
              <a:rPr lang="hu-HU" sz="2400" dirty="0" err="1"/>
              <a:t>stream</a:t>
            </a:r>
            <a:r>
              <a:rPr lang="hu-HU" sz="2400" dirty="0"/>
              <a:t> alapú átvitel</a:t>
            </a:r>
            <a:br>
              <a:rPr lang="en-US" dirty="0"/>
            </a:b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855835246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7BEE5E4-2439-025E-3D9C-036DD243354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21208" y="978408"/>
            <a:ext cx="11155680" cy="931415"/>
          </a:xfrm>
        </p:spPr>
        <p:txBody>
          <a:bodyPr>
            <a:normAutofit/>
          </a:bodyPr>
          <a:lstStyle/>
          <a:p>
            <a:r>
              <a:rPr lang="en-US" sz="4000" dirty="0"/>
              <a:t>HTTP/3: QUIC </a:t>
            </a:r>
            <a:r>
              <a:rPr lang="en-US" sz="4000" dirty="0" err="1"/>
              <a:t>felett</a:t>
            </a:r>
            <a:endParaRPr lang="en-US" sz="4000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852B91A-AD35-09B6-9A38-3BB07DBF42E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160" y="2112264"/>
            <a:ext cx="11155680" cy="3767328"/>
          </a:xfrm>
        </p:spPr>
        <p:txBody>
          <a:bodyPr>
            <a:normAutofit/>
          </a:bodyPr>
          <a:lstStyle/>
          <a:p>
            <a:pPr marL="0" indent="0">
              <a:lnSpc>
                <a:spcPct val="150000"/>
              </a:lnSpc>
              <a:spcBef>
                <a:spcPts val="0"/>
              </a:spcBef>
              <a:buNone/>
            </a:pPr>
            <a:r>
              <a:rPr lang="en-US" sz="2400" dirty="0"/>
              <a:t>• HTTP/3 = HTTP/2 </a:t>
            </a:r>
            <a:r>
              <a:rPr lang="en-US" sz="2400" dirty="0" err="1"/>
              <a:t>továbbfejlesztett</a:t>
            </a:r>
            <a:r>
              <a:rPr lang="en-US" sz="2400" dirty="0"/>
              <a:t> framing</a:t>
            </a:r>
            <a:br>
              <a:rPr lang="en-US" sz="2400" dirty="0"/>
            </a:br>
            <a:r>
              <a:rPr lang="en-US" sz="2400" dirty="0"/>
              <a:t>• Minden </a:t>
            </a:r>
            <a:r>
              <a:rPr lang="en-US" sz="2400" b="1" dirty="0"/>
              <a:t>stream</a:t>
            </a:r>
            <a:r>
              <a:rPr lang="en-US" sz="2400" dirty="0"/>
              <a:t> </a:t>
            </a:r>
            <a:r>
              <a:rPr lang="en-US" sz="2400" dirty="0" err="1"/>
              <a:t>külön</a:t>
            </a:r>
            <a:r>
              <a:rPr lang="en-US" sz="2400" dirty="0"/>
              <a:t> </a:t>
            </a:r>
            <a:r>
              <a:rPr lang="en-US" sz="2400" dirty="0" err="1"/>
              <a:t>kezelhető</a:t>
            </a:r>
            <a:r>
              <a:rPr lang="hu-HU" sz="2400" dirty="0"/>
              <a:t> és </a:t>
            </a:r>
            <a:r>
              <a:rPr lang="hu-HU" sz="2400" b="1" dirty="0"/>
              <a:t>független</a:t>
            </a:r>
          </a:p>
          <a:p>
            <a:pPr marL="0" indent="0">
              <a:lnSpc>
                <a:spcPct val="150000"/>
              </a:lnSpc>
              <a:spcBef>
                <a:spcPts val="0"/>
              </a:spcBef>
              <a:buNone/>
            </a:pPr>
            <a:r>
              <a:rPr lang="en-US" sz="2400" dirty="0"/>
              <a:t>• </a:t>
            </a:r>
            <a:r>
              <a:rPr lang="en-US" sz="2400" b="1" dirty="0" err="1"/>
              <a:t>Nincs</a:t>
            </a:r>
            <a:r>
              <a:rPr lang="en-US" sz="2400" b="1" dirty="0"/>
              <a:t> TCP-level HOL blocking</a:t>
            </a:r>
            <a:br>
              <a:rPr lang="en-US" sz="2400" dirty="0"/>
            </a:br>
            <a:r>
              <a:rPr lang="en-US" sz="2400" dirty="0"/>
              <a:t>• HOL blocking </a:t>
            </a:r>
            <a:r>
              <a:rPr lang="en-US" sz="2400" dirty="0" err="1"/>
              <a:t>teljes</a:t>
            </a:r>
            <a:r>
              <a:rPr lang="en-US" sz="2400" dirty="0"/>
              <a:t> </a:t>
            </a:r>
            <a:r>
              <a:rPr lang="en-US" sz="2400" dirty="0" err="1"/>
              <a:t>megszüntetése</a:t>
            </a:r>
            <a:endParaRPr lang="hu-HU" sz="2400" dirty="0"/>
          </a:p>
          <a:p>
            <a:pPr marL="0" indent="0">
              <a:lnSpc>
                <a:spcPct val="150000"/>
              </a:lnSpc>
              <a:spcBef>
                <a:spcPts val="0"/>
              </a:spcBef>
              <a:buNone/>
            </a:pPr>
            <a:r>
              <a:rPr lang="en-US" sz="2400" dirty="0"/>
              <a:t>• Csomagvesztés </a:t>
            </a:r>
            <a:r>
              <a:rPr lang="en-US" sz="2400" dirty="0" err="1"/>
              <a:t>csak</a:t>
            </a:r>
            <a:r>
              <a:rPr lang="en-US" sz="2400" dirty="0"/>
              <a:t> </a:t>
            </a:r>
            <a:r>
              <a:rPr lang="en-US" sz="2400" dirty="0" err="1"/>
              <a:t>az</a:t>
            </a:r>
            <a:r>
              <a:rPr lang="en-US" sz="2400" dirty="0"/>
              <a:t> </a:t>
            </a:r>
            <a:r>
              <a:rPr lang="en-US" sz="2400" dirty="0" err="1"/>
              <a:t>adott</a:t>
            </a:r>
            <a:r>
              <a:rPr lang="en-US" sz="2400" dirty="0"/>
              <a:t> </a:t>
            </a:r>
            <a:r>
              <a:rPr lang="en-US" sz="2400" dirty="0" err="1"/>
              <a:t>streamre</a:t>
            </a:r>
            <a:r>
              <a:rPr lang="en-US" sz="2400" dirty="0"/>
              <a:t> hat</a:t>
            </a:r>
            <a:endParaRPr lang="hu-HU" sz="2400" dirty="0"/>
          </a:p>
          <a:p>
            <a:pPr marL="0" indent="0">
              <a:lnSpc>
                <a:spcPct val="150000"/>
              </a:lnSpc>
              <a:spcBef>
                <a:spcPts val="0"/>
              </a:spcBef>
              <a:buNone/>
            </a:pPr>
            <a:r>
              <a:rPr lang="en-US" sz="2400" dirty="0"/>
              <a:t>• </a:t>
            </a:r>
            <a:r>
              <a:rPr lang="hu-HU" sz="2400" dirty="0"/>
              <a:t>QPACK: </a:t>
            </a:r>
            <a:r>
              <a:rPr lang="hu-HU" sz="2400" dirty="0" err="1"/>
              <a:t>Header</a:t>
            </a:r>
            <a:r>
              <a:rPr lang="hu-HU" sz="2400" dirty="0"/>
              <a:t> </a:t>
            </a:r>
            <a:r>
              <a:rPr lang="hu-HU" sz="2400" dirty="0" err="1"/>
              <a:t>Compression</a:t>
            </a:r>
            <a:endParaRPr lang="hu-HU" sz="2400" dirty="0"/>
          </a:p>
          <a:p>
            <a:pPr marL="0" indent="0">
              <a:lnSpc>
                <a:spcPct val="150000"/>
              </a:lnSpc>
              <a:spcBef>
                <a:spcPts val="0"/>
              </a:spcBef>
              <a:buNone/>
            </a:pPr>
            <a:endParaRPr lang="hu-HU" sz="2400" dirty="0"/>
          </a:p>
        </p:txBody>
      </p:sp>
    </p:spTree>
    <p:extLst>
      <p:ext uri="{BB962C8B-B14F-4D97-AF65-F5344CB8AC3E}">
        <p14:creationId xmlns:p14="http://schemas.microsoft.com/office/powerpoint/2010/main" val="1663555166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Content Placeholder 4" descr="A diagram of a computer network&#10;&#10;AI-generated content may be incorrect.">
            <a:extLst>
              <a:ext uri="{FF2B5EF4-FFF2-40B4-BE49-F238E27FC236}">
                <a16:creationId xmlns:a16="http://schemas.microsoft.com/office/drawing/2014/main" id="{E8D87E7A-E422-900F-A56A-33FE943013C3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290357" y="922920"/>
            <a:ext cx="5404387" cy="4760250"/>
          </a:xfrm>
          <a:prstGeom prst="rect">
            <a:avLst/>
          </a:prstGeom>
        </p:spPr>
      </p:pic>
      <p:pic>
        <p:nvPicPr>
          <p:cNvPr id="7" name="Picture 6" descr="A diagram of a computer network&#10;&#10;AI-generated content may be incorrect.">
            <a:extLst>
              <a:ext uri="{FF2B5EF4-FFF2-40B4-BE49-F238E27FC236}">
                <a16:creationId xmlns:a16="http://schemas.microsoft.com/office/drawing/2014/main" id="{716429FF-77FD-2C1B-CC44-032C4332456F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879939" y="1333825"/>
            <a:ext cx="5852840" cy="406713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651121070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481EDB2-2E57-38D2-1E4C-1E8B254E4B4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21208" y="978408"/>
            <a:ext cx="11155680" cy="885116"/>
          </a:xfrm>
        </p:spPr>
        <p:txBody>
          <a:bodyPr>
            <a:normAutofit/>
          </a:bodyPr>
          <a:lstStyle/>
          <a:p>
            <a:r>
              <a:rPr lang="en-US" sz="4000" dirty="0"/>
              <a:t>HTTP/3: </a:t>
            </a:r>
            <a:r>
              <a:rPr lang="en-US" sz="4000" dirty="0" err="1"/>
              <a:t>Válasz</a:t>
            </a:r>
            <a:r>
              <a:rPr lang="en-US" sz="4000" dirty="0"/>
              <a:t> a modern web </a:t>
            </a:r>
            <a:r>
              <a:rPr lang="en-US" sz="4000" dirty="0" err="1"/>
              <a:t>problémáira</a:t>
            </a:r>
            <a:endParaRPr lang="en-US" sz="4000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8203885-7E57-A0E8-4C05-A7C34659978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160" y="2112264"/>
            <a:ext cx="11155680" cy="3767328"/>
          </a:xfrm>
        </p:spPr>
        <p:txBody>
          <a:bodyPr>
            <a:normAutofit/>
          </a:bodyPr>
          <a:lstStyle/>
          <a:p>
            <a:pPr marL="0" indent="0">
              <a:lnSpc>
                <a:spcPct val="150000"/>
              </a:lnSpc>
              <a:spcBef>
                <a:spcPts val="0"/>
              </a:spcBef>
              <a:buNone/>
            </a:pPr>
            <a:r>
              <a:rPr lang="hu-HU" sz="2400" dirty="0"/>
              <a:t>• Egymástól </a:t>
            </a:r>
            <a:r>
              <a:rPr lang="hu-HU" sz="2400" b="1" dirty="0"/>
              <a:t>független</a:t>
            </a:r>
            <a:r>
              <a:rPr lang="hu-HU" sz="2400" dirty="0"/>
              <a:t> és </a:t>
            </a:r>
            <a:r>
              <a:rPr lang="hu-HU" sz="2400" b="1" dirty="0"/>
              <a:t>párhuzamos</a:t>
            </a:r>
            <a:r>
              <a:rPr lang="hu-HU" sz="2400" dirty="0"/>
              <a:t> </a:t>
            </a:r>
            <a:r>
              <a:rPr lang="hu-HU" sz="2400" b="1" dirty="0" err="1"/>
              <a:t>stream</a:t>
            </a:r>
            <a:r>
              <a:rPr lang="hu-HU" sz="2400" b="1" dirty="0"/>
              <a:t>-ek</a:t>
            </a:r>
          </a:p>
          <a:p>
            <a:pPr marL="0" indent="0">
              <a:lnSpc>
                <a:spcPct val="150000"/>
              </a:lnSpc>
              <a:spcBef>
                <a:spcPts val="0"/>
              </a:spcBef>
              <a:buNone/>
            </a:pPr>
            <a:r>
              <a:rPr lang="en-US" sz="2400" dirty="0"/>
              <a:t>• </a:t>
            </a:r>
            <a:r>
              <a:rPr lang="en-US" sz="2400" b="1" dirty="0" err="1"/>
              <a:t>Gyors</a:t>
            </a:r>
            <a:r>
              <a:rPr lang="en-US" sz="2400" dirty="0"/>
              <a:t> </a:t>
            </a:r>
            <a:r>
              <a:rPr lang="en-US" sz="2400" dirty="0" err="1"/>
              <a:t>kapcsolatfelépítés</a:t>
            </a:r>
            <a:br>
              <a:rPr lang="hu-HU" sz="2400" dirty="0"/>
            </a:br>
            <a:r>
              <a:rPr lang="hu-HU" sz="2400" dirty="0"/>
              <a:t>• </a:t>
            </a:r>
            <a:r>
              <a:rPr lang="hu-HU" sz="2400" b="1" dirty="0"/>
              <a:t>Kevesebb </a:t>
            </a:r>
            <a:r>
              <a:rPr lang="hu-HU" sz="2400" b="1" dirty="0" err="1"/>
              <a:t>round-trip</a:t>
            </a:r>
            <a:r>
              <a:rPr lang="hu-HU" sz="2400" dirty="0"/>
              <a:t>: Nincs külön TCP </a:t>
            </a:r>
            <a:r>
              <a:rPr lang="hu-HU" sz="2400" dirty="0" err="1"/>
              <a:t>handshake</a:t>
            </a:r>
            <a:r>
              <a:rPr lang="hu-HU" sz="2400" dirty="0"/>
              <a:t> és TLS </a:t>
            </a:r>
            <a:r>
              <a:rPr lang="hu-HU" sz="2400" dirty="0" err="1"/>
              <a:t>handshake</a:t>
            </a:r>
            <a:br>
              <a:rPr lang="hu-HU" sz="2400" dirty="0"/>
            </a:br>
            <a:r>
              <a:rPr lang="hu-HU" sz="2400" dirty="0"/>
              <a:t>• </a:t>
            </a:r>
            <a:r>
              <a:rPr lang="hu-HU" sz="2400" b="1" dirty="0"/>
              <a:t>Stabil</a:t>
            </a:r>
            <a:r>
              <a:rPr lang="hu-HU" sz="2400" dirty="0"/>
              <a:t> teljesítmény</a:t>
            </a:r>
          </a:p>
          <a:p>
            <a:pPr marL="0" indent="0">
              <a:lnSpc>
                <a:spcPct val="150000"/>
              </a:lnSpc>
              <a:spcBef>
                <a:spcPts val="0"/>
              </a:spcBef>
              <a:buNone/>
            </a:pPr>
            <a:r>
              <a:rPr lang="hu-HU" sz="2400" dirty="0"/>
              <a:t>• Még </a:t>
            </a:r>
            <a:r>
              <a:rPr lang="hu-HU" sz="2400" b="1" dirty="0"/>
              <a:t>gyorsabb</a:t>
            </a:r>
            <a:r>
              <a:rPr lang="hu-HU" sz="2400" dirty="0"/>
              <a:t> működés mobil hálózaton</a:t>
            </a:r>
            <a:endParaRPr lang="en-US" sz="2400" dirty="0"/>
          </a:p>
        </p:txBody>
      </p:sp>
    </p:spTree>
    <p:extLst>
      <p:ext uri="{BB962C8B-B14F-4D97-AF65-F5344CB8AC3E}">
        <p14:creationId xmlns:p14="http://schemas.microsoft.com/office/powerpoint/2010/main" val="485162518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5167470-A0C6-8029-34FD-BA867768AD4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21208" y="978408"/>
            <a:ext cx="11155680" cy="919840"/>
          </a:xfrm>
        </p:spPr>
        <p:txBody>
          <a:bodyPr>
            <a:normAutofit/>
          </a:bodyPr>
          <a:lstStyle/>
          <a:p>
            <a:r>
              <a:rPr lang="en-US" sz="3600" dirty="0" err="1"/>
              <a:t>Összehasonlítás</a:t>
            </a:r>
            <a:r>
              <a:rPr lang="en-US" sz="3600" dirty="0"/>
              <a:t>: HTTP/1.1 vs HTTP/2 vs HTTP/3</a:t>
            </a:r>
          </a:p>
        </p:txBody>
      </p:sp>
      <p:graphicFrame>
        <p:nvGraphicFramePr>
          <p:cNvPr id="4" name="Content Placeholder 3">
            <a:extLst>
              <a:ext uri="{FF2B5EF4-FFF2-40B4-BE49-F238E27FC236}">
                <a16:creationId xmlns:a16="http://schemas.microsoft.com/office/drawing/2014/main" id="{A557F946-4B78-8949-7C1B-1CD6482252C8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3267675631"/>
              </p:ext>
            </p:extLst>
          </p:nvPr>
        </p:nvGraphicFramePr>
        <p:xfrm>
          <a:off x="521208" y="1990846"/>
          <a:ext cx="11156948" cy="3981341"/>
        </p:xfrm>
        <a:graphic>
          <a:graphicData uri="http://schemas.openxmlformats.org/drawingml/2006/table">
            <a:tbl>
              <a:tblPr/>
              <a:tblGrid>
                <a:gridCol w="2789237">
                  <a:extLst>
                    <a:ext uri="{9D8B030D-6E8A-4147-A177-3AD203B41FA5}">
                      <a16:colId xmlns:a16="http://schemas.microsoft.com/office/drawing/2014/main" val="1497458430"/>
                    </a:ext>
                  </a:extLst>
                </a:gridCol>
                <a:gridCol w="2789237">
                  <a:extLst>
                    <a:ext uri="{9D8B030D-6E8A-4147-A177-3AD203B41FA5}">
                      <a16:colId xmlns:a16="http://schemas.microsoft.com/office/drawing/2014/main" val="1765974688"/>
                    </a:ext>
                  </a:extLst>
                </a:gridCol>
                <a:gridCol w="2789237">
                  <a:extLst>
                    <a:ext uri="{9D8B030D-6E8A-4147-A177-3AD203B41FA5}">
                      <a16:colId xmlns:a16="http://schemas.microsoft.com/office/drawing/2014/main" val="3953089719"/>
                    </a:ext>
                  </a:extLst>
                </a:gridCol>
                <a:gridCol w="2789237">
                  <a:extLst>
                    <a:ext uri="{9D8B030D-6E8A-4147-A177-3AD203B41FA5}">
                      <a16:colId xmlns:a16="http://schemas.microsoft.com/office/drawing/2014/main" val="3487249710"/>
                    </a:ext>
                  </a:extLst>
                </a:gridCol>
              </a:tblGrid>
              <a:tr h="568763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800" b="1" dirty="0" err="1"/>
                        <a:t>Tulajdonság</a:t>
                      </a:r>
                      <a:endParaRPr lang="en-US" sz="1800" b="1" dirty="0"/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800" b="1"/>
                        <a:t>HTTP/1.1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800" b="1"/>
                        <a:t>HTTP/2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800" b="1" dirty="0"/>
                        <a:t>HTTP/3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460361072"/>
                  </a:ext>
                </a:extLst>
              </a:tr>
              <a:tr h="568763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800"/>
                        <a:t>Transport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800"/>
                        <a:t>TCP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800"/>
                        <a:t>TCP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800" dirty="0"/>
                        <a:t>UDP </a:t>
                      </a:r>
                      <a:r>
                        <a:rPr lang="hu-HU" sz="1800" dirty="0"/>
                        <a:t>+ </a:t>
                      </a:r>
                      <a:r>
                        <a:rPr lang="en-US" sz="1800" dirty="0"/>
                        <a:t>QUIC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489190612"/>
                  </a:ext>
                </a:extLst>
              </a:tr>
              <a:tr h="568763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800"/>
                        <a:t>Multiplexing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800" dirty="0" err="1"/>
                        <a:t>Nincs</a:t>
                      </a:r>
                      <a:endParaRPr lang="en-US" sz="1800" dirty="0"/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800"/>
                        <a:t>Van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800"/>
                        <a:t>Valódi, full-duplex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683036362"/>
                  </a:ext>
                </a:extLst>
              </a:tr>
              <a:tr h="568763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800"/>
                        <a:t>HOL Blocking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800"/>
                        <a:t>Nagyon nagy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800"/>
                        <a:t>Részben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800"/>
                        <a:t>Gyakorlatilag nincs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528337491"/>
                  </a:ext>
                </a:extLst>
              </a:tr>
              <a:tr h="568763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800"/>
                        <a:t>Header Compression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800"/>
                        <a:t>Nincs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800"/>
                        <a:t>HPACK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800"/>
                        <a:t>QPACK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891563392"/>
                  </a:ext>
                </a:extLst>
              </a:tr>
              <a:tr h="568763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800"/>
                        <a:t>Titkosítás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800" dirty="0" err="1"/>
                        <a:t>Opcionális</a:t>
                      </a:r>
                      <a:endParaRPr lang="en-US" sz="1800" dirty="0"/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800"/>
                        <a:t>Opcionális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800" dirty="0" err="1"/>
                        <a:t>Mindig</a:t>
                      </a:r>
                      <a:r>
                        <a:rPr lang="hu-HU" sz="1800" dirty="0"/>
                        <a:t> (beépített)</a:t>
                      </a:r>
                      <a:endParaRPr lang="en-US" sz="1800" dirty="0"/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466911935"/>
                  </a:ext>
                </a:extLst>
              </a:tr>
              <a:tr h="568763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800"/>
                        <a:t>Prioritás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800" dirty="0" err="1"/>
                        <a:t>Nincs</a:t>
                      </a:r>
                      <a:endParaRPr lang="en-US" sz="1800" dirty="0"/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800"/>
                        <a:t>Van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hu-HU" sz="1800" dirty="0"/>
                        <a:t>Van</a:t>
                      </a:r>
                      <a:endParaRPr lang="en-US" sz="1800" dirty="0"/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4261403936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1191418710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8D1CA94-4D96-5134-ADD9-03D8EECB17B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21208" y="978408"/>
            <a:ext cx="11155680" cy="908265"/>
          </a:xfrm>
        </p:spPr>
        <p:txBody>
          <a:bodyPr>
            <a:normAutofit/>
          </a:bodyPr>
          <a:lstStyle/>
          <a:p>
            <a:r>
              <a:rPr lang="en-US" sz="4000" dirty="0"/>
              <a:t>Hol tart ma a HTTP/3 </a:t>
            </a:r>
            <a:r>
              <a:rPr lang="en-US" sz="4000" dirty="0" err="1"/>
              <a:t>elterjedtsége</a:t>
            </a:r>
            <a:r>
              <a:rPr lang="en-US" sz="4000" dirty="0"/>
              <a:t>?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E8C7746-CC86-FF2D-D0D3-2910C4EADF1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21208" y="2121292"/>
            <a:ext cx="11155680" cy="3767328"/>
          </a:xfrm>
        </p:spPr>
        <p:txBody>
          <a:bodyPr>
            <a:normAutofit/>
          </a:bodyPr>
          <a:lstStyle/>
          <a:p>
            <a:pPr marL="0" indent="0">
              <a:lnSpc>
                <a:spcPct val="150000"/>
              </a:lnSpc>
              <a:buNone/>
            </a:pPr>
            <a:r>
              <a:rPr lang="en-US" sz="2400" dirty="0"/>
              <a:t>• Google, Facebook, YouTube, Cloudflare → </a:t>
            </a:r>
            <a:r>
              <a:rPr lang="en-US" sz="2400" dirty="0" err="1"/>
              <a:t>teljes</a:t>
            </a:r>
            <a:r>
              <a:rPr lang="en-US" sz="2400" dirty="0"/>
              <a:t> </a:t>
            </a:r>
            <a:r>
              <a:rPr lang="en-US" sz="2400" dirty="0" err="1"/>
              <a:t>támogatás</a:t>
            </a:r>
            <a:br>
              <a:rPr lang="en-US" sz="2400" dirty="0"/>
            </a:br>
            <a:r>
              <a:rPr lang="en-US" sz="2400" dirty="0"/>
              <a:t>• </a:t>
            </a:r>
            <a:r>
              <a:rPr lang="en-US" sz="2400" dirty="0" err="1"/>
              <a:t>Böngészők</a:t>
            </a:r>
            <a:r>
              <a:rPr lang="en-US" sz="2400" dirty="0"/>
              <a:t>: Chrome, Firefox, Edge, Safari </a:t>
            </a:r>
            <a:r>
              <a:rPr lang="en-US" sz="2400" dirty="0" err="1"/>
              <a:t>támogatják</a:t>
            </a:r>
            <a:br>
              <a:rPr lang="en-US" sz="2400" dirty="0"/>
            </a:br>
            <a:r>
              <a:rPr lang="en-US" sz="2400" dirty="0"/>
              <a:t>• </a:t>
            </a:r>
            <a:r>
              <a:rPr lang="en-US" sz="2400" dirty="0" err="1"/>
              <a:t>Lassú</a:t>
            </a:r>
            <a:r>
              <a:rPr lang="en-US" sz="2400" dirty="0"/>
              <a:t>, de </a:t>
            </a:r>
            <a:r>
              <a:rPr lang="en-US" sz="2400" dirty="0" err="1"/>
              <a:t>stabil</a:t>
            </a:r>
            <a:r>
              <a:rPr lang="en-US" sz="2400" dirty="0"/>
              <a:t> </a:t>
            </a:r>
            <a:r>
              <a:rPr lang="en-US" sz="2400" dirty="0" err="1"/>
              <a:t>terjedés</a:t>
            </a:r>
            <a:r>
              <a:rPr lang="hu-HU" sz="2400" dirty="0"/>
              <a:t> jellemzi</a:t>
            </a:r>
            <a:endParaRPr lang="en-US" sz="2400" dirty="0"/>
          </a:p>
        </p:txBody>
      </p:sp>
    </p:spTree>
    <p:extLst>
      <p:ext uri="{BB962C8B-B14F-4D97-AF65-F5344CB8AC3E}">
        <p14:creationId xmlns:p14="http://schemas.microsoft.com/office/powerpoint/2010/main" val="3015044560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5532E2D-F677-B187-DD35-131D6E3E63D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21208" y="978408"/>
            <a:ext cx="11155680" cy="1012438"/>
          </a:xfrm>
        </p:spPr>
        <p:txBody>
          <a:bodyPr>
            <a:normAutofit/>
          </a:bodyPr>
          <a:lstStyle/>
          <a:p>
            <a:r>
              <a:rPr lang="en-US" sz="4000" dirty="0" err="1"/>
              <a:t>Összefoglalás</a:t>
            </a:r>
            <a:endParaRPr lang="en-US" sz="4000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BF69C2B-D3A8-37FB-E824-6FCE4D27536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21208" y="2323965"/>
            <a:ext cx="11155680" cy="3767328"/>
          </a:xfrm>
        </p:spPr>
        <p:txBody>
          <a:bodyPr>
            <a:normAutofit/>
          </a:bodyPr>
          <a:lstStyle/>
          <a:p>
            <a:pPr marL="0" indent="0">
              <a:lnSpc>
                <a:spcPct val="150000"/>
              </a:lnSpc>
              <a:buNone/>
            </a:pPr>
            <a:r>
              <a:rPr lang="en-US" sz="2400" dirty="0"/>
              <a:t>• </a:t>
            </a:r>
            <a:r>
              <a:rPr lang="en-US" sz="2400" b="1" dirty="0"/>
              <a:t>HTTP/1.1 </a:t>
            </a:r>
            <a:r>
              <a:rPr lang="en-US" sz="2400" dirty="0"/>
              <a:t>– </a:t>
            </a:r>
            <a:r>
              <a:rPr lang="en-US" sz="2400" dirty="0" err="1"/>
              <a:t>soros</a:t>
            </a:r>
            <a:r>
              <a:rPr lang="en-US" sz="2400" dirty="0"/>
              <a:t>, </a:t>
            </a:r>
            <a:r>
              <a:rPr lang="en-US" sz="2400" dirty="0" err="1"/>
              <a:t>lassú</a:t>
            </a:r>
            <a:r>
              <a:rPr lang="en-US" sz="2400" dirty="0"/>
              <a:t>, </a:t>
            </a:r>
            <a:r>
              <a:rPr lang="en-US" sz="2400" dirty="0" err="1"/>
              <a:t>sok</a:t>
            </a:r>
            <a:r>
              <a:rPr lang="en-US" sz="2400" dirty="0"/>
              <a:t> </a:t>
            </a:r>
            <a:r>
              <a:rPr lang="hu-HU" sz="2400" dirty="0"/>
              <a:t>TCP </a:t>
            </a:r>
            <a:r>
              <a:rPr lang="en-US" sz="2400" dirty="0" err="1"/>
              <a:t>kapcsolat</a:t>
            </a:r>
            <a:br>
              <a:rPr lang="en-US" sz="2400" dirty="0"/>
            </a:br>
            <a:r>
              <a:rPr lang="en-US" sz="2400" dirty="0"/>
              <a:t>• </a:t>
            </a:r>
            <a:r>
              <a:rPr lang="en-US" sz="2400" b="1" dirty="0"/>
              <a:t>HTTP/2</a:t>
            </a:r>
            <a:r>
              <a:rPr lang="en-US" sz="2400" dirty="0"/>
              <a:t> – multiplexing, </a:t>
            </a:r>
            <a:r>
              <a:rPr lang="en-US" sz="2400" dirty="0" err="1"/>
              <a:t>gyorsabb</a:t>
            </a:r>
            <a:r>
              <a:rPr lang="en-US" sz="2400" dirty="0"/>
              <a:t>, de TCP-</a:t>
            </a:r>
            <a:r>
              <a:rPr lang="en-US" sz="2400" dirty="0" err="1"/>
              <a:t>limitációkkal</a:t>
            </a:r>
            <a:br>
              <a:rPr lang="en-US" sz="2400" dirty="0"/>
            </a:br>
            <a:r>
              <a:rPr lang="en-US" sz="2400" dirty="0"/>
              <a:t>• </a:t>
            </a:r>
            <a:r>
              <a:rPr lang="en-US" sz="2400" b="1" dirty="0"/>
              <a:t>HTTP/3</a:t>
            </a:r>
            <a:r>
              <a:rPr lang="en-US" sz="2400" dirty="0"/>
              <a:t> – QUIC </a:t>
            </a:r>
            <a:r>
              <a:rPr lang="en-US" sz="2400" dirty="0" err="1"/>
              <a:t>alapú</a:t>
            </a:r>
            <a:r>
              <a:rPr lang="en-US" sz="2400" dirty="0"/>
              <a:t>, </a:t>
            </a:r>
            <a:r>
              <a:rPr lang="hu-HU" sz="2400" dirty="0"/>
              <a:t>UDP felett, </a:t>
            </a:r>
            <a:r>
              <a:rPr lang="en-US" sz="2400" dirty="0"/>
              <a:t>modern</a:t>
            </a:r>
            <a:r>
              <a:rPr lang="hu-HU" sz="2400" dirty="0"/>
              <a:t>, gyors</a:t>
            </a:r>
            <a:r>
              <a:rPr lang="en-US" sz="2400" dirty="0"/>
              <a:t>, a </a:t>
            </a:r>
            <a:r>
              <a:rPr lang="en-US" sz="2400" dirty="0" err="1"/>
              <a:t>jövő</a:t>
            </a:r>
            <a:r>
              <a:rPr lang="en-US" sz="2400" dirty="0"/>
              <a:t> </a:t>
            </a:r>
            <a:r>
              <a:rPr lang="en-US" sz="2400" dirty="0" err="1"/>
              <a:t>szabványa</a:t>
            </a:r>
            <a:endParaRPr lang="en-US" sz="2400" dirty="0"/>
          </a:p>
        </p:txBody>
      </p:sp>
    </p:spTree>
    <p:extLst>
      <p:ext uri="{BB962C8B-B14F-4D97-AF65-F5344CB8AC3E}">
        <p14:creationId xmlns:p14="http://schemas.microsoft.com/office/powerpoint/2010/main" val="2847921055"/>
      </p:ext>
    </p:extLst>
  </p:cSld>
  <p:clrMapOvr>
    <a:masterClrMapping/>
  </p:clrMapOvr>
</p:sld>
</file>

<file path=ppt/theme/theme1.xml><?xml version="1.0" encoding="utf-8"?>
<a:theme xmlns:a="http://schemas.openxmlformats.org/drawingml/2006/main" name="GestaltVTI">
  <a:themeElements>
    <a:clrScheme name="Gestalt">
      <a:dk1>
        <a:srgbClr val="000000"/>
      </a:dk1>
      <a:lt1>
        <a:sysClr val="window" lastClr="FFFFFF"/>
      </a:lt1>
      <a:dk2>
        <a:srgbClr val="262626"/>
      </a:dk2>
      <a:lt2>
        <a:srgbClr val="F7F7F7"/>
      </a:lt2>
      <a:accent1>
        <a:srgbClr val="EBA000"/>
      </a:accent1>
      <a:accent2>
        <a:srgbClr val="00BAC8"/>
      </a:accent2>
      <a:accent3>
        <a:srgbClr val="E64823"/>
      </a:accent3>
      <a:accent4>
        <a:srgbClr val="4D5AFF"/>
      </a:accent4>
      <a:accent5>
        <a:srgbClr val="FE5D21"/>
      </a:accent5>
      <a:accent6>
        <a:srgbClr val="00C777"/>
      </a:accent6>
      <a:hlink>
        <a:srgbClr val="2998E3"/>
      </a:hlink>
      <a:folHlink>
        <a:srgbClr val="939393"/>
      </a:folHlink>
    </a:clrScheme>
    <a:fontScheme name="Gestalt">
      <a:majorFont>
        <a:latin typeface="Bierstadt"/>
        <a:ea typeface=""/>
        <a:cs typeface=""/>
      </a:majorFont>
      <a:minorFont>
        <a:latin typeface="Bierstadt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GestaltVTI" id="{4F87C71D-53D1-4B71-BF97-FD0EA4B25665}" vid="{A110AFC4-8D8A-4C02-8885-7BA370B379B5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841</TotalTime>
  <Words>3242</Words>
  <Application>Microsoft Office PowerPoint</Application>
  <PresentationFormat>Widescreen</PresentationFormat>
  <Paragraphs>168</Paragraphs>
  <Slides>17</Slides>
  <Notes>15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17</vt:i4>
      </vt:variant>
    </vt:vector>
  </HeadingPairs>
  <TitlesOfParts>
    <vt:vector size="21" baseType="lpstr">
      <vt:lpstr>Aptos</vt:lpstr>
      <vt:lpstr>Arial</vt:lpstr>
      <vt:lpstr>Bierstadt</vt:lpstr>
      <vt:lpstr>GestaltVTI</vt:lpstr>
      <vt:lpstr>A webes kommunikáció fejlődése és modern protokollok működése   HTTP/1.1 → HTTP/2 → HTTP/3</vt:lpstr>
      <vt:lpstr>Miért kellett fejlődni a HTTP-nek?</vt:lpstr>
      <vt:lpstr>HTTP/1.1 működése röviden</vt:lpstr>
      <vt:lpstr>HTTP/1.1 teljesítménykorlátai</vt:lpstr>
      <vt:lpstr>Mi hozta el a HTTP/2 fejlesztését?</vt:lpstr>
      <vt:lpstr>HTTP/2: Bináris protokoll</vt:lpstr>
      <vt:lpstr>HTTP/2 Multiplexing</vt:lpstr>
      <vt:lpstr>PowerPoint Presentation</vt:lpstr>
      <vt:lpstr>HTTP/2 egyéb újdonságai</vt:lpstr>
      <vt:lpstr>HTTP/2 hátránya: TCP HOL blocking</vt:lpstr>
      <vt:lpstr>HTTP/3 és a QUIC protokoll</vt:lpstr>
      <vt:lpstr>HTTP/3: QUIC felett</vt:lpstr>
      <vt:lpstr>PowerPoint Presentation</vt:lpstr>
      <vt:lpstr>HTTP/3: Válasz a modern web problémáira</vt:lpstr>
      <vt:lpstr>Összehasonlítás: HTTP/1.1 vs HTTP/2 vs HTTP/3</vt:lpstr>
      <vt:lpstr>Hol tart ma a HTTP/3 elterjedtsége?</vt:lpstr>
      <vt:lpstr>Összefoglalás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Zoltan Balogh</dc:creator>
  <cp:lastModifiedBy>Zoltan Balogh</cp:lastModifiedBy>
  <cp:revision>45</cp:revision>
  <dcterms:created xsi:type="dcterms:W3CDTF">2025-11-30T15:45:28Z</dcterms:created>
  <dcterms:modified xsi:type="dcterms:W3CDTF">2026-02-10T09:15:02Z</dcterms:modified>
</cp:coreProperties>
</file>