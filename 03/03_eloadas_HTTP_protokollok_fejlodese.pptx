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0"/>
  </p:notesMasterIdLst>
  <p:sldIdLst>
    <p:sldId id="277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5182" autoAdjust="0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prezentációban megnézzük, hogyan fejlődött a HTTP protokoll a kezdetektől napjainkig. A HTTP mára a világ legelterjedtebb alkalmazási protokollja, a web működésének alapja, és mégis sokszor csak annyit látunk belőle, hogy 'betölt egy weboldal'. Valójában óriási technológiai fejlődés áll mögötte.</a:t>
            </a:r>
          </a:p>
          <a:p>
            <a:endParaRPr lang="hu-HU" dirty="0"/>
          </a:p>
          <a:p>
            <a:r>
              <a:rPr lang="hu-HU" dirty="0"/>
              <a:t>Fokozatosan haladunk végig a három korszakon:</a:t>
            </a:r>
            <a:br>
              <a:rPr lang="hu-HU" dirty="0"/>
            </a:br>
            <a:r>
              <a:rPr lang="hu-HU" dirty="0"/>
              <a:t>– először áttekintjük a HTTP/1.1-et, amely több mint 20 éven át meghatározta a web működését,</a:t>
            </a:r>
            <a:br>
              <a:rPr lang="hu-HU" dirty="0"/>
            </a:br>
            <a:r>
              <a:rPr lang="hu-HU" dirty="0"/>
              <a:t>– utána megnézzük, milyen teljesítményproblémák jelentek meg és hogy erre miként válaszolt a HTTP/2,</a:t>
            </a:r>
            <a:br>
              <a:rPr lang="hu-HU" dirty="0"/>
            </a:br>
            <a:r>
              <a:rPr lang="hu-HU" dirty="0"/>
              <a:t>– végül megértjük a QUIC alapú HTTP/3-at, ami már UDP-re épül, és teljesen átalakítja azt, ahogyan a kapcsolatkezelés és az adatátvitel történik.</a:t>
            </a:r>
          </a:p>
          <a:p>
            <a:endParaRPr lang="hu-HU" dirty="0"/>
          </a:p>
          <a:p>
            <a:r>
              <a:rPr lang="hu-HU" dirty="0"/>
              <a:t>A cél, hogy az előadás végére átlásd nemcsak az egyes protokollok működését, hanem azt is, hogy milyen problémát oldottak meg, és hogy a modern web miért működik sokkal gyorsabban.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Hogy megértsük, miért kellett új HTTP protokollokat fejleszteni, fontos áttekinteni, hogyan változott meg a web. A 2000-es évek elején egy weboldal betöltéséhez néhány fájlt kellett letölteni – HTML, pár kép, esetleg 1–2 CSS fájl. A HTTP/1.1 erre tökéletesen megfelelt.</a:t>
            </a:r>
          </a:p>
          <a:p>
            <a:endParaRPr lang="hu-HU" dirty="0"/>
          </a:p>
          <a:p>
            <a:r>
              <a:rPr lang="hu-HU" dirty="0"/>
              <a:t>Ahogy azonban a web </a:t>
            </a:r>
            <a:r>
              <a:rPr lang="hu-HU" dirty="0" err="1"/>
              <a:t>kinőtte</a:t>
            </a:r>
            <a:r>
              <a:rPr lang="hu-HU" dirty="0"/>
              <a:t> magát, a következő jelenségek jelentek meg:</a:t>
            </a:r>
          </a:p>
          <a:p>
            <a:r>
              <a:rPr lang="hu-HU" dirty="0"/>
              <a:t>– A modern oldalak rengeteg erőforrást töltenek be: nagy képeket, több megabájtos JavaScript csomagokat, harmadik féltől származó </a:t>
            </a:r>
            <a:r>
              <a:rPr lang="hu-HU" dirty="0" err="1"/>
              <a:t>szkripteket</a:t>
            </a:r>
            <a:r>
              <a:rPr lang="hu-HU" dirty="0"/>
              <a:t>, API hívásokat.</a:t>
            </a:r>
            <a:br>
              <a:rPr lang="hu-HU" dirty="0"/>
            </a:br>
            <a:r>
              <a:rPr lang="hu-HU" dirty="0"/>
              <a:t>– A mobil internetezés elterjedésével a késleltetés felment. Mobilon egy körülbelül 100–200 </a:t>
            </a:r>
            <a:r>
              <a:rPr lang="hu-HU" dirty="0" err="1"/>
              <a:t>ms</a:t>
            </a:r>
            <a:r>
              <a:rPr lang="hu-HU" dirty="0"/>
              <a:t> RTT (</a:t>
            </a:r>
            <a:r>
              <a:rPr lang="hu-HU" dirty="0" err="1"/>
              <a:t>Round</a:t>
            </a:r>
            <a:r>
              <a:rPr lang="hu-HU" dirty="0"/>
              <a:t> </a:t>
            </a:r>
            <a:r>
              <a:rPr lang="hu-HU" dirty="0" err="1"/>
              <a:t>Trip</a:t>
            </a:r>
            <a:r>
              <a:rPr lang="hu-HU" dirty="0"/>
              <a:t> Time) teljesen átlagos — a HTTP/1.1 tervezésekor ennyi még elképzelhetetlen volt.</a:t>
            </a:r>
            <a:br>
              <a:rPr lang="hu-HU" dirty="0"/>
            </a:br>
            <a:r>
              <a:rPr lang="hu-HU" dirty="0"/>
              <a:t>– A weboldalak tipikusan 80–150 fájlt töltenek be, egy komplex SPA esetén akár többet is. A HTTP/1.1 viszont nem erre a fajta terhelésre készült. HTTP/1.1 erre technikailag nem volt felkészülve, mert egy TCP kapcsolaton egyszerre csak egy kérés várhatott választ, ezért a böngészők többszörös kapcsolatot nyitottak ugyanahhoz a szerverhez. Ez nemcsak lassú volt, hanem a TCP működésével is szembement.</a:t>
            </a:r>
          </a:p>
          <a:p>
            <a:endParaRPr lang="hu-HU" dirty="0"/>
          </a:p>
          <a:p>
            <a:r>
              <a:rPr lang="hu-HU" dirty="0"/>
              <a:t>Ezért mielőtt belemennénk a protokollok részleteibe, fontos látni, hogy a HTTP/1.1 egyszerűen '</a:t>
            </a:r>
            <a:r>
              <a:rPr lang="hu-HU" dirty="0" err="1"/>
              <a:t>kinőtte</a:t>
            </a:r>
            <a:r>
              <a:rPr lang="hu-HU" dirty="0"/>
              <a:t>' azt a környezet, amire eredetileg készült.</a:t>
            </a:r>
          </a:p>
          <a:p>
            <a:r>
              <a:rPr lang="hu-HU" dirty="0"/>
              <a:t>Megjegyzés: a HTTP/1.1 protokollt még most is sok helyen használják. Hiszen sok olyan felhasználási eset van, ahol ez a protokoll még mindig megfelelő (vagy maga az átállás költséges lenne).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HTTP/1.1 </a:t>
            </a:r>
            <a:r>
              <a:rPr lang="en-US" dirty="0" err="1"/>
              <a:t>bevezette</a:t>
            </a:r>
            <a:r>
              <a:rPr lang="en-US" dirty="0"/>
              <a:t> a persistent </a:t>
            </a:r>
            <a:r>
              <a:rPr lang="en-US" dirty="0" err="1"/>
              <a:t>connectiont</a:t>
            </a:r>
            <a:r>
              <a:rPr lang="en-US" dirty="0"/>
              <a:t>, </a:t>
            </a:r>
            <a:r>
              <a:rPr lang="en-US" dirty="0" err="1"/>
              <a:t>tehát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kérést</a:t>
            </a:r>
            <a:r>
              <a:rPr lang="en-US" dirty="0"/>
              <a:t> is </a:t>
            </a:r>
            <a:r>
              <a:rPr lang="en-US" dirty="0" err="1"/>
              <a:t>küldhettünk</a:t>
            </a:r>
            <a:r>
              <a:rPr lang="en-US" dirty="0"/>
              <a:t> </a:t>
            </a:r>
            <a:r>
              <a:rPr lang="en-US" dirty="0" err="1"/>
              <a:t>ugyanazon</a:t>
            </a:r>
            <a:r>
              <a:rPr lang="en-US" dirty="0"/>
              <a:t> TCP </a:t>
            </a:r>
            <a:r>
              <a:rPr lang="en-US" dirty="0" err="1"/>
              <a:t>kapcsolat</a:t>
            </a:r>
            <a:r>
              <a:rPr lang="en-US" dirty="0"/>
              <a:t> </a:t>
            </a:r>
            <a:r>
              <a:rPr lang="en-US" dirty="0" err="1"/>
              <a:t>felett</a:t>
            </a:r>
            <a:r>
              <a:rPr lang="en-US" dirty="0"/>
              <a:t>. </a:t>
            </a:r>
            <a:r>
              <a:rPr lang="hu-HU" dirty="0"/>
              <a:t>A HTTP/1.1 egyetlen folytonos TCP kapcsolaton működik, ahol a kérések és válaszok egymás után, sorban utaznak. Bár a '</a:t>
            </a:r>
            <a:r>
              <a:rPr lang="hu-HU" dirty="0" err="1"/>
              <a:t>keep-alive</a:t>
            </a:r>
            <a:r>
              <a:rPr lang="hu-HU" dirty="0"/>
              <a:t>' lehetővé tette, hogy ugyanazt a kapcsolatot többször használjuk új kérésekhez, sokkal jobban hangzik, mint amennyire hatékony valójában.</a:t>
            </a:r>
          </a:p>
          <a:p>
            <a:r>
              <a:rPr lang="hu-HU" dirty="0"/>
              <a:t>Megjegyzés: </a:t>
            </a:r>
            <a:r>
              <a:rPr lang="en-US" dirty="0" err="1"/>
              <a:t>Papíron</a:t>
            </a:r>
            <a:r>
              <a:rPr lang="en-US" dirty="0"/>
              <a:t> volt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úgynevezett</a:t>
            </a:r>
            <a:r>
              <a:rPr lang="en-US" dirty="0"/>
              <a:t> pipeline </a:t>
            </a:r>
            <a:r>
              <a:rPr lang="en-US" dirty="0" err="1"/>
              <a:t>mechanizmus</a:t>
            </a:r>
            <a:r>
              <a:rPr lang="en-US" dirty="0"/>
              <a:t> is</a:t>
            </a:r>
            <a:r>
              <a:rPr lang="hu-HU" dirty="0"/>
              <a:t> (több kérés egy TCP kapcsolaton)</a:t>
            </a:r>
            <a:r>
              <a:rPr lang="en-US" dirty="0"/>
              <a:t>, de a </a:t>
            </a:r>
            <a:r>
              <a:rPr lang="en-US" dirty="0" err="1"/>
              <a:t>gyakorlatban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használták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</a:t>
            </a:r>
            <a:r>
              <a:rPr lang="en-US" dirty="0" err="1"/>
              <a:t>sorrendi</a:t>
            </a:r>
            <a:r>
              <a:rPr lang="en-US" dirty="0"/>
              <a:t> </a:t>
            </a:r>
            <a:r>
              <a:rPr lang="en-US" dirty="0" err="1"/>
              <a:t>problémák</a:t>
            </a:r>
            <a:r>
              <a:rPr lang="en-US" dirty="0"/>
              <a:t> </a:t>
            </a:r>
            <a:r>
              <a:rPr lang="en-US" dirty="0" err="1"/>
              <a:t>voltak</a:t>
            </a:r>
            <a:r>
              <a:rPr lang="hu-HU" dirty="0"/>
              <a:t>, és az implementációk se voltak tökéletesek. (</a:t>
            </a:r>
            <a:r>
              <a:rPr lang="en-US" dirty="0"/>
              <a:t>pipelining </a:t>
            </a:r>
            <a:r>
              <a:rPr lang="en-US" dirty="0" err="1"/>
              <a:t>gyakorlatilag</a:t>
            </a:r>
            <a:r>
              <a:rPr lang="en-US" dirty="0"/>
              <a:t> </a:t>
            </a:r>
            <a:r>
              <a:rPr lang="en-US" dirty="0" err="1"/>
              <a:t>használhatatlan</a:t>
            </a:r>
            <a:r>
              <a:rPr lang="en-US" dirty="0"/>
              <a:t> </a:t>
            </a:r>
            <a:r>
              <a:rPr lang="en-US" dirty="0" err="1"/>
              <a:t>lett</a:t>
            </a:r>
            <a:r>
              <a:rPr lang="hu-HU" dirty="0"/>
              <a:t>)</a:t>
            </a:r>
          </a:p>
          <a:p>
            <a:r>
              <a:rPr lang="hu-HU" dirty="0"/>
              <a:t>Fontos: </a:t>
            </a:r>
            <a:r>
              <a:rPr lang="en-US" dirty="0"/>
              <a:t>A HTTP/1.1 </a:t>
            </a:r>
            <a:r>
              <a:rPr lang="en-US" b="1" dirty="0" err="1"/>
              <a:t>kötelezően</a:t>
            </a:r>
            <a:r>
              <a:rPr lang="en-US" b="1" dirty="0"/>
              <a:t> </a:t>
            </a:r>
            <a:r>
              <a:rPr lang="en-US" b="1" dirty="0" err="1"/>
              <a:t>előírja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hu-HU" dirty="0"/>
              <a:t> a</a:t>
            </a:r>
            <a:r>
              <a:rPr lang="en-US" dirty="0"/>
              <a:t> </a:t>
            </a:r>
            <a:r>
              <a:rPr lang="en-US" dirty="0" err="1"/>
              <a:t>válaszok</a:t>
            </a:r>
            <a:r>
              <a:rPr lang="en-US" dirty="0"/>
              <a:t> </a:t>
            </a:r>
            <a:r>
              <a:rPr lang="en-US" b="1" dirty="0" err="1"/>
              <a:t>ugyanabban</a:t>
            </a:r>
            <a:r>
              <a:rPr lang="en-US" b="1" dirty="0"/>
              <a:t> a </a:t>
            </a:r>
            <a:r>
              <a:rPr lang="en-US" b="1" dirty="0" err="1"/>
              <a:t>sorrendben</a:t>
            </a:r>
            <a:r>
              <a:rPr lang="en-US" dirty="0"/>
              <a:t> </a:t>
            </a:r>
            <a:r>
              <a:rPr lang="en-US" dirty="0" err="1"/>
              <a:t>érkezzenek</a:t>
            </a:r>
            <a:r>
              <a:rPr lang="en-US" dirty="0"/>
              <a:t> meg, mint a</a:t>
            </a:r>
            <a:r>
              <a:rPr lang="hu-HU" dirty="0"/>
              <a:t>hogy</a:t>
            </a:r>
            <a:r>
              <a:rPr lang="en-US" dirty="0"/>
              <a:t> </a:t>
            </a:r>
            <a:r>
              <a:rPr lang="hu-HU" dirty="0"/>
              <a:t>kérések el lettek küldve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 err="1"/>
              <a:t>Két</a:t>
            </a:r>
            <a:r>
              <a:rPr lang="en-US" dirty="0"/>
              <a:t> </a:t>
            </a:r>
            <a:r>
              <a:rPr lang="en-US" dirty="0" err="1"/>
              <a:t>alapvető</a:t>
            </a:r>
            <a:r>
              <a:rPr lang="en-US" dirty="0"/>
              <a:t> </a:t>
            </a:r>
            <a:r>
              <a:rPr lang="en-US" dirty="0" err="1"/>
              <a:t>probléma</a:t>
            </a:r>
            <a:r>
              <a:rPr lang="en-US" dirty="0"/>
              <a:t> van:</a:t>
            </a:r>
          </a:p>
          <a:p>
            <a:r>
              <a:rPr lang="en-US" b="1" dirty="0"/>
              <a:t>A </a:t>
            </a:r>
            <a:r>
              <a:rPr lang="en-US" b="1" dirty="0" err="1"/>
              <a:t>böngésző</a:t>
            </a:r>
            <a:r>
              <a:rPr lang="en-US" b="1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tud</a:t>
            </a:r>
            <a:r>
              <a:rPr lang="en-US" b="1" dirty="0"/>
              <a:t> </a:t>
            </a:r>
            <a:r>
              <a:rPr lang="en-US" b="1" dirty="0" err="1"/>
              <a:t>egyszerre</a:t>
            </a:r>
            <a:r>
              <a:rPr lang="en-US" b="1" dirty="0"/>
              <a:t> </a:t>
            </a:r>
            <a:r>
              <a:rPr lang="en-US" b="1" dirty="0" err="1"/>
              <a:t>több</a:t>
            </a:r>
            <a:r>
              <a:rPr lang="en-US" b="1" dirty="0"/>
              <a:t> </a:t>
            </a:r>
            <a:r>
              <a:rPr lang="en-US" b="1" dirty="0" err="1"/>
              <a:t>választ</a:t>
            </a:r>
            <a:r>
              <a:rPr lang="en-US" b="1" dirty="0"/>
              <a:t> </a:t>
            </a:r>
            <a:r>
              <a:rPr lang="en-US" b="1" dirty="0" err="1"/>
              <a:t>fogadni</a:t>
            </a:r>
            <a:r>
              <a:rPr lang="en-US" b="1" dirty="0"/>
              <a:t>.</a:t>
            </a:r>
            <a:br>
              <a:rPr lang="en-US" dirty="0"/>
            </a:br>
            <a:r>
              <a:rPr lang="en-US" dirty="0"/>
              <a:t>A HTTP/1.1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támogatja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egyszerre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érkezzen</a:t>
            </a:r>
            <a:r>
              <a:rPr lang="en-US" dirty="0"/>
              <a:t> </a:t>
            </a:r>
            <a:r>
              <a:rPr lang="en-US" dirty="0" err="1"/>
              <a:t>egyetlen</a:t>
            </a:r>
            <a:r>
              <a:rPr lang="en-US" dirty="0"/>
              <a:t> TCP </a:t>
            </a:r>
            <a:r>
              <a:rPr lang="en-US" dirty="0" err="1"/>
              <a:t>kapcsolaton</a:t>
            </a:r>
            <a:r>
              <a:rPr lang="en-US" dirty="0"/>
              <a:t>. </a:t>
            </a:r>
            <a:r>
              <a:rPr lang="en-US" dirty="0" err="1"/>
              <a:t>Emiatt</a:t>
            </a:r>
            <a:r>
              <a:rPr lang="en-US" dirty="0"/>
              <a:t> a </a:t>
            </a:r>
            <a:r>
              <a:rPr lang="en-US" dirty="0" err="1"/>
              <a:t>böngészők</a:t>
            </a:r>
            <a:r>
              <a:rPr lang="en-US" dirty="0"/>
              <a:t> </a:t>
            </a:r>
            <a:r>
              <a:rPr lang="en-US" dirty="0" err="1"/>
              <a:t>úgy</a:t>
            </a:r>
            <a:r>
              <a:rPr lang="en-US" dirty="0"/>
              <a:t> </a:t>
            </a:r>
            <a:r>
              <a:rPr lang="en-US" dirty="0" err="1"/>
              <a:t>döntöttek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párhuzamos</a:t>
            </a:r>
            <a:r>
              <a:rPr lang="en-US" dirty="0"/>
              <a:t> TCP </a:t>
            </a:r>
            <a:r>
              <a:rPr lang="en-US" dirty="0" err="1"/>
              <a:t>kapcsolatot</a:t>
            </a:r>
            <a:r>
              <a:rPr lang="en-US" dirty="0"/>
              <a:t> </a:t>
            </a:r>
            <a:r>
              <a:rPr lang="en-US" dirty="0" err="1"/>
              <a:t>nyitnak</a:t>
            </a:r>
            <a:r>
              <a:rPr lang="en-US" dirty="0"/>
              <a:t> </a:t>
            </a:r>
            <a:r>
              <a:rPr lang="en-US" dirty="0" err="1"/>
              <a:t>ugyanahhoz</a:t>
            </a:r>
            <a:r>
              <a:rPr lang="en-US" dirty="0"/>
              <a:t> a </a:t>
            </a:r>
            <a:r>
              <a:rPr lang="en-US" dirty="0" err="1"/>
              <a:t>domainhez</a:t>
            </a:r>
            <a:r>
              <a:rPr lang="en-US" dirty="0"/>
              <a:t>, </a:t>
            </a:r>
            <a:r>
              <a:rPr lang="en-US" dirty="0" err="1"/>
              <a:t>általában</a:t>
            </a:r>
            <a:r>
              <a:rPr lang="en-US" dirty="0"/>
              <a:t> 6-ot. Ez a </a:t>
            </a:r>
            <a:r>
              <a:rPr lang="en-US" dirty="0" err="1"/>
              <a:t>hírhedt</a:t>
            </a:r>
            <a:r>
              <a:rPr lang="en-US" dirty="0"/>
              <a:t> 'connection limit'.</a:t>
            </a:r>
          </a:p>
          <a:p>
            <a:r>
              <a:rPr lang="en-US" b="1" dirty="0"/>
              <a:t>Head-of-line blocking:</a:t>
            </a:r>
            <a:br>
              <a:rPr lang="en-US" dirty="0"/>
            </a:br>
            <a:r>
              <a:rPr lang="en-US" dirty="0"/>
              <a:t>Ha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korábbi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válasza</a:t>
            </a:r>
            <a:r>
              <a:rPr lang="en-US" dirty="0"/>
              <a:t> </a:t>
            </a:r>
            <a:r>
              <a:rPr lang="en-US" dirty="0" err="1"/>
              <a:t>lassan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en-US" dirty="0"/>
              <a:t> a </a:t>
            </a:r>
            <a:r>
              <a:rPr lang="en-US" dirty="0" err="1"/>
              <a:t>mögötte</a:t>
            </a:r>
            <a:r>
              <a:rPr lang="en-US" dirty="0"/>
              <a:t> </a:t>
            </a:r>
            <a:r>
              <a:rPr lang="en-US" dirty="0" err="1"/>
              <a:t>lévő</a:t>
            </a:r>
            <a:r>
              <a:rPr lang="en-US" dirty="0"/>
              <a:t> </a:t>
            </a:r>
            <a:r>
              <a:rPr lang="en-US" dirty="0" err="1"/>
              <a:t>összes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is </a:t>
            </a:r>
            <a:r>
              <a:rPr lang="en-US" dirty="0" err="1"/>
              <a:t>várakozik</a:t>
            </a:r>
            <a:r>
              <a:rPr lang="en-US" dirty="0"/>
              <a:t>, </a:t>
            </a:r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is, ha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amúgy</a:t>
            </a:r>
            <a:r>
              <a:rPr lang="en-US" dirty="0"/>
              <a:t> </a:t>
            </a:r>
            <a:r>
              <a:rPr lang="en-US" dirty="0" err="1"/>
              <a:t>készen</a:t>
            </a:r>
            <a:r>
              <a:rPr lang="en-US" dirty="0"/>
              <a:t> </a:t>
            </a:r>
            <a:r>
              <a:rPr lang="en-US" dirty="0" err="1"/>
              <a:t>lenne</a:t>
            </a:r>
            <a:r>
              <a:rPr lang="en-US" dirty="0"/>
              <a:t> </a:t>
            </a:r>
            <a:r>
              <a:rPr lang="en-US" dirty="0" err="1"/>
              <a:t>rá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azokat</a:t>
            </a:r>
            <a:r>
              <a:rPr lang="en-US" dirty="0"/>
              <a:t> </a:t>
            </a:r>
            <a:r>
              <a:rPr lang="en-US" dirty="0" err="1"/>
              <a:t>kiszolgálja</a:t>
            </a:r>
            <a:r>
              <a:rPr lang="en-US" dirty="0"/>
              <a:t>.</a:t>
            </a:r>
            <a:r>
              <a:rPr lang="hu-HU" dirty="0"/>
              <a:t> (Ez a HTTP/1.1 protokoll szintjén jelentkezett, annak működési elvéből.)</a:t>
            </a:r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böngészők</a:t>
            </a:r>
            <a:r>
              <a:rPr lang="en-US" dirty="0"/>
              <a:t> </a:t>
            </a:r>
            <a:r>
              <a:rPr lang="en-US" dirty="0" err="1"/>
              <a:t>tehát</a:t>
            </a:r>
            <a:r>
              <a:rPr lang="en-US" dirty="0"/>
              <a:t> </a:t>
            </a:r>
            <a:r>
              <a:rPr lang="en-US" dirty="0" err="1"/>
              <a:t>trükköztek</a:t>
            </a:r>
            <a:r>
              <a:rPr lang="en-US" dirty="0"/>
              <a:t>: </a:t>
            </a:r>
            <a:r>
              <a:rPr lang="en-US" dirty="0" err="1"/>
              <a:t>több</a:t>
            </a:r>
            <a:r>
              <a:rPr lang="en-US" dirty="0"/>
              <a:t> TCP </a:t>
            </a:r>
            <a:r>
              <a:rPr lang="en-US" dirty="0" err="1"/>
              <a:t>kapcsolatot</a:t>
            </a:r>
            <a:r>
              <a:rPr lang="en-US" dirty="0"/>
              <a:t> </a:t>
            </a:r>
            <a:r>
              <a:rPr lang="en-US" dirty="0" err="1"/>
              <a:t>nyitottak</a:t>
            </a:r>
            <a:r>
              <a:rPr lang="en-US" dirty="0"/>
              <a:t>, domain </a:t>
            </a:r>
            <a:r>
              <a:rPr lang="en-US" dirty="0" err="1"/>
              <a:t>shardingot</a:t>
            </a:r>
            <a:r>
              <a:rPr lang="en-US" dirty="0"/>
              <a:t> </a:t>
            </a:r>
            <a:r>
              <a:rPr lang="en-US" dirty="0" err="1"/>
              <a:t>vezettek</a:t>
            </a:r>
            <a:r>
              <a:rPr lang="en-US" dirty="0"/>
              <a:t> be,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megkerüljék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, </a:t>
            </a:r>
            <a:r>
              <a:rPr lang="en-US" dirty="0" err="1"/>
              <a:t>amit</a:t>
            </a:r>
            <a:r>
              <a:rPr lang="en-US" dirty="0"/>
              <a:t> a HTTP/1.1 </a:t>
            </a:r>
            <a:r>
              <a:rPr lang="en-US" dirty="0" err="1"/>
              <a:t>korlátai</a:t>
            </a:r>
            <a:r>
              <a:rPr lang="en-US" dirty="0"/>
              <a:t> </a:t>
            </a:r>
            <a:r>
              <a:rPr lang="en-US" dirty="0" err="1"/>
              <a:t>jelentettek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hu-HU" dirty="0"/>
              <a:t>Tehát, a</a:t>
            </a:r>
            <a:r>
              <a:rPr lang="en-US" dirty="0"/>
              <a:t>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gond</a:t>
            </a:r>
            <a:r>
              <a:rPr lang="en-US" dirty="0"/>
              <a:t> a head-of-line blocking: ha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elakadt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összes</a:t>
            </a:r>
            <a:r>
              <a:rPr lang="en-US" dirty="0"/>
              <a:t> </a:t>
            </a:r>
            <a:r>
              <a:rPr lang="en-US" dirty="0" err="1"/>
              <a:t>többi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mögötte</a:t>
            </a:r>
            <a:r>
              <a:rPr lang="en-US" dirty="0"/>
              <a:t> </a:t>
            </a:r>
            <a:r>
              <a:rPr lang="en-US" dirty="0" err="1"/>
              <a:t>várakozott</a:t>
            </a:r>
            <a:r>
              <a:rPr lang="en-US" dirty="0"/>
              <a:t>. </a:t>
            </a:r>
            <a:r>
              <a:rPr lang="en-US" dirty="0" err="1"/>
              <a:t>Ezért</a:t>
            </a:r>
            <a:r>
              <a:rPr lang="en-US" dirty="0"/>
              <a:t> a </a:t>
            </a:r>
            <a:r>
              <a:rPr lang="en-US" dirty="0" err="1"/>
              <a:t>böngészők</a:t>
            </a:r>
            <a:r>
              <a:rPr lang="en-US" dirty="0"/>
              <a:t> </a:t>
            </a:r>
            <a:r>
              <a:rPr lang="en-US" dirty="0" err="1"/>
              <a:t>elkezdtek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TCP </a:t>
            </a:r>
            <a:r>
              <a:rPr lang="en-US" dirty="0" err="1"/>
              <a:t>kapcsolatot</a:t>
            </a:r>
            <a:r>
              <a:rPr lang="en-US" dirty="0"/>
              <a:t> </a:t>
            </a:r>
            <a:r>
              <a:rPr lang="en-US" dirty="0" err="1"/>
              <a:t>nyitni</a:t>
            </a:r>
            <a:r>
              <a:rPr lang="en-US" dirty="0"/>
              <a:t> </a:t>
            </a:r>
            <a:r>
              <a:rPr lang="en-US" dirty="0" err="1"/>
              <a:t>ugyanarra</a:t>
            </a:r>
            <a:r>
              <a:rPr lang="en-US" dirty="0"/>
              <a:t> a </a:t>
            </a:r>
            <a:r>
              <a:rPr lang="en-US" dirty="0" err="1"/>
              <a:t>domainre</a:t>
            </a:r>
            <a:r>
              <a:rPr lang="en-US" dirty="0"/>
              <a:t>, </a:t>
            </a:r>
            <a:r>
              <a:rPr lang="en-US" dirty="0" err="1"/>
              <a:t>általában</a:t>
            </a:r>
            <a:r>
              <a:rPr lang="en-US" dirty="0"/>
              <a:t> 6-ot. Majd </a:t>
            </a:r>
            <a:r>
              <a:rPr lang="en-US" dirty="0" err="1"/>
              <a:t>megjelent</a:t>
            </a:r>
            <a:r>
              <a:rPr lang="en-US" dirty="0"/>
              <a:t> a domain sharding, </a:t>
            </a:r>
            <a:r>
              <a:rPr lang="en-US" dirty="0" err="1"/>
              <a:t>amikor</a:t>
            </a:r>
            <a:r>
              <a:rPr lang="en-US" dirty="0"/>
              <a:t> a </a:t>
            </a:r>
            <a:r>
              <a:rPr lang="en-US" dirty="0" err="1"/>
              <a:t>weboldalak</a:t>
            </a:r>
            <a:r>
              <a:rPr lang="en-US" dirty="0"/>
              <a:t> </a:t>
            </a:r>
            <a:r>
              <a:rPr lang="en-US" dirty="0" err="1"/>
              <a:t>mesterségesen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aldomaint</a:t>
            </a:r>
            <a:r>
              <a:rPr lang="en-US" dirty="0"/>
              <a:t> </a:t>
            </a:r>
            <a:r>
              <a:rPr lang="en-US" dirty="0" err="1"/>
              <a:t>hoztak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TCP </a:t>
            </a:r>
            <a:r>
              <a:rPr lang="en-US" dirty="0" err="1"/>
              <a:t>kapcsolatot</a:t>
            </a:r>
            <a:r>
              <a:rPr lang="en-US" dirty="0"/>
              <a:t> </a:t>
            </a:r>
            <a:r>
              <a:rPr lang="en-US" dirty="0" err="1"/>
              <a:t>nyissanak</a:t>
            </a:r>
            <a:r>
              <a:rPr lang="en-US" dirty="0"/>
              <a:t>. Ez </a:t>
            </a:r>
            <a:r>
              <a:rPr lang="en-US" dirty="0" err="1"/>
              <a:t>azonban</a:t>
            </a:r>
            <a:r>
              <a:rPr lang="en-US" dirty="0"/>
              <a:t> </a:t>
            </a:r>
            <a:r>
              <a:rPr lang="en-US" dirty="0" err="1"/>
              <a:t>kerülőút</a:t>
            </a:r>
            <a:r>
              <a:rPr lang="en-US" dirty="0"/>
              <a:t> volt,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valódi</a:t>
            </a:r>
            <a:r>
              <a:rPr lang="en-US" dirty="0"/>
              <a:t> </a:t>
            </a:r>
            <a:r>
              <a:rPr lang="en-US" dirty="0" err="1"/>
              <a:t>megoldás</a:t>
            </a:r>
            <a:r>
              <a:rPr lang="en-US" dirty="0"/>
              <a:t>.</a:t>
            </a:r>
            <a:r>
              <a:rPr lang="hu-HU" dirty="0"/>
              <a:t> Ez csak bonyolította az átviteli mechanizmus (TCP kapcsolatok) kezelését.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91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HTTP/1.1-nél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probléma</a:t>
            </a:r>
            <a:r>
              <a:rPr lang="en-US" dirty="0"/>
              <a:t> a TCP </a:t>
            </a:r>
            <a:r>
              <a:rPr lang="en-US" dirty="0" err="1"/>
              <a:t>rétegben</a:t>
            </a:r>
            <a:r>
              <a:rPr lang="en-US" dirty="0"/>
              <a:t> </a:t>
            </a:r>
            <a:r>
              <a:rPr lang="en-US" dirty="0" err="1"/>
              <a:t>jelent</a:t>
            </a:r>
            <a:r>
              <a:rPr lang="en-US" dirty="0"/>
              <a:t> meg. A TCP </a:t>
            </a:r>
            <a:r>
              <a:rPr lang="en-US" dirty="0" err="1"/>
              <a:t>garantálja</a:t>
            </a:r>
            <a:r>
              <a:rPr lang="en-US" dirty="0"/>
              <a:t> a </a:t>
            </a:r>
            <a:r>
              <a:rPr lang="en-US" dirty="0" err="1"/>
              <a:t>sorrendet</a:t>
            </a:r>
            <a:r>
              <a:rPr lang="en-US" dirty="0"/>
              <a:t>, és </a:t>
            </a:r>
            <a:r>
              <a:rPr lang="en-US" dirty="0" err="1"/>
              <a:t>mivel</a:t>
            </a:r>
            <a:r>
              <a:rPr lang="en-US" dirty="0"/>
              <a:t> a HTTP/1.1 </a:t>
            </a:r>
            <a:r>
              <a:rPr lang="en-US" b="1" dirty="0" err="1"/>
              <a:t>soros</a:t>
            </a:r>
            <a:r>
              <a:rPr lang="en-US" b="1" dirty="0"/>
              <a:t> </a:t>
            </a:r>
            <a:r>
              <a:rPr lang="en-US" b="1" dirty="0" err="1"/>
              <a:t>módon</a:t>
            </a:r>
            <a:r>
              <a:rPr lang="en-US" b="1" dirty="0"/>
              <a:t> </a:t>
            </a:r>
            <a:r>
              <a:rPr lang="en-US" b="1" dirty="0" err="1"/>
              <a:t>dolgozott</a:t>
            </a:r>
            <a:r>
              <a:rPr lang="en-US" dirty="0"/>
              <a:t>, </a:t>
            </a:r>
            <a:r>
              <a:rPr lang="en-US" dirty="0" err="1"/>
              <a:t>egyetlen</a:t>
            </a:r>
            <a:r>
              <a:rPr lang="en-US" dirty="0"/>
              <a:t> </a:t>
            </a:r>
            <a:r>
              <a:rPr lang="en-US" dirty="0" err="1"/>
              <a:t>rossz</a:t>
            </a:r>
            <a:r>
              <a:rPr lang="en-US" dirty="0"/>
              <a:t>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egész</a:t>
            </a:r>
            <a:r>
              <a:rPr lang="en-US" dirty="0"/>
              <a:t> </a:t>
            </a:r>
            <a:r>
              <a:rPr lang="en-US" dirty="0" err="1"/>
              <a:t>kapcsolatot</a:t>
            </a:r>
            <a:r>
              <a:rPr lang="en-US" dirty="0"/>
              <a:t> </a:t>
            </a:r>
            <a:r>
              <a:rPr lang="en-US" dirty="0" err="1"/>
              <a:t>visszafogta</a:t>
            </a:r>
            <a:r>
              <a:rPr lang="en-US" dirty="0"/>
              <a:t>.</a:t>
            </a:r>
            <a:r>
              <a:rPr lang="hu-HU" dirty="0"/>
              <a:t> Tehát, a HTTP/1.1 legnagyobb ellensége a csomagvesztés és a késleltetés. Egyetlen elveszett TCP csomag esetén a teljes kapcsolat megakad addig, amíg a csomagot újra nem küldik. Mivel a böngészők egy </a:t>
            </a:r>
            <a:r>
              <a:rPr lang="hu-HU" dirty="0" err="1"/>
              <a:t>domainhez</a:t>
            </a:r>
            <a:r>
              <a:rPr lang="hu-HU" dirty="0"/>
              <a:t> 6 kapcsolatot használnak, ez azt jelenti, hogy ugyanannak az oldalnak a betöltéséhez akár 6 párhuzamos TCP kapcsolatot kell fenntartani — mindegyik külön kézfogással, külön TCP torlódásvezérléssel.</a:t>
            </a:r>
          </a:p>
          <a:p>
            <a:endParaRPr lang="hu-HU" dirty="0"/>
          </a:p>
          <a:p>
            <a:r>
              <a:rPr lang="hu-HU" dirty="0"/>
              <a:t>Mindebből látszik, hogy a </a:t>
            </a:r>
            <a:r>
              <a:rPr lang="hu-HU" b="1" dirty="0"/>
              <a:t>HOL (Head of Line </a:t>
            </a:r>
            <a:r>
              <a:rPr lang="hu-HU" b="1" dirty="0" err="1"/>
              <a:t>Blocking</a:t>
            </a:r>
            <a:r>
              <a:rPr lang="hu-HU" b="1" dirty="0"/>
              <a:t>) </a:t>
            </a:r>
            <a:r>
              <a:rPr lang="hu-HU" dirty="0"/>
              <a:t>problémája nem kerülhető meg.</a:t>
            </a:r>
          </a:p>
          <a:p>
            <a:endParaRPr lang="hu-HU" dirty="0"/>
          </a:p>
          <a:p>
            <a:r>
              <a:rPr lang="hu-HU" dirty="0"/>
              <a:t>Ezen felül nincs prioritás: ugyanúgy kezel egy kis ikont, mint a fő CSS fájlt, ami strukturálisan sem ideális.</a:t>
            </a:r>
          </a:p>
          <a:p>
            <a:endParaRPr lang="hu-HU" dirty="0"/>
          </a:p>
          <a:p>
            <a:r>
              <a:rPr lang="hu-HU" dirty="0"/>
              <a:t>Ez a sok kicsi probléma végül egy nagy problémává áll össze: a HTTP/1.1 egyszerűen nem képes hatékonyan kiszolgálni a modern weboldalakat.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7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Google már korán észrevette a HTTP/1.1 problémáit, ezért elkezdett dolgozni egy saját kísérleti protokollon, ez volt a SPDY („</a:t>
            </a:r>
            <a:r>
              <a:rPr lang="hu-HU" dirty="0" err="1"/>
              <a:t>speedy</a:t>
            </a:r>
            <a:r>
              <a:rPr lang="hu-HU" dirty="0"/>
              <a:t>”). Ez tekinthető a HTTP/2 elődjének, és számos ötlete egy az egyben bekerült a HTTP/2-be. Például a </a:t>
            </a:r>
            <a:r>
              <a:rPr lang="hu-HU" b="1" dirty="0"/>
              <a:t>multiplexing</a:t>
            </a:r>
            <a:r>
              <a:rPr lang="hu-HU" dirty="0"/>
              <a:t>, a </a:t>
            </a:r>
            <a:r>
              <a:rPr lang="hu-HU" b="1" dirty="0" err="1"/>
              <a:t>header</a:t>
            </a:r>
            <a:r>
              <a:rPr lang="hu-HU" b="1" dirty="0"/>
              <a:t> </a:t>
            </a:r>
            <a:r>
              <a:rPr lang="hu-HU" b="1" dirty="0" err="1"/>
              <a:t>compression</a:t>
            </a:r>
            <a:r>
              <a:rPr lang="hu-HU" b="1" dirty="0"/>
              <a:t> </a:t>
            </a:r>
            <a:r>
              <a:rPr lang="hu-HU" b="0" dirty="0"/>
              <a:t>és a</a:t>
            </a:r>
            <a:r>
              <a:rPr lang="hu-HU" b="1" dirty="0"/>
              <a:t> </a:t>
            </a:r>
            <a:r>
              <a:rPr lang="hu-HU" b="1" dirty="0" err="1"/>
              <a:t>stream</a:t>
            </a:r>
            <a:r>
              <a:rPr lang="hu-HU" b="1" dirty="0"/>
              <a:t> prioritás </a:t>
            </a:r>
            <a:r>
              <a:rPr lang="hu-HU" dirty="0"/>
              <a:t>is SPDY-</a:t>
            </a:r>
            <a:r>
              <a:rPr lang="hu-HU" dirty="0" err="1"/>
              <a:t>ból</a:t>
            </a:r>
            <a:r>
              <a:rPr lang="hu-HU" dirty="0"/>
              <a:t> származik. Az internet közösség felismerte, hogy szükség van egy új generációs HTTP-re, amely kompatibilis marad ugyan a HTTP módszerekkel/metódusokkal, URL-</a:t>
            </a:r>
            <a:r>
              <a:rPr lang="hu-HU" dirty="0" err="1"/>
              <a:t>ekkel</a:t>
            </a:r>
            <a:r>
              <a:rPr lang="hu-HU" dirty="0"/>
              <a:t> és status </a:t>
            </a:r>
            <a:r>
              <a:rPr lang="hu-HU" dirty="0" err="1"/>
              <a:t>code</a:t>
            </a:r>
            <a:r>
              <a:rPr lang="hu-HU" dirty="0"/>
              <a:t>-okkal, ugyanakkor nagy teljesítményű és hatékony.</a:t>
            </a:r>
          </a:p>
          <a:p>
            <a:endParaRPr lang="hu-HU" dirty="0"/>
          </a:p>
          <a:p>
            <a:r>
              <a:rPr lang="en-US" dirty="0"/>
              <a:t>HTTP/2 </a:t>
            </a:r>
            <a:r>
              <a:rPr lang="en-US" dirty="0" err="1"/>
              <a:t>célja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volt, </a:t>
            </a:r>
            <a:r>
              <a:rPr lang="en-US" dirty="0" err="1"/>
              <a:t>hogy</a:t>
            </a:r>
            <a:r>
              <a:rPr lang="en-US" dirty="0"/>
              <a:t> a HTTP/1.1 </a:t>
            </a:r>
            <a:r>
              <a:rPr lang="en-US" dirty="0" err="1"/>
              <a:t>korlátait</a:t>
            </a:r>
            <a:r>
              <a:rPr lang="en-US" dirty="0"/>
              <a:t> </a:t>
            </a:r>
            <a:r>
              <a:rPr lang="en-US" dirty="0" err="1"/>
              <a:t>megkerülje</a:t>
            </a:r>
            <a:r>
              <a:rPr lang="en-US" dirty="0"/>
              <a:t> </a:t>
            </a:r>
            <a:r>
              <a:rPr lang="en-US" dirty="0" err="1"/>
              <a:t>anélkül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HTTP API-</a:t>
            </a:r>
            <a:r>
              <a:rPr lang="en-US" dirty="0" err="1"/>
              <a:t>ját</a:t>
            </a:r>
            <a:r>
              <a:rPr lang="en-US" dirty="0"/>
              <a:t> </a:t>
            </a:r>
            <a:r>
              <a:rPr lang="en-US" dirty="0" err="1"/>
              <a:t>megváltoztatta</a:t>
            </a:r>
            <a:r>
              <a:rPr lang="en-US" dirty="0"/>
              <a:t> </a:t>
            </a:r>
            <a:r>
              <a:rPr lang="en-US" dirty="0" err="1"/>
              <a:t>volna</a:t>
            </a:r>
            <a:r>
              <a:rPr lang="en-US" dirty="0"/>
              <a:t>. A </a:t>
            </a:r>
            <a:r>
              <a:rPr lang="en-US" dirty="0" err="1"/>
              <a:t>fő</a:t>
            </a:r>
            <a:r>
              <a:rPr lang="en-US" dirty="0"/>
              <a:t> </a:t>
            </a:r>
            <a:r>
              <a:rPr lang="en-US" dirty="0" err="1"/>
              <a:t>fejlesztés</a:t>
            </a:r>
            <a:r>
              <a:rPr lang="en-US" dirty="0"/>
              <a:t> a </a:t>
            </a:r>
            <a:r>
              <a:rPr lang="en-US" b="1" dirty="0"/>
              <a:t>multiplexing</a:t>
            </a:r>
            <a:r>
              <a:rPr lang="en-US" dirty="0"/>
              <a:t>: </a:t>
            </a:r>
            <a:r>
              <a:rPr lang="en-US" dirty="0" err="1"/>
              <a:t>lehetőség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és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párhuzamos</a:t>
            </a:r>
            <a:r>
              <a:rPr lang="en-US" dirty="0"/>
              <a:t> </a:t>
            </a:r>
            <a:r>
              <a:rPr lang="en-US" dirty="0" err="1"/>
              <a:t>küldésére</a:t>
            </a:r>
            <a:r>
              <a:rPr lang="en-US" dirty="0"/>
              <a:t> </a:t>
            </a:r>
            <a:r>
              <a:rPr lang="en-US" dirty="0" err="1"/>
              <a:t>egyetlen</a:t>
            </a:r>
            <a:r>
              <a:rPr lang="en-US" dirty="0"/>
              <a:t> TCP </a:t>
            </a:r>
            <a:r>
              <a:rPr lang="en-US" dirty="0" err="1"/>
              <a:t>kapcsolaton</a:t>
            </a:r>
            <a:r>
              <a:rPr lang="en-US" dirty="0"/>
              <a:t>. Ez </a:t>
            </a:r>
            <a:r>
              <a:rPr lang="en-US" dirty="0" err="1"/>
              <a:t>megszüntette</a:t>
            </a:r>
            <a:r>
              <a:rPr lang="en-US" dirty="0"/>
              <a:t> a domain </a:t>
            </a:r>
            <a:r>
              <a:rPr lang="en-US" dirty="0" err="1"/>
              <a:t>shardingot</a:t>
            </a:r>
            <a:r>
              <a:rPr lang="en-US" dirty="0"/>
              <a:t> és a 6 </a:t>
            </a:r>
            <a:r>
              <a:rPr lang="en-US" dirty="0" err="1"/>
              <a:t>kapcsolat-limitet</a:t>
            </a:r>
            <a:r>
              <a:rPr lang="en-US" dirty="0"/>
              <a:t>. A HTTP/2-t </a:t>
            </a:r>
            <a:r>
              <a:rPr lang="en-US" dirty="0" err="1"/>
              <a:t>úgy</a:t>
            </a:r>
            <a:r>
              <a:rPr lang="en-US" dirty="0"/>
              <a:t> </a:t>
            </a:r>
            <a:r>
              <a:rPr lang="en-US" dirty="0" err="1"/>
              <a:t>tervezték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modern web </a:t>
            </a:r>
            <a:r>
              <a:rPr lang="en-US" dirty="0" err="1"/>
              <a:t>gyorsabb</a:t>
            </a:r>
            <a:r>
              <a:rPr lang="en-US" dirty="0"/>
              <a:t> és </a:t>
            </a:r>
            <a:r>
              <a:rPr lang="en-US" dirty="0" err="1"/>
              <a:t>hatékonyabb</a:t>
            </a:r>
            <a:r>
              <a:rPr lang="en-US" dirty="0"/>
              <a:t> </a:t>
            </a:r>
            <a:r>
              <a:rPr lang="en-US" dirty="0" err="1"/>
              <a:t>legyen</a:t>
            </a:r>
            <a:r>
              <a:rPr lang="en-US" dirty="0"/>
              <a:t>.</a:t>
            </a:r>
            <a:r>
              <a:rPr lang="hu-HU" dirty="0"/>
              <a:t> Szöveges protokoll helyett </a:t>
            </a:r>
            <a:r>
              <a:rPr lang="hu-HU" b="1" dirty="0"/>
              <a:t>bináris</a:t>
            </a:r>
            <a:r>
              <a:rPr lang="hu-HU" dirty="0"/>
              <a:t> </a:t>
            </a:r>
            <a:r>
              <a:rPr lang="hu-HU" b="1" dirty="0"/>
              <a:t>protokoll</a:t>
            </a:r>
            <a:r>
              <a:rPr lang="hu-H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7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HTTP/2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szöveges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1" dirty="0" err="1"/>
              <a:t>bináris</a:t>
            </a:r>
            <a:r>
              <a:rPr lang="en-US" dirty="0"/>
              <a:t> </a:t>
            </a:r>
            <a:r>
              <a:rPr lang="en-US" dirty="0" err="1"/>
              <a:t>protokoll</a:t>
            </a:r>
            <a:r>
              <a:rPr lang="en-US" dirty="0"/>
              <a:t>. </a:t>
            </a:r>
            <a:r>
              <a:rPr lang="en-US" dirty="0" err="1"/>
              <a:t>Ennek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előnye</a:t>
            </a:r>
            <a:r>
              <a:rPr lang="en-US" dirty="0"/>
              <a:t> van: a </a:t>
            </a:r>
            <a:r>
              <a:rPr lang="en-US" dirty="0" err="1"/>
              <a:t>szervernek</a:t>
            </a:r>
            <a:r>
              <a:rPr lang="en-US" dirty="0"/>
              <a:t> és a </a:t>
            </a:r>
            <a:r>
              <a:rPr lang="en-US" dirty="0" err="1"/>
              <a:t>böngészőnek</a:t>
            </a:r>
            <a:r>
              <a:rPr lang="en-US" dirty="0"/>
              <a:t> </a:t>
            </a:r>
            <a:r>
              <a:rPr lang="en-US" dirty="0" err="1"/>
              <a:t>kevesebb</a:t>
            </a:r>
            <a:r>
              <a:rPr lang="en-US" dirty="0"/>
              <a:t> </a:t>
            </a:r>
            <a:r>
              <a:rPr lang="en-US" dirty="0" err="1"/>
              <a:t>munkája</a:t>
            </a:r>
            <a:r>
              <a:rPr lang="en-US" dirty="0"/>
              <a:t> van, </a:t>
            </a:r>
            <a:r>
              <a:rPr lang="en-US" dirty="0" err="1"/>
              <a:t>mert</a:t>
            </a:r>
            <a:r>
              <a:rPr lang="en-US" dirty="0"/>
              <a:t> a </a:t>
            </a:r>
            <a:r>
              <a:rPr lang="en-US" dirty="0" err="1"/>
              <a:t>bináris</a:t>
            </a:r>
            <a:r>
              <a:rPr lang="en-US" dirty="0"/>
              <a:t> </a:t>
            </a:r>
            <a:r>
              <a:rPr lang="en-US" dirty="0" err="1"/>
              <a:t>formátum</a:t>
            </a:r>
            <a:r>
              <a:rPr lang="en-US" dirty="0"/>
              <a:t> </a:t>
            </a:r>
            <a:r>
              <a:rPr lang="en-US" dirty="0" err="1"/>
              <a:t>gyorsabban</a:t>
            </a:r>
            <a:r>
              <a:rPr lang="en-US" dirty="0"/>
              <a:t> </a:t>
            </a:r>
            <a:r>
              <a:rPr lang="en-US" dirty="0" err="1"/>
              <a:t>feldolgozható</a:t>
            </a:r>
            <a:r>
              <a:rPr lang="en-US" dirty="0"/>
              <a:t>. A </a:t>
            </a:r>
            <a:r>
              <a:rPr lang="en-US" dirty="0" err="1"/>
              <a:t>kommunikáció</a:t>
            </a:r>
            <a:r>
              <a:rPr lang="en-US" dirty="0"/>
              <a:t> </a:t>
            </a:r>
            <a:r>
              <a:rPr lang="en-US" b="1" dirty="0"/>
              <a:t>stream-</a:t>
            </a:r>
            <a:r>
              <a:rPr lang="en-US" b="1" dirty="0" err="1"/>
              <a:t>alapú</a:t>
            </a:r>
            <a:r>
              <a:rPr lang="en-US" dirty="0"/>
              <a:t>,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és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stream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egyetlen</a:t>
            </a:r>
            <a:r>
              <a:rPr lang="en-US" dirty="0"/>
              <a:t> TCP </a:t>
            </a:r>
            <a:r>
              <a:rPr lang="en-US" dirty="0" err="1"/>
              <a:t>kapcsolat</a:t>
            </a:r>
            <a:r>
              <a:rPr lang="en-US" dirty="0"/>
              <a:t> </a:t>
            </a:r>
            <a:r>
              <a:rPr lang="en-US" dirty="0" err="1"/>
              <a:t>felett</a:t>
            </a:r>
            <a:r>
              <a:rPr lang="en-US" dirty="0"/>
              <a:t>. Ez </a:t>
            </a:r>
            <a:r>
              <a:rPr lang="en-US" dirty="0" err="1"/>
              <a:t>adja</a:t>
            </a:r>
            <a:r>
              <a:rPr lang="en-US" dirty="0"/>
              <a:t> meg a </a:t>
            </a:r>
            <a:r>
              <a:rPr lang="en-US" b="1" dirty="0" err="1"/>
              <a:t>multiplexelés</a:t>
            </a:r>
            <a:r>
              <a:rPr lang="en-US" dirty="0"/>
              <a:t> </a:t>
            </a:r>
            <a:r>
              <a:rPr lang="en-US" dirty="0" err="1"/>
              <a:t>alapját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 bináris </a:t>
            </a:r>
            <a:r>
              <a:rPr lang="hu-HU" dirty="0" err="1"/>
              <a:t>framing</a:t>
            </a:r>
            <a:r>
              <a:rPr lang="hu-HU" dirty="0"/>
              <a:t> lehetővé teszi a protokoll nagyon hatékony egyértelmű értelmezését és a strukturált adatátvitelt. </a:t>
            </a:r>
            <a:r>
              <a:rPr lang="en-US" dirty="0"/>
              <a:t>A </a:t>
            </a:r>
            <a:r>
              <a:rPr lang="en-US" dirty="0" err="1"/>
              <a:t>protokoll</a:t>
            </a:r>
            <a:r>
              <a:rPr lang="en-US" dirty="0"/>
              <a:t> </a:t>
            </a:r>
            <a:r>
              <a:rPr lang="en-US" dirty="0" err="1"/>
              <a:t>pontosan</a:t>
            </a:r>
            <a:r>
              <a:rPr lang="en-US" dirty="0"/>
              <a:t> </a:t>
            </a:r>
            <a:r>
              <a:rPr lang="en-US" dirty="0" err="1"/>
              <a:t>megmondja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a </a:t>
            </a:r>
            <a:r>
              <a:rPr lang="en-US" dirty="0" err="1"/>
              <a:t>bájtfolyamot</a:t>
            </a:r>
            <a:r>
              <a:rPr lang="en-US" dirty="0"/>
              <a:t> </a:t>
            </a:r>
            <a:r>
              <a:rPr lang="en-US" b="0" dirty="0" err="1"/>
              <a:t>logikai</a:t>
            </a:r>
            <a:r>
              <a:rPr lang="en-US" b="0" dirty="0"/>
              <a:t> </a:t>
            </a:r>
            <a:r>
              <a:rPr lang="en-US" b="0" dirty="0" err="1"/>
              <a:t>egységekre</a:t>
            </a:r>
            <a:r>
              <a:rPr lang="hu-HU" b="0" dirty="0"/>
              <a:t> (</a:t>
            </a:r>
            <a:r>
              <a:rPr lang="hu-HU" b="0" dirty="0" err="1"/>
              <a:t>frame</a:t>
            </a:r>
            <a:r>
              <a:rPr lang="hu-HU" b="0" dirty="0"/>
              <a:t>)</a:t>
            </a:r>
            <a:r>
              <a:rPr lang="en-US" b="0" dirty="0"/>
              <a:t> </a:t>
            </a:r>
            <a:r>
              <a:rPr lang="en-US" b="0" dirty="0" err="1"/>
              <a:t>feldarabolni</a:t>
            </a:r>
            <a:r>
              <a:rPr lang="en-US" b="0" dirty="0"/>
              <a:t> és </a:t>
            </a:r>
            <a:r>
              <a:rPr lang="en-US" b="0" dirty="0" err="1"/>
              <a:t>feldolgozni</a:t>
            </a:r>
            <a:r>
              <a:rPr lang="en-US" dirty="0"/>
              <a:t>.</a:t>
            </a:r>
            <a:endParaRPr lang="hu-HU" dirty="0"/>
          </a:p>
          <a:p>
            <a:r>
              <a:rPr lang="hu-HU" dirty="0"/>
              <a:t>A kommunikáció '</a:t>
            </a:r>
            <a:r>
              <a:rPr lang="hu-HU" dirty="0" err="1"/>
              <a:t>frames</a:t>
            </a:r>
            <a:r>
              <a:rPr lang="hu-HU" dirty="0"/>
              <a:t>' nevű csomagokra oszlik, és minden kérésnek van egy </a:t>
            </a:r>
            <a:r>
              <a:rPr lang="hu-HU" dirty="0" err="1"/>
              <a:t>stream</a:t>
            </a:r>
            <a:r>
              <a:rPr lang="hu-HU" dirty="0"/>
              <a:t> azonosítója. Egyetlen TCP kapcsolatból így gyakorlatilag egy többcsatornás adatfolyam válik. Mindez lehetővé teszi a </a:t>
            </a:r>
            <a:r>
              <a:rPr lang="hu-HU" b="1" dirty="0"/>
              <a:t>multiplexinget</a:t>
            </a:r>
            <a:r>
              <a:rPr lang="hu-H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67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multiplexing</a:t>
            </a:r>
            <a:r>
              <a:rPr lang="en-US" dirty="0"/>
              <a:t> </a:t>
            </a:r>
            <a:r>
              <a:rPr lang="en-US" dirty="0" err="1"/>
              <a:t>lényege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megvárni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stream </a:t>
            </a:r>
            <a:r>
              <a:rPr lang="en-US" dirty="0" err="1"/>
              <a:t>válaszát</a:t>
            </a:r>
            <a:r>
              <a:rPr lang="en-US" dirty="0"/>
              <a:t> </a:t>
            </a:r>
            <a:r>
              <a:rPr lang="en-US" dirty="0" err="1"/>
              <a:t>ahhoz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másik</a:t>
            </a:r>
            <a:r>
              <a:rPr lang="en-US" dirty="0"/>
              <a:t> </a:t>
            </a:r>
            <a:r>
              <a:rPr lang="en-US" dirty="0" err="1"/>
              <a:t>streamben</a:t>
            </a:r>
            <a:r>
              <a:rPr lang="en-US" dirty="0"/>
              <a:t> </a:t>
            </a:r>
            <a:r>
              <a:rPr lang="en-US" dirty="0" err="1"/>
              <a:t>újabb</a:t>
            </a:r>
            <a:r>
              <a:rPr lang="en-US" dirty="0"/>
              <a:t> </a:t>
            </a:r>
            <a:r>
              <a:rPr lang="en-US" dirty="0" err="1"/>
              <a:t>kérést</a:t>
            </a:r>
            <a:r>
              <a:rPr lang="en-US" dirty="0"/>
              <a:t> </a:t>
            </a:r>
            <a:r>
              <a:rPr lang="en-US" dirty="0" err="1"/>
              <a:t>küldjünk</a:t>
            </a:r>
            <a:r>
              <a:rPr lang="en-US" dirty="0"/>
              <a:t>. Ez </a:t>
            </a:r>
            <a:r>
              <a:rPr lang="en-US" dirty="0" err="1"/>
              <a:t>teljesen</a:t>
            </a:r>
            <a:r>
              <a:rPr lang="en-US" dirty="0"/>
              <a:t> </a:t>
            </a:r>
            <a:r>
              <a:rPr lang="en-US" dirty="0" err="1"/>
              <a:t>megszünteti</a:t>
            </a:r>
            <a:r>
              <a:rPr lang="en-US" dirty="0"/>
              <a:t> a HTTP/1.1 head-of-line </a:t>
            </a:r>
            <a:r>
              <a:rPr lang="en-US" dirty="0" err="1"/>
              <a:t>blockingját</a:t>
            </a:r>
            <a:r>
              <a:rPr lang="en-US" dirty="0"/>
              <a:t> a HTTP </a:t>
            </a:r>
            <a:r>
              <a:rPr lang="en-US" dirty="0" err="1"/>
              <a:t>rétegben</a:t>
            </a:r>
            <a:r>
              <a:rPr lang="en-US" dirty="0"/>
              <a:t>. A </a:t>
            </a:r>
            <a:r>
              <a:rPr lang="en-US" dirty="0" err="1"/>
              <a:t>szerver</a:t>
            </a:r>
            <a:r>
              <a:rPr lang="en-US" dirty="0"/>
              <a:t> és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b="1" dirty="0" err="1"/>
              <a:t>párhuzamosan</a:t>
            </a:r>
            <a:r>
              <a:rPr lang="en-US" b="1" dirty="0"/>
              <a:t> </a:t>
            </a:r>
            <a:r>
              <a:rPr lang="en-US" b="1" dirty="0" err="1"/>
              <a:t>dolgozik</a:t>
            </a:r>
            <a:r>
              <a:rPr lang="en-US" dirty="0"/>
              <a:t>, és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jelentős</a:t>
            </a:r>
            <a:r>
              <a:rPr lang="en-US" dirty="0"/>
              <a:t> </a:t>
            </a:r>
            <a:r>
              <a:rPr lang="en-US" dirty="0" err="1"/>
              <a:t>gyorsulást</a:t>
            </a:r>
            <a:r>
              <a:rPr lang="en-US" dirty="0"/>
              <a:t> </a:t>
            </a:r>
            <a:r>
              <a:rPr lang="en-US" dirty="0" err="1"/>
              <a:t>hoz</a:t>
            </a:r>
            <a:r>
              <a:rPr lang="en-US" dirty="0"/>
              <a:t> a </a:t>
            </a:r>
            <a:r>
              <a:rPr lang="en-US" dirty="0" err="1"/>
              <a:t>valós</a:t>
            </a:r>
            <a:r>
              <a:rPr lang="en-US" dirty="0"/>
              <a:t> </a:t>
            </a:r>
            <a:r>
              <a:rPr lang="en-US" dirty="0" err="1"/>
              <a:t>oldalak</a:t>
            </a:r>
            <a:r>
              <a:rPr lang="en-US" dirty="0"/>
              <a:t> </a:t>
            </a:r>
            <a:r>
              <a:rPr lang="en-US" dirty="0" err="1"/>
              <a:t>betöltésében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 multiplexing működését érdemes egy postás hasonlattal elképzelni. HTTP/1.1 esetén úgy működött minden, mintha egy postás csak egy levelet vihetne egyszerre, és nem mehet be a következő utcába, amíg az előző házban nem vették át a levelet. A HTTP/2 ezzel szemben lehetővé teszi, hogy ugyanazon csatornán több 'levélfolyam' menjen, akár egymással párhuzamosan. Megszűnik a </a:t>
            </a:r>
            <a:r>
              <a:rPr lang="hu-HU" dirty="0" err="1"/>
              <a:t>head</a:t>
            </a:r>
            <a:r>
              <a:rPr lang="hu-HU" dirty="0"/>
              <a:t>-of-line </a:t>
            </a:r>
            <a:r>
              <a:rPr lang="hu-HU" dirty="0" err="1"/>
              <a:t>blocking</a:t>
            </a:r>
            <a:r>
              <a:rPr lang="hu-HU" dirty="0"/>
              <a:t> a HTTP szinten, mert egy lassabb kérés nem akadályozza a többit. Ez óriási előrelépés, különösen nagy </a:t>
            </a:r>
            <a:r>
              <a:rPr lang="hu-HU" dirty="0" err="1"/>
              <a:t>késleltetésű</a:t>
            </a:r>
            <a:r>
              <a:rPr lang="hu-HU" dirty="0"/>
              <a:t> hálózatokon, például mobilon.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02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HTTP </a:t>
            </a:r>
            <a:r>
              <a:rPr lang="en-US" dirty="0" err="1"/>
              <a:t>kérésekben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egyes</a:t>
            </a:r>
            <a:r>
              <a:rPr lang="en-US" dirty="0"/>
              <a:t> </a:t>
            </a:r>
            <a:r>
              <a:rPr lang="en-US" dirty="0" err="1"/>
              <a:t>hívásnál</a:t>
            </a:r>
            <a:r>
              <a:rPr lang="en-US" dirty="0"/>
              <a:t> </a:t>
            </a:r>
            <a:r>
              <a:rPr lang="en-US" dirty="0" err="1"/>
              <a:t>rengeteg</a:t>
            </a:r>
            <a:r>
              <a:rPr lang="en-US" dirty="0"/>
              <a:t> header </a:t>
            </a:r>
            <a:r>
              <a:rPr lang="en-US" dirty="0" err="1"/>
              <a:t>ismétlődött</a:t>
            </a:r>
            <a:r>
              <a:rPr lang="en-US" dirty="0"/>
              <a:t>: cookie, user-agent, accept </a:t>
            </a:r>
            <a:r>
              <a:rPr lang="en-US" dirty="0" err="1"/>
              <a:t>stb</a:t>
            </a:r>
            <a:r>
              <a:rPr lang="en-US" dirty="0"/>
              <a:t>. A HTTP/2 </a:t>
            </a:r>
            <a:r>
              <a:rPr lang="en-US" dirty="0" err="1"/>
              <a:t>erre</a:t>
            </a:r>
            <a:r>
              <a:rPr lang="en-US" dirty="0"/>
              <a:t> </a:t>
            </a:r>
            <a:r>
              <a:rPr lang="en-US" dirty="0" err="1"/>
              <a:t>vezette</a:t>
            </a:r>
            <a:r>
              <a:rPr lang="en-US" dirty="0"/>
              <a:t> be a HPACK-et. A </a:t>
            </a:r>
            <a:r>
              <a:rPr lang="en-US" dirty="0" err="1"/>
              <a:t>rendszer</a:t>
            </a:r>
            <a:r>
              <a:rPr lang="en-US" dirty="0"/>
              <a:t> </a:t>
            </a:r>
            <a:r>
              <a:rPr lang="en-US" dirty="0" err="1"/>
              <a:t>hasonló</a:t>
            </a:r>
            <a:r>
              <a:rPr lang="en-US" dirty="0"/>
              <a:t> a dictionary </a:t>
            </a:r>
            <a:r>
              <a:rPr lang="en-US" dirty="0" err="1"/>
              <a:t>compressionhöz</a:t>
            </a:r>
            <a:r>
              <a:rPr lang="en-US" dirty="0"/>
              <a:t>: a </a:t>
            </a:r>
            <a:r>
              <a:rPr lang="en-US" dirty="0" err="1"/>
              <a:t>kliens</a:t>
            </a:r>
            <a:r>
              <a:rPr lang="en-US" dirty="0"/>
              <a:t> és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fenntart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közös</a:t>
            </a:r>
            <a:r>
              <a:rPr lang="en-US" dirty="0"/>
              <a:t> </a:t>
            </a:r>
            <a:r>
              <a:rPr lang="en-US" dirty="0" err="1"/>
              <a:t>táblát</a:t>
            </a:r>
            <a:r>
              <a:rPr lang="en-US" dirty="0"/>
              <a:t>, </a:t>
            </a:r>
            <a:r>
              <a:rPr lang="en-US" dirty="0" err="1"/>
              <a:t>amiben</a:t>
            </a:r>
            <a:r>
              <a:rPr lang="en-US" dirty="0"/>
              <a:t> a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elküldött</a:t>
            </a:r>
            <a:r>
              <a:rPr lang="en-US" dirty="0"/>
              <a:t> </a:t>
            </a:r>
            <a:r>
              <a:rPr lang="en-US" dirty="0" err="1"/>
              <a:t>headerek</a:t>
            </a:r>
            <a:r>
              <a:rPr lang="en-US" dirty="0"/>
              <a:t> </a:t>
            </a:r>
            <a:r>
              <a:rPr lang="en-US" dirty="0" err="1"/>
              <a:t>kódjai</a:t>
            </a:r>
            <a:r>
              <a:rPr lang="en-US" dirty="0"/>
              <a:t> </a:t>
            </a:r>
            <a:r>
              <a:rPr lang="en-US" dirty="0" err="1"/>
              <a:t>szerepelnek</a:t>
            </a:r>
            <a:r>
              <a:rPr lang="en-US" dirty="0"/>
              <a:t>. Ez </a:t>
            </a:r>
            <a:r>
              <a:rPr lang="en-US" dirty="0" err="1"/>
              <a:t>akár</a:t>
            </a:r>
            <a:r>
              <a:rPr lang="en-US" dirty="0"/>
              <a:t> 80–90%-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headerméret-csökkenést</a:t>
            </a:r>
            <a:r>
              <a:rPr lang="en-US" dirty="0"/>
              <a:t> is </a:t>
            </a:r>
            <a:r>
              <a:rPr lang="en-US" dirty="0" err="1"/>
              <a:t>hoz</a:t>
            </a:r>
            <a:r>
              <a:rPr lang="en-US" dirty="0"/>
              <a:t>.</a:t>
            </a:r>
            <a:endParaRPr lang="hu-HU" dirty="0"/>
          </a:p>
          <a:p>
            <a:r>
              <a:rPr lang="en-US" dirty="0"/>
              <a:t>A HPACK </a:t>
            </a:r>
            <a:r>
              <a:rPr lang="en-US" dirty="0" err="1"/>
              <a:t>két</a:t>
            </a:r>
            <a:r>
              <a:rPr lang="en-US" dirty="0"/>
              <a:t> </a:t>
            </a:r>
            <a:r>
              <a:rPr lang="en-US" dirty="0" err="1"/>
              <a:t>mechanizmust</a:t>
            </a:r>
            <a:r>
              <a:rPr lang="en-US" dirty="0"/>
              <a:t> </a:t>
            </a:r>
            <a:r>
              <a:rPr lang="en-US" dirty="0" err="1"/>
              <a:t>használ</a:t>
            </a:r>
            <a:r>
              <a:rPr lang="en-US" dirty="0"/>
              <a:t>:</a:t>
            </a:r>
          </a:p>
          <a:p>
            <a:r>
              <a:rPr lang="en-US" dirty="0"/>
              <a:t>– Egy </a:t>
            </a:r>
            <a:r>
              <a:rPr lang="en-US" dirty="0" err="1"/>
              <a:t>statikus</a:t>
            </a:r>
            <a:r>
              <a:rPr lang="en-US" dirty="0"/>
              <a:t> </a:t>
            </a:r>
            <a:r>
              <a:rPr lang="en-US" dirty="0" err="1"/>
              <a:t>táblázatot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ismert</a:t>
            </a:r>
            <a:r>
              <a:rPr lang="en-US" dirty="0"/>
              <a:t>, </a:t>
            </a:r>
            <a:r>
              <a:rPr lang="en-US" dirty="0" err="1"/>
              <a:t>gyakori</a:t>
            </a:r>
            <a:r>
              <a:rPr lang="en-US" dirty="0"/>
              <a:t> </a:t>
            </a:r>
            <a:r>
              <a:rPr lang="en-US" dirty="0" err="1"/>
              <a:t>headereket</a:t>
            </a:r>
            <a:r>
              <a:rPr lang="en-US" dirty="0"/>
              <a:t> </a:t>
            </a:r>
            <a:r>
              <a:rPr lang="en-US" dirty="0" err="1"/>
              <a:t>tartalmaz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– Egy </a:t>
            </a:r>
            <a:r>
              <a:rPr lang="en-US" dirty="0" err="1"/>
              <a:t>dinamikus</a:t>
            </a:r>
            <a:r>
              <a:rPr lang="en-US" dirty="0"/>
              <a:t> </a:t>
            </a:r>
            <a:r>
              <a:rPr lang="en-US" dirty="0" err="1"/>
              <a:t>táblázatot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a </a:t>
            </a:r>
            <a:r>
              <a:rPr lang="en-US" dirty="0" err="1"/>
              <a:t>korábbi</a:t>
            </a:r>
            <a:r>
              <a:rPr lang="en-US" dirty="0"/>
              <a:t> </a:t>
            </a:r>
            <a:r>
              <a:rPr lang="en-US" dirty="0" err="1"/>
              <a:t>headereket</a:t>
            </a:r>
            <a:r>
              <a:rPr lang="en-US" dirty="0"/>
              <a:t> </a:t>
            </a:r>
            <a:r>
              <a:rPr lang="en-US" dirty="0" err="1"/>
              <a:t>eltárolja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a </a:t>
            </a:r>
            <a:r>
              <a:rPr lang="en-US" dirty="0" err="1"/>
              <a:t>következő</a:t>
            </a:r>
            <a:r>
              <a:rPr lang="en-US" dirty="0"/>
              <a:t> </a:t>
            </a:r>
            <a:r>
              <a:rPr lang="en-US" dirty="0" err="1"/>
              <a:t>kérésekben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hivatkozni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rájuk</a:t>
            </a:r>
            <a:r>
              <a:rPr lang="en-US" dirty="0"/>
              <a:t>.</a:t>
            </a:r>
          </a:p>
          <a:p>
            <a:r>
              <a:rPr lang="en-US" dirty="0"/>
              <a:t>Ez </a:t>
            </a:r>
            <a:r>
              <a:rPr lang="en-US" dirty="0" err="1"/>
              <a:t>drasztikusan</a:t>
            </a:r>
            <a:r>
              <a:rPr lang="en-US" dirty="0"/>
              <a:t> </a:t>
            </a:r>
            <a:r>
              <a:rPr lang="en-US" dirty="0" err="1"/>
              <a:t>csökkenti</a:t>
            </a:r>
            <a:r>
              <a:rPr lang="en-US" dirty="0"/>
              <a:t> a header </a:t>
            </a:r>
            <a:r>
              <a:rPr lang="en-US" dirty="0" err="1"/>
              <a:t>méretét</a:t>
            </a:r>
            <a:r>
              <a:rPr lang="en-US" dirty="0"/>
              <a:t>. Ez </a:t>
            </a:r>
            <a:r>
              <a:rPr lang="en-US" dirty="0" err="1"/>
              <a:t>különösen</a:t>
            </a:r>
            <a:r>
              <a:rPr lang="en-US" dirty="0"/>
              <a:t>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/>
              <a:t>hálózatokon</a:t>
            </a:r>
            <a:r>
              <a:rPr lang="en-US" dirty="0"/>
              <a:t> </a:t>
            </a:r>
            <a:r>
              <a:rPr lang="en-US" dirty="0" err="1"/>
              <a:t>hatalmas</a:t>
            </a:r>
            <a:r>
              <a:rPr lang="en-US" dirty="0"/>
              <a:t> </a:t>
            </a:r>
            <a:r>
              <a:rPr lang="en-US" dirty="0" err="1"/>
              <a:t>előny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bájt</a:t>
            </a:r>
            <a:r>
              <a:rPr lang="en-US" dirty="0"/>
              <a:t> </a:t>
            </a:r>
            <a:r>
              <a:rPr lang="en-US" dirty="0" err="1"/>
              <a:t>számít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prioritás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például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mondja</a:t>
            </a:r>
            <a:r>
              <a:rPr lang="en-US" dirty="0"/>
              <a:t>: </a:t>
            </a:r>
            <a:r>
              <a:rPr lang="en-US" i="1" dirty="0"/>
              <a:t>a </a:t>
            </a:r>
            <a:r>
              <a:rPr lang="en-US" i="1" dirty="0" err="1"/>
              <a:t>fő</a:t>
            </a:r>
            <a:r>
              <a:rPr lang="en-US" i="1" dirty="0"/>
              <a:t> CSS és JS </a:t>
            </a:r>
            <a:r>
              <a:rPr lang="en-US" i="1" dirty="0" err="1"/>
              <a:t>fájl</a:t>
            </a:r>
            <a:r>
              <a:rPr lang="en-US" i="1" dirty="0"/>
              <a:t> </a:t>
            </a:r>
            <a:r>
              <a:rPr lang="en-US" i="1" dirty="0" err="1"/>
              <a:t>sokkal</a:t>
            </a:r>
            <a:r>
              <a:rPr lang="en-US" i="1" dirty="0"/>
              <a:t> </a:t>
            </a:r>
            <a:r>
              <a:rPr lang="en-US" i="1" dirty="0" err="1"/>
              <a:t>fontosabb</a:t>
            </a:r>
            <a:r>
              <a:rPr lang="en-US" i="1" dirty="0"/>
              <a:t>, mint a footer </a:t>
            </a:r>
            <a:r>
              <a:rPr lang="en-US" i="1" dirty="0" err="1"/>
              <a:t>ikonja</a:t>
            </a:r>
            <a:r>
              <a:rPr lang="en-US" dirty="0"/>
              <a:t>.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alapján</a:t>
            </a:r>
            <a:r>
              <a:rPr lang="en-US" dirty="0"/>
              <a:t> </a:t>
            </a:r>
            <a:r>
              <a:rPr lang="en-US" dirty="0" err="1"/>
              <a:t>optimalizálja</a:t>
            </a:r>
            <a:r>
              <a:rPr lang="en-US" dirty="0"/>
              <a:t> a </a:t>
            </a:r>
            <a:r>
              <a:rPr lang="en-US" dirty="0" err="1"/>
              <a:t>küldést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 HTTP/2 egyik újdonsága volt az úgynevezett server </a:t>
            </a:r>
            <a:r>
              <a:rPr lang="hu-HU" dirty="0" err="1"/>
              <a:t>push</a:t>
            </a:r>
            <a:r>
              <a:rPr lang="hu-HU" dirty="0"/>
              <a:t>, ahol a szerver előre elküldhetett olyan erőforrásokat, amiket a böngésző még nem kért, de biztosan szüksége lesz rájuk. Ez hasznosnak tűnt, de nehéz volt jól konfigurálni. Végül a böngészők elkezdték kivezetni, mert több problémát okozott mint amennyit segített. Ettől még jó példa arra, hogy a HTTP/2 szeretett volna okosabb lenni, mint a HTTP/1.1.</a:t>
            </a:r>
          </a:p>
          <a:p>
            <a:endParaRPr lang="hu-HU" dirty="0"/>
          </a:p>
          <a:p>
            <a:r>
              <a:rPr lang="hu-HU" dirty="0"/>
              <a:t>Megjegyzés: A Google GRPC protokollja HTTP/2 felett működik, ami erősen épít a Server </a:t>
            </a:r>
            <a:r>
              <a:rPr lang="hu-HU" dirty="0" err="1"/>
              <a:t>Push</a:t>
            </a:r>
            <a:r>
              <a:rPr lang="hu-HU" dirty="0"/>
              <a:t> funkcióra. Sőt a HTTP/2 képes </a:t>
            </a:r>
            <a:r>
              <a:rPr lang="hu-HU" dirty="0" err="1"/>
              <a:t>Client</a:t>
            </a:r>
            <a:r>
              <a:rPr lang="hu-HU" dirty="0"/>
              <a:t> </a:t>
            </a:r>
            <a:r>
              <a:rPr lang="hu-HU" dirty="0" err="1"/>
              <a:t>Push</a:t>
            </a:r>
            <a:r>
              <a:rPr lang="hu-HU" dirty="0"/>
              <a:t> működésre, akár egyszerre mind a </a:t>
            </a:r>
            <a:r>
              <a:rPr lang="hu-HU" dirty="0" err="1"/>
              <a:t>Client</a:t>
            </a:r>
            <a:r>
              <a:rPr lang="hu-HU" dirty="0"/>
              <a:t> és Server </a:t>
            </a:r>
            <a:r>
              <a:rPr lang="hu-HU" dirty="0" err="1"/>
              <a:t>Push-ra</a:t>
            </a:r>
            <a:r>
              <a:rPr lang="hu-HU" dirty="0"/>
              <a:t>.</a:t>
            </a:r>
          </a:p>
          <a:p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68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Fontos megérteni, hogy bár a HTTP/2 sokat javított a működésen, a TCP továbbra is szűk keresztmetszet maradt. A TCP protokoll jellemzője az egyetlen byte-</a:t>
            </a:r>
            <a:r>
              <a:rPr lang="hu-HU" dirty="0" err="1"/>
              <a:t>stream</a:t>
            </a:r>
            <a:r>
              <a:rPr lang="hu-HU" dirty="0"/>
              <a:t> és a globális szintű sorrendhelyes átvitel. Ha TCP szinten elveszik egy csomag, a teljes kapcsolat megakad egy időre. Ez azt jelenti, hogy hiába van sok </a:t>
            </a:r>
            <a:r>
              <a:rPr lang="hu-HU" dirty="0" err="1"/>
              <a:t>streamünk</a:t>
            </a:r>
            <a:r>
              <a:rPr lang="hu-HU" dirty="0"/>
              <a:t> a HTTP/2-ben, a TCP miatt még mindig előfordulhat olyan </a:t>
            </a:r>
            <a:r>
              <a:rPr lang="hu-HU" dirty="0" err="1"/>
              <a:t>head</a:t>
            </a:r>
            <a:r>
              <a:rPr lang="hu-HU" dirty="0"/>
              <a:t>-of-line </a:t>
            </a:r>
            <a:r>
              <a:rPr lang="hu-HU" dirty="0" err="1"/>
              <a:t>blocking</a:t>
            </a:r>
            <a:r>
              <a:rPr lang="hu-HU" dirty="0"/>
              <a:t>, amit már nem lehet kijavítani.</a:t>
            </a:r>
          </a:p>
          <a:p>
            <a:endParaRPr lang="hu-HU" dirty="0"/>
          </a:p>
          <a:p>
            <a:r>
              <a:rPr lang="hu-HU" dirty="0"/>
              <a:t>A HTTP/2 nagy újítása a multiplexing, de egy dolgot nem tudott megoldani: továbbra is TCP felett működött. Ha TCP szinten elveszik egy csomag, minden </a:t>
            </a:r>
            <a:r>
              <a:rPr lang="hu-HU" dirty="0" err="1"/>
              <a:t>stream</a:t>
            </a:r>
            <a:r>
              <a:rPr lang="hu-HU" dirty="0"/>
              <a:t> megáll vagy lassul, amíg az </a:t>
            </a:r>
            <a:r>
              <a:rPr lang="hu-HU" dirty="0" err="1"/>
              <a:t>újraküldés</a:t>
            </a:r>
            <a:r>
              <a:rPr lang="hu-HU" dirty="0"/>
              <a:t> meg nem történik. Ez különösen mobil vagy Wifi hálózatokon nagy probléma. Ez az egyik fő ok, ami miatt hamar felmerült egy új generáció igénye — a HTTP/3.</a:t>
            </a:r>
          </a:p>
          <a:p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93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QUIC-</a:t>
            </a:r>
            <a:r>
              <a:rPr lang="hu-HU" dirty="0" err="1"/>
              <a:t>et</a:t>
            </a:r>
            <a:r>
              <a:rPr lang="hu-HU" dirty="0"/>
              <a:t> eredetileg a Google fejlesztette ki, majd IETF standard lett. A legfontosabb különbség, hogy UDP felett működik, nem TCP felett. A QUIC gyakorlatilag </a:t>
            </a:r>
            <a:r>
              <a:rPr lang="hu-HU" dirty="0" err="1"/>
              <a:t>újraimplementálja</a:t>
            </a:r>
            <a:r>
              <a:rPr lang="hu-HU" dirty="0"/>
              <a:t> a TCP legjobb tulajdonságait (megbízható szállítás, sorrendkezelés), de </a:t>
            </a:r>
            <a:r>
              <a:rPr lang="hu-HU" dirty="0" err="1"/>
              <a:t>stream</a:t>
            </a:r>
            <a:r>
              <a:rPr lang="hu-HU" dirty="0"/>
              <a:t>-alapú formában. És mindez alapból titkosítottan történik, tehát nincs külön TLS </a:t>
            </a:r>
            <a:r>
              <a:rPr lang="hu-HU" dirty="0" err="1"/>
              <a:t>handshake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 HTTP/3 alapprotokollja a QUIC, egy teljesen új szintű technológia, amely már nem a TCP-re, hanem az UDP-re épül. Az UDP lehetővé tette, hogy a Google és később az IETF saját ‘mini-</a:t>
            </a:r>
            <a:r>
              <a:rPr lang="hu-HU" dirty="0" err="1"/>
              <a:t>transport</a:t>
            </a:r>
            <a:r>
              <a:rPr lang="hu-HU" dirty="0"/>
              <a:t> protokollt’ építsen föléje.</a:t>
            </a:r>
          </a:p>
          <a:p>
            <a:r>
              <a:rPr lang="hu-HU" dirty="0"/>
              <a:t>A QUIC nemcsak a HTTP/2 új verziója, hanem egy új </a:t>
            </a:r>
            <a:r>
              <a:rPr lang="hu-HU" dirty="0" err="1"/>
              <a:t>transport</a:t>
            </a:r>
            <a:r>
              <a:rPr lang="hu-HU" dirty="0"/>
              <a:t> protokoll: saját torlódásvezérléssel, saját titkosítással, saját </a:t>
            </a:r>
            <a:r>
              <a:rPr lang="hu-HU" dirty="0" err="1"/>
              <a:t>stream</a:t>
            </a:r>
            <a:r>
              <a:rPr lang="hu-HU" dirty="0"/>
              <a:t> kezelésével.</a:t>
            </a:r>
          </a:p>
          <a:p>
            <a:r>
              <a:rPr lang="hu-HU" dirty="0"/>
              <a:t>Mivel </a:t>
            </a:r>
            <a:r>
              <a:rPr lang="hu-HU" dirty="0" err="1"/>
              <a:t>user</a:t>
            </a:r>
            <a:r>
              <a:rPr lang="hu-HU" dirty="0"/>
              <a:t>-</a:t>
            </a:r>
            <a:r>
              <a:rPr lang="hu-HU" dirty="0" err="1"/>
              <a:t>space</a:t>
            </a:r>
            <a:r>
              <a:rPr lang="hu-HU" dirty="0"/>
              <a:t>-ben fut, sokkal gyorsabban fejleszthető, mint a kernelbe épített TCP. Ez volt a legnagyobb áttörés a HTTP történetében a 90-es évek óta.</a:t>
            </a:r>
          </a:p>
          <a:p>
            <a:endParaRPr lang="hu-HU" dirty="0"/>
          </a:p>
          <a:p>
            <a:r>
              <a:rPr lang="en-US" dirty="0"/>
              <a:t>HTTP/3 a QUIC stream </a:t>
            </a:r>
            <a:r>
              <a:rPr lang="en-US" dirty="0" err="1"/>
              <a:t>modelljét</a:t>
            </a:r>
            <a:r>
              <a:rPr lang="en-US" dirty="0"/>
              <a:t> </a:t>
            </a:r>
            <a:r>
              <a:rPr lang="en-US" dirty="0" err="1"/>
              <a:t>használja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logikai</a:t>
            </a:r>
            <a:r>
              <a:rPr lang="en-US" dirty="0"/>
              <a:t> </a:t>
            </a:r>
            <a:r>
              <a:rPr lang="en-US" dirty="0" err="1"/>
              <a:t>adatfolyam</a:t>
            </a:r>
            <a:r>
              <a:rPr lang="en-US" dirty="0"/>
              <a:t>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sorrenddel</a:t>
            </a:r>
            <a:r>
              <a:rPr lang="en-US" dirty="0"/>
              <a:t> és </a:t>
            </a:r>
            <a:r>
              <a:rPr lang="en-US" dirty="0" err="1"/>
              <a:t>újraküldéssel</a:t>
            </a:r>
            <a:r>
              <a:rPr lang="en-US" dirty="0"/>
              <a:t> </a:t>
            </a:r>
            <a:r>
              <a:rPr lang="en-US" dirty="0" err="1"/>
              <a:t>rendelkezik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stream </a:t>
            </a:r>
            <a:r>
              <a:rPr lang="en-US" dirty="0" err="1"/>
              <a:t>csomagvesztése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blokkolja</a:t>
            </a:r>
            <a:r>
              <a:rPr lang="en-US" dirty="0"/>
              <a:t> a </a:t>
            </a:r>
            <a:r>
              <a:rPr lang="en-US" dirty="0" err="1"/>
              <a:t>többit</a:t>
            </a:r>
            <a:r>
              <a:rPr lang="en-US" dirty="0"/>
              <a:t>.</a:t>
            </a:r>
            <a:r>
              <a:rPr lang="hu-HU" dirty="0"/>
              <a:t> A HOL </a:t>
            </a:r>
            <a:r>
              <a:rPr lang="hu-HU" dirty="0" err="1"/>
              <a:t>blocking</a:t>
            </a:r>
            <a:r>
              <a:rPr lang="hu-HU" dirty="0"/>
              <a:t> megszűnik, mert nincs többé egyetlen globális byte-</a:t>
            </a:r>
            <a:r>
              <a:rPr lang="hu-HU" dirty="0" err="1"/>
              <a:t>stream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dirty="0"/>
              <a:t>A QUIC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előnye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titkosítás</a:t>
            </a:r>
            <a:r>
              <a:rPr lang="en-US" dirty="0"/>
              <a:t> </a:t>
            </a:r>
            <a:r>
              <a:rPr lang="en-US" dirty="0" err="1"/>
              <a:t>része</a:t>
            </a:r>
            <a:r>
              <a:rPr lang="en-US" dirty="0"/>
              <a:t> a </a:t>
            </a:r>
            <a:r>
              <a:rPr lang="en-US" dirty="0" err="1"/>
              <a:t>protokollnak</a:t>
            </a:r>
            <a:r>
              <a:rPr lang="en-US" dirty="0"/>
              <a:t>.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TCP handshake + TLS handshake</a:t>
            </a:r>
            <a:r>
              <a:rPr lang="hu-HU" dirty="0"/>
              <a:t> mint a HTTP/1.1 és HTTP/2 esetén</a:t>
            </a:r>
            <a:r>
              <a:rPr lang="en-US" dirty="0"/>
              <a:t>. A QUIC </a:t>
            </a:r>
            <a:r>
              <a:rPr lang="en-US" dirty="0" err="1"/>
              <a:t>ezt</a:t>
            </a:r>
            <a:r>
              <a:rPr lang="en-US" dirty="0"/>
              <a:t> </a:t>
            </a:r>
            <a:r>
              <a:rPr lang="en-US" dirty="0" err="1"/>
              <a:t>összevonja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sokkal</a:t>
            </a:r>
            <a:r>
              <a:rPr lang="en-US" dirty="0"/>
              <a:t> </a:t>
            </a:r>
            <a:r>
              <a:rPr lang="en-US" dirty="0" err="1"/>
              <a:t>kevesebb</a:t>
            </a:r>
            <a:r>
              <a:rPr lang="en-US" dirty="0"/>
              <a:t> round-trip </a:t>
            </a:r>
            <a:r>
              <a:rPr lang="en-US" dirty="0" err="1"/>
              <a:t>szükséges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kapcsolat</a:t>
            </a:r>
            <a:r>
              <a:rPr lang="hu-HU" dirty="0"/>
              <a:t> </a:t>
            </a:r>
            <a:r>
              <a:rPr lang="en-US" dirty="0" err="1"/>
              <a:t>felépítéséhez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12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QUIC-ben </a:t>
            </a:r>
            <a:r>
              <a:rPr lang="en-US" dirty="0" err="1"/>
              <a:t>minden</a:t>
            </a:r>
            <a:r>
              <a:rPr lang="en-US" dirty="0"/>
              <a:t> stream </a:t>
            </a:r>
            <a:r>
              <a:rPr lang="en-US" dirty="0" err="1"/>
              <a:t>teljesen</a:t>
            </a:r>
            <a:r>
              <a:rPr lang="en-US" dirty="0"/>
              <a:t> </a:t>
            </a:r>
            <a:r>
              <a:rPr lang="en-US" dirty="0" err="1"/>
              <a:t>független</a:t>
            </a:r>
            <a:r>
              <a:rPr lang="en-US" dirty="0"/>
              <a:t> </a:t>
            </a:r>
            <a:r>
              <a:rPr lang="en-US" dirty="0" err="1"/>
              <a:t>egymástól</a:t>
            </a:r>
            <a:r>
              <a:rPr lang="en-US" dirty="0"/>
              <a:t>. Ha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stream </a:t>
            </a:r>
            <a:r>
              <a:rPr lang="en-US" dirty="0" err="1"/>
              <a:t>csomagja</a:t>
            </a:r>
            <a:r>
              <a:rPr lang="en-US" dirty="0"/>
              <a:t> </a:t>
            </a:r>
            <a:r>
              <a:rPr lang="en-US" dirty="0" err="1"/>
              <a:t>elveszik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dirty="0"/>
              <a:t> </a:t>
            </a:r>
            <a:r>
              <a:rPr lang="en-US" dirty="0" err="1"/>
              <a:t>akadályozza</a:t>
            </a:r>
            <a:r>
              <a:rPr lang="en-US" dirty="0"/>
              <a:t> a </a:t>
            </a:r>
            <a:r>
              <a:rPr lang="en-US" dirty="0" err="1"/>
              <a:t>többit</a:t>
            </a:r>
            <a:r>
              <a:rPr lang="en-US" dirty="0"/>
              <a:t> — </a:t>
            </a:r>
            <a:r>
              <a:rPr lang="en-US" dirty="0" err="1"/>
              <a:t>szemben</a:t>
            </a:r>
            <a:r>
              <a:rPr lang="en-US" dirty="0"/>
              <a:t> a HTTP/2 </a:t>
            </a:r>
            <a:r>
              <a:rPr lang="en-US" dirty="0" err="1"/>
              <a:t>fölötti</a:t>
            </a:r>
            <a:r>
              <a:rPr lang="en-US" dirty="0"/>
              <a:t> TCP-vel.</a:t>
            </a:r>
          </a:p>
          <a:p>
            <a:r>
              <a:rPr lang="en-US" dirty="0"/>
              <a:t>Ez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QUIC </a:t>
            </a:r>
            <a:r>
              <a:rPr lang="en-US" dirty="0" err="1"/>
              <a:t>valódi</a:t>
            </a:r>
            <a:r>
              <a:rPr lang="en-US" dirty="0"/>
              <a:t> </a:t>
            </a:r>
            <a:r>
              <a:rPr lang="en-US" dirty="0" err="1"/>
              <a:t>multiplexinget</a:t>
            </a:r>
            <a:r>
              <a:rPr lang="en-US" dirty="0"/>
              <a:t> </a:t>
            </a:r>
            <a:r>
              <a:rPr lang="en-US" dirty="0" err="1"/>
              <a:t>nyújt</a:t>
            </a:r>
            <a:r>
              <a:rPr lang="en-US" dirty="0"/>
              <a:t>. A </a:t>
            </a:r>
            <a:r>
              <a:rPr lang="en-US" dirty="0" err="1"/>
              <a:t>weboldalak</a:t>
            </a:r>
            <a:r>
              <a:rPr lang="en-US" dirty="0"/>
              <a:t> </a:t>
            </a:r>
            <a:r>
              <a:rPr lang="en-US" dirty="0" err="1"/>
              <a:t>gyorsabban</a:t>
            </a:r>
            <a:r>
              <a:rPr lang="en-US" dirty="0"/>
              <a:t> </a:t>
            </a:r>
            <a:r>
              <a:rPr lang="en-US" dirty="0" err="1"/>
              <a:t>töltődnek</a:t>
            </a:r>
            <a:r>
              <a:rPr lang="en-US" dirty="0"/>
              <a:t>, </a:t>
            </a:r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mobilon</a:t>
            </a:r>
            <a:r>
              <a:rPr lang="en-US" dirty="0"/>
              <a:t>, </a:t>
            </a:r>
            <a:r>
              <a:rPr lang="en-US" dirty="0" err="1"/>
              <a:t>instabil</a:t>
            </a:r>
            <a:r>
              <a:rPr lang="en-US" dirty="0"/>
              <a:t> </a:t>
            </a:r>
            <a:r>
              <a:rPr lang="en-US" dirty="0" err="1"/>
              <a:t>hálózaton</a:t>
            </a:r>
            <a:r>
              <a:rPr lang="en-US" dirty="0"/>
              <a:t> is</a:t>
            </a:r>
          </a:p>
          <a:p>
            <a:endParaRPr lang="hu-HU" dirty="0"/>
          </a:p>
          <a:p>
            <a:r>
              <a:rPr lang="hu-HU" dirty="0"/>
              <a:t>A HTTP/3 valójában nagyon hasonlít a HTTP/2-höz: bináris </a:t>
            </a:r>
            <a:r>
              <a:rPr lang="hu-HU" dirty="0" err="1"/>
              <a:t>framing</a:t>
            </a:r>
            <a:r>
              <a:rPr lang="hu-HU" dirty="0"/>
              <a:t>, multiplexing, </a:t>
            </a:r>
            <a:r>
              <a:rPr lang="hu-HU" dirty="0" err="1"/>
              <a:t>header</a:t>
            </a:r>
            <a:r>
              <a:rPr lang="hu-HU" dirty="0"/>
              <a:t> </a:t>
            </a:r>
            <a:r>
              <a:rPr lang="hu-HU" dirty="0" err="1"/>
              <a:t>compression</a:t>
            </a:r>
            <a:r>
              <a:rPr lang="hu-HU" dirty="0"/>
              <a:t>. A hatalmas különbség az, hogy a QUIC </a:t>
            </a:r>
            <a:r>
              <a:rPr lang="hu-HU" dirty="0" err="1"/>
              <a:t>streamjei</a:t>
            </a:r>
            <a:r>
              <a:rPr lang="hu-HU" dirty="0"/>
              <a:t> teljesen függetlenek egymástól. Ha egy </a:t>
            </a:r>
            <a:r>
              <a:rPr lang="hu-HU" dirty="0" err="1"/>
              <a:t>stream</a:t>
            </a:r>
            <a:r>
              <a:rPr lang="hu-HU" dirty="0"/>
              <a:t> csomagja elveszik, csak az a </a:t>
            </a:r>
            <a:r>
              <a:rPr lang="hu-HU" dirty="0" err="1"/>
              <a:t>stream</a:t>
            </a:r>
            <a:r>
              <a:rPr lang="hu-HU" dirty="0"/>
              <a:t> lassul, a többi nem. Ezzel a </a:t>
            </a:r>
            <a:r>
              <a:rPr lang="hu-HU" dirty="0" err="1"/>
              <a:t>head</a:t>
            </a:r>
            <a:r>
              <a:rPr lang="hu-HU" dirty="0"/>
              <a:t>-of-line </a:t>
            </a:r>
            <a:r>
              <a:rPr lang="hu-HU" dirty="0" err="1"/>
              <a:t>blocking</a:t>
            </a:r>
            <a:r>
              <a:rPr lang="hu-HU" dirty="0"/>
              <a:t> végleg megszűnik.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66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TCP handshake és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TLS handshake. </a:t>
            </a:r>
            <a:r>
              <a:rPr lang="en-US" dirty="0" err="1"/>
              <a:t>További</a:t>
            </a:r>
            <a:r>
              <a:rPr lang="en-US" dirty="0"/>
              <a:t> </a:t>
            </a:r>
            <a:r>
              <a:rPr lang="en-US" dirty="0" err="1"/>
              <a:t>előny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QUIC </a:t>
            </a:r>
            <a:r>
              <a:rPr lang="en-US" dirty="0" err="1"/>
              <a:t>kapcsolat</a:t>
            </a:r>
            <a:r>
              <a:rPr lang="en-US" dirty="0"/>
              <a:t> </a:t>
            </a:r>
            <a:r>
              <a:rPr lang="en-US" dirty="0" err="1"/>
              <a:t>képes</a:t>
            </a:r>
            <a:r>
              <a:rPr lang="en-US" dirty="0"/>
              <a:t> </a:t>
            </a:r>
            <a:r>
              <a:rPr lang="en-US" dirty="0" err="1"/>
              <a:t>túlélni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IP </a:t>
            </a:r>
            <a:r>
              <a:rPr lang="en-US" dirty="0" err="1"/>
              <a:t>cím</a:t>
            </a:r>
            <a:r>
              <a:rPr lang="en-US" dirty="0"/>
              <a:t> </a:t>
            </a:r>
            <a:r>
              <a:rPr lang="en-US" dirty="0" err="1"/>
              <a:t>változását</a:t>
            </a:r>
            <a:r>
              <a:rPr lang="en-US" dirty="0"/>
              <a:t>, </a:t>
            </a:r>
            <a:r>
              <a:rPr lang="en-US" dirty="0" err="1"/>
              <a:t>például</a:t>
            </a:r>
            <a:r>
              <a:rPr lang="en-US" dirty="0"/>
              <a:t> ha </a:t>
            </a:r>
            <a:r>
              <a:rPr lang="en-US" dirty="0" err="1"/>
              <a:t>Wifi-ről</a:t>
            </a:r>
            <a:r>
              <a:rPr lang="en-US" dirty="0"/>
              <a:t> </a:t>
            </a:r>
            <a:r>
              <a:rPr lang="en-US" dirty="0" err="1"/>
              <a:t>mobilnetre</a:t>
            </a:r>
            <a:r>
              <a:rPr lang="en-US" dirty="0"/>
              <a:t> </a:t>
            </a:r>
            <a:r>
              <a:rPr lang="en-US" dirty="0" err="1"/>
              <a:t>váltunk</a:t>
            </a:r>
            <a:r>
              <a:rPr lang="en-US" dirty="0"/>
              <a:t>.</a:t>
            </a:r>
            <a:endParaRPr lang="hu-HU" dirty="0"/>
          </a:p>
          <a:p>
            <a:r>
              <a:rPr lang="hu-HU" dirty="0"/>
              <a:t>A HTTP/3 elsősorban mobil hálózatokra készült – ott érződik a legnagyobb előnye. Mivel minden </a:t>
            </a:r>
            <a:r>
              <a:rPr lang="hu-HU" dirty="0" err="1"/>
              <a:t>stream</a:t>
            </a:r>
            <a:r>
              <a:rPr lang="hu-HU" dirty="0"/>
              <a:t> független, csomagvesztés esetén is folyamatos marad az adatátvitel. A NAT-barát működés miatt sokkal stabilabb a kapcsolat mobil eszközökön, ahol gyakori a hálózatváltás és az IP-változás.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420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összefoglaló táblázat mutatja legjobban a három protokoll közötti különbséget. A HTTP/1.1 még TCP-s, egyetlen csatornán dolgozik, blokkol és sok erőforrást fogyaszt. A HTTP/2 már egy sokkal modernebb protokoll, de a TCP szintű problémákat nem oldja meg. A HTTP/3 és a QUIC viszont teljesen új alapokra helyezi az egész rendszert, ami a következő években várhatóan a web többségében szabványossá válik.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gyakorlatban</a:t>
            </a:r>
            <a:r>
              <a:rPr lang="en-US" dirty="0"/>
              <a:t> a HTTP/2 és a HTTP/3 </a:t>
            </a:r>
            <a:r>
              <a:rPr lang="en-US" dirty="0" err="1"/>
              <a:t>közti</a:t>
            </a:r>
            <a:r>
              <a:rPr lang="en-US" dirty="0"/>
              <a:t> </a:t>
            </a:r>
            <a:r>
              <a:rPr lang="en-US" dirty="0" err="1"/>
              <a:t>különbség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esetben</a:t>
            </a:r>
            <a:r>
              <a:rPr lang="en-US" dirty="0"/>
              <a:t> </a:t>
            </a:r>
            <a:r>
              <a:rPr lang="en-US" dirty="0" err="1"/>
              <a:t>látványos</a:t>
            </a:r>
            <a:r>
              <a:rPr lang="en-US" dirty="0"/>
              <a:t>, de </a:t>
            </a:r>
            <a:r>
              <a:rPr lang="en-US" dirty="0" err="1"/>
              <a:t>instabil</a:t>
            </a:r>
            <a:r>
              <a:rPr lang="en-US" dirty="0"/>
              <a:t> </a:t>
            </a:r>
            <a:r>
              <a:rPr lang="en-US" dirty="0" err="1"/>
              <a:t>hálózatokon</a:t>
            </a:r>
            <a:r>
              <a:rPr lang="en-US" dirty="0"/>
              <a:t> — </a:t>
            </a:r>
            <a:r>
              <a:rPr lang="en-US" dirty="0" err="1"/>
              <a:t>mobil</a:t>
            </a:r>
            <a:r>
              <a:rPr lang="en-US" dirty="0"/>
              <a:t>, </a:t>
            </a:r>
            <a:r>
              <a:rPr lang="en-US" dirty="0" err="1"/>
              <a:t>wifi</a:t>
            </a:r>
            <a:r>
              <a:rPr lang="en-US" dirty="0"/>
              <a:t> — a HTTP/3 </a:t>
            </a:r>
            <a:r>
              <a:rPr lang="en-US" dirty="0" err="1"/>
              <a:t>jelentős</a:t>
            </a:r>
            <a:r>
              <a:rPr lang="en-US" dirty="0"/>
              <a:t> </a:t>
            </a:r>
            <a:r>
              <a:rPr lang="en-US" dirty="0" err="1"/>
              <a:t>előnyt</a:t>
            </a:r>
            <a:r>
              <a:rPr lang="en-US" dirty="0"/>
              <a:t> </a:t>
            </a:r>
            <a:r>
              <a:rPr lang="en-US" dirty="0" err="1"/>
              <a:t>mutat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89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HTTP/3 ma már egyre elterjedtebb a nagy szolgáltatók között. A Google, a YouTube, a Facebook, a </a:t>
            </a:r>
            <a:r>
              <a:rPr lang="hu-HU" dirty="0" err="1"/>
              <a:t>Cloudflare</a:t>
            </a:r>
            <a:r>
              <a:rPr lang="hu-HU" dirty="0"/>
              <a:t> teljes mértékben támogatja. A nagy böngészők szintén. </a:t>
            </a:r>
          </a:p>
          <a:p>
            <a:r>
              <a:rPr lang="hu-HU" dirty="0"/>
              <a:t>A HTTP/3 azonban lassabban terjed el, mert új infrastruktúra, új tűzfal-, NAT- és proxy beállításokat igényel.</a:t>
            </a:r>
          </a:p>
          <a:p>
            <a:r>
              <a:rPr lang="hu-HU" dirty="0"/>
              <a:t>De a trend egyértelmű: a web forgalmának egy része már most HTTP/3-on zajlik, és ez folyamatosan nő.</a:t>
            </a:r>
          </a:p>
          <a:p>
            <a:r>
              <a:rPr lang="en-US" dirty="0"/>
              <a:t>A </a:t>
            </a:r>
            <a:r>
              <a:rPr lang="en-US" dirty="0" err="1"/>
              <a:t>böngészők</a:t>
            </a:r>
            <a:r>
              <a:rPr lang="en-US" dirty="0"/>
              <a:t> </a:t>
            </a:r>
            <a:r>
              <a:rPr lang="en-US" dirty="0" err="1"/>
              <a:t>többsége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teljesen</a:t>
            </a:r>
            <a:r>
              <a:rPr lang="en-US" dirty="0"/>
              <a:t> </a:t>
            </a:r>
            <a:r>
              <a:rPr lang="en-US" dirty="0" err="1"/>
              <a:t>támogatja</a:t>
            </a:r>
            <a:r>
              <a:rPr lang="en-US" dirty="0"/>
              <a:t> a HTTP/3-at. Safari </a:t>
            </a:r>
            <a:r>
              <a:rPr lang="en-US" dirty="0" err="1"/>
              <a:t>néha</a:t>
            </a:r>
            <a:r>
              <a:rPr lang="en-US" dirty="0"/>
              <a:t> </a:t>
            </a:r>
            <a:r>
              <a:rPr lang="en-US" dirty="0" err="1"/>
              <a:t>lemaradásban</a:t>
            </a:r>
            <a:r>
              <a:rPr lang="en-US" dirty="0"/>
              <a:t> van, de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ott</a:t>
            </a:r>
            <a:r>
              <a:rPr lang="en-US" dirty="0"/>
              <a:t> is </a:t>
            </a:r>
            <a:r>
              <a:rPr lang="en-US" dirty="0" err="1"/>
              <a:t>bekapcsolták</a:t>
            </a:r>
            <a:r>
              <a:rPr lang="en-US" dirty="0"/>
              <a:t>. A HTTP/3 </a:t>
            </a:r>
            <a:r>
              <a:rPr lang="en-US" dirty="0" err="1"/>
              <a:t>tehát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a </a:t>
            </a:r>
            <a:r>
              <a:rPr lang="en-US" dirty="0" err="1"/>
              <a:t>jövő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a </a:t>
            </a:r>
            <a:r>
              <a:rPr lang="en-US" dirty="0" err="1"/>
              <a:t>jelen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46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Ezzel lezárjuk az áttekintést. Remélhetőleg mostanra tisztán látható, milyen fejlődés vezetett a HTTP/1.1-től a HTTP/2-n át a HTTP/3-ig. A HTTP/3 nemcsak egy új protokoll, hanem egy új gondolkodásmód is: megmutatta, hogy a </a:t>
            </a:r>
            <a:r>
              <a:rPr lang="hu-HU" dirty="0" err="1"/>
              <a:t>transport</a:t>
            </a:r>
            <a:r>
              <a:rPr lang="hu-HU" dirty="0"/>
              <a:t> réteghez is hozzá lehet nyúlni, és nem kell örökre a TCP korlátait elfogadni.</a:t>
            </a:r>
          </a:p>
          <a:p>
            <a:r>
              <a:rPr lang="hu-HU" dirty="0"/>
              <a:t>A három generáció közötti különbségek nem csak technikai részletek, hanem közvetlen hatással vannak arra, hogy az internet mennyire gyorsnak érződik. A HTTP/3 a jelenleg legfejlettebb protokoll a webes kommunikációban, és ahogy egyre több szolgáltatás áll át rá, a felhasználók számára a web gyorsabbnak és megbízhatóbbnak fog tűnni.</a:t>
            </a:r>
          </a:p>
          <a:p>
            <a:endParaRPr lang="hu-HU" dirty="0"/>
          </a:p>
          <a:p>
            <a:r>
              <a:rPr lang="hu-HU" dirty="0"/>
              <a:t>Megjegyzés: A HTTP/1.1 protokollt még mindig sok helyen használják, ez is mutatja, hogy 2 évtizedes működése során mennyire elterjedt és a hátrányai ellenére sok helyen megfelelően és megbízhatóan használható.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zbalogh/oe-internetes-alkalmazaso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88D9-8305-0465-4F3D-7DA29873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hu-HU" dirty="0"/>
              <a:t>GitHub </a:t>
            </a:r>
            <a:r>
              <a:rPr lang="hu-HU" dirty="0" err="1"/>
              <a:t>repository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B6470-8D30-EA9B-70C6-C8C1DD303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934" y="2161914"/>
            <a:ext cx="7695849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/>
              <a:t>A tantárgyhoz kapcsolódó anyagok és példaprogramok elérhetők az alábbi GitHub linken: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2400" dirty="0">
                <a:hlinkClick r:id="rId2"/>
              </a:rPr>
              <a:t>https://github.com/zbalogh/oe-internetes-alkalmazasok</a:t>
            </a:r>
            <a:endParaRPr lang="hu-HU" sz="2400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CE131-709F-8000-6809-6F51AE690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2246" y="2161914"/>
            <a:ext cx="3178835" cy="317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79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052996"/>
            <a:ext cx="11165482" cy="2425796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hu-HU" sz="4400" dirty="0"/>
              <a:t>A webes kommunikáció fejlődése és modern protokollok működése</a:t>
            </a:r>
            <a:br>
              <a:rPr lang="hu-HU" sz="3600" dirty="0"/>
            </a:br>
            <a:br>
              <a:rPr lang="hu-HU" sz="3600" dirty="0"/>
            </a:br>
            <a:br>
              <a:rPr lang="hu-HU" sz="3600" dirty="0"/>
            </a:br>
            <a:r>
              <a:rPr lang="en-US" sz="2200" dirty="0"/>
              <a:t>HTTP/1.1 → HTTP/2 → HTTP/3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87552"/>
          </a:xfrm>
        </p:spPr>
        <p:txBody>
          <a:bodyPr>
            <a:normAutofit/>
          </a:bodyPr>
          <a:lstStyle/>
          <a:p>
            <a:r>
              <a:rPr lang="en-US" sz="4000" dirty="0" err="1"/>
              <a:t>Miért</a:t>
            </a:r>
            <a:r>
              <a:rPr lang="en-US" sz="4000" dirty="0"/>
              <a:t> </a:t>
            </a:r>
            <a:r>
              <a:rPr lang="en-US" sz="4000" dirty="0" err="1"/>
              <a:t>kellett</a:t>
            </a:r>
            <a:r>
              <a:rPr lang="en-US" sz="4000" dirty="0"/>
              <a:t> </a:t>
            </a:r>
            <a:r>
              <a:rPr lang="en-US" sz="4000" dirty="0" err="1"/>
              <a:t>fejlődni</a:t>
            </a:r>
            <a:r>
              <a:rPr lang="en-US" sz="4000" dirty="0"/>
              <a:t> a HTTP-nek?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18EF2-0F32-2DE4-361C-973583F4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40280"/>
            <a:ext cx="11155680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</a:t>
            </a:r>
            <a:r>
              <a:rPr lang="en-US" sz="2400" dirty="0" err="1"/>
              <a:t>Weboldalak</a:t>
            </a:r>
            <a:r>
              <a:rPr lang="en-US" sz="2400" dirty="0"/>
              <a:t> </a:t>
            </a:r>
            <a:r>
              <a:rPr lang="en-US" sz="2400" b="1" dirty="0" err="1"/>
              <a:t>komplexebbé</a:t>
            </a:r>
            <a:r>
              <a:rPr lang="en-US" sz="2400" dirty="0"/>
              <a:t> </a:t>
            </a:r>
            <a:r>
              <a:rPr lang="en-US" sz="2400" dirty="0" err="1"/>
              <a:t>váltak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Sok </a:t>
            </a:r>
            <a:r>
              <a:rPr lang="en-US" sz="2400" b="1" dirty="0" err="1"/>
              <a:t>erőforrás</a:t>
            </a:r>
            <a:r>
              <a:rPr lang="en-US" sz="2400" dirty="0"/>
              <a:t>: JS, CSS, </a:t>
            </a:r>
            <a:r>
              <a:rPr lang="en-US" sz="2400" dirty="0" err="1"/>
              <a:t>képek</a:t>
            </a:r>
            <a:r>
              <a:rPr lang="en-US" sz="2400" dirty="0"/>
              <a:t>, API </a:t>
            </a:r>
            <a:r>
              <a:rPr lang="en-US" sz="2400" dirty="0" err="1"/>
              <a:t>hívások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Mobil </a:t>
            </a:r>
            <a:r>
              <a:rPr lang="en-US" sz="2400" b="1" dirty="0" err="1"/>
              <a:t>kliensek</a:t>
            </a:r>
            <a:r>
              <a:rPr lang="en-US" sz="2400" dirty="0"/>
              <a:t>: </a:t>
            </a:r>
            <a:r>
              <a:rPr lang="en-US" sz="2400" dirty="0" err="1"/>
              <a:t>nagy</a:t>
            </a:r>
            <a:r>
              <a:rPr lang="en-US" sz="2400" dirty="0"/>
              <a:t> </a:t>
            </a:r>
            <a:r>
              <a:rPr lang="en-US" sz="2400" dirty="0" err="1"/>
              <a:t>késleltetés</a:t>
            </a:r>
            <a:r>
              <a:rPr lang="en-US" sz="2400" dirty="0"/>
              <a:t>, </a:t>
            </a:r>
            <a:r>
              <a:rPr lang="en-US" sz="2400" dirty="0" err="1"/>
              <a:t>instabil</a:t>
            </a:r>
            <a:r>
              <a:rPr lang="en-US" sz="2400" dirty="0"/>
              <a:t> </a:t>
            </a:r>
            <a:r>
              <a:rPr lang="en-US" sz="2400" dirty="0" err="1"/>
              <a:t>hálózat</a:t>
            </a:r>
            <a:br>
              <a:rPr lang="en-US" sz="2400" dirty="0"/>
            </a:br>
            <a:r>
              <a:rPr lang="en-US" sz="2400" dirty="0"/>
              <a:t>• HTTP/1.1 </a:t>
            </a:r>
            <a:r>
              <a:rPr lang="en-US" sz="2400" dirty="0" err="1"/>
              <a:t>eredeti</a:t>
            </a:r>
            <a:r>
              <a:rPr lang="en-US" sz="2400" dirty="0"/>
              <a:t> </a:t>
            </a:r>
            <a:r>
              <a:rPr lang="en-US" sz="2400" dirty="0" err="1"/>
              <a:t>tervezési</a:t>
            </a:r>
            <a:r>
              <a:rPr lang="en-US" sz="2400" dirty="0"/>
              <a:t> </a:t>
            </a:r>
            <a:r>
              <a:rPr lang="en-US" sz="2400" dirty="0" err="1"/>
              <a:t>céljai</a:t>
            </a:r>
            <a:r>
              <a:rPr lang="en-US" sz="2400" dirty="0"/>
              <a:t> </a:t>
            </a:r>
            <a:r>
              <a:rPr lang="en-US" sz="2400" dirty="0" err="1"/>
              <a:t>már</a:t>
            </a:r>
            <a:r>
              <a:rPr lang="en-US" sz="2400" dirty="0"/>
              <a:t> </a:t>
            </a:r>
            <a:r>
              <a:rPr lang="en-US" sz="2400" dirty="0" err="1"/>
              <a:t>nem</a:t>
            </a:r>
            <a:r>
              <a:rPr lang="en-US" sz="2400" dirty="0"/>
              <a:t> </a:t>
            </a:r>
            <a:r>
              <a:rPr lang="en-US" sz="2400" dirty="0" err="1"/>
              <a:t>voltak</a:t>
            </a:r>
            <a:r>
              <a:rPr lang="en-US" sz="2400" dirty="0"/>
              <a:t> </a:t>
            </a:r>
            <a:r>
              <a:rPr lang="en-US" sz="2400" dirty="0" err="1"/>
              <a:t>elegendők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2F0AC-A450-5FFA-6253-3D6FB446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8"/>
            <a:ext cx="7419025" cy="850392"/>
          </a:xfrm>
        </p:spPr>
        <p:txBody>
          <a:bodyPr>
            <a:normAutofit/>
          </a:bodyPr>
          <a:lstStyle/>
          <a:p>
            <a:r>
              <a:rPr lang="hu-HU" sz="4000" dirty="0"/>
              <a:t>HTTP/1.1 működése röviden</a:t>
            </a:r>
            <a:endParaRPr lang="en-US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189D7-16D6-677E-95C4-FDD239FA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6" y="2023023"/>
            <a:ext cx="8490757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• TCP </a:t>
            </a:r>
            <a:r>
              <a:rPr lang="hu-HU" sz="2000" dirty="0"/>
              <a:t>átviteli protokollra épül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• </a:t>
            </a:r>
            <a:r>
              <a:rPr lang="hu-HU" sz="2000" b="1" dirty="0" err="1"/>
              <a:t>So</a:t>
            </a:r>
            <a:r>
              <a:rPr lang="en-US" sz="2000" b="1" dirty="0" err="1"/>
              <a:t>rrendkényszeres</a:t>
            </a:r>
            <a:r>
              <a:rPr lang="en-US" sz="2000" dirty="0"/>
              <a:t> </a:t>
            </a:r>
            <a:r>
              <a:rPr lang="en-US" sz="2000" dirty="0" err="1"/>
              <a:t>protokoll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Persistent Connections </a:t>
            </a:r>
            <a:r>
              <a:rPr lang="en-US" sz="2000" dirty="0"/>
              <a:t>(Keep-Alive)</a:t>
            </a:r>
            <a:br>
              <a:rPr lang="en-US" sz="2000" dirty="0"/>
            </a:br>
            <a:r>
              <a:rPr lang="en-US" sz="2000" dirty="0"/>
              <a:t>• Pipelining (</a:t>
            </a:r>
            <a:r>
              <a:rPr lang="en-US" sz="2000" dirty="0" err="1"/>
              <a:t>papíron</a:t>
            </a:r>
            <a:r>
              <a:rPr lang="en-US" sz="2000" dirty="0"/>
              <a:t> </a:t>
            </a:r>
            <a:r>
              <a:rPr lang="en-US" sz="2000" dirty="0" err="1"/>
              <a:t>létezett</a:t>
            </a:r>
            <a:r>
              <a:rPr lang="en-US" sz="2000" dirty="0"/>
              <a:t>, de </a:t>
            </a:r>
            <a:r>
              <a:rPr lang="hu-HU" sz="2000" dirty="0"/>
              <a:t>gyakorlatban </a:t>
            </a:r>
            <a:r>
              <a:rPr lang="en-US" sz="2000" dirty="0" err="1"/>
              <a:t>nem</a:t>
            </a:r>
            <a:r>
              <a:rPr lang="en-US" sz="2000" dirty="0"/>
              <a:t> </a:t>
            </a:r>
            <a:r>
              <a:rPr lang="en-US" sz="2000" dirty="0" err="1"/>
              <a:t>használták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Head-of-Line Blocking </a:t>
            </a:r>
            <a:r>
              <a:rPr lang="en-US" sz="2000" dirty="0"/>
              <a:t>(HOL)</a:t>
            </a:r>
            <a:r>
              <a:rPr lang="hu-HU" sz="2000" dirty="0"/>
              <a:t> az alkalmazási rétegben</a:t>
            </a:r>
            <a:br>
              <a:rPr lang="en-US" sz="2000" dirty="0"/>
            </a:br>
            <a:r>
              <a:rPr lang="en-US" sz="2000" dirty="0"/>
              <a:t>• 6 </a:t>
            </a:r>
            <a:r>
              <a:rPr lang="en-US" sz="2000" dirty="0" err="1"/>
              <a:t>kapcsolatos</a:t>
            </a:r>
            <a:r>
              <a:rPr lang="en-US" sz="2000" dirty="0"/>
              <a:t> limit </a:t>
            </a:r>
            <a:r>
              <a:rPr lang="en-US" sz="2000" dirty="0" err="1"/>
              <a:t>böngészőnként</a:t>
            </a:r>
            <a:r>
              <a:rPr lang="hu-HU" sz="2000" dirty="0"/>
              <a:t> egy </a:t>
            </a:r>
            <a:r>
              <a:rPr lang="hu-HU" sz="2000" dirty="0" err="1"/>
              <a:t>domain</a:t>
            </a:r>
            <a:r>
              <a:rPr lang="hu-HU" sz="2000" dirty="0"/>
              <a:t>-re (</a:t>
            </a:r>
            <a:r>
              <a:rPr lang="en-US" sz="2000" dirty="0"/>
              <a:t>domain sharding</a:t>
            </a:r>
            <a:r>
              <a:rPr lang="hu-HU" sz="2000" dirty="0"/>
              <a:t>)</a:t>
            </a:r>
            <a:endParaRPr lang="en-US" sz="2000"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23FC0A28-1971-4EE6-CB33-CB6418B43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354" y="379068"/>
            <a:ext cx="2592439" cy="609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257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7573E-579D-44B5-D090-FD9974FE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35587"/>
          </a:xfrm>
        </p:spPr>
        <p:txBody>
          <a:bodyPr>
            <a:normAutofit/>
          </a:bodyPr>
          <a:lstStyle/>
          <a:p>
            <a:r>
              <a:rPr lang="en-US" sz="4000"/>
              <a:t>HTTP/1.1 teljesítménykorlátai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24446-AAE6-2FDF-4CB2-C548CC7F3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14937"/>
            <a:ext cx="8692240" cy="40309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 err="1"/>
              <a:t>Sorrendkényszer</a:t>
            </a:r>
            <a:r>
              <a:rPr lang="en-US" sz="2400" dirty="0"/>
              <a:t> </a:t>
            </a:r>
            <a:r>
              <a:rPr lang="en-US" sz="2400" dirty="0" err="1"/>
              <a:t>miatt</a:t>
            </a:r>
            <a:r>
              <a:rPr lang="en-US" sz="2400" dirty="0"/>
              <a:t> </a:t>
            </a:r>
            <a:r>
              <a:rPr lang="en-US" sz="2400" dirty="0" err="1"/>
              <a:t>nagyon</a:t>
            </a:r>
            <a:r>
              <a:rPr lang="en-US" sz="2400" dirty="0"/>
              <a:t> </a:t>
            </a:r>
            <a:r>
              <a:rPr lang="en-US" sz="2400" dirty="0" err="1"/>
              <a:t>érzékeny</a:t>
            </a:r>
            <a:r>
              <a:rPr lang="en-US" sz="2400" dirty="0"/>
              <a:t> a </a:t>
            </a:r>
            <a:r>
              <a:rPr lang="en-US" sz="2400" dirty="0" err="1"/>
              <a:t>csomagvesztésre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 err="1"/>
              <a:t>Több</a:t>
            </a:r>
            <a:r>
              <a:rPr lang="en-US" sz="2400" b="1" dirty="0"/>
              <a:t> TCP </a:t>
            </a:r>
            <a:r>
              <a:rPr lang="en-US" sz="2400" b="1" dirty="0" err="1"/>
              <a:t>kapcsolat</a:t>
            </a:r>
            <a:r>
              <a:rPr lang="en-US" sz="2400" b="1" dirty="0"/>
              <a:t> </a:t>
            </a:r>
            <a:r>
              <a:rPr lang="en-US" sz="2400" dirty="0"/>
              <a:t>→ </a:t>
            </a:r>
            <a:r>
              <a:rPr lang="en-US" sz="2400" dirty="0" err="1"/>
              <a:t>nagy</a:t>
            </a:r>
            <a:r>
              <a:rPr lang="en-US" sz="2400" dirty="0"/>
              <a:t> overhead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HOL blocking </a:t>
            </a:r>
            <a:r>
              <a:rPr lang="en-US" sz="2400" dirty="0" err="1"/>
              <a:t>problémája</a:t>
            </a:r>
            <a:r>
              <a:rPr lang="en-US" sz="2400" dirty="0"/>
              <a:t> </a:t>
            </a:r>
            <a:r>
              <a:rPr lang="en-US" sz="2400" dirty="0" err="1"/>
              <a:t>nem</a:t>
            </a:r>
            <a:r>
              <a:rPr lang="en-US" sz="2400" dirty="0"/>
              <a:t> </a:t>
            </a:r>
            <a:r>
              <a:rPr lang="en-US" sz="2400" dirty="0" err="1"/>
              <a:t>kerülhető</a:t>
            </a:r>
            <a:r>
              <a:rPr lang="en-US" sz="2400" dirty="0"/>
              <a:t> meg</a:t>
            </a:r>
            <a:br>
              <a:rPr lang="en-US" sz="2400" dirty="0"/>
            </a:br>
            <a:r>
              <a:rPr lang="en-US" sz="2400" dirty="0"/>
              <a:t>• A </a:t>
            </a:r>
            <a:r>
              <a:rPr lang="en-US" sz="2400" dirty="0" err="1"/>
              <a:t>protokoll</a:t>
            </a:r>
            <a:r>
              <a:rPr lang="en-US" sz="2400" dirty="0"/>
              <a:t> </a:t>
            </a:r>
            <a:r>
              <a:rPr lang="en-US" sz="2400" dirty="0" err="1"/>
              <a:t>nem</a:t>
            </a:r>
            <a:r>
              <a:rPr lang="en-US" sz="2400" dirty="0"/>
              <a:t> </a:t>
            </a:r>
            <a:r>
              <a:rPr lang="en-US" sz="2400" dirty="0" err="1"/>
              <a:t>tudja</a:t>
            </a:r>
            <a:r>
              <a:rPr lang="en-US" sz="2400" dirty="0"/>
              <a:t> </a:t>
            </a:r>
            <a:r>
              <a:rPr lang="en-US" sz="2400" dirty="0" err="1"/>
              <a:t>priorizálni</a:t>
            </a:r>
            <a:r>
              <a:rPr lang="en-US" sz="2400" dirty="0"/>
              <a:t> a </a:t>
            </a:r>
            <a:r>
              <a:rPr lang="en-US" sz="2400" dirty="0" err="1"/>
              <a:t>kéréseket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257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7F79-E191-A6D0-D770-F71C667DC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31415"/>
          </a:xfrm>
        </p:spPr>
        <p:txBody>
          <a:bodyPr>
            <a:normAutofit/>
          </a:bodyPr>
          <a:lstStyle/>
          <a:p>
            <a:r>
              <a:rPr lang="es-ES" sz="4000" dirty="0"/>
              <a:t>Mi </a:t>
            </a:r>
            <a:r>
              <a:rPr lang="es-ES" sz="4000" dirty="0" err="1"/>
              <a:t>hozta</a:t>
            </a:r>
            <a:r>
              <a:rPr lang="es-ES" sz="4000" dirty="0"/>
              <a:t> el a HTTP/2 </a:t>
            </a:r>
            <a:r>
              <a:rPr lang="es-ES" sz="4000" dirty="0" err="1"/>
              <a:t>fejlesztését</a:t>
            </a:r>
            <a:r>
              <a:rPr lang="es-ES" sz="4000" dirty="0"/>
              <a:t>?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008E6-D6DC-B764-A6FE-E310BB82C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28694"/>
            <a:ext cx="11155680" cy="414061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A </a:t>
            </a:r>
            <a:r>
              <a:rPr lang="en-US" sz="2400" b="1" dirty="0"/>
              <a:t>multiplexing</a:t>
            </a:r>
            <a:r>
              <a:rPr lang="en-US" sz="2400" dirty="0"/>
              <a:t> </a:t>
            </a:r>
            <a:r>
              <a:rPr lang="en-US" sz="2400" dirty="0" err="1"/>
              <a:t>iránti</a:t>
            </a:r>
            <a:r>
              <a:rPr lang="en-US" sz="2400" dirty="0"/>
              <a:t> </a:t>
            </a:r>
            <a:r>
              <a:rPr lang="en-US" sz="2400" dirty="0" err="1"/>
              <a:t>igény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dirty="0" err="1"/>
              <a:t>Oldalak</a:t>
            </a:r>
            <a:r>
              <a:rPr lang="en-US" sz="2400" dirty="0"/>
              <a:t> </a:t>
            </a:r>
            <a:r>
              <a:rPr lang="en-US" sz="2400" b="1" dirty="0" err="1"/>
              <a:t>komplexitása</a:t>
            </a:r>
            <a:endParaRPr lang="hu-HU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</a:t>
            </a:r>
            <a:r>
              <a:rPr lang="en-US" sz="2400" dirty="0" err="1"/>
              <a:t>Gyorsabb</a:t>
            </a:r>
            <a:r>
              <a:rPr lang="en-US" sz="2400" dirty="0"/>
              <a:t> </a:t>
            </a:r>
            <a:r>
              <a:rPr lang="en-US" sz="2400" dirty="0" err="1"/>
              <a:t>oldalbetöltés</a:t>
            </a:r>
            <a:endParaRPr lang="hu-HU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 err="1"/>
              <a:t>Kevesebb</a:t>
            </a:r>
            <a:r>
              <a:rPr lang="hu-HU" sz="2400" b="1" dirty="0"/>
              <a:t> (egyetlen)</a:t>
            </a:r>
            <a:r>
              <a:rPr lang="en-US" sz="2400" b="1" dirty="0"/>
              <a:t> TCP </a:t>
            </a:r>
            <a:r>
              <a:rPr lang="en-US" sz="2400" dirty="0" err="1"/>
              <a:t>kapcsolat</a:t>
            </a:r>
            <a:br>
              <a:rPr lang="en-US" sz="2400" dirty="0"/>
            </a:br>
            <a:r>
              <a:rPr lang="en-US" sz="2400" dirty="0"/>
              <a:t>• Mobil </a:t>
            </a:r>
            <a:r>
              <a:rPr lang="en-US" sz="2400" dirty="0" err="1"/>
              <a:t>hálózatok</a:t>
            </a:r>
            <a:r>
              <a:rPr lang="hu-HU" sz="2400" dirty="0"/>
              <a:t> megjelenése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SPDY </a:t>
            </a:r>
            <a:r>
              <a:rPr lang="hu-HU" sz="2400" dirty="0"/>
              <a:t> („</a:t>
            </a:r>
            <a:r>
              <a:rPr lang="hu-HU" sz="2400" dirty="0" err="1"/>
              <a:t>speedy</a:t>
            </a:r>
            <a:r>
              <a:rPr lang="hu-HU" sz="2400" dirty="0"/>
              <a:t>”) </a:t>
            </a:r>
            <a:r>
              <a:rPr lang="en-US" sz="2400" dirty="0"/>
              <a:t>Google</a:t>
            </a:r>
            <a:r>
              <a:rPr lang="hu-HU" sz="2400" dirty="0"/>
              <a:t> </a:t>
            </a:r>
            <a:r>
              <a:rPr lang="hu-HU" sz="2400" dirty="0" err="1"/>
              <a:t>kisérleti</a:t>
            </a:r>
            <a:r>
              <a:rPr lang="hu-HU" sz="2400" dirty="0"/>
              <a:t> protokollja alapozta meg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695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0D313-8FBE-35C4-77E0-6A76B1BDE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469901" cy="896691"/>
          </a:xfrm>
        </p:spPr>
        <p:txBody>
          <a:bodyPr>
            <a:normAutofit/>
          </a:bodyPr>
          <a:lstStyle/>
          <a:p>
            <a:r>
              <a:rPr lang="en-US" sz="4000" dirty="0"/>
              <a:t>HTTP/2: </a:t>
            </a:r>
            <a:r>
              <a:rPr lang="en-US" sz="4000" dirty="0" err="1"/>
              <a:t>Bináris</a:t>
            </a:r>
            <a:r>
              <a:rPr lang="hu-HU" sz="4000" dirty="0"/>
              <a:t> protokoll</a:t>
            </a:r>
            <a:endParaRPr lang="en-US" sz="40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258A4-25DC-9CD9-FEF8-4499C3590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112264"/>
            <a:ext cx="6091274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• A HTTP/2 </a:t>
            </a:r>
            <a:r>
              <a:rPr lang="en-US" sz="2000" b="1" dirty="0" err="1"/>
              <a:t>bináris</a:t>
            </a:r>
            <a:r>
              <a:rPr lang="en-US" sz="2000" dirty="0"/>
              <a:t> </a:t>
            </a:r>
            <a:r>
              <a:rPr lang="en-US" sz="2000" dirty="0" err="1"/>
              <a:t>protokoll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dirty="0" err="1"/>
              <a:t>Kérések</a:t>
            </a:r>
            <a:r>
              <a:rPr lang="en-US" sz="2000" dirty="0"/>
              <a:t> és </a:t>
            </a:r>
            <a:r>
              <a:rPr lang="en-US" sz="2000" dirty="0" err="1"/>
              <a:t>válaszok</a:t>
            </a:r>
            <a:r>
              <a:rPr lang="en-US" sz="2000" dirty="0"/>
              <a:t> </a:t>
            </a:r>
            <a:r>
              <a:rPr lang="en-US" sz="2000" b="1" dirty="0" err="1"/>
              <a:t>keretekre</a:t>
            </a:r>
            <a:r>
              <a:rPr lang="en-US" sz="2000" dirty="0"/>
              <a:t> (</a:t>
            </a:r>
            <a:r>
              <a:rPr lang="en-US" sz="2000" b="1" dirty="0"/>
              <a:t>frames</a:t>
            </a:r>
            <a:r>
              <a:rPr lang="en-US" sz="2000" dirty="0"/>
              <a:t>) </a:t>
            </a:r>
            <a:r>
              <a:rPr lang="en-US" sz="2000" dirty="0" err="1"/>
              <a:t>oszlanak</a:t>
            </a:r>
            <a:endParaRPr lang="hu-H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• </a:t>
            </a:r>
            <a:r>
              <a:rPr lang="en-US" sz="2000" b="1" dirty="0"/>
              <a:t>Stream</a:t>
            </a:r>
            <a:r>
              <a:rPr lang="en-US" sz="2000" dirty="0"/>
              <a:t> </a:t>
            </a:r>
            <a:r>
              <a:rPr lang="en-US" sz="2000" dirty="0" err="1"/>
              <a:t>alapú</a:t>
            </a:r>
            <a:r>
              <a:rPr lang="en-US" sz="2000" dirty="0"/>
              <a:t> </a:t>
            </a:r>
            <a:r>
              <a:rPr lang="en-US" sz="2000" dirty="0" err="1"/>
              <a:t>kommunikáció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dirty="0" err="1"/>
              <a:t>Külön</a:t>
            </a:r>
            <a:r>
              <a:rPr lang="en-US" sz="2000" dirty="0"/>
              <a:t> stream-ek </a:t>
            </a:r>
            <a:r>
              <a:rPr lang="en-US" sz="2000" b="1" dirty="0" err="1"/>
              <a:t>egyetlen</a:t>
            </a:r>
            <a:r>
              <a:rPr lang="en-US" sz="2000" b="1" dirty="0"/>
              <a:t> TCP </a:t>
            </a:r>
            <a:r>
              <a:rPr lang="en-US" sz="2000" dirty="0" err="1"/>
              <a:t>kapcsolaton</a:t>
            </a:r>
            <a:endParaRPr lang="en-US" sz="2000" dirty="0"/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9F56CF2B-7AB0-898F-9E6A-C13DAA886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438" y="3429000"/>
            <a:ext cx="5579200" cy="276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5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1040-965F-2593-BA5A-16377BB0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4564"/>
          </a:xfrm>
        </p:spPr>
        <p:txBody>
          <a:bodyPr>
            <a:normAutofit/>
          </a:bodyPr>
          <a:lstStyle/>
          <a:p>
            <a:r>
              <a:rPr lang="en-US" sz="4000" dirty="0"/>
              <a:t>HTTP/2 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0856C-BF15-3549-80C3-FA4505AE0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630" y="2138770"/>
            <a:ext cx="8255451" cy="38221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u-HU" sz="2400" dirty="0"/>
              <a:t>• </a:t>
            </a:r>
            <a:r>
              <a:rPr lang="hu-HU" sz="2400" b="1" dirty="0"/>
              <a:t>Több kérés és válasz </a:t>
            </a:r>
            <a:r>
              <a:rPr lang="hu-HU" sz="2400" dirty="0"/>
              <a:t>párhuzamosan</a:t>
            </a:r>
            <a:br>
              <a:rPr lang="hu-HU" sz="2400" dirty="0"/>
            </a:br>
            <a:r>
              <a:rPr lang="hu-HU" sz="2400" dirty="0"/>
              <a:t>• A böngésző </a:t>
            </a:r>
            <a:r>
              <a:rPr lang="hu-HU" sz="2400" b="1" dirty="0"/>
              <a:t>nem </a:t>
            </a:r>
            <a:r>
              <a:rPr lang="hu-HU" sz="2400" b="1" dirty="0" err="1"/>
              <a:t>blokkolódik</a:t>
            </a:r>
            <a:br>
              <a:rPr lang="hu-HU" sz="2400" dirty="0"/>
            </a:br>
            <a:r>
              <a:rPr lang="hu-HU" sz="2400" dirty="0"/>
              <a:t>• </a:t>
            </a:r>
            <a:r>
              <a:rPr lang="hu-HU" sz="2400" b="1" dirty="0"/>
              <a:t>Megszűnik a HOL </a:t>
            </a:r>
            <a:r>
              <a:rPr lang="hu-HU" sz="2400" b="1" dirty="0" err="1"/>
              <a:t>blocking</a:t>
            </a:r>
            <a:r>
              <a:rPr lang="hu-HU" sz="2400" b="1" dirty="0"/>
              <a:t> </a:t>
            </a:r>
            <a:r>
              <a:rPr lang="hu-HU" sz="2400" dirty="0"/>
              <a:t>a HTTP protokoll szinten</a:t>
            </a:r>
            <a:br>
              <a:rPr lang="hu-HU" sz="2400" dirty="0"/>
            </a:br>
            <a:r>
              <a:rPr lang="hu-HU" sz="2400" dirty="0"/>
              <a:t>• Nincs szükség több TCP kapcsolatra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hu-HU" sz="2400" dirty="0"/>
              <a:t>• </a:t>
            </a:r>
            <a:r>
              <a:rPr lang="hu-HU" sz="2400" b="1" dirty="0"/>
              <a:t>Egy TCP kapcsolat</a:t>
            </a:r>
            <a:r>
              <a:rPr lang="hu-HU" sz="2400" dirty="0"/>
              <a:t>, sok </a:t>
            </a:r>
            <a:r>
              <a:rPr lang="hu-HU" sz="2400" dirty="0" err="1"/>
              <a:t>stream</a:t>
            </a:r>
            <a:endParaRPr lang="hu-HU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hu-HU" sz="2400" dirty="0"/>
              <a:t>• Minden </a:t>
            </a:r>
            <a:r>
              <a:rPr lang="hu-HU" sz="2400" dirty="0" err="1"/>
              <a:t>stream</a:t>
            </a:r>
            <a:r>
              <a:rPr lang="hu-HU" sz="2400" dirty="0"/>
              <a:t> kap egy azonosítót (</a:t>
            </a:r>
            <a:r>
              <a:rPr lang="hu-HU" sz="2400" dirty="0" err="1"/>
              <a:t>Stream</a:t>
            </a:r>
            <a:r>
              <a:rPr lang="hu-HU" sz="2400" dirty="0"/>
              <a:t> ID)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hu-HU" sz="2400" dirty="0"/>
          </a:p>
        </p:txBody>
      </p:sp>
      <p:pic>
        <p:nvPicPr>
          <p:cNvPr id="5" name="Picture 4" descr="A close-up of a phone screen&#10;&#10;AI-generated content may be incorrect.">
            <a:extLst>
              <a:ext uri="{FF2B5EF4-FFF2-40B4-BE49-F238E27FC236}">
                <a16:creationId xmlns:a16="http://schemas.microsoft.com/office/drawing/2014/main" id="{50379D27-DCE0-07FF-23C8-515DBDE41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116" y="978408"/>
            <a:ext cx="2463676" cy="55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89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293E9C0-F7E4-6EF4-0F3C-C031AC0C2C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97" y="1030146"/>
            <a:ext cx="8677571" cy="529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DFE1D-75F1-4A52-6AA9-84668097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28184"/>
          </a:xfrm>
        </p:spPr>
        <p:txBody>
          <a:bodyPr>
            <a:normAutofit/>
          </a:bodyPr>
          <a:lstStyle/>
          <a:p>
            <a:r>
              <a:rPr lang="hu-HU" sz="4000" dirty="0"/>
              <a:t>HTTP/2 egyéb újdonságai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DFEAA-D8FD-659C-F843-028D3E57B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254517"/>
            <a:ext cx="11155680" cy="37673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2400" b="1" dirty="0"/>
              <a:t>HPACK</a:t>
            </a:r>
            <a:r>
              <a:rPr lang="hu-HU" sz="2400" dirty="0"/>
              <a:t>: </a:t>
            </a:r>
            <a:r>
              <a:rPr lang="hu-HU" sz="2400" dirty="0" err="1"/>
              <a:t>Header</a:t>
            </a:r>
            <a:r>
              <a:rPr lang="hu-HU" sz="2400" dirty="0"/>
              <a:t> </a:t>
            </a:r>
            <a:r>
              <a:rPr lang="hu-HU" sz="2400" dirty="0" err="1"/>
              <a:t>Compression</a:t>
            </a:r>
            <a:endParaRPr lang="hu-HU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HPACK </a:t>
            </a:r>
            <a:r>
              <a:rPr lang="en-US" sz="2400" b="1" dirty="0" err="1"/>
              <a:t>tömöríti</a:t>
            </a:r>
            <a:r>
              <a:rPr lang="en-US" sz="2400" dirty="0"/>
              <a:t> </a:t>
            </a:r>
            <a:r>
              <a:rPr lang="en-US" sz="2400" b="1" dirty="0"/>
              <a:t>a</a:t>
            </a:r>
            <a:r>
              <a:rPr lang="en-US" sz="2400" dirty="0"/>
              <a:t> </a:t>
            </a:r>
            <a:r>
              <a:rPr lang="en-US" sz="2400" b="1" dirty="0" err="1"/>
              <a:t>fejléceket</a:t>
            </a:r>
            <a:r>
              <a:rPr lang="hu-HU" sz="2400" dirty="0"/>
              <a:t>, ezáltal j</a:t>
            </a:r>
            <a:r>
              <a:rPr lang="en-US" sz="2400" dirty="0" err="1"/>
              <a:t>elentős</a:t>
            </a:r>
            <a:r>
              <a:rPr lang="en-US" sz="2400" dirty="0"/>
              <a:t> </a:t>
            </a:r>
            <a:r>
              <a:rPr lang="en-US" sz="2400" dirty="0" err="1"/>
              <a:t>sávszélességcsökkenés</a:t>
            </a:r>
            <a:endParaRPr lang="hu-HU" sz="2400" dirty="0"/>
          </a:p>
          <a:p>
            <a:pPr>
              <a:lnSpc>
                <a:spcPct val="150000"/>
              </a:lnSpc>
            </a:pPr>
            <a:r>
              <a:rPr lang="hu-HU" sz="2400" b="1" dirty="0" err="1"/>
              <a:t>Stream</a:t>
            </a:r>
            <a:r>
              <a:rPr lang="hu-HU" sz="2400" dirty="0"/>
              <a:t> </a:t>
            </a:r>
            <a:r>
              <a:rPr lang="hu-HU" sz="2400" b="1" dirty="0" err="1"/>
              <a:t>priorítások</a:t>
            </a:r>
            <a:r>
              <a:rPr lang="hu-HU" sz="2400" dirty="0"/>
              <a:t>: böngésző közölheti, mi fontosabb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Server Push</a:t>
            </a:r>
            <a:r>
              <a:rPr lang="en-US" sz="2400" dirty="0"/>
              <a:t>: </a:t>
            </a:r>
            <a:r>
              <a:rPr lang="en-US" sz="2400" dirty="0" err="1"/>
              <a:t>előre</a:t>
            </a:r>
            <a:r>
              <a:rPr lang="en-US" sz="2400" dirty="0"/>
              <a:t> </a:t>
            </a:r>
            <a:r>
              <a:rPr lang="en-US" sz="2400" dirty="0" err="1"/>
              <a:t>küldött</a:t>
            </a:r>
            <a:r>
              <a:rPr lang="en-US" sz="2400" dirty="0"/>
              <a:t> </a:t>
            </a:r>
            <a:r>
              <a:rPr lang="en-US" sz="2400" dirty="0" err="1"/>
              <a:t>erőforrások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843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C1F62-8F0D-2F87-BB08-B504B0CE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66139"/>
          </a:xfrm>
        </p:spPr>
        <p:txBody>
          <a:bodyPr>
            <a:normAutofit/>
          </a:bodyPr>
          <a:lstStyle/>
          <a:p>
            <a:r>
              <a:rPr lang="en-US" sz="4000" dirty="0"/>
              <a:t>HTTP/2 </a:t>
            </a:r>
            <a:r>
              <a:rPr lang="en-US" sz="4000" dirty="0" err="1"/>
              <a:t>hátránya</a:t>
            </a:r>
            <a:r>
              <a:rPr lang="en-US" sz="4000" dirty="0"/>
              <a:t>: TCP HOL blocking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9DCE8-15BA-CD97-3AA6-D32EA719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54517"/>
            <a:ext cx="11155680" cy="376732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hu-HU" dirty="0"/>
              <a:t>• </a:t>
            </a:r>
            <a:r>
              <a:rPr lang="hu-HU" sz="2400" dirty="0"/>
              <a:t>A HTTP-szintű HOL </a:t>
            </a:r>
            <a:r>
              <a:rPr lang="hu-HU" sz="2400" dirty="0" err="1"/>
              <a:t>blocking</a:t>
            </a:r>
            <a:r>
              <a:rPr lang="hu-HU" sz="2400" dirty="0"/>
              <a:t> ugyan megszűnt</a:t>
            </a:r>
            <a:br>
              <a:rPr lang="hu-HU" sz="2400" dirty="0"/>
            </a:br>
            <a:r>
              <a:rPr lang="hu-HU" sz="2400" dirty="0"/>
              <a:t>• De a </a:t>
            </a:r>
            <a:r>
              <a:rPr lang="hu-HU" sz="2400" b="1" dirty="0"/>
              <a:t>TCP-szintű HOL </a:t>
            </a:r>
            <a:r>
              <a:rPr lang="hu-HU" sz="2400" dirty="0"/>
              <a:t>még mindig fennáll</a:t>
            </a:r>
            <a:br>
              <a:rPr lang="hu-HU" sz="2400" dirty="0"/>
            </a:br>
            <a:r>
              <a:rPr lang="hu-HU" sz="2400" dirty="0"/>
              <a:t>• </a:t>
            </a:r>
            <a:r>
              <a:rPr lang="hu-HU" sz="2400" b="1" dirty="0"/>
              <a:t>Csomagvesztés</a:t>
            </a:r>
            <a:r>
              <a:rPr lang="hu-HU" sz="2400" dirty="0"/>
              <a:t> továbbra is lassítja az egész kapcsolatot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hu-HU" sz="2400" dirty="0"/>
              <a:t>• </a:t>
            </a:r>
            <a:r>
              <a:rPr lang="en-US" sz="2400" dirty="0"/>
              <a:t>Egy </a:t>
            </a:r>
            <a:r>
              <a:rPr lang="en-US" sz="2400" dirty="0" err="1"/>
              <a:t>elveszett</a:t>
            </a:r>
            <a:r>
              <a:rPr lang="en-US" sz="2400" dirty="0"/>
              <a:t> </a:t>
            </a:r>
            <a:r>
              <a:rPr lang="en-US" sz="2400" dirty="0" err="1"/>
              <a:t>csomag</a:t>
            </a:r>
            <a:r>
              <a:rPr lang="en-US" sz="2400" dirty="0"/>
              <a:t> → </a:t>
            </a:r>
            <a:r>
              <a:rPr lang="en-US" sz="2400" dirty="0" err="1"/>
              <a:t>minden</a:t>
            </a:r>
            <a:r>
              <a:rPr lang="en-US" sz="2400" dirty="0"/>
              <a:t> stream </a:t>
            </a:r>
            <a:r>
              <a:rPr lang="en-US" sz="2400" dirty="0" err="1"/>
              <a:t>lassul</a:t>
            </a:r>
            <a:endParaRPr lang="hu-HU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712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B083-9AC7-2C9A-D111-455A21FD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8817"/>
          </a:xfrm>
        </p:spPr>
        <p:txBody>
          <a:bodyPr>
            <a:normAutofit/>
          </a:bodyPr>
          <a:lstStyle/>
          <a:p>
            <a:r>
              <a:rPr lang="en-US" sz="4000" dirty="0"/>
              <a:t>HTTP/3 és a QUIC </a:t>
            </a:r>
            <a:r>
              <a:rPr lang="en-US" sz="4000" dirty="0" err="1"/>
              <a:t>protokoll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91FF-0A4A-7A92-EA1F-454E706A6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00816"/>
            <a:ext cx="11155680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• </a:t>
            </a:r>
            <a:r>
              <a:rPr lang="en-US" sz="2400" b="1" dirty="0"/>
              <a:t>UDP</a:t>
            </a:r>
            <a:r>
              <a:rPr lang="en-US" sz="2400" dirty="0"/>
              <a:t> </a:t>
            </a:r>
            <a:r>
              <a:rPr lang="en-US" sz="2400" dirty="0" err="1"/>
              <a:t>alapú</a:t>
            </a:r>
            <a:r>
              <a:rPr lang="hu-HU" sz="2400" dirty="0"/>
              <a:t> protokoll, ami csak „hordozó”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• Google </a:t>
            </a:r>
            <a:r>
              <a:rPr lang="en-US" sz="2400" dirty="0" err="1"/>
              <a:t>fejlesztése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QUIC</a:t>
            </a:r>
            <a:r>
              <a:rPr lang="hu-HU" sz="2400" b="1" dirty="0"/>
              <a:t> („</a:t>
            </a:r>
            <a:r>
              <a:rPr lang="hu-HU" sz="2400" b="1" dirty="0" err="1"/>
              <a:t>quick</a:t>
            </a:r>
            <a:r>
              <a:rPr lang="hu-HU" sz="2400" b="1" dirty="0"/>
              <a:t>”)</a:t>
            </a:r>
            <a:r>
              <a:rPr lang="en-US" sz="2400" dirty="0"/>
              <a:t>: User-space</a:t>
            </a:r>
            <a:r>
              <a:rPr lang="hu-HU" sz="2400" dirty="0"/>
              <a:t> (alkalmazás </a:t>
            </a:r>
            <a:r>
              <a:rPr lang="hu-HU" sz="2400" dirty="0" err="1"/>
              <a:t>rétegbeli</a:t>
            </a:r>
            <a:r>
              <a:rPr lang="hu-HU" sz="2400" dirty="0"/>
              <a:t>)</a:t>
            </a:r>
            <a:r>
              <a:rPr lang="en-US" sz="2400" dirty="0"/>
              <a:t> </a:t>
            </a:r>
            <a:r>
              <a:rPr lang="en-US" sz="2400" dirty="0" err="1"/>
              <a:t>implementáció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 err="1"/>
              <a:t>Beépített</a:t>
            </a:r>
            <a:r>
              <a:rPr lang="en-US" sz="2400" b="1" dirty="0"/>
              <a:t> </a:t>
            </a:r>
            <a:r>
              <a:rPr lang="en-US" sz="2400" b="1" dirty="0" err="1"/>
              <a:t>titkosítás</a:t>
            </a:r>
            <a:r>
              <a:rPr lang="en-US" sz="2400" b="1" dirty="0"/>
              <a:t> </a:t>
            </a:r>
            <a:r>
              <a:rPr lang="en-US" sz="2400" dirty="0"/>
              <a:t>(TLS 1.3)</a:t>
            </a:r>
            <a:r>
              <a:rPr lang="hu-HU" sz="2400" dirty="0"/>
              <a:t>, ami kötelező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• </a:t>
            </a:r>
            <a:r>
              <a:rPr lang="en-US" sz="2400" b="1" dirty="0"/>
              <a:t>Multiplexing</a:t>
            </a:r>
            <a:r>
              <a:rPr lang="hu-HU" sz="2400" dirty="0"/>
              <a:t> és </a:t>
            </a:r>
            <a:r>
              <a:rPr lang="hu-HU" sz="2400" b="1" dirty="0"/>
              <a:t>streaming</a:t>
            </a:r>
            <a:r>
              <a:rPr lang="hu-HU" sz="2400" dirty="0"/>
              <a:t> támogatása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• </a:t>
            </a:r>
            <a:r>
              <a:rPr lang="hu-HU" sz="2400" dirty="0"/>
              <a:t>QUIC saját bináris </a:t>
            </a:r>
            <a:r>
              <a:rPr lang="hu-HU" sz="2400" dirty="0" err="1"/>
              <a:t>transport</a:t>
            </a:r>
            <a:r>
              <a:rPr lang="hu-HU" sz="2400" dirty="0"/>
              <a:t> protokoll, </a:t>
            </a:r>
            <a:r>
              <a:rPr lang="hu-HU" sz="2400" dirty="0" err="1"/>
              <a:t>stream</a:t>
            </a:r>
            <a:r>
              <a:rPr lang="hu-HU" sz="2400" dirty="0"/>
              <a:t> alapú átvitel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835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E5E4-2439-025E-3D9C-036DD243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31415"/>
          </a:xfrm>
        </p:spPr>
        <p:txBody>
          <a:bodyPr>
            <a:normAutofit/>
          </a:bodyPr>
          <a:lstStyle/>
          <a:p>
            <a:r>
              <a:rPr lang="en-US" sz="4000" dirty="0"/>
              <a:t>HTTP/3: QUIC </a:t>
            </a:r>
            <a:r>
              <a:rPr lang="en-US" sz="4000" dirty="0" err="1"/>
              <a:t>felett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B91A-AD35-09B6-9A38-3BB07DBF4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• HTTP/3 = HTTP/2 </a:t>
            </a:r>
            <a:r>
              <a:rPr lang="en-US" sz="2400" dirty="0" err="1"/>
              <a:t>továbbfejlesztett</a:t>
            </a:r>
            <a:r>
              <a:rPr lang="en-US" sz="2400" dirty="0"/>
              <a:t> framing</a:t>
            </a:r>
            <a:br>
              <a:rPr lang="en-US" sz="2400" dirty="0"/>
            </a:br>
            <a:r>
              <a:rPr lang="en-US" sz="2400" dirty="0"/>
              <a:t>• Minden </a:t>
            </a:r>
            <a:r>
              <a:rPr lang="en-US" sz="2400" b="1" dirty="0"/>
              <a:t>stream</a:t>
            </a:r>
            <a:r>
              <a:rPr lang="en-US" sz="2400" dirty="0"/>
              <a:t> </a:t>
            </a:r>
            <a:r>
              <a:rPr lang="en-US" sz="2400" dirty="0" err="1"/>
              <a:t>külön</a:t>
            </a:r>
            <a:r>
              <a:rPr lang="en-US" sz="2400" dirty="0"/>
              <a:t> </a:t>
            </a:r>
            <a:r>
              <a:rPr lang="en-US" sz="2400" dirty="0" err="1"/>
              <a:t>kezelhető</a:t>
            </a:r>
            <a:r>
              <a:rPr lang="hu-HU" sz="2400" dirty="0"/>
              <a:t> és </a:t>
            </a:r>
            <a:r>
              <a:rPr lang="hu-HU" sz="2400" b="1" dirty="0"/>
              <a:t>független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• </a:t>
            </a:r>
            <a:r>
              <a:rPr lang="en-US" sz="2400" b="1" dirty="0" err="1"/>
              <a:t>Nincs</a:t>
            </a:r>
            <a:r>
              <a:rPr lang="en-US" sz="2400" b="1" dirty="0"/>
              <a:t> TCP-level HOL blocking</a:t>
            </a:r>
            <a:br>
              <a:rPr lang="en-US" sz="2400" dirty="0"/>
            </a:br>
            <a:r>
              <a:rPr lang="en-US" sz="2400" dirty="0"/>
              <a:t>• HOL blocking </a:t>
            </a:r>
            <a:r>
              <a:rPr lang="en-US" sz="2400" dirty="0" err="1"/>
              <a:t>teljes</a:t>
            </a:r>
            <a:r>
              <a:rPr lang="en-US" sz="2400" dirty="0"/>
              <a:t> </a:t>
            </a:r>
            <a:r>
              <a:rPr lang="en-US" sz="2400" dirty="0" err="1"/>
              <a:t>megszüntetése</a:t>
            </a:r>
            <a:endParaRPr lang="hu-HU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• Csomagvesztés </a:t>
            </a:r>
            <a:r>
              <a:rPr lang="en-US" sz="2400" dirty="0" err="1"/>
              <a:t>csak</a:t>
            </a:r>
            <a:r>
              <a:rPr lang="en-US" sz="2400" dirty="0"/>
              <a:t> </a:t>
            </a:r>
            <a:r>
              <a:rPr lang="en-US" sz="2400" dirty="0" err="1"/>
              <a:t>az</a:t>
            </a:r>
            <a:r>
              <a:rPr lang="en-US" sz="2400" dirty="0"/>
              <a:t> </a:t>
            </a:r>
            <a:r>
              <a:rPr lang="en-US" sz="2400" dirty="0" err="1"/>
              <a:t>adott</a:t>
            </a:r>
            <a:r>
              <a:rPr lang="en-US" sz="2400" dirty="0"/>
              <a:t> </a:t>
            </a:r>
            <a:r>
              <a:rPr lang="en-US" sz="2400" dirty="0" err="1"/>
              <a:t>streamre</a:t>
            </a:r>
            <a:r>
              <a:rPr lang="en-US" sz="2400" dirty="0"/>
              <a:t> hat</a:t>
            </a:r>
            <a:endParaRPr lang="hu-HU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• </a:t>
            </a:r>
            <a:r>
              <a:rPr lang="hu-HU" sz="2400" dirty="0"/>
              <a:t>QPACK: </a:t>
            </a:r>
            <a:r>
              <a:rPr lang="hu-HU" sz="2400" dirty="0" err="1"/>
              <a:t>Header</a:t>
            </a:r>
            <a:r>
              <a:rPr lang="hu-HU" sz="2400" dirty="0"/>
              <a:t> </a:t>
            </a:r>
            <a:r>
              <a:rPr lang="hu-HU" sz="2400" dirty="0" err="1"/>
              <a:t>Compression</a:t>
            </a:r>
            <a:endParaRPr lang="hu-HU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66355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E8D87E7A-E422-900F-A56A-33FE94301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357" y="922920"/>
            <a:ext cx="5404387" cy="4760250"/>
          </a:xfrm>
          <a:prstGeom prst="rect">
            <a:avLst/>
          </a:prstGeom>
        </p:spPr>
      </p:pic>
      <p:pic>
        <p:nvPicPr>
          <p:cNvPr id="7" name="Picture 6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716429FF-77FD-2C1B-CC44-032C43324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939" y="1333825"/>
            <a:ext cx="5852840" cy="406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21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EDB2-2E57-38D2-1E4C-1E8B254E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5116"/>
          </a:xfrm>
        </p:spPr>
        <p:txBody>
          <a:bodyPr>
            <a:normAutofit/>
          </a:bodyPr>
          <a:lstStyle/>
          <a:p>
            <a:r>
              <a:rPr lang="en-US" sz="4000" dirty="0"/>
              <a:t>HTTP/3: </a:t>
            </a:r>
            <a:r>
              <a:rPr lang="en-US" sz="4000" dirty="0" err="1"/>
              <a:t>Válasz</a:t>
            </a:r>
            <a:r>
              <a:rPr lang="en-US" sz="4000" dirty="0"/>
              <a:t> a modern web </a:t>
            </a:r>
            <a:r>
              <a:rPr lang="en-US" sz="4000" dirty="0" err="1"/>
              <a:t>problémáira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3885-7E57-A0E8-4C05-A7C34659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hu-HU" sz="2400" dirty="0"/>
              <a:t>• Egymástól </a:t>
            </a:r>
            <a:r>
              <a:rPr lang="hu-HU" sz="2400" b="1" dirty="0"/>
              <a:t>független</a:t>
            </a:r>
            <a:r>
              <a:rPr lang="hu-HU" sz="2400" dirty="0"/>
              <a:t> és </a:t>
            </a:r>
            <a:r>
              <a:rPr lang="hu-HU" sz="2400" b="1" dirty="0"/>
              <a:t>párhuzamos</a:t>
            </a:r>
            <a:r>
              <a:rPr lang="hu-HU" sz="2400" dirty="0"/>
              <a:t> </a:t>
            </a:r>
            <a:r>
              <a:rPr lang="hu-HU" sz="2400" b="1" dirty="0" err="1"/>
              <a:t>stream</a:t>
            </a:r>
            <a:r>
              <a:rPr lang="hu-HU" sz="2400" b="1" dirty="0"/>
              <a:t>-ek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• </a:t>
            </a:r>
            <a:r>
              <a:rPr lang="en-US" sz="2400" b="1" dirty="0" err="1"/>
              <a:t>Gyors</a:t>
            </a:r>
            <a:r>
              <a:rPr lang="en-US" sz="2400" dirty="0"/>
              <a:t> </a:t>
            </a:r>
            <a:r>
              <a:rPr lang="en-US" sz="2400" dirty="0" err="1"/>
              <a:t>kapcsolatfelépítés</a:t>
            </a:r>
            <a:br>
              <a:rPr lang="hu-HU" sz="2400" dirty="0"/>
            </a:br>
            <a:r>
              <a:rPr lang="hu-HU" sz="2400" dirty="0"/>
              <a:t>• </a:t>
            </a:r>
            <a:r>
              <a:rPr lang="hu-HU" sz="2400" b="1" dirty="0"/>
              <a:t>Kevesebb </a:t>
            </a:r>
            <a:r>
              <a:rPr lang="hu-HU" sz="2400" b="1" dirty="0" err="1"/>
              <a:t>round-trip</a:t>
            </a:r>
            <a:r>
              <a:rPr lang="hu-HU" sz="2400" dirty="0"/>
              <a:t>: Nincs külön TCP </a:t>
            </a:r>
            <a:r>
              <a:rPr lang="hu-HU" sz="2400" dirty="0" err="1"/>
              <a:t>handshake</a:t>
            </a:r>
            <a:r>
              <a:rPr lang="hu-HU" sz="2400" dirty="0"/>
              <a:t> és TLS </a:t>
            </a:r>
            <a:r>
              <a:rPr lang="hu-HU" sz="2400" dirty="0" err="1"/>
              <a:t>handshake</a:t>
            </a:r>
            <a:br>
              <a:rPr lang="hu-HU" sz="2400" dirty="0"/>
            </a:br>
            <a:r>
              <a:rPr lang="hu-HU" sz="2400" dirty="0"/>
              <a:t>• </a:t>
            </a:r>
            <a:r>
              <a:rPr lang="hu-HU" sz="2400" b="1" dirty="0"/>
              <a:t>Stabil</a:t>
            </a:r>
            <a:r>
              <a:rPr lang="hu-HU" sz="2400" dirty="0"/>
              <a:t> teljesítmény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hu-HU" sz="2400" dirty="0"/>
              <a:t>• Még </a:t>
            </a:r>
            <a:r>
              <a:rPr lang="hu-HU" sz="2400" b="1" dirty="0"/>
              <a:t>gyorsabb</a:t>
            </a:r>
            <a:r>
              <a:rPr lang="hu-HU" sz="2400" dirty="0"/>
              <a:t> működés mobil hálózaton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85162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7470-A0C6-8029-34FD-BA867768A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9840"/>
          </a:xfrm>
        </p:spPr>
        <p:txBody>
          <a:bodyPr>
            <a:normAutofit/>
          </a:bodyPr>
          <a:lstStyle/>
          <a:p>
            <a:r>
              <a:rPr lang="en-US" sz="3600" dirty="0" err="1"/>
              <a:t>Összehasonlítás</a:t>
            </a:r>
            <a:r>
              <a:rPr lang="en-US" sz="3600" dirty="0"/>
              <a:t>: HTTP/1.1 vs HTTP/2 vs HTTP/3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57F946-4B78-8949-7C1B-1CD648225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675631"/>
              </p:ext>
            </p:extLst>
          </p:nvPr>
        </p:nvGraphicFramePr>
        <p:xfrm>
          <a:off x="521208" y="1990846"/>
          <a:ext cx="11156948" cy="3981341"/>
        </p:xfrm>
        <a:graphic>
          <a:graphicData uri="http://schemas.openxmlformats.org/drawingml/2006/table">
            <a:tbl>
              <a:tblPr/>
              <a:tblGrid>
                <a:gridCol w="2789237">
                  <a:extLst>
                    <a:ext uri="{9D8B030D-6E8A-4147-A177-3AD203B41FA5}">
                      <a16:colId xmlns:a16="http://schemas.microsoft.com/office/drawing/2014/main" val="1497458430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1765974688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3953089719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3487249710"/>
                    </a:ext>
                  </a:extLst>
                </a:gridCol>
              </a:tblGrid>
              <a:tr h="568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/>
                        <a:t>Tulajdonság</a:t>
                      </a:r>
                      <a:endParaRPr lang="en-US" sz="1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HTTP/1.1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HTTP/2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HTTP/3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361072"/>
                  </a:ext>
                </a:extLst>
              </a:tr>
              <a:tr h="568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Transport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UDP </a:t>
                      </a:r>
                      <a:r>
                        <a:rPr lang="hu-HU" sz="1800" dirty="0"/>
                        <a:t>+ </a:t>
                      </a:r>
                      <a:r>
                        <a:rPr lang="en-US" sz="1800" dirty="0"/>
                        <a:t>QUIC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190612"/>
                  </a:ext>
                </a:extLst>
              </a:tr>
              <a:tr h="568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Multiplexing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Nincs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Valódi, full-duplex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036362"/>
                  </a:ext>
                </a:extLst>
              </a:tr>
              <a:tr h="568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HOL Blocking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Nagyon nagy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Részben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Gyakorlatilag nincs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337491"/>
                  </a:ext>
                </a:extLst>
              </a:tr>
              <a:tr h="568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Header Compression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Nincs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HPACK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QPACK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63392"/>
                  </a:ext>
                </a:extLst>
              </a:tr>
              <a:tr h="568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Titkosítás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Opcionális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Opcionális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Mindig</a:t>
                      </a:r>
                      <a:r>
                        <a:rPr lang="hu-HU" sz="1800" dirty="0"/>
                        <a:t> (beépített)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911935"/>
                  </a:ext>
                </a:extLst>
              </a:tr>
              <a:tr h="568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Prioritás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Nincs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800" dirty="0"/>
                        <a:t>Van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403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418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CA94-4D96-5134-ADD9-03D8EECB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08265"/>
          </a:xfrm>
        </p:spPr>
        <p:txBody>
          <a:bodyPr>
            <a:normAutofit/>
          </a:bodyPr>
          <a:lstStyle/>
          <a:p>
            <a:r>
              <a:rPr lang="en-US" sz="4000" dirty="0"/>
              <a:t>Hol tart ma a HTTP/3 </a:t>
            </a:r>
            <a:r>
              <a:rPr lang="en-US" sz="4000" dirty="0" err="1"/>
              <a:t>elterjedtsége</a:t>
            </a:r>
            <a:r>
              <a:rPr lang="en-US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C7746-CC86-FF2D-D0D3-2910C4EAD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21292"/>
            <a:ext cx="11155680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Google, Facebook, YouTube, Cloudflare → </a:t>
            </a:r>
            <a:r>
              <a:rPr lang="en-US" sz="2400" dirty="0" err="1"/>
              <a:t>teljes</a:t>
            </a:r>
            <a:r>
              <a:rPr lang="en-US" sz="2400" dirty="0"/>
              <a:t> </a:t>
            </a:r>
            <a:r>
              <a:rPr lang="en-US" sz="2400" dirty="0" err="1"/>
              <a:t>támogatás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dirty="0" err="1"/>
              <a:t>Böngészők</a:t>
            </a:r>
            <a:r>
              <a:rPr lang="en-US" sz="2400" dirty="0"/>
              <a:t>: Chrome, Firefox, Edge, Safari </a:t>
            </a:r>
            <a:r>
              <a:rPr lang="en-US" sz="2400" dirty="0" err="1"/>
              <a:t>támogatják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dirty="0" err="1"/>
              <a:t>Lassú</a:t>
            </a:r>
            <a:r>
              <a:rPr lang="en-US" sz="2400" dirty="0"/>
              <a:t>, de </a:t>
            </a:r>
            <a:r>
              <a:rPr lang="en-US" sz="2400" dirty="0" err="1"/>
              <a:t>stabil</a:t>
            </a:r>
            <a:r>
              <a:rPr lang="en-US" sz="2400" dirty="0"/>
              <a:t> </a:t>
            </a:r>
            <a:r>
              <a:rPr lang="en-US" sz="2400" dirty="0" err="1"/>
              <a:t>terjedés</a:t>
            </a:r>
            <a:r>
              <a:rPr lang="hu-HU" sz="2400" dirty="0"/>
              <a:t> jellemzi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5044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2E2D-F677-B187-DD35-131D6E3E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12438"/>
          </a:xfrm>
        </p:spPr>
        <p:txBody>
          <a:bodyPr>
            <a:normAutofit/>
          </a:bodyPr>
          <a:lstStyle/>
          <a:p>
            <a:r>
              <a:rPr lang="en-US" sz="4000" dirty="0" err="1"/>
              <a:t>Összefoglalás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69C2B-D3A8-37FB-E824-6FCE4D275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23965"/>
            <a:ext cx="11155680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</a:t>
            </a:r>
            <a:r>
              <a:rPr lang="en-US" sz="2400" b="1" dirty="0"/>
              <a:t>HTTP/1.1 </a:t>
            </a:r>
            <a:r>
              <a:rPr lang="en-US" sz="2400" dirty="0"/>
              <a:t>– </a:t>
            </a:r>
            <a:r>
              <a:rPr lang="en-US" sz="2400" dirty="0" err="1"/>
              <a:t>soros</a:t>
            </a:r>
            <a:r>
              <a:rPr lang="en-US" sz="2400" dirty="0"/>
              <a:t>, </a:t>
            </a:r>
            <a:r>
              <a:rPr lang="en-US" sz="2400" dirty="0" err="1"/>
              <a:t>lassú</a:t>
            </a:r>
            <a:r>
              <a:rPr lang="en-US" sz="2400" dirty="0"/>
              <a:t>, </a:t>
            </a:r>
            <a:r>
              <a:rPr lang="en-US" sz="2400" dirty="0" err="1"/>
              <a:t>sok</a:t>
            </a:r>
            <a:r>
              <a:rPr lang="en-US" sz="2400" dirty="0"/>
              <a:t> </a:t>
            </a:r>
            <a:r>
              <a:rPr lang="hu-HU" sz="2400" dirty="0"/>
              <a:t>TCP </a:t>
            </a:r>
            <a:r>
              <a:rPr lang="en-US" sz="2400" dirty="0" err="1"/>
              <a:t>kapcsolat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HTTP/2</a:t>
            </a:r>
            <a:r>
              <a:rPr lang="en-US" sz="2400" dirty="0"/>
              <a:t> – multiplexing, </a:t>
            </a:r>
            <a:r>
              <a:rPr lang="en-US" sz="2400" dirty="0" err="1"/>
              <a:t>gyorsabb</a:t>
            </a:r>
            <a:r>
              <a:rPr lang="en-US" sz="2400" dirty="0"/>
              <a:t>, de TCP-</a:t>
            </a:r>
            <a:r>
              <a:rPr lang="en-US" sz="2400" dirty="0" err="1"/>
              <a:t>limitációkkal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HTTP/3</a:t>
            </a:r>
            <a:r>
              <a:rPr lang="en-US" sz="2400" dirty="0"/>
              <a:t> – QUIC </a:t>
            </a:r>
            <a:r>
              <a:rPr lang="en-US" sz="2400" dirty="0" err="1"/>
              <a:t>alapú</a:t>
            </a:r>
            <a:r>
              <a:rPr lang="en-US" sz="2400" dirty="0"/>
              <a:t>, </a:t>
            </a:r>
            <a:r>
              <a:rPr lang="hu-HU" sz="2400" dirty="0"/>
              <a:t>UDP felett, </a:t>
            </a:r>
            <a:r>
              <a:rPr lang="en-US" sz="2400" dirty="0"/>
              <a:t>modern</a:t>
            </a:r>
            <a:r>
              <a:rPr lang="hu-HU" sz="2400" dirty="0"/>
              <a:t>, gyors</a:t>
            </a:r>
            <a:r>
              <a:rPr lang="en-US" sz="2400" dirty="0"/>
              <a:t>, a </a:t>
            </a:r>
            <a:r>
              <a:rPr lang="en-US" sz="2400" dirty="0" err="1"/>
              <a:t>jövő</a:t>
            </a:r>
            <a:r>
              <a:rPr lang="en-US" sz="2400" dirty="0"/>
              <a:t> </a:t>
            </a:r>
            <a:r>
              <a:rPr lang="en-US" sz="2400" dirty="0" err="1"/>
              <a:t>szabványa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79210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3265</Words>
  <Application>Microsoft Office PowerPoint</Application>
  <PresentationFormat>Widescreen</PresentationFormat>
  <Paragraphs>172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Bierstadt</vt:lpstr>
      <vt:lpstr>GestaltVTI</vt:lpstr>
      <vt:lpstr>GitHub repository</vt:lpstr>
      <vt:lpstr>A webes kommunikáció fejlődése és modern protokollok működése   HTTP/1.1 → HTTP/2 → HTTP/3</vt:lpstr>
      <vt:lpstr>Miért kellett fejlődni a HTTP-nek?</vt:lpstr>
      <vt:lpstr>HTTP/1.1 működése röviden</vt:lpstr>
      <vt:lpstr>HTTP/1.1 teljesítménykorlátai</vt:lpstr>
      <vt:lpstr>Mi hozta el a HTTP/2 fejlesztését?</vt:lpstr>
      <vt:lpstr>HTTP/2: Bináris protokoll</vt:lpstr>
      <vt:lpstr>HTTP/2 Multiplexing</vt:lpstr>
      <vt:lpstr>PowerPoint Presentation</vt:lpstr>
      <vt:lpstr>HTTP/2 egyéb újdonságai</vt:lpstr>
      <vt:lpstr>HTTP/2 hátránya: TCP HOL blocking</vt:lpstr>
      <vt:lpstr>HTTP/3 és a QUIC protokoll</vt:lpstr>
      <vt:lpstr>HTTP/3: QUIC felett</vt:lpstr>
      <vt:lpstr>PowerPoint Presentation</vt:lpstr>
      <vt:lpstr>HTTP/3: Válasz a modern web problémáira</vt:lpstr>
      <vt:lpstr>Összehasonlítás: HTTP/1.1 vs HTTP/2 vs HTTP/3</vt:lpstr>
      <vt:lpstr>Hol tart ma a HTTP/3 elterjedtsége?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47</cp:revision>
  <dcterms:created xsi:type="dcterms:W3CDTF">2025-11-30T15:45:28Z</dcterms:created>
  <dcterms:modified xsi:type="dcterms:W3CDTF">2026-02-20T15:26:19Z</dcterms:modified>
</cp:coreProperties>
</file>