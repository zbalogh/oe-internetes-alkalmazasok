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1" r:id="rId15"/>
    <p:sldId id="272" r:id="rId16"/>
    <p:sldId id="273" r:id="rId17"/>
    <p:sldId id="275" r:id="rId18"/>
    <p:sldId id="279" r:id="rId19"/>
    <p:sldId id="276" r:id="rId20"/>
    <p:sldId id="277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077" autoAdjust="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ADB638-0E1D-4E89-B236-73EC25F7810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5BBFEE8-AC14-4762-952A-610B7BC2B2D8}">
      <dgm:prSet/>
      <dgm:spPr/>
      <dgm:t>
        <a:bodyPr/>
        <a:lstStyle/>
        <a:p>
          <a:r>
            <a:rPr lang="en-US" b="1" dirty="0" err="1"/>
            <a:t>Tartalom</a:t>
          </a:r>
          <a:r>
            <a:rPr lang="en-US" b="1" dirty="0"/>
            <a:t>:</a:t>
          </a:r>
          <a:endParaRPr lang="en-US" dirty="0"/>
        </a:p>
      </dgm:t>
    </dgm:pt>
    <dgm:pt modelId="{897323B5-B29D-45BF-87EC-A2388EDCC789}" type="parTrans" cxnId="{3DB159C3-3437-4B57-97E7-C516719182FC}">
      <dgm:prSet/>
      <dgm:spPr/>
      <dgm:t>
        <a:bodyPr/>
        <a:lstStyle/>
        <a:p>
          <a:endParaRPr lang="en-US"/>
        </a:p>
      </dgm:t>
    </dgm:pt>
    <dgm:pt modelId="{5D64E847-3DDA-4DE4-B9BF-C58D496CFA6B}" type="sibTrans" cxnId="{3DB159C3-3437-4B57-97E7-C516719182FC}">
      <dgm:prSet/>
      <dgm:spPr/>
      <dgm:t>
        <a:bodyPr/>
        <a:lstStyle/>
        <a:p>
          <a:endParaRPr lang="en-US"/>
        </a:p>
      </dgm:t>
    </dgm:pt>
    <dgm:pt modelId="{D9E92194-A867-40D4-96CC-B68226935279}">
      <dgm:prSet/>
      <dgm:spPr/>
      <dgm:t>
        <a:bodyPr/>
        <a:lstStyle/>
        <a:p>
          <a:r>
            <a:rPr lang="en-US" dirty="0"/>
            <a:t>HTTP </a:t>
          </a:r>
          <a:r>
            <a:rPr lang="en-US" dirty="0" err="1"/>
            <a:t>metódusok</a:t>
          </a:r>
          <a:endParaRPr lang="en-US" dirty="0"/>
        </a:p>
      </dgm:t>
    </dgm:pt>
    <dgm:pt modelId="{76F1C161-9310-4750-BC3C-5624CCBB5B01}" type="parTrans" cxnId="{6AFCFC88-EC17-49A4-AB49-E8E45D065891}">
      <dgm:prSet/>
      <dgm:spPr/>
      <dgm:t>
        <a:bodyPr/>
        <a:lstStyle/>
        <a:p>
          <a:endParaRPr lang="en-US"/>
        </a:p>
      </dgm:t>
    </dgm:pt>
    <dgm:pt modelId="{8D107FF8-B651-46E8-A38F-7F565F38D9F9}" type="sibTrans" cxnId="{6AFCFC88-EC17-49A4-AB49-E8E45D065891}">
      <dgm:prSet/>
      <dgm:spPr/>
      <dgm:t>
        <a:bodyPr/>
        <a:lstStyle/>
        <a:p>
          <a:endParaRPr lang="en-US"/>
        </a:p>
      </dgm:t>
    </dgm:pt>
    <dgm:pt modelId="{D22FB578-AE0E-45E5-B9B2-48CB80FC48DA}">
      <dgm:prSet/>
      <dgm:spPr/>
      <dgm:t>
        <a:bodyPr/>
        <a:lstStyle/>
        <a:p>
          <a:r>
            <a:rPr lang="en-US"/>
            <a:t>Státuszkódok</a:t>
          </a:r>
        </a:p>
      </dgm:t>
    </dgm:pt>
    <dgm:pt modelId="{9E047D1C-246C-4E29-8786-BDD4B1B87373}" type="parTrans" cxnId="{84C1B730-1768-486F-8801-0E4BB4A0EC0B}">
      <dgm:prSet/>
      <dgm:spPr/>
      <dgm:t>
        <a:bodyPr/>
        <a:lstStyle/>
        <a:p>
          <a:endParaRPr lang="en-US"/>
        </a:p>
      </dgm:t>
    </dgm:pt>
    <dgm:pt modelId="{92A4382B-BB7C-46B6-BEBB-DDADF8CE907D}" type="sibTrans" cxnId="{84C1B730-1768-486F-8801-0E4BB4A0EC0B}">
      <dgm:prSet/>
      <dgm:spPr/>
      <dgm:t>
        <a:bodyPr/>
        <a:lstStyle/>
        <a:p>
          <a:endParaRPr lang="en-US"/>
        </a:p>
      </dgm:t>
    </dgm:pt>
    <dgm:pt modelId="{FD87D719-9ABF-4E31-95DF-BC3C0A1FB6C1}">
      <dgm:prSet/>
      <dgm:spPr/>
      <dgm:t>
        <a:bodyPr/>
        <a:lstStyle/>
        <a:p>
          <a:r>
            <a:rPr lang="en-US"/>
            <a:t>Headerek</a:t>
          </a:r>
        </a:p>
      </dgm:t>
    </dgm:pt>
    <dgm:pt modelId="{C594EC60-E8BA-482A-9378-CA5AB46633D1}" type="parTrans" cxnId="{C239F006-79C5-41AC-A439-7144ADDFC65A}">
      <dgm:prSet/>
      <dgm:spPr/>
      <dgm:t>
        <a:bodyPr/>
        <a:lstStyle/>
        <a:p>
          <a:endParaRPr lang="en-US"/>
        </a:p>
      </dgm:t>
    </dgm:pt>
    <dgm:pt modelId="{DFA516E0-279A-44CE-BDBD-97FAF32368F5}" type="sibTrans" cxnId="{C239F006-79C5-41AC-A439-7144ADDFC65A}">
      <dgm:prSet/>
      <dgm:spPr/>
      <dgm:t>
        <a:bodyPr/>
        <a:lstStyle/>
        <a:p>
          <a:endParaRPr lang="en-US"/>
        </a:p>
      </dgm:t>
    </dgm:pt>
    <dgm:pt modelId="{D8CF6B7B-6C78-466E-ABB6-3CE27022E008}">
      <dgm:prSet/>
      <dgm:spPr/>
      <dgm:t>
        <a:bodyPr/>
        <a:lstStyle/>
        <a:p>
          <a:r>
            <a:rPr lang="en-US"/>
            <a:t>Request–Response folyamat</a:t>
          </a:r>
        </a:p>
      </dgm:t>
    </dgm:pt>
    <dgm:pt modelId="{0BB81223-A9F2-40AD-91AF-E5469C2F2C3C}" type="parTrans" cxnId="{6CAF6E41-A916-4B43-BD11-252CC006861C}">
      <dgm:prSet/>
      <dgm:spPr/>
      <dgm:t>
        <a:bodyPr/>
        <a:lstStyle/>
        <a:p>
          <a:endParaRPr lang="en-US"/>
        </a:p>
      </dgm:t>
    </dgm:pt>
    <dgm:pt modelId="{F02F2827-7F61-44AF-AA3F-F15BB1FA3D5F}" type="sibTrans" cxnId="{6CAF6E41-A916-4B43-BD11-252CC006861C}">
      <dgm:prSet/>
      <dgm:spPr/>
      <dgm:t>
        <a:bodyPr/>
        <a:lstStyle/>
        <a:p>
          <a:endParaRPr lang="en-US"/>
        </a:p>
      </dgm:t>
    </dgm:pt>
    <dgm:pt modelId="{6E5E86CA-2DFD-4E12-B99B-B4003DE760DF}">
      <dgm:prSet/>
      <dgm:spPr/>
      <dgm:t>
        <a:bodyPr/>
        <a:lstStyle/>
        <a:p>
          <a:r>
            <a:rPr lang="en-US"/>
            <a:t>Content Negotiation</a:t>
          </a:r>
        </a:p>
      </dgm:t>
    </dgm:pt>
    <dgm:pt modelId="{73580297-F48E-4CDD-B864-D2AFB012CFDB}" type="parTrans" cxnId="{059D8FDE-2075-4C47-AAC0-04DC1DABD1DE}">
      <dgm:prSet/>
      <dgm:spPr/>
      <dgm:t>
        <a:bodyPr/>
        <a:lstStyle/>
        <a:p>
          <a:endParaRPr lang="en-US"/>
        </a:p>
      </dgm:t>
    </dgm:pt>
    <dgm:pt modelId="{293A0C37-1B77-49C1-A8F6-5803D465C99B}" type="sibTrans" cxnId="{059D8FDE-2075-4C47-AAC0-04DC1DABD1DE}">
      <dgm:prSet/>
      <dgm:spPr/>
      <dgm:t>
        <a:bodyPr/>
        <a:lstStyle/>
        <a:p>
          <a:endParaRPr lang="en-US"/>
        </a:p>
      </dgm:t>
    </dgm:pt>
    <dgm:pt modelId="{4A695123-6AB2-459A-9D03-DEB77D0CCC2B}">
      <dgm:prSet/>
      <dgm:spPr/>
      <dgm:t>
        <a:bodyPr/>
        <a:lstStyle/>
        <a:p>
          <a:r>
            <a:rPr lang="en-US"/>
            <a:t>Cache kezelés alapjai</a:t>
          </a:r>
        </a:p>
      </dgm:t>
    </dgm:pt>
    <dgm:pt modelId="{71F183A7-450A-4A78-9927-1E007D28DB51}" type="parTrans" cxnId="{F63E7CFF-4239-4375-8F38-1814652ED1F9}">
      <dgm:prSet/>
      <dgm:spPr/>
      <dgm:t>
        <a:bodyPr/>
        <a:lstStyle/>
        <a:p>
          <a:endParaRPr lang="en-US"/>
        </a:p>
      </dgm:t>
    </dgm:pt>
    <dgm:pt modelId="{EB9FC279-6984-4A29-BBB1-B05F0E98B3C3}" type="sibTrans" cxnId="{F63E7CFF-4239-4375-8F38-1814652ED1F9}">
      <dgm:prSet/>
      <dgm:spPr/>
      <dgm:t>
        <a:bodyPr/>
        <a:lstStyle/>
        <a:p>
          <a:endParaRPr lang="en-US"/>
        </a:p>
      </dgm:t>
    </dgm:pt>
    <dgm:pt modelId="{96F0C4F0-0147-47AE-BAC1-4DB5D7B6C19E}" type="pres">
      <dgm:prSet presAssocID="{83ADB638-0E1D-4E89-B236-73EC25F7810C}" presName="vert0" presStyleCnt="0">
        <dgm:presLayoutVars>
          <dgm:dir/>
          <dgm:animOne val="branch"/>
          <dgm:animLvl val="lvl"/>
        </dgm:presLayoutVars>
      </dgm:prSet>
      <dgm:spPr/>
    </dgm:pt>
    <dgm:pt modelId="{1AD4DDF7-B3CC-405C-86FA-CF1041BDF9CF}" type="pres">
      <dgm:prSet presAssocID="{F5BBFEE8-AC14-4762-952A-610B7BC2B2D8}" presName="thickLine" presStyleLbl="alignNode1" presStyleIdx="0" presStyleCnt="7"/>
      <dgm:spPr/>
    </dgm:pt>
    <dgm:pt modelId="{DB9597A9-49DB-4DE8-BF20-7EE0FFBFCCB3}" type="pres">
      <dgm:prSet presAssocID="{F5BBFEE8-AC14-4762-952A-610B7BC2B2D8}" presName="horz1" presStyleCnt="0"/>
      <dgm:spPr/>
    </dgm:pt>
    <dgm:pt modelId="{4E09BE1F-9B15-4FB3-A7D7-AF6797A87D32}" type="pres">
      <dgm:prSet presAssocID="{F5BBFEE8-AC14-4762-952A-610B7BC2B2D8}" presName="tx1" presStyleLbl="revTx" presStyleIdx="0" presStyleCnt="7"/>
      <dgm:spPr/>
    </dgm:pt>
    <dgm:pt modelId="{D04EBA2F-2089-4BAA-B179-1B431D1F1990}" type="pres">
      <dgm:prSet presAssocID="{F5BBFEE8-AC14-4762-952A-610B7BC2B2D8}" presName="vert1" presStyleCnt="0"/>
      <dgm:spPr/>
    </dgm:pt>
    <dgm:pt modelId="{CD32FA28-42F9-473F-A73F-CC2C62AB280E}" type="pres">
      <dgm:prSet presAssocID="{D9E92194-A867-40D4-96CC-B68226935279}" presName="thickLine" presStyleLbl="alignNode1" presStyleIdx="1" presStyleCnt="7"/>
      <dgm:spPr/>
    </dgm:pt>
    <dgm:pt modelId="{99D93D68-B871-41F5-A98D-1E1C1E670A13}" type="pres">
      <dgm:prSet presAssocID="{D9E92194-A867-40D4-96CC-B68226935279}" presName="horz1" presStyleCnt="0"/>
      <dgm:spPr/>
    </dgm:pt>
    <dgm:pt modelId="{6E8F43FF-8405-4BC9-BAE1-0D0A2ECA0012}" type="pres">
      <dgm:prSet presAssocID="{D9E92194-A867-40D4-96CC-B68226935279}" presName="tx1" presStyleLbl="revTx" presStyleIdx="1" presStyleCnt="7"/>
      <dgm:spPr/>
    </dgm:pt>
    <dgm:pt modelId="{02A04A4B-A567-4FEB-BDC2-47439870619B}" type="pres">
      <dgm:prSet presAssocID="{D9E92194-A867-40D4-96CC-B68226935279}" presName="vert1" presStyleCnt="0"/>
      <dgm:spPr/>
    </dgm:pt>
    <dgm:pt modelId="{CF42DB02-C21F-4678-B30B-53F27A4F4B84}" type="pres">
      <dgm:prSet presAssocID="{D22FB578-AE0E-45E5-B9B2-48CB80FC48DA}" presName="thickLine" presStyleLbl="alignNode1" presStyleIdx="2" presStyleCnt="7"/>
      <dgm:spPr/>
    </dgm:pt>
    <dgm:pt modelId="{464B9542-00BC-4CA0-9E12-9A1F0E87B4FE}" type="pres">
      <dgm:prSet presAssocID="{D22FB578-AE0E-45E5-B9B2-48CB80FC48DA}" presName="horz1" presStyleCnt="0"/>
      <dgm:spPr/>
    </dgm:pt>
    <dgm:pt modelId="{0D0DD089-96BB-44DD-B5AE-7056C4B4CF16}" type="pres">
      <dgm:prSet presAssocID="{D22FB578-AE0E-45E5-B9B2-48CB80FC48DA}" presName="tx1" presStyleLbl="revTx" presStyleIdx="2" presStyleCnt="7"/>
      <dgm:spPr/>
    </dgm:pt>
    <dgm:pt modelId="{2D46F1AC-C2F9-4417-8CA0-94756333045E}" type="pres">
      <dgm:prSet presAssocID="{D22FB578-AE0E-45E5-B9B2-48CB80FC48DA}" presName="vert1" presStyleCnt="0"/>
      <dgm:spPr/>
    </dgm:pt>
    <dgm:pt modelId="{3B95B37B-217A-4D52-BEFE-CDB3B2D2A4CE}" type="pres">
      <dgm:prSet presAssocID="{FD87D719-9ABF-4E31-95DF-BC3C0A1FB6C1}" presName="thickLine" presStyleLbl="alignNode1" presStyleIdx="3" presStyleCnt="7"/>
      <dgm:spPr/>
    </dgm:pt>
    <dgm:pt modelId="{AA24C80E-7C32-4298-9210-3E2DFFACAC70}" type="pres">
      <dgm:prSet presAssocID="{FD87D719-9ABF-4E31-95DF-BC3C0A1FB6C1}" presName="horz1" presStyleCnt="0"/>
      <dgm:spPr/>
    </dgm:pt>
    <dgm:pt modelId="{A1928E30-B0E4-4476-A451-1B3D49C8B80D}" type="pres">
      <dgm:prSet presAssocID="{FD87D719-9ABF-4E31-95DF-BC3C0A1FB6C1}" presName="tx1" presStyleLbl="revTx" presStyleIdx="3" presStyleCnt="7"/>
      <dgm:spPr/>
    </dgm:pt>
    <dgm:pt modelId="{CE13E5E5-F4F2-4534-B35C-92D10FE88058}" type="pres">
      <dgm:prSet presAssocID="{FD87D719-9ABF-4E31-95DF-BC3C0A1FB6C1}" presName="vert1" presStyleCnt="0"/>
      <dgm:spPr/>
    </dgm:pt>
    <dgm:pt modelId="{A24E291F-00A4-40C1-B33E-0F0FA1AA8339}" type="pres">
      <dgm:prSet presAssocID="{D8CF6B7B-6C78-466E-ABB6-3CE27022E008}" presName="thickLine" presStyleLbl="alignNode1" presStyleIdx="4" presStyleCnt="7"/>
      <dgm:spPr/>
    </dgm:pt>
    <dgm:pt modelId="{4988A5DD-B832-4D0E-A477-2AFF3AA97845}" type="pres">
      <dgm:prSet presAssocID="{D8CF6B7B-6C78-466E-ABB6-3CE27022E008}" presName="horz1" presStyleCnt="0"/>
      <dgm:spPr/>
    </dgm:pt>
    <dgm:pt modelId="{0D31AB05-BF0F-43F7-A203-166BF5603CAB}" type="pres">
      <dgm:prSet presAssocID="{D8CF6B7B-6C78-466E-ABB6-3CE27022E008}" presName="tx1" presStyleLbl="revTx" presStyleIdx="4" presStyleCnt="7"/>
      <dgm:spPr/>
    </dgm:pt>
    <dgm:pt modelId="{43157C11-41BA-4485-A65F-7EFB6E3F997C}" type="pres">
      <dgm:prSet presAssocID="{D8CF6B7B-6C78-466E-ABB6-3CE27022E008}" presName="vert1" presStyleCnt="0"/>
      <dgm:spPr/>
    </dgm:pt>
    <dgm:pt modelId="{A4C2B2C9-F031-4B0D-B08B-78F73EB41B81}" type="pres">
      <dgm:prSet presAssocID="{6E5E86CA-2DFD-4E12-B99B-B4003DE760DF}" presName="thickLine" presStyleLbl="alignNode1" presStyleIdx="5" presStyleCnt="7"/>
      <dgm:spPr/>
    </dgm:pt>
    <dgm:pt modelId="{486B8967-B5AC-43F9-A8C9-57CC20C373F5}" type="pres">
      <dgm:prSet presAssocID="{6E5E86CA-2DFD-4E12-B99B-B4003DE760DF}" presName="horz1" presStyleCnt="0"/>
      <dgm:spPr/>
    </dgm:pt>
    <dgm:pt modelId="{3D055FE6-3125-46E4-80C7-3507E895A087}" type="pres">
      <dgm:prSet presAssocID="{6E5E86CA-2DFD-4E12-B99B-B4003DE760DF}" presName="tx1" presStyleLbl="revTx" presStyleIdx="5" presStyleCnt="7"/>
      <dgm:spPr/>
    </dgm:pt>
    <dgm:pt modelId="{EBD099A3-2287-4248-BDB2-0A38858369AD}" type="pres">
      <dgm:prSet presAssocID="{6E5E86CA-2DFD-4E12-B99B-B4003DE760DF}" presName="vert1" presStyleCnt="0"/>
      <dgm:spPr/>
    </dgm:pt>
    <dgm:pt modelId="{09EE370C-80E9-4DD6-8F0A-0F9A697FE439}" type="pres">
      <dgm:prSet presAssocID="{4A695123-6AB2-459A-9D03-DEB77D0CCC2B}" presName="thickLine" presStyleLbl="alignNode1" presStyleIdx="6" presStyleCnt="7"/>
      <dgm:spPr/>
    </dgm:pt>
    <dgm:pt modelId="{246835A4-BEBC-4342-9A7B-E1E5321515AF}" type="pres">
      <dgm:prSet presAssocID="{4A695123-6AB2-459A-9D03-DEB77D0CCC2B}" presName="horz1" presStyleCnt="0"/>
      <dgm:spPr/>
    </dgm:pt>
    <dgm:pt modelId="{039E1E10-F1FF-477F-99F7-D26FE09CCB7A}" type="pres">
      <dgm:prSet presAssocID="{4A695123-6AB2-459A-9D03-DEB77D0CCC2B}" presName="tx1" presStyleLbl="revTx" presStyleIdx="6" presStyleCnt="7"/>
      <dgm:spPr/>
    </dgm:pt>
    <dgm:pt modelId="{A4AF8C2B-54BB-4841-8656-CE1D6642A117}" type="pres">
      <dgm:prSet presAssocID="{4A695123-6AB2-459A-9D03-DEB77D0CCC2B}" presName="vert1" presStyleCnt="0"/>
      <dgm:spPr/>
    </dgm:pt>
  </dgm:ptLst>
  <dgm:cxnLst>
    <dgm:cxn modelId="{C239F006-79C5-41AC-A439-7144ADDFC65A}" srcId="{83ADB638-0E1D-4E89-B236-73EC25F7810C}" destId="{FD87D719-9ABF-4E31-95DF-BC3C0A1FB6C1}" srcOrd="3" destOrd="0" parTransId="{C594EC60-E8BA-482A-9378-CA5AB46633D1}" sibTransId="{DFA516E0-279A-44CE-BDBD-97FAF32368F5}"/>
    <dgm:cxn modelId="{455FFE22-43B2-4DD2-998C-C2BCF44F06DA}" type="presOf" srcId="{D8CF6B7B-6C78-466E-ABB6-3CE27022E008}" destId="{0D31AB05-BF0F-43F7-A203-166BF5603CAB}" srcOrd="0" destOrd="0" presId="urn:microsoft.com/office/officeart/2008/layout/LinedList"/>
    <dgm:cxn modelId="{84C1B730-1768-486F-8801-0E4BB4A0EC0B}" srcId="{83ADB638-0E1D-4E89-B236-73EC25F7810C}" destId="{D22FB578-AE0E-45E5-B9B2-48CB80FC48DA}" srcOrd="2" destOrd="0" parTransId="{9E047D1C-246C-4E29-8786-BDD4B1B87373}" sibTransId="{92A4382B-BB7C-46B6-BEBB-DDADF8CE907D}"/>
    <dgm:cxn modelId="{CF80AE33-F362-4086-A79B-44537C31C58E}" type="presOf" srcId="{D9E92194-A867-40D4-96CC-B68226935279}" destId="{6E8F43FF-8405-4BC9-BAE1-0D0A2ECA0012}" srcOrd="0" destOrd="0" presId="urn:microsoft.com/office/officeart/2008/layout/LinedList"/>
    <dgm:cxn modelId="{74817634-D832-4F81-8C9F-BD5882B644C4}" type="presOf" srcId="{6E5E86CA-2DFD-4E12-B99B-B4003DE760DF}" destId="{3D055FE6-3125-46E4-80C7-3507E895A087}" srcOrd="0" destOrd="0" presId="urn:microsoft.com/office/officeart/2008/layout/LinedList"/>
    <dgm:cxn modelId="{6CAF6E41-A916-4B43-BD11-252CC006861C}" srcId="{83ADB638-0E1D-4E89-B236-73EC25F7810C}" destId="{D8CF6B7B-6C78-466E-ABB6-3CE27022E008}" srcOrd="4" destOrd="0" parTransId="{0BB81223-A9F2-40AD-91AF-E5469C2F2C3C}" sibTransId="{F02F2827-7F61-44AF-AA3F-F15BB1FA3D5F}"/>
    <dgm:cxn modelId="{3DF6686D-2210-43A6-9E9C-325C950C16EF}" type="presOf" srcId="{FD87D719-9ABF-4E31-95DF-BC3C0A1FB6C1}" destId="{A1928E30-B0E4-4476-A451-1B3D49C8B80D}" srcOrd="0" destOrd="0" presId="urn:microsoft.com/office/officeart/2008/layout/LinedList"/>
    <dgm:cxn modelId="{C8326170-0A76-458F-981D-2F0E296280D2}" type="presOf" srcId="{D22FB578-AE0E-45E5-B9B2-48CB80FC48DA}" destId="{0D0DD089-96BB-44DD-B5AE-7056C4B4CF16}" srcOrd="0" destOrd="0" presId="urn:microsoft.com/office/officeart/2008/layout/LinedList"/>
    <dgm:cxn modelId="{2C551B53-C1AF-4B54-8805-1FF845B62A9F}" type="presOf" srcId="{83ADB638-0E1D-4E89-B236-73EC25F7810C}" destId="{96F0C4F0-0147-47AE-BAC1-4DB5D7B6C19E}" srcOrd="0" destOrd="0" presId="urn:microsoft.com/office/officeart/2008/layout/LinedList"/>
    <dgm:cxn modelId="{2F291176-7EC6-407F-A1E6-6F86D9687629}" type="presOf" srcId="{4A695123-6AB2-459A-9D03-DEB77D0CCC2B}" destId="{039E1E10-F1FF-477F-99F7-D26FE09CCB7A}" srcOrd="0" destOrd="0" presId="urn:microsoft.com/office/officeart/2008/layout/LinedList"/>
    <dgm:cxn modelId="{6AFCFC88-EC17-49A4-AB49-E8E45D065891}" srcId="{83ADB638-0E1D-4E89-B236-73EC25F7810C}" destId="{D9E92194-A867-40D4-96CC-B68226935279}" srcOrd="1" destOrd="0" parTransId="{76F1C161-9310-4750-BC3C-5624CCBB5B01}" sibTransId="{8D107FF8-B651-46E8-A38F-7F565F38D9F9}"/>
    <dgm:cxn modelId="{88508596-5A13-4032-B2E2-8CB314298415}" type="presOf" srcId="{F5BBFEE8-AC14-4762-952A-610B7BC2B2D8}" destId="{4E09BE1F-9B15-4FB3-A7D7-AF6797A87D32}" srcOrd="0" destOrd="0" presId="urn:microsoft.com/office/officeart/2008/layout/LinedList"/>
    <dgm:cxn modelId="{3DB159C3-3437-4B57-97E7-C516719182FC}" srcId="{83ADB638-0E1D-4E89-B236-73EC25F7810C}" destId="{F5BBFEE8-AC14-4762-952A-610B7BC2B2D8}" srcOrd="0" destOrd="0" parTransId="{897323B5-B29D-45BF-87EC-A2388EDCC789}" sibTransId="{5D64E847-3DDA-4DE4-B9BF-C58D496CFA6B}"/>
    <dgm:cxn modelId="{059D8FDE-2075-4C47-AAC0-04DC1DABD1DE}" srcId="{83ADB638-0E1D-4E89-B236-73EC25F7810C}" destId="{6E5E86CA-2DFD-4E12-B99B-B4003DE760DF}" srcOrd="5" destOrd="0" parTransId="{73580297-F48E-4CDD-B864-D2AFB012CFDB}" sibTransId="{293A0C37-1B77-49C1-A8F6-5803D465C99B}"/>
    <dgm:cxn modelId="{F63E7CFF-4239-4375-8F38-1814652ED1F9}" srcId="{83ADB638-0E1D-4E89-B236-73EC25F7810C}" destId="{4A695123-6AB2-459A-9D03-DEB77D0CCC2B}" srcOrd="6" destOrd="0" parTransId="{71F183A7-450A-4A78-9927-1E007D28DB51}" sibTransId="{EB9FC279-6984-4A29-BBB1-B05F0E98B3C3}"/>
    <dgm:cxn modelId="{0811AF43-806A-4FDA-BAFD-49B3035093CF}" type="presParOf" srcId="{96F0C4F0-0147-47AE-BAC1-4DB5D7B6C19E}" destId="{1AD4DDF7-B3CC-405C-86FA-CF1041BDF9CF}" srcOrd="0" destOrd="0" presId="urn:microsoft.com/office/officeart/2008/layout/LinedList"/>
    <dgm:cxn modelId="{0E0768C4-DDB1-4222-8607-8060ECC17182}" type="presParOf" srcId="{96F0C4F0-0147-47AE-BAC1-4DB5D7B6C19E}" destId="{DB9597A9-49DB-4DE8-BF20-7EE0FFBFCCB3}" srcOrd="1" destOrd="0" presId="urn:microsoft.com/office/officeart/2008/layout/LinedList"/>
    <dgm:cxn modelId="{CB376647-2E56-4979-AF23-CCF8C0F96318}" type="presParOf" srcId="{DB9597A9-49DB-4DE8-BF20-7EE0FFBFCCB3}" destId="{4E09BE1F-9B15-4FB3-A7D7-AF6797A87D32}" srcOrd="0" destOrd="0" presId="urn:microsoft.com/office/officeart/2008/layout/LinedList"/>
    <dgm:cxn modelId="{ED3E1D75-8F88-429D-9336-E1F195244B48}" type="presParOf" srcId="{DB9597A9-49DB-4DE8-BF20-7EE0FFBFCCB3}" destId="{D04EBA2F-2089-4BAA-B179-1B431D1F1990}" srcOrd="1" destOrd="0" presId="urn:microsoft.com/office/officeart/2008/layout/LinedList"/>
    <dgm:cxn modelId="{262A2025-14A4-4E94-9F5D-8E2B9C31B6E5}" type="presParOf" srcId="{96F0C4F0-0147-47AE-BAC1-4DB5D7B6C19E}" destId="{CD32FA28-42F9-473F-A73F-CC2C62AB280E}" srcOrd="2" destOrd="0" presId="urn:microsoft.com/office/officeart/2008/layout/LinedList"/>
    <dgm:cxn modelId="{57868BEE-F096-47EC-BAA4-D03D7A993459}" type="presParOf" srcId="{96F0C4F0-0147-47AE-BAC1-4DB5D7B6C19E}" destId="{99D93D68-B871-41F5-A98D-1E1C1E670A13}" srcOrd="3" destOrd="0" presId="urn:microsoft.com/office/officeart/2008/layout/LinedList"/>
    <dgm:cxn modelId="{C9BDA8D9-47E7-43FB-B306-3730F7B5B54B}" type="presParOf" srcId="{99D93D68-B871-41F5-A98D-1E1C1E670A13}" destId="{6E8F43FF-8405-4BC9-BAE1-0D0A2ECA0012}" srcOrd="0" destOrd="0" presId="urn:microsoft.com/office/officeart/2008/layout/LinedList"/>
    <dgm:cxn modelId="{D1D8BB63-9926-46E9-B0B9-01B69FEF5DB2}" type="presParOf" srcId="{99D93D68-B871-41F5-A98D-1E1C1E670A13}" destId="{02A04A4B-A567-4FEB-BDC2-47439870619B}" srcOrd="1" destOrd="0" presId="urn:microsoft.com/office/officeart/2008/layout/LinedList"/>
    <dgm:cxn modelId="{4561A96B-D964-4FB5-80E3-E6762ED8DEE8}" type="presParOf" srcId="{96F0C4F0-0147-47AE-BAC1-4DB5D7B6C19E}" destId="{CF42DB02-C21F-4678-B30B-53F27A4F4B84}" srcOrd="4" destOrd="0" presId="urn:microsoft.com/office/officeart/2008/layout/LinedList"/>
    <dgm:cxn modelId="{6F91AEB8-7CF4-4F6B-96AA-EFD5D144EA9E}" type="presParOf" srcId="{96F0C4F0-0147-47AE-BAC1-4DB5D7B6C19E}" destId="{464B9542-00BC-4CA0-9E12-9A1F0E87B4FE}" srcOrd="5" destOrd="0" presId="urn:microsoft.com/office/officeart/2008/layout/LinedList"/>
    <dgm:cxn modelId="{91BBB7BD-31E9-4B90-981A-ECD018C599E6}" type="presParOf" srcId="{464B9542-00BC-4CA0-9E12-9A1F0E87B4FE}" destId="{0D0DD089-96BB-44DD-B5AE-7056C4B4CF16}" srcOrd="0" destOrd="0" presId="urn:microsoft.com/office/officeart/2008/layout/LinedList"/>
    <dgm:cxn modelId="{257A795D-C7B9-4CF6-9060-EB777FD7814E}" type="presParOf" srcId="{464B9542-00BC-4CA0-9E12-9A1F0E87B4FE}" destId="{2D46F1AC-C2F9-4417-8CA0-94756333045E}" srcOrd="1" destOrd="0" presId="urn:microsoft.com/office/officeart/2008/layout/LinedList"/>
    <dgm:cxn modelId="{3F8912E9-F715-4C56-BB8F-B13C239FE2B8}" type="presParOf" srcId="{96F0C4F0-0147-47AE-BAC1-4DB5D7B6C19E}" destId="{3B95B37B-217A-4D52-BEFE-CDB3B2D2A4CE}" srcOrd="6" destOrd="0" presId="urn:microsoft.com/office/officeart/2008/layout/LinedList"/>
    <dgm:cxn modelId="{0DDDC543-49D7-44AE-915D-AB93EEBBA526}" type="presParOf" srcId="{96F0C4F0-0147-47AE-BAC1-4DB5D7B6C19E}" destId="{AA24C80E-7C32-4298-9210-3E2DFFACAC70}" srcOrd="7" destOrd="0" presId="urn:microsoft.com/office/officeart/2008/layout/LinedList"/>
    <dgm:cxn modelId="{512A2F5A-ECBB-4640-AFEA-FB3B2C83F967}" type="presParOf" srcId="{AA24C80E-7C32-4298-9210-3E2DFFACAC70}" destId="{A1928E30-B0E4-4476-A451-1B3D49C8B80D}" srcOrd="0" destOrd="0" presId="urn:microsoft.com/office/officeart/2008/layout/LinedList"/>
    <dgm:cxn modelId="{04949CA7-5F67-4A48-8389-F90D9F22F3B0}" type="presParOf" srcId="{AA24C80E-7C32-4298-9210-3E2DFFACAC70}" destId="{CE13E5E5-F4F2-4534-B35C-92D10FE88058}" srcOrd="1" destOrd="0" presId="urn:microsoft.com/office/officeart/2008/layout/LinedList"/>
    <dgm:cxn modelId="{E294F49B-739F-4460-8C1F-4EC061007ED8}" type="presParOf" srcId="{96F0C4F0-0147-47AE-BAC1-4DB5D7B6C19E}" destId="{A24E291F-00A4-40C1-B33E-0F0FA1AA8339}" srcOrd="8" destOrd="0" presId="urn:microsoft.com/office/officeart/2008/layout/LinedList"/>
    <dgm:cxn modelId="{F1D531C0-CE09-4F24-B5F0-62AA74778EE7}" type="presParOf" srcId="{96F0C4F0-0147-47AE-BAC1-4DB5D7B6C19E}" destId="{4988A5DD-B832-4D0E-A477-2AFF3AA97845}" srcOrd="9" destOrd="0" presId="urn:microsoft.com/office/officeart/2008/layout/LinedList"/>
    <dgm:cxn modelId="{CE5B26E2-AB53-4894-8E0D-DAA9F7F12A6C}" type="presParOf" srcId="{4988A5DD-B832-4D0E-A477-2AFF3AA97845}" destId="{0D31AB05-BF0F-43F7-A203-166BF5603CAB}" srcOrd="0" destOrd="0" presId="urn:microsoft.com/office/officeart/2008/layout/LinedList"/>
    <dgm:cxn modelId="{7FCF06D3-6DFE-446C-BC01-95309566C696}" type="presParOf" srcId="{4988A5DD-B832-4D0E-A477-2AFF3AA97845}" destId="{43157C11-41BA-4485-A65F-7EFB6E3F997C}" srcOrd="1" destOrd="0" presId="urn:microsoft.com/office/officeart/2008/layout/LinedList"/>
    <dgm:cxn modelId="{C970C9C5-3983-4AE5-82D1-938E23B3A197}" type="presParOf" srcId="{96F0C4F0-0147-47AE-BAC1-4DB5D7B6C19E}" destId="{A4C2B2C9-F031-4B0D-B08B-78F73EB41B81}" srcOrd="10" destOrd="0" presId="urn:microsoft.com/office/officeart/2008/layout/LinedList"/>
    <dgm:cxn modelId="{91B28EE4-B0C8-41D7-9080-4C83537D318C}" type="presParOf" srcId="{96F0C4F0-0147-47AE-BAC1-4DB5D7B6C19E}" destId="{486B8967-B5AC-43F9-A8C9-57CC20C373F5}" srcOrd="11" destOrd="0" presId="urn:microsoft.com/office/officeart/2008/layout/LinedList"/>
    <dgm:cxn modelId="{4345EDFA-F495-4F34-AABF-82284B956C5E}" type="presParOf" srcId="{486B8967-B5AC-43F9-A8C9-57CC20C373F5}" destId="{3D055FE6-3125-46E4-80C7-3507E895A087}" srcOrd="0" destOrd="0" presId="urn:microsoft.com/office/officeart/2008/layout/LinedList"/>
    <dgm:cxn modelId="{6FFD7414-5EF2-4512-B761-7DAD3563A851}" type="presParOf" srcId="{486B8967-B5AC-43F9-A8C9-57CC20C373F5}" destId="{EBD099A3-2287-4248-BDB2-0A38858369AD}" srcOrd="1" destOrd="0" presId="urn:microsoft.com/office/officeart/2008/layout/LinedList"/>
    <dgm:cxn modelId="{9985DF75-296B-4168-B32D-FCF23245BAF2}" type="presParOf" srcId="{96F0C4F0-0147-47AE-BAC1-4DB5D7B6C19E}" destId="{09EE370C-80E9-4DD6-8F0A-0F9A697FE439}" srcOrd="12" destOrd="0" presId="urn:microsoft.com/office/officeart/2008/layout/LinedList"/>
    <dgm:cxn modelId="{C50BB638-CDB7-4723-9983-C23FDEDEA927}" type="presParOf" srcId="{96F0C4F0-0147-47AE-BAC1-4DB5D7B6C19E}" destId="{246835A4-BEBC-4342-9A7B-E1E5321515AF}" srcOrd="13" destOrd="0" presId="urn:microsoft.com/office/officeart/2008/layout/LinedList"/>
    <dgm:cxn modelId="{6C45DB4A-57AE-41AF-93CC-333522805DEE}" type="presParOf" srcId="{246835A4-BEBC-4342-9A7B-E1E5321515AF}" destId="{039E1E10-F1FF-477F-99F7-D26FE09CCB7A}" srcOrd="0" destOrd="0" presId="urn:microsoft.com/office/officeart/2008/layout/LinedList"/>
    <dgm:cxn modelId="{CEDC8580-1178-4D60-9658-A4F5141D220D}" type="presParOf" srcId="{246835A4-BEBC-4342-9A7B-E1E5321515AF}" destId="{A4AF8C2B-54BB-4841-8656-CE1D6642A11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4DDF7-B3CC-405C-86FA-CF1041BDF9CF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9BE1F-9B15-4FB3-A7D7-AF6797A87D32}">
      <dsp:nvSpPr>
        <dsp:cNvPr id="0" name=""/>
        <dsp:cNvSpPr/>
      </dsp:nvSpPr>
      <dsp:spPr>
        <a:xfrm>
          <a:off x="0" y="675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 err="1"/>
            <a:t>Tartalom</a:t>
          </a:r>
          <a:r>
            <a:rPr lang="en-US" sz="3000" b="1" kern="1200" dirty="0"/>
            <a:t>:</a:t>
          </a:r>
          <a:endParaRPr lang="en-US" sz="3000" kern="1200" dirty="0"/>
        </a:p>
      </dsp:txBody>
      <dsp:txXfrm>
        <a:off x="0" y="675"/>
        <a:ext cx="4718785" cy="789912"/>
      </dsp:txXfrm>
    </dsp:sp>
    <dsp:sp modelId="{CD32FA28-42F9-473F-A73F-CC2C62AB280E}">
      <dsp:nvSpPr>
        <dsp:cNvPr id="0" name=""/>
        <dsp:cNvSpPr/>
      </dsp:nvSpPr>
      <dsp:spPr>
        <a:xfrm>
          <a:off x="0" y="790587"/>
          <a:ext cx="471878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F43FF-8405-4BC9-BAE1-0D0A2ECA0012}">
      <dsp:nvSpPr>
        <dsp:cNvPr id="0" name=""/>
        <dsp:cNvSpPr/>
      </dsp:nvSpPr>
      <dsp:spPr>
        <a:xfrm>
          <a:off x="0" y="790587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HTTP </a:t>
          </a:r>
          <a:r>
            <a:rPr lang="en-US" sz="3000" kern="1200" dirty="0" err="1"/>
            <a:t>metódusok</a:t>
          </a:r>
          <a:endParaRPr lang="en-US" sz="3000" kern="1200" dirty="0"/>
        </a:p>
      </dsp:txBody>
      <dsp:txXfrm>
        <a:off x="0" y="790587"/>
        <a:ext cx="4718785" cy="789912"/>
      </dsp:txXfrm>
    </dsp:sp>
    <dsp:sp modelId="{CF42DB02-C21F-4678-B30B-53F27A4F4B84}">
      <dsp:nvSpPr>
        <dsp:cNvPr id="0" name=""/>
        <dsp:cNvSpPr/>
      </dsp:nvSpPr>
      <dsp:spPr>
        <a:xfrm>
          <a:off x="0" y="158049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DD089-96BB-44DD-B5AE-7056C4B4CF16}">
      <dsp:nvSpPr>
        <dsp:cNvPr id="0" name=""/>
        <dsp:cNvSpPr/>
      </dsp:nvSpPr>
      <dsp:spPr>
        <a:xfrm>
          <a:off x="0" y="1580499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Státuszkódok</a:t>
          </a:r>
        </a:p>
      </dsp:txBody>
      <dsp:txXfrm>
        <a:off x="0" y="1580499"/>
        <a:ext cx="4718785" cy="789912"/>
      </dsp:txXfrm>
    </dsp:sp>
    <dsp:sp modelId="{3B95B37B-217A-4D52-BEFE-CDB3B2D2A4CE}">
      <dsp:nvSpPr>
        <dsp:cNvPr id="0" name=""/>
        <dsp:cNvSpPr/>
      </dsp:nvSpPr>
      <dsp:spPr>
        <a:xfrm>
          <a:off x="0" y="2370411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28E30-B0E4-4476-A451-1B3D49C8B80D}">
      <dsp:nvSpPr>
        <dsp:cNvPr id="0" name=""/>
        <dsp:cNvSpPr/>
      </dsp:nvSpPr>
      <dsp:spPr>
        <a:xfrm>
          <a:off x="0" y="2370411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Headerek</a:t>
          </a:r>
        </a:p>
      </dsp:txBody>
      <dsp:txXfrm>
        <a:off x="0" y="2370411"/>
        <a:ext cx="4718785" cy="789912"/>
      </dsp:txXfrm>
    </dsp:sp>
    <dsp:sp modelId="{A24E291F-00A4-40C1-B33E-0F0FA1AA8339}">
      <dsp:nvSpPr>
        <dsp:cNvPr id="0" name=""/>
        <dsp:cNvSpPr/>
      </dsp:nvSpPr>
      <dsp:spPr>
        <a:xfrm>
          <a:off x="0" y="3160323"/>
          <a:ext cx="471878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1AB05-BF0F-43F7-A203-166BF5603CAB}">
      <dsp:nvSpPr>
        <dsp:cNvPr id="0" name=""/>
        <dsp:cNvSpPr/>
      </dsp:nvSpPr>
      <dsp:spPr>
        <a:xfrm>
          <a:off x="0" y="3160323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Request–Response folyamat</a:t>
          </a:r>
        </a:p>
      </dsp:txBody>
      <dsp:txXfrm>
        <a:off x="0" y="3160323"/>
        <a:ext cx="4718785" cy="789912"/>
      </dsp:txXfrm>
    </dsp:sp>
    <dsp:sp modelId="{A4C2B2C9-F031-4B0D-B08B-78F73EB41B81}">
      <dsp:nvSpPr>
        <dsp:cNvPr id="0" name=""/>
        <dsp:cNvSpPr/>
      </dsp:nvSpPr>
      <dsp:spPr>
        <a:xfrm>
          <a:off x="0" y="395023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55FE6-3125-46E4-80C7-3507E895A087}">
      <dsp:nvSpPr>
        <dsp:cNvPr id="0" name=""/>
        <dsp:cNvSpPr/>
      </dsp:nvSpPr>
      <dsp:spPr>
        <a:xfrm>
          <a:off x="0" y="3950235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Content Negotiation</a:t>
          </a:r>
        </a:p>
      </dsp:txBody>
      <dsp:txXfrm>
        <a:off x="0" y="3950235"/>
        <a:ext cx="4718785" cy="789912"/>
      </dsp:txXfrm>
    </dsp:sp>
    <dsp:sp modelId="{09EE370C-80E9-4DD6-8F0A-0F9A697FE439}">
      <dsp:nvSpPr>
        <dsp:cNvPr id="0" name=""/>
        <dsp:cNvSpPr/>
      </dsp:nvSpPr>
      <dsp:spPr>
        <a:xfrm>
          <a:off x="0" y="4740147"/>
          <a:ext cx="471878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E1E10-F1FF-477F-99F7-D26FE09CCB7A}">
      <dsp:nvSpPr>
        <dsp:cNvPr id="0" name=""/>
        <dsp:cNvSpPr/>
      </dsp:nvSpPr>
      <dsp:spPr>
        <a:xfrm>
          <a:off x="0" y="4740147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Cache kezelés alapjai</a:t>
          </a:r>
        </a:p>
      </dsp:txBody>
      <dsp:txXfrm>
        <a:off x="0" y="4740147"/>
        <a:ext cx="4718785" cy="789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914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Ezen prezentáció középpontjában a HTTP áll, az a protokoll, amely a teljes web működését lehetővé teszi.</a:t>
            </a:r>
            <a:br>
              <a:rPr lang="hu-HU" dirty="0"/>
            </a:br>
            <a:r>
              <a:rPr lang="hu-HU" dirty="0"/>
              <a:t>Ez az a nyelv, amit a böngészők és a webszerverek használnak egymással való kommunikációra.</a:t>
            </a:r>
          </a:p>
          <a:p>
            <a:r>
              <a:rPr lang="hu-HU" dirty="0"/>
              <a:t>Meg fogjuk nézni, hogyan épül fel egy HTTP kérés (</a:t>
            </a:r>
            <a:r>
              <a:rPr lang="hu-HU" dirty="0" err="1"/>
              <a:t>request</a:t>
            </a:r>
            <a:r>
              <a:rPr lang="hu-HU" dirty="0"/>
              <a:t>), és hogyan reagál rá a szerver (</a:t>
            </a:r>
            <a:r>
              <a:rPr lang="hu-HU" dirty="0" err="1"/>
              <a:t>response</a:t>
            </a:r>
            <a:r>
              <a:rPr lang="hu-HU" dirty="0"/>
              <a:t>).</a:t>
            </a:r>
            <a:br>
              <a:rPr lang="hu-HU" dirty="0"/>
            </a:br>
            <a:r>
              <a:rPr lang="hu-HU" dirty="0"/>
              <a:t>Utána megnézzük, mik azok a metódusok — mint a GET vagy POST —, mik a státuszkódok — mint a 404 vagy 500 —, és hogyan használjuk őket API fejlesztésben.</a:t>
            </a:r>
          </a:p>
          <a:p>
            <a:r>
              <a:rPr lang="hu-HU" dirty="0"/>
              <a:t>A végén pedig rátérünk a modern web két nagyon fontos fogalmára: </a:t>
            </a:r>
          </a:p>
          <a:p>
            <a:pPr marL="171450" indent="-171450">
              <a:buFontTx/>
              <a:buChar char="-"/>
            </a:pPr>
            <a:r>
              <a:rPr lang="hu-HU" dirty="0"/>
              <a:t>a </a:t>
            </a:r>
            <a:r>
              <a:rPr lang="hu-HU" dirty="0" err="1"/>
              <a:t>content</a:t>
            </a:r>
            <a:r>
              <a:rPr lang="hu-HU" dirty="0"/>
              <a:t> </a:t>
            </a:r>
            <a:r>
              <a:rPr lang="hu-HU" dirty="0" err="1"/>
              <a:t>negotiation</a:t>
            </a:r>
            <a:r>
              <a:rPr lang="hu-HU" dirty="0"/>
              <a:t>-re (vagyis hogyan dönti el a szerver, hogy milyen formátumban adja vissza az adatot)</a:t>
            </a:r>
          </a:p>
          <a:p>
            <a:pPr marL="171450" indent="-171450">
              <a:buFontTx/>
              <a:buChar char="-"/>
            </a:pPr>
            <a:r>
              <a:rPr lang="hu-HU" dirty="0"/>
              <a:t>illetve a cache-</a:t>
            </a:r>
            <a:r>
              <a:rPr lang="hu-HU" dirty="0" err="1"/>
              <a:t>elésre</a:t>
            </a:r>
            <a:r>
              <a:rPr lang="hu-HU" dirty="0"/>
              <a:t>, ami a websebesség egyik kulcsa.</a:t>
            </a:r>
          </a:p>
          <a:p>
            <a:pPr marL="0" indent="0">
              <a:buFontTx/>
              <a:buNone/>
            </a:pP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A HTTP a </a:t>
            </a:r>
            <a:r>
              <a:rPr lang="hu-HU" i="1" dirty="0" err="1"/>
              <a:t>HyperText</a:t>
            </a:r>
            <a:r>
              <a:rPr lang="hu-HU" i="1" dirty="0"/>
              <a:t> </a:t>
            </a:r>
            <a:r>
              <a:rPr lang="hu-HU" i="1" dirty="0" err="1"/>
              <a:t>Transfer</a:t>
            </a:r>
            <a:r>
              <a:rPr lang="hu-HU" i="1" dirty="0"/>
              <a:t> </a:t>
            </a:r>
            <a:r>
              <a:rPr lang="hu-HU" i="1" dirty="0" err="1"/>
              <a:t>Protocol</a:t>
            </a:r>
            <a:r>
              <a:rPr lang="hu-HU" dirty="0"/>
              <a:t> rövidítése, és lényegében az egész világháló működésének alapja.</a:t>
            </a:r>
            <a:br>
              <a:rPr lang="hu-HU" dirty="0"/>
            </a:br>
            <a:r>
              <a:rPr lang="hu-HU" dirty="0"/>
              <a:t>Nagyon egyszerű, ember által is olvasható szövegekre épül, ami régen hatalmas előny volt, és ma is sokat segít a hibakeresésben és fejlesztésben.</a:t>
            </a:r>
          </a:p>
          <a:p>
            <a:endParaRPr lang="hu-HU" dirty="0"/>
          </a:p>
          <a:p>
            <a:r>
              <a:rPr lang="hu-HU" dirty="0"/>
              <a:t>A legfontosabb tulajdonsága, hogy </a:t>
            </a:r>
            <a:r>
              <a:rPr lang="hu-HU" dirty="0" err="1"/>
              <a:t>stateless</a:t>
            </a:r>
            <a:r>
              <a:rPr lang="hu-HU" dirty="0"/>
              <a:t> (állapotmentes). Ez azt jelenti, hogy minden HTTP kérés teljesen önálló, és elvileg semmit nem hordoz magával a korábbi kérésekből.</a:t>
            </a:r>
            <a:br>
              <a:rPr lang="hu-HU" dirty="0"/>
            </a:br>
            <a:r>
              <a:rPr lang="hu-HU" dirty="0"/>
              <a:t>Amennyiben állapottárolást szeretnénk, akkor minden információt — </a:t>
            </a:r>
            <a:r>
              <a:rPr lang="hu-HU" dirty="0" err="1"/>
              <a:t>autentikáció</a:t>
            </a:r>
            <a:r>
              <a:rPr lang="hu-HU" dirty="0"/>
              <a:t>, session ID, paraméterek — minden egyes kérésben teljes egészében át kell adni (programozó feladata).</a:t>
            </a:r>
          </a:p>
          <a:p>
            <a:endParaRPr lang="hu-HU" dirty="0"/>
          </a:p>
          <a:p>
            <a:r>
              <a:rPr lang="hu-HU" dirty="0"/>
              <a:t>A HTTP önmagában nagyon egyszerű, és mindent a TCP biztosít alatta: a kapcsolatkezelést, a csomagok sorrendiségét, a hibamentes adatátvitelt.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Amikor a böngésző elküld egy HTTP kérést, valójában egy sokrétegű kommunikáció fut le.</a:t>
            </a:r>
            <a:br>
              <a:rPr lang="hu-HU" dirty="0"/>
            </a:br>
            <a:r>
              <a:rPr lang="hu-HU" dirty="0"/>
              <a:t>A HTTP a legfelső réteg, csak a logikával foglalkozik: milyen adatot kérünk, mit küldünk vissza.</a:t>
            </a:r>
          </a:p>
          <a:p>
            <a:endParaRPr lang="hu-HU" dirty="0"/>
          </a:p>
          <a:p>
            <a:r>
              <a:rPr lang="hu-HU" dirty="0"/>
              <a:t>Alatta a TCP gondoskodik arról, hogy:</a:t>
            </a:r>
          </a:p>
          <a:p>
            <a:r>
              <a:rPr lang="hu-HU" dirty="0"/>
              <a:t>- a csomagok sorrendben érkezzenek meg,</a:t>
            </a:r>
          </a:p>
          <a:p>
            <a:r>
              <a:rPr lang="hu-HU" dirty="0"/>
              <a:t>- ne vesszenek el, vagy ha igen, újra legyenek küldve,</a:t>
            </a:r>
          </a:p>
          <a:p>
            <a:r>
              <a:rPr lang="hu-HU" dirty="0"/>
              <a:t>- a kapcsolat megbízható legyen.</a:t>
            </a:r>
          </a:p>
          <a:p>
            <a:endParaRPr lang="hu-HU" dirty="0"/>
          </a:p>
          <a:p>
            <a:r>
              <a:rPr lang="hu-HU" dirty="0"/>
              <a:t>Az IP pedig a tényleges útvonalválasztást oldja meg.</a:t>
            </a:r>
          </a:p>
          <a:p>
            <a:br>
              <a:rPr lang="hu-HU" dirty="0"/>
            </a:br>
            <a:r>
              <a:rPr lang="hu-HU" dirty="0"/>
              <a:t>A böngésző tehát több rétegen keresztül kommunikál a szerverrel, de a fejlesztés szempontjából szerencsére csak a felső, HTTP-szintet kell értenünk.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A HTTP üzenetek mindig nagyon hasonló felépítésűek: A böngésző elküldi a </a:t>
            </a:r>
            <a:r>
              <a:rPr lang="hu-HU" dirty="0" err="1"/>
              <a:t>requestet</a:t>
            </a:r>
            <a:r>
              <a:rPr lang="hu-HU" dirty="0"/>
              <a:t>: benne a metódus, URL, </a:t>
            </a:r>
            <a:r>
              <a:rPr lang="hu-HU" dirty="0" err="1"/>
              <a:t>headerek</a:t>
            </a:r>
            <a:r>
              <a:rPr lang="hu-HU" dirty="0"/>
              <a:t> és opcionális body. A szerver visszaadja a </a:t>
            </a:r>
            <a:r>
              <a:rPr lang="hu-HU" dirty="0" err="1"/>
              <a:t>response</a:t>
            </a:r>
            <a:r>
              <a:rPr lang="hu-HU" dirty="0"/>
              <a:t>-t: a státuszkóddal, </a:t>
            </a:r>
            <a:r>
              <a:rPr lang="hu-HU" dirty="0" err="1"/>
              <a:t>headerrel</a:t>
            </a:r>
            <a:r>
              <a:rPr lang="hu-HU" dirty="0"/>
              <a:t> és tartalommal.</a:t>
            </a:r>
          </a:p>
          <a:p>
            <a:endParaRPr lang="hu-HU" dirty="0"/>
          </a:p>
          <a:p>
            <a:r>
              <a:rPr lang="hu-HU" dirty="0"/>
              <a:t>A HTTP kommunikáció teljes egészében </a:t>
            </a:r>
            <a:r>
              <a:rPr lang="hu-HU" dirty="0" err="1"/>
              <a:t>request</a:t>
            </a:r>
            <a:r>
              <a:rPr lang="hu-HU" dirty="0"/>
              <a:t>–</a:t>
            </a:r>
            <a:r>
              <a:rPr lang="hu-HU" dirty="0" err="1"/>
              <a:t>response</a:t>
            </a:r>
            <a:r>
              <a:rPr lang="hu-HU" dirty="0"/>
              <a:t> alapon működik.</a:t>
            </a:r>
            <a:br>
              <a:rPr lang="hu-HU" dirty="0"/>
            </a:br>
            <a:r>
              <a:rPr lang="hu-HU" dirty="0"/>
              <a:t>A kliens mindig kér valamit, és a szerver válaszol.</a:t>
            </a:r>
          </a:p>
          <a:p>
            <a:endParaRPr lang="hu-HU" dirty="0"/>
          </a:p>
          <a:p>
            <a:r>
              <a:rPr lang="hu-HU" dirty="0"/>
              <a:t>Egy HTTP kérés 3 részből áll:</a:t>
            </a:r>
          </a:p>
          <a:p>
            <a:r>
              <a:rPr lang="hu-HU" b="1" dirty="0" err="1"/>
              <a:t>Request</a:t>
            </a:r>
            <a:r>
              <a:rPr lang="hu-HU" b="1" dirty="0"/>
              <a:t> line</a:t>
            </a:r>
            <a:r>
              <a:rPr lang="hu-HU" dirty="0"/>
              <a:t> – metódus + útvonal + protokoll verzió</a:t>
            </a:r>
          </a:p>
          <a:p>
            <a:r>
              <a:rPr lang="hu-HU" b="1" dirty="0" err="1"/>
              <a:t>Headerek</a:t>
            </a:r>
            <a:r>
              <a:rPr lang="hu-HU" dirty="0"/>
              <a:t> – kiegészítő információk (pl. milyen formátumot kér a kliens, milyen böngésző, milyen nyelv stb.)</a:t>
            </a:r>
          </a:p>
          <a:p>
            <a:r>
              <a:rPr lang="hu-HU" b="1" dirty="0"/>
              <a:t>Body</a:t>
            </a:r>
            <a:r>
              <a:rPr lang="hu-HU" dirty="0"/>
              <a:t> – opcionális, csak akkor van, ha adatot küldünk (pl. POST-</a:t>
            </a:r>
            <a:r>
              <a:rPr lang="hu-HU" dirty="0" err="1"/>
              <a:t>nál</a:t>
            </a:r>
            <a:r>
              <a:rPr lang="hu-HU" dirty="0"/>
              <a:t>)</a:t>
            </a:r>
          </a:p>
          <a:p>
            <a:endParaRPr lang="hu-HU" dirty="0"/>
          </a:p>
          <a:p>
            <a:r>
              <a:rPr lang="hu-HU" dirty="0"/>
              <a:t>A válasz is hasonló szerkezetű:</a:t>
            </a:r>
          </a:p>
          <a:p>
            <a:r>
              <a:rPr lang="hu-HU" b="1" dirty="0"/>
              <a:t>Status line</a:t>
            </a:r>
            <a:r>
              <a:rPr lang="hu-HU" dirty="0"/>
              <a:t> – státuszkód + rövid leírás</a:t>
            </a:r>
          </a:p>
          <a:p>
            <a:r>
              <a:rPr lang="hu-HU" b="1" dirty="0" err="1"/>
              <a:t>Headerek</a:t>
            </a:r>
            <a:endParaRPr lang="hu-HU" dirty="0"/>
          </a:p>
          <a:p>
            <a:r>
              <a:rPr lang="hu-HU" b="1" dirty="0"/>
              <a:t>Body</a:t>
            </a:r>
            <a:r>
              <a:rPr lang="hu-HU" dirty="0"/>
              <a:t> – itt van maga a tartalom, például HTML vagy JSON.</a:t>
            </a:r>
          </a:p>
          <a:p>
            <a:endParaRPr lang="hu-HU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láthatunk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klasszikus</a:t>
            </a:r>
            <a:r>
              <a:rPr lang="en-US" dirty="0"/>
              <a:t> HTTP </a:t>
            </a:r>
            <a:r>
              <a:rPr lang="en-US" dirty="0" err="1"/>
              <a:t>kérést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/products HTTP/1.1</a:t>
            </a:r>
            <a:r>
              <a:rPr lang="en-US" dirty="0"/>
              <a:t> </a:t>
            </a:r>
            <a:r>
              <a:rPr lang="en-US" dirty="0" err="1"/>
              <a:t>sor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GET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/products</a:t>
            </a:r>
            <a:r>
              <a:rPr lang="en-US" dirty="0"/>
              <a:t> </a:t>
            </a:r>
            <a:r>
              <a:rPr lang="en-US" dirty="0" err="1"/>
              <a:t>útvonalra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headerekből</a:t>
            </a:r>
            <a:r>
              <a:rPr lang="en-US" dirty="0"/>
              <a:t> </a:t>
            </a:r>
            <a:r>
              <a:rPr lang="en-US" dirty="0" err="1"/>
              <a:t>kiderül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Host</a:t>
            </a:r>
            <a:r>
              <a:rPr lang="en-US" dirty="0"/>
              <a:t> </a:t>
            </a:r>
            <a:r>
              <a:rPr lang="en-US" dirty="0" err="1"/>
              <a:t>megmondja</a:t>
            </a:r>
            <a:r>
              <a:rPr lang="en-US" dirty="0"/>
              <a:t>, </a:t>
            </a:r>
            <a:r>
              <a:rPr lang="en-US" dirty="0" err="1"/>
              <a:t>melyik</a:t>
            </a:r>
            <a:r>
              <a:rPr lang="en-US" dirty="0"/>
              <a:t> </a:t>
            </a:r>
            <a:r>
              <a:rPr lang="en-US" dirty="0" err="1"/>
              <a:t>domainhez</a:t>
            </a:r>
            <a:r>
              <a:rPr lang="en-US" dirty="0"/>
              <a:t> </a:t>
            </a:r>
            <a:r>
              <a:rPr lang="en-US" dirty="0" err="1"/>
              <a:t>tartozik</a:t>
            </a:r>
            <a:r>
              <a:rPr lang="en-US" dirty="0"/>
              <a:t> a </a:t>
            </a:r>
            <a:r>
              <a:rPr lang="en-US" dirty="0" err="1"/>
              <a:t>kérés</a:t>
            </a:r>
            <a:r>
              <a:rPr lang="en-US" dirty="0"/>
              <a:t> (HTTP/1.1-ben </a:t>
            </a:r>
            <a:r>
              <a:rPr lang="en-US" dirty="0" err="1"/>
              <a:t>kötelező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IP-n </a:t>
            </a:r>
            <a:r>
              <a:rPr lang="en-US" dirty="0" err="1"/>
              <a:t>több</a:t>
            </a:r>
            <a:r>
              <a:rPr lang="en-US" dirty="0"/>
              <a:t> domain </a:t>
            </a:r>
            <a:r>
              <a:rPr lang="en-US" dirty="0" err="1"/>
              <a:t>lehet</a:t>
            </a:r>
            <a:r>
              <a:rPr lang="en-US" dirty="0"/>
              <a:t>)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User-Agent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típusát</a:t>
            </a:r>
            <a:r>
              <a:rPr lang="en-US" dirty="0"/>
              <a:t> és </a:t>
            </a:r>
            <a:r>
              <a:rPr lang="en-US" dirty="0" err="1"/>
              <a:t>verzióját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tartalomtípust</a:t>
            </a:r>
            <a:r>
              <a:rPr lang="en-US" dirty="0"/>
              <a:t> </a:t>
            </a:r>
            <a:r>
              <a:rPr lang="en-US" dirty="0" err="1"/>
              <a:t>fogad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— </a:t>
            </a:r>
            <a:r>
              <a:rPr lang="en-US" dirty="0" err="1"/>
              <a:t>itt</a:t>
            </a:r>
            <a:r>
              <a:rPr lang="en-US" dirty="0"/>
              <a:t> HTML-t.</a:t>
            </a:r>
            <a:endParaRPr lang="hu-HU" dirty="0"/>
          </a:p>
          <a:p>
            <a:endParaRPr lang="en-US" dirty="0"/>
          </a:p>
          <a:p>
            <a:r>
              <a:rPr lang="en-US" dirty="0"/>
              <a:t>Ez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számára</a:t>
            </a:r>
            <a:r>
              <a:rPr lang="en-US" dirty="0"/>
              <a:t>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</a:t>
            </a:r>
            <a:r>
              <a:rPr lang="en-US" dirty="0" err="1"/>
              <a:t>információ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tudja</a:t>
            </a:r>
            <a:r>
              <a:rPr lang="en-US" dirty="0"/>
              <a:t> </a:t>
            </a:r>
            <a:r>
              <a:rPr lang="en-US" dirty="0" err="1"/>
              <a:t>eldönteni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válaszoljon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A szerver válasza hasonlóan egyszerű: A státuszkódból megállapítjuk, hogy sikeres volt-e a kérés, a </a:t>
            </a:r>
            <a:r>
              <a:rPr lang="hu-HU" dirty="0" err="1"/>
              <a:t>headerekből</a:t>
            </a:r>
            <a:r>
              <a:rPr lang="hu-HU" dirty="0"/>
              <a:t> pedig megtudjuk a tartalom típusát, hosszát, cache elévülési idejét stb.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státuszsorral</a:t>
            </a:r>
            <a:r>
              <a:rPr lang="en-US" dirty="0"/>
              <a:t> </a:t>
            </a:r>
            <a:r>
              <a:rPr lang="en-US" dirty="0" err="1"/>
              <a:t>indul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megmondja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a HTTP </a:t>
            </a:r>
            <a:r>
              <a:rPr lang="en-US" dirty="0" err="1"/>
              <a:t>verziót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státuszkódot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státuszkód</a:t>
            </a:r>
            <a:r>
              <a:rPr lang="en-US" dirty="0"/>
              <a:t> </a:t>
            </a:r>
            <a:r>
              <a:rPr lang="en-US" dirty="0" err="1"/>
              <a:t>szöveges</a:t>
            </a:r>
            <a:r>
              <a:rPr lang="en-US" dirty="0"/>
              <a:t> </a:t>
            </a:r>
            <a:r>
              <a:rPr lang="en-US" dirty="0" err="1"/>
              <a:t>leírását</a:t>
            </a:r>
            <a:endParaRPr lang="hu-HU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headerek</a:t>
            </a:r>
            <a:r>
              <a:rPr lang="en-US" dirty="0"/>
              <a:t> </a:t>
            </a:r>
            <a:r>
              <a:rPr lang="en-US" dirty="0" err="1"/>
              <a:t>közt</a:t>
            </a:r>
            <a:r>
              <a:rPr lang="en-US" dirty="0"/>
              <a:t> </a:t>
            </a:r>
            <a:r>
              <a:rPr lang="en-US" dirty="0" err="1"/>
              <a:t>gyakran</a:t>
            </a:r>
            <a:r>
              <a:rPr lang="en-US" dirty="0"/>
              <a:t> </a:t>
            </a:r>
            <a:r>
              <a:rPr lang="en-US" dirty="0" err="1"/>
              <a:t>találjuk</a:t>
            </a:r>
            <a:r>
              <a:rPr lang="en-US" dirty="0"/>
              <a:t> 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Content-Type</a:t>
            </a:r>
            <a:r>
              <a:rPr lang="en-US" dirty="0"/>
              <a:t> </a:t>
            </a:r>
            <a:r>
              <a:rPr lang="en-US" dirty="0" err="1"/>
              <a:t>értéket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megmondja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HTML, JSON, </a:t>
            </a:r>
            <a:r>
              <a:rPr lang="en-US" dirty="0" err="1"/>
              <a:t>kép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típusú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küldünk</a:t>
            </a:r>
            <a:r>
              <a:rPr lang="en-US" dirty="0"/>
              <a:t> </a:t>
            </a:r>
            <a:r>
              <a:rPr lang="en-US" dirty="0" err="1"/>
              <a:t>vissza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Content-Length</a:t>
            </a:r>
            <a:r>
              <a:rPr lang="en-US" b="1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en-US" dirty="0"/>
              <a:t>, </a:t>
            </a:r>
            <a:r>
              <a:rPr lang="en-US" dirty="0" err="1"/>
              <a:t>mekkora</a:t>
            </a:r>
            <a:r>
              <a:rPr lang="en-US" dirty="0"/>
              <a:t> a body </a:t>
            </a:r>
            <a:r>
              <a:rPr lang="en-US" dirty="0" err="1"/>
              <a:t>mérete</a:t>
            </a:r>
            <a:r>
              <a:rPr lang="en-US" dirty="0"/>
              <a:t> —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a </a:t>
            </a:r>
            <a:r>
              <a:rPr lang="en-US" dirty="0" err="1"/>
              <a:t>kliensnek</a:t>
            </a:r>
            <a:r>
              <a:rPr lang="en-US" dirty="0"/>
              <a:t> a </a:t>
            </a:r>
            <a:r>
              <a:rPr lang="en-US" dirty="0" err="1"/>
              <a:t>letöltés</a:t>
            </a:r>
            <a:r>
              <a:rPr lang="en-US" dirty="0"/>
              <a:t> </a:t>
            </a:r>
            <a:r>
              <a:rPr lang="en-US" dirty="0" err="1"/>
              <a:t>befejezésének</a:t>
            </a:r>
            <a:r>
              <a:rPr lang="en-US" dirty="0"/>
              <a:t> </a:t>
            </a:r>
            <a:r>
              <a:rPr lang="en-US" dirty="0" err="1"/>
              <a:t>megállapításához</a:t>
            </a:r>
            <a:r>
              <a:rPr lang="en-US" dirty="0"/>
              <a:t>.</a:t>
            </a:r>
          </a:p>
          <a:p>
            <a:r>
              <a:rPr lang="en-US" dirty="0" err="1"/>
              <a:t>Ezután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 </a:t>
            </a:r>
            <a:r>
              <a:rPr lang="en-US" dirty="0" err="1"/>
              <a:t>maga</a:t>
            </a:r>
            <a:r>
              <a:rPr lang="en-US" dirty="0"/>
              <a:t> a </a:t>
            </a:r>
            <a:r>
              <a:rPr lang="en-US" b="1" dirty="0"/>
              <a:t>body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tartalmazza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</a:t>
            </a:r>
            <a:r>
              <a:rPr lang="en-US" dirty="0"/>
              <a:t> HTML </a:t>
            </a:r>
            <a:r>
              <a:rPr lang="en-US" dirty="0" err="1"/>
              <a:t>tartalmát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bármilyen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.</a:t>
            </a: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HTTP/1.1 </a:t>
            </a:r>
            <a:r>
              <a:rPr lang="en-US" dirty="0" err="1"/>
              <a:t>azért</a:t>
            </a:r>
            <a:r>
              <a:rPr lang="en-US" dirty="0"/>
              <a:t> </a:t>
            </a:r>
            <a:r>
              <a:rPr lang="en-US" dirty="0" err="1"/>
              <a:t>terjedt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</a:t>
            </a:r>
            <a:r>
              <a:rPr lang="en-US" dirty="0" err="1"/>
              <a:t>fejlesztést</a:t>
            </a:r>
            <a:r>
              <a:rPr lang="en-US" dirty="0"/>
              <a:t> </a:t>
            </a:r>
            <a:r>
              <a:rPr lang="en-US" dirty="0" err="1"/>
              <a:t>hozott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Keep-Alive </a:t>
            </a:r>
            <a:r>
              <a:rPr lang="en-US" dirty="0" err="1"/>
              <a:t>kapcsolatnak</a:t>
            </a:r>
            <a:r>
              <a:rPr lang="en-US" dirty="0"/>
              <a:t> </a:t>
            </a:r>
            <a:r>
              <a:rPr lang="en-US" dirty="0" err="1"/>
              <a:t>köszönhetően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épít</a:t>
            </a:r>
            <a:r>
              <a:rPr lang="hu-HU" dirty="0"/>
              <a:t> ki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kéréshez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TCP </a:t>
            </a:r>
            <a:r>
              <a:rPr lang="en-US" dirty="0" err="1"/>
              <a:t>kapcsolatot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gyorsabb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oldalbetöltés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előrelépés</a:t>
            </a:r>
            <a:r>
              <a:rPr lang="en-US" dirty="0"/>
              <a:t> a </a:t>
            </a:r>
            <a:r>
              <a:rPr lang="en-US" b="1" dirty="0"/>
              <a:t>persistent connection</a:t>
            </a:r>
            <a:r>
              <a:rPr lang="en-US" dirty="0"/>
              <a:t>,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néven</a:t>
            </a:r>
            <a:r>
              <a:rPr lang="en-US" dirty="0"/>
              <a:t> keep-alive volt.</a:t>
            </a:r>
            <a:br>
              <a:rPr lang="en-US" dirty="0"/>
            </a:br>
            <a:r>
              <a:rPr lang="en-US" dirty="0"/>
              <a:t>Ez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zárja</a:t>
            </a:r>
            <a:r>
              <a:rPr lang="en-US" dirty="0"/>
              <a:t> le a TCP </a:t>
            </a:r>
            <a:r>
              <a:rPr lang="en-US" dirty="0" err="1"/>
              <a:t>kapcsolatot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után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ugyanazon</a:t>
            </a:r>
            <a:r>
              <a:rPr lang="en-US" dirty="0"/>
              <a:t> a </a:t>
            </a:r>
            <a:r>
              <a:rPr lang="en-US" dirty="0" err="1"/>
              <a:t>kapcsolaton</a:t>
            </a:r>
            <a:r>
              <a:rPr lang="en-US" dirty="0"/>
              <a:t> </a:t>
            </a:r>
            <a:r>
              <a:rPr lang="en-US" dirty="0" err="1"/>
              <a:t>mehet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Host</a:t>
            </a:r>
            <a:r>
              <a:rPr lang="en-US" dirty="0"/>
              <a:t> </a:t>
            </a:r>
            <a:r>
              <a:rPr lang="en-US" b="0" dirty="0"/>
              <a:t>header</a:t>
            </a:r>
            <a:r>
              <a:rPr lang="en-US" dirty="0"/>
              <a:t> </a:t>
            </a:r>
            <a:r>
              <a:rPr lang="en-US" dirty="0" err="1"/>
              <a:t>kötelezővé</a:t>
            </a:r>
            <a:r>
              <a:rPr lang="en-US" dirty="0"/>
              <a:t> </a:t>
            </a:r>
            <a:r>
              <a:rPr lang="en-US" dirty="0" err="1"/>
              <a:t>tétele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tette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domaint</a:t>
            </a:r>
            <a:r>
              <a:rPr lang="en-US" dirty="0"/>
              <a:t> </a:t>
            </a:r>
            <a:r>
              <a:rPr lang="en-US" dirty="0" err="1"/>
              <a:t>szolgáljon</a:t>
            </a:r>
            <a:r>
              <a:rPr lang="en-US" dirty="0"/>
              <a:t> ki.</a:t>
            </a:r>
          </a:p>
          <a:p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b="0" dirty="0"/>
              <a:t>A </a:t>
            </a:r>
            <a:r>
              <a:rPr lang="hu-HU" b="0" dirty="0" err="1"/>
              <a:t>chunked</a:t>
            </a:r>
            <a:r>
              <a:rPr lang="hu-HU" b="0" dirty="0"/>
              <a:t> </a:t>
            </a:r>
            <a:r>
              <a:rPr lang="hu-HU" b="0" dirty="0" err="1"/>
              <a:t>transfer</a:t>
            </a:r>
            <a:r>
              <a:rPr lang="hu-HU" b="0" dirty="0"/>
              <a:t> </a:t>
            </a:r>
            <a:r>
              <a:rPr lang="hu-HU" b="0" dirty="0" err="1"/>
              <a:t>encoding</a:t>
            </a:r>
            <a:r>
              <a:rPr lang="hu-HU" b="0" dirty="0"/>
              <a:t> egy HTTP/1.1 szintű </a:t>
            </a:r>
            <a:r>
              <a:rPr lang="hu-HU" b="1" dirty="0"/>
              <a:t>adatátviteli mechanizmus</a:t>
            </a:r>
            <a:r>
              <a:rPr lang="hu-HU" b="0" dirty="0"/>
              <a:t>, amely lehetővé teszi, hogy a </a:t>
            </a:r>
            <a:r>
              <a:rPr lang="hu-HU" b="1" dirty="0"/>
              <a:t>szerver darabokban (</a:t>
            </a:r>
            <a:r>
              <a:rPr lang="hu-HU" b="1" dirty="0" err="1"/>
              <a:t>chunkokban</a:t>
            </a:r>
            <a:r>
              <a:rPr lang="hu-HU" b="1" dirty="0"/>
              <a:t>) küldje el </a:t>
            </a:r>
            <a:r>
              <a:rPr lang="hu-HU" b="0" dirty="0"/>
              <a:t>a válasz törzsét anélkül, hogy előre ismerné a teljes válasz méretét. </a:t>
            </a:r>
            <a:r>
              <a:rPr lang="en-US" dirty="0"/>
              <a:t>A chunked transfer encoding </a:t>
            </a:r>
            <a:r>
              <a:rPr lang="hu-HU" dirty="0"/>
              <a:t>ezáltal a</a:t>
            </a:r>
            <a:r>
              <a:rPr lang="en-US" dirty="0"/>
              <a:t> </a:t>
            </a:r>
            <a:r>
              <a:rPr lang="en-US" b="1" dirty="0" err="1"/>
              <a:t>dinamikusan</a:t>
            </a:r>
            <a:r>
              <a:rPr lang="en-US" b="1" dirty="0"/>
              <a:t> </a:t>
            </a:r>
            <a:r>
              <a:rPr lang="en-US" b="1" dirty="0" err="1"/>
              <a:t>generált</a:t>
            </a:r>
            <a:r>
              <a:rPr lang="en-US" b="1" dirty="0"/>
              <a:t> </a:t>
            </a:r>
            <a:r>
              <a:rPr lang="en-US" b="1" dirty="0" err="1"/>
              <a:t>tartalmaknál</a:t>
            </a:r>
            <a:r>
              <a:rPr lang="en-US" b="1" dirty="0"/>
              <a:t> </a:t>
            </a:r>
            <a:r>
              <a:rPr lang="en-US" b="1" dirty="0" err="1"/>
              <a:t>segít</a:t>
            </a:r>
            <a:r>
              <a:rPr lang="en-US" dirty="0"/>
              <a:t>, </a:t>
            </a:r>
            <a:r>
              <a:rPr lang="en-US" dirty="0" err="1"/>
              <a:t>amikor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tudja</a:t>
            </a:r>
            <a:r>
              <a:rPr lang="en-US" dirty="0"/>
              <a:t> </a:t>
            </a:r>
            <a:r>
              <a:rPr lang="en-US" dirty="0" err="1"/>
              <a:t>előre</a:t>
            </a:r>
            <a:r>
              <a:rPr lang="en-US" dirty="0"/>
              <a:t> a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hosszát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b="1" dirty="0"/>
              <a:t>Content-Encoding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HTTP </a:t>
            </a:r>
            <a:r>
              <a:rPr lang="en-US" dirty="0" err="1"/>
              <a:t>fejléc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megadja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törzse</a:t>
            </a:r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b="1" dirty="0" err="1"/>
              <a:t>kódoláson</a:t>
            </a:r>
            <a:r>
              <a:rPr lang="en-US" b="1" dirty="0"/>
              <a:t> (</a:t>
            </a:r>
            <a:r>
              <a:rPr lang="en-US" b="1" dirty="0" err="1"/>
              <a:t>leggyakrabban</a:t>
            </a:r>
            <a:r>
              <a:rPr lang="en-US" b="1" dirty="0"/>
              <a:t> </a:t>
            </a:r>
            <a:r>
              <a:rPr lang="en-US" b="1" dirty="0" err="1"/>
              <a:t>tömörítésen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esett</a:t>
            </a:r>
            <a:r>
              <a:rPr lang="en-US" dirty="0"/>
              <a:t> </a:t>
            </a:r>
            <a:r>
              <a:rPr lang="en-US" dirty="0" err="1"/>
              <a:t>át</a:t>
            </a:r>
            <a:r>
              <a:rPr lang="en-US" dirty="0"/>
              <a:t>, és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kliensnek</a:t>
            </a:r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lépésekkel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b="1" dirty="0" err="1"/>
              <a:t>visszaalakítania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</a:t>
            </a:r>
            <a:r>
              <a:rPr lang="en-US" b="1" dirty="0" err="1"/>
              <a:t>eredeti</a:t>
            </a:r>
            <a:r>
              <a:rPr lang="en-US" b="1" dirty="0"/>
              <a:t> </a:t>
            </a:r>
            <a:r>
              <a:rPr lang="en-US" b="1" dirty="0" err="1"/>
              <a:t>tartalommá</a:t>
            </a:r>
            <a:r>
              <a:rPr lang="en-US" dirty="0"/>
              <a:t>.</a:t>
            </a:r>
            <a:endParaRPr lang="hu-HU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A HTTP metódus határozza meg, milyen műveletet végzünk az adott erőforrással. Ezek nem csak hagyományos weboldal-betöltésnél számítanak — hanem kritikus szerepük van minden REST API-ban.</a:t>
            </a:r>
          </a:p>
          <a:p>
            <a:r>
              <a:rPr lang="hu-HU" dirty="0"/>
              <a:t>A GET például adatlekérésre, a POST új elem létrehozására szolgál.</a:t>
            </a:r>
            <a:br>
              <a:rPr lang="hu-HU" dirty="0"/>
            </a:br>
            <a:r>
              <a:rPr lang="hu-HU" dirty="0"/>
              <a:t>A PUT egy egész erőforrás frissítése, a PATCH részleges módosítás.</a:t>
            </a:r>
            <a:br>
              <a:rPr lang="hu-HU" dirty="0"/>
            </a:br>
            <a:r>
              <a:rPr lang="hu-HU" dirty="0"/>
              <a:t>A DELETE értelemszerűen törlést jelent.</a:t>
            </a:r>
          </a:p>
          <a:p>
            <a:r>
              <a:rPr lang="hu-HU" dirty="0"/>
              <a:t>A HEAD  csak az erőforráshoz tartozó fejléc lekérése a tartalom nélkül (</a:t>
            </a:r>
            <a:r>
              <a:rPr lang="hu-HU" dirty="0" err="1"/>
              <a:t>meta</a:t>
            </a:r>
            <a:r>
              <a:rPr lang="hu-HU" dirty="0"/>
              <a:t> adatok, amiket pl. gyorsítótárak használnak)</a:t>
            </a:r>
          </a:p>
          <a:p>
            <a:r>
              <a:rPr lang="hu-HU" dirty="0"/>
              <a:t>Az OPTIONS segítségével lekérdezhető, hogy az adott erőforráshoz milyen műveletek és opciók elérhetők/engedélyezettek. A szerver képességek feltérképezése. Fontos szerepe van a CORS alkalmazásánál.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A GET a legegyszerűbb és leggyakoribb HTTP metódus. Kifejezetten olvasásra való.</a:t>
            </a:r>
          </a:p>
          <a:p>
            <a:r>
              <a:rPr lang="hu-HU" dirty="0"/>
              <a:t>A GET-metódus hívása nem okozhat változást a szerveren, ezért </a:t>
            </a:r>
            <a:r>
              <a:rPr lang="hu-HU" b="1" dirty="0"/>
              <a:t>biztonságos műveletnek</a:t>
            </a:r>
            <a:r>
              <a:rPr lang="hu-HU" dirty="0"/>
              <a:t> tekintjük.</a:t>
            </a:r>
            <a:br>
              <a:rPr lang="hu-HU" dirty="0"/>
            </a:br>
            <a:r>
              <a:rPr lang="hu-HU" dirty="0"/>
              <a:t>Egy GET kérés mindig ugyanazt az eredményt kell adja változtatás nélkül, ezért </a:t>
            </a:r>
            <a:r>
              <a:rPr lang="hu-HU" b="1" dirty="0" err="1"/>
              <a:t>idempotens</a:t>
            </a:r>
            <a:r>
              <a:rPr lang="hu-HU" dirty="0"/>
              <a:t>.</a:t>
            </a:r>
          </a:p>
          <a:p>
            <a:r>
              <a:rPr lang="hu-HU" dirty="0"/>
              <a:t>Nagyon fontos, hogy GET-kérések gyakran cache-</a:t>
            </a:r>
            <a:r>
              <a:rPr lang="hu-HU" dirty="0" err="1"/>
              <a:t>elhetők</a:t>
            </a:r>
            <a:r>
              <a:rPr lang="hu-HU" dirty="0"/>
              <a:t>, ami óriási teljesítménynyereséget ad a weboldalak böngészésekor.</a:t>
            </a:r>
          </a:p>
          <a:p>
            <a:r>
              <a:rPr lang="hu-HU" dirty="0"/>
              <a:t>Az URL-ben úgynevezett </a:t>
            </a:r>
            <a:r>
              <a:rPr lang="hu-HU" dirty="0" err="1"/>
              <a:t>query</a:t>
            </a:r>
            <a:r>
              <a:rPr lang="hu-HU" dirty="0"/>
              <a:t> paraméterek használatók, amit a szerver oldali kiszolgáló </a:t>
            </a:r>
            <a:r>
              <a:rPr lang="hu-HU" dirty="0" err="1"/>
              <a:t>szkript</a:t>
            </a:r>
            <a:r>
              <a:rPr lang="hu-HU" dirty="0"/>
              <a:t> használ fel.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A POST az általános adatküldési metódus.</a:t>
            </a:r>
            <a:br>
              <a:rPr lang="hu-HU" dirty="0"/>
            </a:br>
            <a:r>
              <a:rPr lang="hu-HU" dirty="0"/>
              <a:t>Leggyakrabban új rekordok létrehozására használjuk, pl. egy új felhasználó, új blogpost, új komment létrehozására.</a:t>
            </a:r>
          </a:p>
          <a:p>
            <a:r>
              <a:rPr lang="hu-HU" dirty="0"/>
              <a:t>A POST nem </a:t>
            </a:r>
            <a:r>
              <a:rPr lang="hu-HU" dirty="0" err="1"/>
              <a:t>idempotens</a:t>
            </a:r>
            <a:r>
              <a:rPr lang="hu-HU" dirty="0"/>
              <a:t>: ha ugyanazt kétszer elküldjük, két külön bejegyzést hozhat létre — vagy kétszer </a:t>
            </a:r>
            <a:r>
              <a:rPr lang="hu-HU" dirty="0" err="1"/>
              <a:t>hajtódhat</a:t>
            </a:r>
            <a:r>
              <a:rPr lang="hu-HU" dirty="0"/>
              <a:t> végre az adott művelet.</a:t>
            </a:r>
          </a:p>
          <a:p>
            <a:r>
              <a:rPr lang="hu-HU" dirty="0"/>
              <a:t>A HTML </a:t>
            </a:r>
            <a:r>
              <a:rPr lang="hu-HU" dirty="0" err="1"/>
              <a:t>formok</a:t>
            </a:r>
            <a:r>
              <a:rPr lang="hu-HU" dirty="0"/>
              <a:t> is POST-</a:t>
            </a:r>
            <a:r>
              <a:rPr lang="hu-HU" dirty="0" err="1"/>
              <a:t>tal</a:t>
            </a:r>
            <a:r>
              <a:rPr lang="hu-HU" dirty="0"/>
              <a:t> működnek. Az API-k egy legelterjedtebb metódusa új adatok rögzítésére.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PUT-</a:t>
            </a:r>
            <a:r>
              <a:rPr lang="en-US" dirty="0" err="1"/>
              <a:t>ot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érdemes</a:t>
            </a:r>
            <a:r>
              <a:rPr lang="en-US" dirty="0"/>
              <a:t> </a:t>
            </a:r>
            <a:r>
              <a:rPr lang="en-US" dirty="0" err="1"/>
              <a:t>használni</a:t>
            </a:r>
            <a:r>
              <a:rPr lang="en-US" dirty="0"/>
              <a:t>, ha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erőforrás</a:t>
            </a:r>
            <a:r>
              <a:rPr lang="en-US" dirty="0"/>
              <a:t> </a:t>
            </a:r>
            <a:r>
              <a:rPr lang="en-US" dirty="0" err="1"/>
              <a:t>teljes</a:t>
            </a:r>
            <a:r>
              <a:rPr lang="en-US" dirty="0"/>
              <a:t> </a:t>
            </a:r>
            <a:r>
              <a:rPr lang="en-US" dirty="0" err="1"/>
              <a:t>állapotát</a:t>
            </a:r>
            <a:r>
              <a:rPr lang="en-US" dirty="0"/>
              <a:t> </a:t>
            </a:r>
            <a:r>
              <a:rPr lang="en-US" dirty="0" err="1"/>
              <a:t>lecseréljük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PUT </a:t>
            </a:r>
            <a:r>
              <a:rPr lang="en-US" dirty="0" err="1"/>
              <a:t>idempotens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ha </a:t>
            </a:r>
            <a:r>
              <a:rPr lang="en-US" dirty="0" err="1"/>
              <a:t>többször</a:t>
            </a:r>
            <a:r>
              <a:rPr lang="en-US" dirty="0"/>
              <a:t> is </a:t>
            </a:r>
            <a:r>
              <a:rPr lang="en-US" dirty="0" err="1"/>
              <a:t>elküldjük</a:t>
            </a:r>
            <a:r>
              <a:rPr lang="en-US" dirty="0"/>
              <a:t> </a:t>
            </a:r>
            <a:r>
              <a:rPr lang="en-US" dirty="0" err="1"/>
              <a:t>ugyanazt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eredmény</a:t>
            </a:r>
            <a:r>
              <a:rPr lang="en-US" dirty="0"/>
              <a:t> </a:t>
            </a:r>
            <a:r>
              <a:rPr lang="en-US" dirty="0" err="1"/>
              <a:t>változatlan</a:t>
            </a:r>
            <a:r>
              <a:rPr lang="en-US" dirty="0"/>
              <a:t> </a:t>
            </a:r>
            <a:r>
              <a:rPr lang="en-US" dirty="0" err="1"/>
              <a:t>marad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PATCH </a:t>
            </a:r>
            <a:r>
              <a:rPr lang="en-US" dirty="0" err="1"/>
              <a:t>ezzel</a:t>
            </a:r>
            <a:r>
              <a:rPr lang="en-US" dirty="0"/>
              <a:t> </a:t>
            </a:r>
            <a:r>
              <a:rPr lang="en-US" dirty="0" err="1"/>
              <a:t>szemben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erőforrás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részét</a:t>
            </a:r>
            <a:r>
              <a:rPr lang="en-US" dirty="0"/>
              <a:t> </a:t>
            </a:r>
            <a:r>
              <a:rPr lang="en-US" dirty="0" err="1"/>
              <a:t>módosítja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kisebb</a:t>
            </a:r>
            <a:r>
              <a:rPr lang="en-US" dirty="0"/>
              <a:t> </a:t>
            </a:r>
            <a:r>
              <a:rPr lang="en-US" dirty="0" err="1"/>
              <a:t>adatmennyiséget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elküldeni</a:t>
            </a:r>
            <a:r>
              <a:rPr lang="en-US" dirty="0"/>
              <a:t>, </a:t>
            </a:r>
            <a:r>
              <a:rPr lang="en-US" dirty="0" err="1"/>
              <a:t>ezért</a:t>
            </a:r>
            <a:r>
              <a:rPr lang="en-US" dirty="0"/>
              <a:t> modern API-</a:t>
            </a:r>
            <a:r>
              <a:rPr lang="en-US" dirty="0" err="1"/>
              <a:t>kban</a:t>
            </a:r>
            <a:r>
              <a:rPr lang="en-US" dirty="0"/>
              <a:t> </a:t>
            </a:r>
            <a:r>
              <a:rPr lang="en-US" dirty="0" err="1"/>
              <a:t>gyakran</a:t>
            </a:r>
            <a:r>
              <a:rPr lang="en-US" dirty="0"/>
              <a:t> </a:t>
            </a:r>
            <a:r>
              <a:rPr lang="en-US" dirty="0" err="1"/>
              <a:t>használjuk</a:t>
            </a:r>
            <a:r>
              <a:rPr lang="en-US" dirty="0"/>
              <a:t>.</a:t>
            </a:r>
            <a:endParaRPr lang="hu-HU" dirty="0"/>
          </a:p>
          <a:p>
            <a:r>
              <a:rPr lang="hu-HU" dirty="0"/>
              <a:t>A PATCH nem feltétlenül </a:t>
            </a:r>
            <a:r>
              <a:rPr lang="hu-HU" dirty="0" err="1"/>
              <a:t>idempotens</a:t>
            </a:r>
            <a:r>
              <a:rPr lang="hu-HU" dirty="0"/>
              <a:t>, ez a felhasználás módjától függ. Például egy inkrementáló művelet vagy alelem hozzáadása nem </a:t>
            </a:r>
            <a:r>
              <a:rPr lang="hu-HU" dirty="0" err="1"/>
              <a:t>idempotens</a:t>
            </a:r>
            <a:r>
              <a:rPr lang="hu-HU" dirty="0"/>
              <a:t>. De ha egy konkrét értékre állítunk be egy mezőt, akkor </a:t>
            </a:r>
            <a:r>
              <a:rPr lang="hu-HU" dirty="0" err="1"/>
              <a:t>idempotens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DELETE </a:t>
            </a:r>
            <a:r>
              <a:rPr lang="en-US" dirty="0" err="1"/>
              <a:t>logikusan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erőforrások</a:t>
            </a:r>
            <a:r>
              <a:rPr lang="en-US" dirty="0"/>
              <a:t> </a:t>
            </a:r>
            <a:r>
              <a:rPr lang="en-US" dirty="0" err="1"/>
              <a:t>törlésére</a:t>
            </a:r>
            <a:r>
              <a:rPr lang="en-US" dirty="0"/>
              <a:t> </a:t>
            </a:r>
            <a:r>
              <a:rPr lang="en-US" dirty="0" err="1"/>
              <a:t>szolgál</a:t>
            </a:r>
            <a:r>
              <a:rPr lang="en-US" dirty="0"/>
              <a:t>. REST API-</a:t>
            </a:r>
            <a:r>
              <a:rPr lang="en-US" dirty="0" err="1"/>
              <a:t>kban</a:t>
            </a:r>
            <a:r>
              <a:rPr lang="en-US" dirty="0"/>
              <a:t> </a:t>
            </a:r>
            <a:r>
              <a:rPr lang="en-US" dirty="0" err="1"/>
              <a:t>szinte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oldják</a:t>
            </a:r>
            <a:r>
              <a:rPr lang="en-US" dirty="0"/>
              <a:t> meg a </a:t>
            </a:r>
            <a:r>
              <a:rPr lang="en-US" dirty="0" err="1"/>
              <a:t>törlést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Ha </a:t>
            </a:r>
            <a:r>
              <a:rPr lang="en-US" dirty="0" err="1"/>
              <a:t>többször</a:t>
            </a:r>
            <a:r>
              <a:rPr lang="en-US" dirty="0"/>
              <a:t> </a:t>
            </a:r>
            <a:r>
              <a:rPr lang="en-US" dirty="0" err="1"/>
              <a:t>hívjuk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első</a:t>
            </a:r>
            <a:r>
              <a:rPr lang="en-US" dirty="0"/>
              <a:t> </a:t>
            </a:r>
            <a:r>
              <a:rPr lang="en-US" dirty="0" err="1"/>
              <a:t>törlés</a:t>
            </a:r>
            <a:r>
              <a:rPr lang="en-US" dirty="0"/>
              <a:t> </a:t>
            </a:r>
            <a:r>
              <a:rPr lang="en-US" dirty="0" err="1"/>
              <a:t>után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törölni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továbbra</a:t>
            </a:r>
            <a:r>
              <a:rPr lang="en-US" dirty="0"/>
              <a:t> is 200, 204 </a:t>
            </a:r>
            <a:r>
              <a:rPr lang="en-US" dirty="0" err="1"/>
              <a:t>vagy</a:t>
            </a:r>
            <a:r>
              <a:rPr lang="en-US" dirty="0"/>
              <a:t> 404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érkezhet</a:t>
            </a:r>
            <a:r>
              <a:rPr lang="en-US" dirty="0"/>
              <a:t> — </a:t>
            </a:r>
            <a:r>
              <a:rPr lang="en-US" dirty="0" err="1"/>
              <a:t>ezért</a:t>
            </a:r>
            <a:r>
              <a:rPr lang="en-US" dirty="0"/>
              <a:t> </a:t>
            </a:r>
            <a:r>
              <a:rPr lang="en-US" dirty="0" err="1"/>
              <a:t>idempotensnek</a:t>
            </a:r>
            <a:r>
              <a:rPr lang="en-US" dirty="0"/>
              <a:t> </a:t>
            </a:r>
            <a:r>
              <a:rPr lang="en-US" dirty="0" err="1"/>
              <a:t>tekintjük</a:t>
            </a:r>
            <a:r>
              <a:rPr lang="en-US" dirty="0"/>
              <a:t>.</a:t>
            </a:r>
            <a:endParaRPr lang="hu-HU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HTTP </a:t>
            </a:r>
            <a:r>
              <a:rPr lang="en-US" dirty="0" err="1"/>
              <a:t>státuszkódok</a:t>
            </a:r>
            <a:r>
              <a:rPr lang="en-US" dirty="0"/>
              <a:t> </a:t>
            </a:r>
            <a:r>
              <a:rPr lang="en-US" dirty="0" err="1"/>
              <a:t>adják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a </a:t>
            </a:r>
            <a:r>
              <a:rPr lang="en-US" dirty="0" err="1"/>
              <a:t>visszajelzést</a:t>
            </a:r>
            <a:r>
              <a:rPr lang="hu-HU" dirty="0"/>
              <a:t> a kliensnek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kezdett</a:t>
            </a:r>
            <a:r>
              <a:rPr lang="en-US" dirty="0"/>
              <a:t> a </a:t>
            </a:r>
            <a:r>
              <a:rPr lang="en-US" dirty="0" err="1"/>
              <a:t>kéréssel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Az 5 </a:t>
            </a:r>
            <a:r>
              <a:rPr lang="en-US" dirty="0" err="1"/>
              <a:t>kategórián</a:t>
            </a:r>
            <a:r>
              <a:rPr lang="en-US" dirty="0"/>
              <a:t> </a:t>
            </a:r>
            <a:r>
              <a:rPr lang="en-US" dirty="0" err="1"/>
              <a:t>belül</a:t>
            </a:r>
            <a:r>
              <a:rPr lang="en-US" dirty="0"/>
              <a:t>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meghatározott</a:t>
            </a:r>
            <a:r>
              <a:rPr lang="en-US" dirty="0"/>
              <a:t> </a:t>
            </a:r>
            <a:r>
              <a:rPr lang="en-US" dirty="0" err="1"/>
              <a:t>jelentéseik</a:t>
            </a:r>
            <a:r>
              <a:rPr lang="en-US" dirty="0"/>
              <a:t> </a:t>
            </a:r>
            <a:r>
              <a:rPr lang="en-US" dirty="0" err="1"/>
              <a:t>vannak</a:t>
            </a:r>
            <a:r>
              <a:rPr lang="hu-HU" dirty="0"/>
              <a:t>.</a:t>
            </a:r>
          </a:p>
          <a:p>
            <a:br>
              <a:rPr lang="en-US" dirty="0"/>
            </a:br>
            <a:r>
              <a:rPr lang="en-US" dirty="0" err="1"/>
              <a:t>Öt</a:t>
            </a:r>
            <a:r>
              <a:rPr lang="en-US" dirty="0"/>
              <a:t>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csoportra</a:t>
            </a:r>
            <a:r>
              <a:rPr lang="en-US" dirty="0"/>
              <a:t> </a:t>
            </a:r>
            <a:r>
              <a:rPr lang="en-US" dirty="0" err="1"/>
              <a:t>osztjuk</a:t>
            </a:r>
            <a:r>
              <a:rPr lang="en-US" dirty="0"/>
              <a:t> </a:t>
            </a:r>
            <a:r>
              <a:rPr lang="en-US" dirty="0" err="1"/>
              <a:t>őket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Információs</a:t>
            </a:r>
            <a:r>
              <a:rPr lang="en-US" dirty="0"/>
              <a:t> </a:t>
            </a:r>
            <a:r>
              <a:rPr lang="hu-HU" dirty="0"/>
              <a:t>válaszok: nagy méretű feltöltés esetén, protokollváltáskor, adatfeldolgozáskor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 err="1"/>
              <a:t>Sikeres</a:t>
            </a:r>
            <a:r>
              <a:rPr lang="en-US" dirty="0"/>
              <a:t> </a:t>
            </a:r>
            <a:r>
              <a:rPr lang="en-US" dirty="0" err="1"/>
              <a:t>válaszok</a:t>
            </a:r>
            <a:r>
              <a:rPr lang="hu-HU" dirty="0"/>
              <a:t>: A kért művelet sikeresen megtörtént a szerveren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Átirányítások</a:t>
            </a:r>
            <a:r>
              <a:rPr lang="hu-HU" dirty="0"/>
              <a:t>: a szerver átirányítja a böngészőt egy másuk URL-re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Hibák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okozott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Hibák</a:t>
            </a:r>
            <a:r>
              <a:rPr lang="en-US" dirty="0"/>
              <a:t>, </a:t>
            </a:r>
            <a:r>
              <a:rPr lang="en-US" dirty="0" err="1"/>
              <a:t>amik</a:t>
            </a:r>
            <a:r>
              <a:rPr lang="en-US" dirty="0"/>
              <a:t> </a:t>
            </a:r>
            <a:r>
              <a:rPr lang="en-US" dirty="0" err="1"/>
              <a:t>szerveroldalon</a:t>
            </a:r>
            <a:r>
              <a:rPr lang="en-US" dirty="0"/>
              <a:t> </a:t>
            </a:r>
            <a:r>
              <a:rPr lang="en-US" dirty="0" err="1"/>
              <a:t>történtek</a:t>
            </a:r>
            <a:endParaRPr lang="hu-HU" dirty="0"/>
          </a:p>
          <a:p>
            <a:endParaRPr lang="en-US" dirty="0"/>
          </a:p>
          <a:p>
            <a:r>
              <a:rPr lang="en-US" dirty="0"/>
              <a:t>API </a:t>
            </a:r>
            <a:r>
              <a:rPr lang="en-US" dirty="0" err="1"/>
              <a:t>fejlesztésben</a:t>
            </a:r>
            <a:r>
              <a:rPr lang="en-US" dirty="0"/>
              <a:t> </a:t>
            </a:r>
            <a:r>
              <a:rPr lang="en-US" dirty="0" err="1"/>
              <a:t>különösen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helyesen</a:t>
            </a:r>
            <a:r>
              <a:rPr lang="en-US" dirty="0"/>
              <a:t> </a:t>
            </a:r>
            <a:r>
              <a:rPr lang="en-US" dirty="0" err="1"/>
              <a:t>válasszuk</a:t>
            </a:r>
            <a:r>
              <a:rPr lang="en-US" dirty="0"/>
              <a:t> meg a </a:t>
            </a:r>
            <a:r>
              <a:rPr lang="en-US" dirty="0" err="1"/>
              <a:t>státuszkódot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200 OK a </a:t>
            </a:r>
            <a:r>
              <a:rPr lang="en-US" dirty="0" err="1"/>
              <a:t>leggyakoribb</a:t>
            </a:r>
            <a:r>
              <a:rPr lang="en-US" dirty="0"/>
              <a:t> </a:t>
            </a:r>
            <a:r>
              <a:rPr lang="en-US" dirty="0" err="1"/>
              <a:t>sikeres</a:t>
            </a:r>
            <a:r>
              <a:rPr lang="en-US" dirty="0"/>
              <a:t> </a:t>
            </a:r>
            <a:r>
              <a:rPr lang="en-US" dirty="0" err="1"/>
              <a:t>válasz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201 Created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,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POST-</a:t>
            </a:r>
            <a:r>
              <a:rPr lang="en-US" dirty="0" err="1"/>
              <a:t>tal</a:t>
            </a:r>
            <a:r>
              <a:rPr lang="en-US" dirty="0"/>
              <a:t> </a:t>
            </a:r>
            <a:r>
              <a:rPr lang="en-US" dirty="0" err="1"/>
              <a:t>életre</a:t>
            </a:r>
            <a:r>
              <a:rPr lang="en-US" dirty="0"/>
              <a:t> </a:t>
            </a:r>
            <a:r>
              <a:rPr lang="en-US" dirty="0" err="1"/>
              <a:t>hívott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objektum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204 No Content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sikeres</a:t>
            </a:r>
            <a:r>
              <a:rPr lang="en-US" dirty="0"/>
              <a:t> </a:t>
            </a:r>
            <a:r>
              <a:rPr lang="en-US" dirty="0" err="1"/>
              <a:t>kérésnél</a:t>
            </a:r>
            <a:r>
              <a:rPr lang="en-US" dirty="0"/>
              <a:t> </a:t>
            </a:r>
            <a:r>
              <a:rPr lang="en-US" dirty="0" err="1"/>
              <a:t>értelmes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küld</a:t>
            </a:r>
            <a:r>
              <a:rPr lang="en-US" dirty="0"/>
              <a:t> </a:t>
            </a:r>
            <a:r>
              <a:rPr lang="en-US" dirty="0" err="1"/>
              <a:t>vissza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, </a:t>
            </a:r>
            <a:r>
              <a:rPr lang="en-US" dirty="0" err="1"/>
              <a:t>például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sikeres</a:t>
            </a:r>
            <a:r>
              <a:rPr lang="en-US" dirty="0"/>
              <a:t> </a:t>
            </a:r>
            <a:r>
              <a:rPr lang="en-US" dirty="0" err="1"/>
              <a:t>törlésnél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3xx </a:t>
            </a:r>
            <a:r>
              <a:rPr lang="en-US" dirty="0" err="1"/>
              <a:t>kódok</a:t>
            </a:r>
            <a:r>
              <a:rPr lang="en-US" dirty="0"/>
              <a:t> </a:t>
            </a:r>
            <a:r>
              <a:rPr lang="en-US" dirty="0" err="1"/>
              <a:t>átirányítást</a:t>
            </a:r>
            <a:r>
              <a:rPr lang="en-US" dirty="0"/>
              <a:t> </a:t>
            </a:r>
            <a:r>
              <a:rPr lang="en-US" dirty="0" err="1"/>
              <a:t>jelentenek</a:t>
            </a:r>
            <a:r>
              <a:rPr lang="en-US" dirty="0"/>
              <a:t>.</a:t>
            </a:r>
            <a:br>
              <a:rPr lang="en-US" dirty="0"/>
            </a:br>
            <a:r>
              <a:rPr lang="hu-HU" dirty="0"/>
              <a:t>301 </a:t>
            </a:r>
            <a:r>
              <a:rPr lang="en-US" dirty="0"/>
              <a:t>Moved Permanently</a:t>
            </a:r>
            <a:r>
              <a:rPr lang="hu-HU" dirty="0"/>
              <a:t> azt jelenti, hogy a</a:t>
            </a:r>
            <a:r>
              <a:rPr lang="en-US" dirty="0"/>
              <a:t>z </a:t>
            </a:r>
            <a:r>
              <a:rPr lang="en-US" dirty="0" err="1"/>
              <a:t>erőforrás</a:t>
            </a:r>
            <a:r>
              <a:rPr lang="en-US" dirty="0"/>
              <a:t> </a:t>
            </a:r>
            <a:r>
              <a:rPr lang="en-US" dirty="0" err="1"/>
              <a:t>véglegesen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URL-re </a:t>
            </a:r>
            <a:r>
              <a:rPr lang="en-US" dirty="0" err="1"/>
              <a:t>költözött</a:t>
            </a:r>
            <a:r>
              <a:rPr lang="en-US" dirty="0"/>
              <a:t>. A </a:t>
            </a:r>
            <a:r>
              <a:rPr lang="en-US" dirty="0" err="1"/>
              <a:t>kliensnek</a:t>
            </a:r>
            <a:r>
              <a:rPr lang="en-US" dirty="0"/>
              <a:t> (és </a:t>
            </a:r>
            <a:r>
              <a:rPr lang="en-US" dirty="0" err="1"/>
              <a:t>keresőmotoroknak</a:t>
            </a:r>
            <a:r>
              <a:rPr lang="en-US" dirty="0"/>
              <a:t>) a </a:t>
            </a:r>
            <a:r>
              <a:rPr lang="en-US" dirty="0" err="1"/>
              <a:t>jövőben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címet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használnia</a:t>
            </a:r>
            <a:r>
              <a:rPr lang="en-US" dirty="0"/>
              <a:t>.</a:t>
            </a:r>
            <a:endParaRPr lang="hu-HU" dirty="0"/>
          </a:p>
          <a:p>
            <a:r>
              <a:rPr lang="en-US" b="0" dirty="0"/>
              <a:t>302 Found</a:t>
            </a:r>
            <a:r>
              <a:rPr lang="hu-HU" b="0" dirty="0"/>
              <a:t> azt jelenti, hogy a</a:t>
            </a:r>
            <a:r>
              <a:rPr lang="en-US" dirty="0"/>
              <a:t>z </a:t>
            </a:r>
            <a:r>
              <a:rPr lang="en-US" dirty="0" err="1"/>
              <a:t>erőforrás</a:t>
            </a:r>
            <a:r>
              <a:rPr lang="en-US" dirty="0"/>
              <a:t> </a:t>
            </a:r>
            <a:r>
              <a:rPr lang="en-US" dirty="0" err="1"/>
              <a:t>ideiglenesen</a:t>
            </a:r>
            <a:r>
              <a:rPr lang="en-US" dirty="0"/>
              <a:t> </a:t>
            </a:r>
            <a:r>
              <a:rPr lang="en-US" dirty="0" err="1"/>
              <a:t>másik</a:t>
            </a:r>
            <a:r>
              <a:rPr lang="en-US" dirty="0"/>
              <a:t> URL-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érhető</a:t>
            </a:r>
            <a:r>
              <a:rPr lang="en-US" dirty="0"/>
              <a:t> el. A </a:t>
            </a:r>
            <a:r>
              <a:rPr lang="en-US" dirty="0" err="1"/>
              <a:t>kliens</a:t>
            </a:r>
            <a:r>
              <a:rPr lang="en-US" dirty="0"/>
              <a:t> most </a:t>
            </a:r>
            <a:r>
              <a:rPr lang="en-US" dirty="0" err="1"/>
              <a:t>átirányít</a:t>
            </a:r>
            <a:r>
              <a:rPr lang="en-US" dirty="0"/>
              <a:t>, de </a:t>
            </a:r>
            <a:r>
              <a:rPr lang="en-US" dirty="0" err="1"/>
              <a:t>később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eredeti</a:t>
            </a:r>
            <a:r>
              <a:rPr lang="en-US" dirty="0"/>
              <a:t> URL </a:t>
            </a:r>
            <a:r>
              <a:rPr lang="en-US" dirty="0" err="1"/>
              <a:t>marad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elsődleges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A 304 Not Modified </a:t>
            </a:r>
            <a:r>
              <a:rPr lang="en-US" dirty="0" err="1"/>
              <a:t>különösen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cache-</a:t>
            </a:r>
            <a:r>
              <a:rPr lang="en-US" dirty="0" err="1"/>
              <a:t>elésnél</a:t>
            </a:r>
            <a:r>
              <a:rPr lang="en-US" dirty="0"/>
              <a:t> —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en-US" dirty="0"/>
              <a:t> a </a:t>
            </a:r>
            <a:r>
              <a:rPr lang="en-US" dirty="0" err="1"/>
              <a:t>böngészőnek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nyugodtan</a:t>
            </a:r>
            <a:r>
              <a:rPr lang="en-US" dirty="0"/>
              <a:t> </a:t>
            </a:r>
            <a:r>
              <a:rPr lang="en-US" dirty="0" err="1"/>
              <a:t>használhatja</a:t>
            </a:r>
            <a:r>
              <a:rPr lang="en-US" dirty="0"/>
              <a:t> a </a:t>
            </a:r>
            <a:r>
              <a:rPr lang="en-US" dirty="0" err="1"/>
              <a:t>helyi</a:t>
            </a:r>
            <a:r>
              <a:rPr lang="en-US" dirty="0"/>
              <a:t> </a:t>
            </a:r>
            <a:r>
              <a:rPr lang="en-US" dirty="0" err="1"/>
              <a:t>gyorsítótárban</a:t>
            </a:r>
            <a:r>
              <a:rPr lang="en-US" dirty="0"/>
              <a:t> </a:t>
            </a:r>
            <a:r>
              <a:rPr lang="en-US" dirty="0" err="1"/>
              <a:t>lévő</a:t>
            </a:r>
            <a:r>
              <a:rPr lang="en-US" dirty="0"/>
              <a:t> </a:t>
            </a:r>
            <a:r>
              <a:rPr lang="en-US" dirty="0" err="1"/>
              <a:t>verziót</a:t>
            </a:r>
            <a:r>
              <a:rPr lang="en-US" dirty="0"/>
              <a:t>.</a:t>
            </a:r>
            <a:r>
              <a:rPr lang="hu-HU" dirty="0"/>
              <a:t>  </a:t>
            </a:r>
            <a:r>
              <a:rPr lang="en-US" dirty="0"/>
              <a:t>Az </a:t>
            </a:r>
            <a:r>
              <a:rPr lang="en-US" dirty="0" err="1"/>
              <a:t>erőforrás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változott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gyorsítótárában</a:t>
            </a:r>
            <a:r>
              <a:rPr lang="en-US" dirty="0"/>
              <a:t> </a:t>
            </a:r>
            <a:r>
              <a:rPr lang="en-US" dirty="0" err="1"/>
              <a:t>lévő</a:t>
            </a:r>
            <a:r>
              <a:rPr lang="en-US" dirty="0"/>
              <a:t> </a:t>
            </a:r>
            <a:r>
              <a:rPr lang="en-US" dirty="0" err="1"/>
              <a:t>verzióhoz</a:t>
            </a:r>
            <a:r>
              <a:rPr lang="en-US" dirty="0"/>
              <a:t> </a:t>
            </a:r>
            <a:r>
              <a:rPr lang="en-US" dirty="0" err="1"/>
              <a:t>képest</a:t>
            </a:r>
            <a:r>
              <a:rPr lang="en-US" dirty="0"/>
              <a:t>.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küld</a:t>
            </a:r>
            <a:r>
              <a:rPr lang="en-US" dirty="0"/>
              <a:t> </a:t>
            </a:r>
            <a:r>
              <a:rPr lang="en-US" dirty="0" err="1"/>
              <a:t>tartalmat</a:t>
            </a:r>
            <a:r>
              <a:rPr lang="en-US" dirty="0"/>
              <a:t>, a </a:t>
            </a:r>
            <a:r>
              <a:rPr lang="en-US" dirty="0" err="1"/>
              <a:t>kliens</a:t>
            </a:r>
            <a:r>
              <a:rPr lang="en-US" dirty="0"/>
              <a:t> a cache-</a:t>
            </a:r>
            <a:r>
              <a:rPr lang="en-US" dirty="0" err="1"/>
              <a:t>elt</a:t>
            </a:r>
            <a:r>
              <a:rPr lang="en-US" dirty="0"/>
              <a:t> </a:t>
            </a:r>
            <a:r>
              <a:rPr lang="en-US" dirty="0" err="1"/>
              <a:t>példányt</a:t>
            </a:r>
            <a:r>
              <a:rPr lang="en-US" dirty="0"/>
              <a:t> </a:t>
            </a:r>
            <a:r>
              <a:rPr lang="en-US" dirty="0" err="1"/>
              <a:t>használja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A 4xx hibák azt jelentik, hogy a kliens valamit rosszul csinált — rossz adatformátumot küldött, hiányzik a hitelesítés, vagy egyszerűen a kért erőforrás nem létezik.</a:t>
            </a:r>
          </a:p>
          <a:p>
            <a:endParaRPr lang="hu-HU" dirty="0"/>
          </a:p>
          <a:p>
            <a:r>
              <a:rPr lang="hu-HU" dirty="0"/>
              <a:t>Az 5xx hibák szerveroldali problémát jeleznek. Ezek tipikusan alkalmazáshibák, adatbázisleállás, konfigurációs hibák vagy túlterhelés esetén jelentkeznek.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headerek</a:t>
            </a:r>
            <a:r>
              <a:rPr lang="en-US" dirty="0"/>
              <a:t> </a:t>
            </a:r>
            <a:r>
              <a:rPr lang="en-US" dirty="0" err="1"/>
              <a:t>rengeteg</a:t>
            </a:r>
            <a:r>
              <a:rPr lang="en-US" dirty="0"/>
              <a:t> </a:t>
            </a:r>
            <a:r>
              <a:rPr lang="en-US" dirty="0" err="1"/>
              <a:t>információt</a:t>
            </a:r>
            <a:r>
              <a:rPr lang="en-US" dirty="0"/>
              <a:t> </a:t>
            </a:r>
            <a:r>
              <a:rPr lang="en-US" dirty="0" err="1"/>
              <a:t>hordoznak</a:t>
            </a:r>
            <a:r>
              <a:rPr lang="en-US" dirty="0"/>
              <a:t>, és </a:t>
            </a:r>
            <a:r>
              <a:rPr lang="en-US" dirty="0" err="1"/>
              <a:t>lényegében</a:t>
            </a:r>
            <a:r>
              <a:rPr lang="en-US" dirty="0"/>
              <a:t> a HTTP </a:t>
            </a:r>
            <a:r>
              <a:rPr lang="en-US" dirty="0" err="1"/>
              <a:t>igazi</a:t>
            </a:r>
            <a:r>
              <a:rPr lang="en-US" dirty="0"/>
              <a:t> </a:t>
            </a:r>
            <a:r>
              <a:rPr lang="en-US" dirty="0" err="1"/>
              <a:t>ereje</a:t>
            </a:r>
            <a:r>
              <a:rPr lang="en-US" dirty="0"/>
              <a:t> </a:t>
            </a:r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mutatkozik</a:t>
            </a:r>
            <a:r>
              <a:rPr lang="en-US" dirty="0"/>
              <a:t> meg.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headerekben</a:t>
            </a:r>
            <a:r>
              <a:rPr lang="en-US" dirty="0"/>
              <a:t> </a:t>
            </a:r>
            <a:r>
              <a:rPr lang="en-US" dirty="0" err="1"/>
              <a:t>közölhetjük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nyelvet</a:t>
            </a:r>
            <a:r>
              <a:rPr lang="en-US" dirty="0"/>
              <a:t> </a:t>
            </a:r>
            <a:r>
              <a:rPr lang="en-US" dirty="0" err="1"/>
              <a:t>kérünk</a:t>
            </a:r>
            <a:r>
              <a:rPr lang="en-US" dirty="0"/>
              <a:t>,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formátumú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várunk</a:t>
            </a:r>
            <a:r>
              <a:rPr lang="en-US" dirty="0"/>
              <a:t>, </a:t>
            </a:r>
            <a:r>
              <a:rPr lang="en-US" dirty="0" err="1"/>
              <a:t>küldhetünk</a:t>
            </a:r>
            <a:r>
              <a:rPr lang="en-US" dirty="0"/>
              <a:t> cookie-t, </a:t>
            </a:r>
            <a:r>
              <a:rPr lang="en-US" dirty="0" err="1"/>
              <a:t>jogosultsági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,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épp</a:t>
            </a:r>
            <a:r>
              <a:rPr lang="en-US" dirty="0"/>
              <a:t> </a:t>
            </a:r>
            <a:r>
              <a:rPr lang="en-US" dirty="0" err="1"/>
              <a:t>meghatározhatjuk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hogyan</a:t>
            </a:r>
            <a:r>
              <a:rPr lang="en-US" dirty="0"/>
              <a:t> cache-</a:t>
            </a:r>
            <a:r>
              <a:rPr lang="en-US" dirty="0" err="1"/>
              <a:t>elhető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hu-HU" dirty="0"/>
              <a:t>Összességében, a</a:t>
            </a:r>
            <a:r>
              <a:rPr lang="en-US" dirty="0"/>
              <a:t> HTTP </a:t>
            </a:r>
            <a:r>
              <a:rPr lang="en-US" dirty="0" err="1"/>
              <a:t>headerek</a:t>
            </a:r>
            <a:r>
              <a:rPr lang="en-US" dirty="0"/>
              <a:t> </a:t>
            </a:r>
            <a:r>
              <a:rPr lang="en-US" dirty="0" err="1"/>
              <a:t>határozzák</a:t>
            </a:r>
            <a:r>
              <a:rPr lang="en-US" dirty="0"/>
              <a:t> meg,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azonosítjuk</a:t>
            </a:r>
            <a:r>
              <a:rPr lang="en-US" dirty="0"/>
              <a:t>, </a:t>
            </a:r>
            <a:r>
              <a:rPr lang="en-US" dirty="0" err="1"/>
              <a:t>értelmezzük</a:t>
            </a:r>
            <a:r>
              <a:rPr lang="en-US" dirty="0"/>
              <a:t>, </a:t>
            </a:r>
            <a:r>
              <a:rPr lang="en-US" dirty="0" err="1"/>
              <a:t>védjük</a:t>
            </a:r>
            <a:r>
              <a:rPr lang="en-US" dirty="0"/>
              <a:t>, </a:t>
            </a:r>
            <a:r>
              <a:rPr lang="en-US" dirty="0" err="1"/>
              <a:t>gyorsítótárazzuk</a:t>
            </a:r>
            <a:r>
              <a:rPr lang="en-US" dirty="0"/>
              <a:t> és </a:t>
            </a:r>
            <a:r>
              <a:rPr lang="en-US" dirty="0" err="1"/>
              <a:t>továbbítjuk</a:t>
            </a:r>
            <a:r>
              <a:rPr lang="en-US" dirty="0"/>
              <a:t> a HTTP </a:t>
            </a:r>
            <a:r>
              <a:rPr lang="en-US" dirty="0" err="1"/>
              <a:t>üzeneteket</a:t>
            </a:r>
            <a:r>
              <a:rPr lang="en-US" dirty="0"/>
              <a:t>, </a:t>
            </a:r>
            <a:r>
              <a:rPr lang="en-US" dirty="0" err="1"/>
              <a:t>valamint</a:t>
            </a:r>
            <a:r>
              <a:rPr lang="en-US" dirty="0"/>
              <a:t>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kezeljük</a:t>
            </a:r>
            <a:r>
              <a:rPr lang="en-US" dirty="0"/>
              <a:t> a </a:t>
            </a:r>
            <a:r>
              <a:rPr lang="en-US" dirty="0" err="1"/>
              <a:t>kapcsolatot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A modern </a:t>
            </a:r>
            <a:r>
              <a:rPr lang="en-US" dirty="0" err="1"/>
              <a:t>webtechnológiák</a:t>
            </a:r>
            <a:r>
              <a:rPr lang="en-US" dirty="0"/>
              <a:t> </a:t>
            </a:r>
            <a:r>
              <a:rPr lang="en-US" dirty="0" err="1"/>
              <a:t>túlnyomó</a:t>
            </a:r>
            <a:r>
              <a:rPr lang="en-US" dirty="0"/>
              <a:t> </a:t>
            </a:r>
            <a:r>
              <a:rPr lang="en-US" dirty="0" err="1"/>
              <a:t>része</a:t>
            </a:r>
            <a:r>
              <a:rPr lang="en-US" dirty="0"/>
              <a:t> HTTP </a:t>
            </a:r>
            <a:r>
              <a:rPr lang="en-US" dirty="0" err="1"/>
              <a:t>headerekre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Ezek</a:t>
            </a:r>
            <a:r>
              <a:rPr lang="en-US" dirty="0"/>
              <a:t> a </a:t>
            </a:r>
            <a:r>
              <a:rPr lang="en-US" dirty="0" err="1"/>
              <a:t>leggyakrabban</a:t>
            </a:r>
            <a:r>
              <a:rPr lang="en-US" dirty="0"/>
              <a:t> </a:t>
            </a:r>
            <a:r>
              <a:rPr lang="en-US" dirty="0" err="1"/>
              <a:t>használt</a:t>
            </a:r>
            <a:r>
              <a:rPr lang="en-US" dirty="0"/>
              <a:t> </a:t>
            </a:r>
            <a:r>
              <a:rPr lang="en-US" dirty="0" err="1"/>
              <a:t>headerek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Host</a:t>
            </a:r>
            <a:r>
              <a:rPr lang="en-US" dirty="0"/>
              <a:t> header HTTP/1.1-ben </a:t>
            </a:r>
            <a:r>
              <a:rPr lang="en-US" dirty="0" err="1"/>
              <a:t>kötelező</a:t>
            </a:r>
            <a:r>
              <a:rPr lang="en-US" dirty="0"/>
              <a:t>, </a:t>
            </a:r>
            <a:r>
              <a:rPr lang="en-US" dirty="0" err="1"/>
              <a:t>hiszen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IP-</a:t>
            </a:r>
            <a:r>
              <a:rPr lang="en-US" dirty="0" err="1"/>
              <a:t>cím</a:t>
            </a:r>
            <a:r>
              <a:rPr lang="en-US" dirty="0"/>
              <a:t> </a:t>
            </a:r>
            <a:r>
              <a:rPr lang="en-US" dirty="0" err="1"/>
              <a:t>mögött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website</a:t>
            </a:r>
            <a:r>
              <a:rPr lang="hu-HU" dirty="0"/>
              <a:t>/</a:t>
            </a:r>
            <a:r>
              <a:rPr lang="hu-HU" dirty="0" err="1"/>
              <a:t>domain</a:t>
            </a:r>
            <a:r>
              <a:rPr lang="hu-HU" dirty="0"/>
              <a:t> (virtuális szerver)</a:t>
            </a:r>
            <a:r>
              <a:rPr lang="en-US" dirty="0"/>
              <a:t> is </a:t>
            </a:r>
            <a:r>
              <a:rPr lang="en-US" dirty="0" err="1"/>
              <a:t>lehet</a:t>
            </a:r>
            <a:r>
              <a:rPr lang="en-US" dirty="0"/>
              <a:t>.</a:t>
            </a:r>
            <a:endParaRPr lang="hu-HU" dirty="0"/>
          </a:p>
          <a:p>
            <a:r>
              <a:rPr lang="hu-HU" dirty="0"/>
              <a:t>Az </a:t>
            </a:r>
            <a:r>
              <a:rPr lang="hu-HU" b="1" dirty="0" err="1"/>
              <a:t>Accept</a:t>
            </a:r>
            <a:r>
              <a:rPr lang="hu-HU" dirty="0"/>
              <a:t> és az </a:t>
            </a:r>
            <a:r>
              <a:rPr lang="hu-HU" b="1" dirty="0" err="1"/>
              <a:t>Accept-Language</a:t>
            </a:r>
            <a:r>
              <a:rPr lang="hu-HU" dirty="0"/>
              <a:t> a tartalom és a nyelv egyeztetésre szolgál. A kliens itt módja meg az elfogadott tartalom típusát, és nyelvet.</a:t>
            </a:r>
            <a:br>
              <a:rPr lang="en-US" dirty="0"/>
            </a:br>
            <a:r>
              <a:rPr lang="en-US" dirty="0"/>
              <a:t>Az </a:t>
            </a:r>
            <a:r>
              <a:rPr lang="en-US" b="1" dirty="0"/>
              <a:t>Authorization</a:t>
            </a:r>
            <a:r>
              <a:rPr lang="en-US" dirty="0"/>
              <a:t> header </a:t>
            </a:r>
            <a:r>
              <a:rPr lang="en-US" dirty="0" err="1"/>
              <a:t>az</a:t>
            </a:r>
            <a:r>
              <a:rPr lang="en-US" dirty="0"/>
              <a:t> API-k </a:t>
            </a:r>
            <a:r>
              <a:rPr lang="en-US" dirty="0" err="1"/>
              <a:t>világában</a:t>
            </a:r>
            <a:r>
              <a:rPr lang="en-US" dirty="0"/>
              <a:t> </a:t>
            </a:r>
            <a:r>
              <a:rPr lang="en-US" dirty="0" err="1"/>
              <a:t>különösen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</a:t>
            </a:r>
            <a:r>
              <a:rPr lang="en-US" dirty="0" err="1"/>
              <a:t>tokeneket</a:t>
            </a:r>
            <a:r>
              <a:rPr lang="en-US" dirty="0"/>
              <a:t>, API </a:t>
            </a:r>
            <a:r>
              <a:rPr lang="en-US" dirty="0" err="1"/>
              <a:t>kulcsokat</a:t>
            </a:r>
            <a:r>
              <a:rPr lang="en-US" dirty="0"/>
              <a:t>, OAuth-</a:t>
            </a:r>
            <a:r>
              <a:rPr lang="en-US" dirty="0" err="1"/>
              <a:t>adatokat</a:t>
            </a:r>
            <a:r>
              <a:rPr lang="en-US" dirty="0"/>
              <a:t> is </a:t>
            </a:r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küldünk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response </a:t>
            </a:r>
            <a:r>
              <a:rPr lang="en-US" dirty="0" err="1"/>
              <a:t>oldalon</a:t>
            </a:r>
            <a:r>
              <a:rPr lang="en-US" dirty="0"/>
              <a:t> a </a:t>
            </a:r>
            <a:r>
              <a:rPr lang="en-US" b="1" dirty="0"/>
              <a:t>Content-Type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kulcsfontosságú</a:t>
            </a:r>
            <a:r>
              <a:rPr lang="en-US" dirty="0"/>
              <a:t>, </a:t>
            </a:r>
            <a:r>
              <a:rPr lang="en-US" dirty="0" err="1"/>
              <a:t>hiszen</a:t>
            </a:r>
            <a:r>
              <a:rPr lang="en-US" dirty="0"/>
              <a:t>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alapján</a:t>
            </a:r>
            <a:r>
              <a:rPr lang="en-US" dirty="0"/>
              <a:t> </a:t>
            </a:r>
            <a:r>
              <a:rPr lang="en-US" dirty="0" err="1"/>
              <a:t>dönti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értelmezze</a:t>
            </a:r>
            <a:r>
              <a:rPr lang="en-US" dirty="0"/>
              <a:t> a </a:t>
            </a:r>
            <a:r>
              <a:rPr lang="en-US" dirty="0" err="1"/>
              <a:t>választ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Set-Cookie</a:t>
            </a:r>
            <a:r>
              <a:rPr lang="en-US" dirty="0"/>
              <a:t> </a:t>
            </a:r>
            <a:r>
              <a:rPr lang="en-US" dirty="0" err="1"/>
              <a:t>headert</a:t>
            </a:r>
            <a:r>
              <a:rPr lang="en-US" dirty="0"/>
              <a:t> </a:t>
            </a:r>
            <a:r>
              <a:rPr lang="en-US" dirty="0" err="1"/>
              <a:t>használja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session </a:t>
            </a:r>
            <a:r>
              <a:rPr lang="en-US" dirty="0" err="1"/>
              <a:t>kezeléshez</a:t>
            </a:r>
            <a:endParaRPr lang="hu-HU" dirty="0"/>
          </a:p>
          <a:p>
            <a:r>
              <a:rPr lang="hu-HU" dirty="0"/>
              <a:t>A </a:t>
            </a:r>
            <a:r>
              <a:rPr lang="hu-HU" b="1" dirty="0" err="1"/>
              <a:t>Connection</a:t>
            </a:r>
            <a:r>
              <a:rPr lang="hu-HU" dirty="0"/>
              <a:t> meghatározza, hogy </a:t>
            </a: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b="0" dirty="0" err="1"/>
              <a:t>nyitva</a:t>
            </a:r>
            <a:r>
              <a:rPr lang="en-US" b="0" dirty="0"/>
              <a:t> </a:t>
            </a:r>
            <a:r>
              <a:rPr lang="en-US" b="0" dirty="0" err="1"/>
              <a:t>hagyja</a:t>
            </a:r>
            <a:r>
              <a:rPr lang="en-US" b="0" dirty="0"/>
              <a:t> a TCP </a:t>
            </a:r>
            <a:r>
              <a:rPr lang="en-US" b="0" dirty="0" err="1"/>
              <a:t>kapcsolatot</a:t>
            </a:r>
            <a:r>
              <a:rPr lang="en-US" dirty="0"/>
              <a:t>.</a:t>
            </a:r>
            <a:br>
              <a:rPr lang="hu-HU" dirty="0"/>
            </a:br>
            <a:r>
              <a:rPr lang="hu-HU" dirty="0"/>
              <a:t>A </a:t>
            </a:r>
            <a:r>
              <a:rPr lang="hu-HU" b="1" dirty="0" err="1"/>
              <a:t>Keep-Alive</a:t>
            </a:r>
            <a:r>
              <a:rPr lang="hu-HU" dirty="0"/>
              <a:t> leírja a kapcsolat életciklusát (meddig és hány kérés)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13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content negotiation </a:t>
            </a:r>
            <a:r>
              <a:rPr dirty="0" err="1"/>
              <a:t>dönti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, </a:t>
            </a:r>
            <a:r>
              <a:rPr dirty="0" err="1"/>
              <a:t>milyen</a:t>
            </a:r>
            <a:r>
              <a:rPr dirty="0"/>
              <a:t> </a:t>
            </a:r>
            <a:r>
              <a:rPr dirty="0" err="1"/>
              <a:t>formátumban</a:t>
            </a:r>
            <a:r>
              <a:rPr dirty="0"/>
              <a:t> ad </a:t>
            </a:r>
            <a:r>
              <a:rPr dirty="0" err="1"/>
              <a:t>vissza</a:t>
            </a:r>
            <a:r>
              <a:rPr dirty="0"/>
              <a:t> </a:t>
            </a:r>
            <a:r>
              <a:rPr dirty="0" err="1"/>
              <a:t>adatot</a:t>
            </a:r>
            <a:r>
              <a:rPr dirty="0"/>
              <a:t> a </a:t>
            </a:r>
            <a:r>
              <a:rPr dirty="0" err="1"/>
              <a:t>szerver</a:t>
            </a:r>
            <a:r>
              <a:rPr dirty="0"/>
              <a:t>.</a:t>
            </a:r>
            <a:r>
              <a:rPr lang="hu-HU" dirty="0"/>
              <a:t> A böngésző jelzi, hogy milyen formátumban, milyen nyelven és milyen tömörítésben szeretné a választ. A szerver kiválasztja a legjobb elérhető formátumot. Ez óriási szerepet játszik API-</a:t>
            </a:r>
            <a:r>
              <a:rPr lang="hu-HU" dirty="0" err="1"/>
              <a:t>knál</a:t>
            </a:r>
            <a:r>
              <a:rPr lang="hu-HU" dirty="0"/>
              <a:t> és többnyelvű oldalaknál.</a:t>
            </a:r>
          </a:p>
          <a:p>
            <a:endParaRPr lang="hu-HU" dirty="0"/>
          </a:p>
          <a:p>
            <a:r>
              <a:rPr lang="en-US" dirty="0"/>
              <a:t>A content negotiation </a:t>
            </a:r>
            <a:r>
              <a:rPr lang="en-US" dirty="0" err="1"/>
              <a:t>lényege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en-US" dirty="0"/>
              <a:t>:</a:t>
            </a:r>
          </a:p>
          <a:p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formátumban</a:t>
            </a:r>
            <a:r>
              <a:rPr lang="en-US" dirty="0"/>
              <a:t> (pl. HTML, JSON),</a:t>
            </a:r>
          </a:p>
          <a:p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nyelven</a:t>
            </a:r>
            <a:r>
              <a:rPr lang="en-US" dirty="0"/>
              <a:t> (pl. </a:t>
            </a:r>
            <a:r>
              <a:rPr lang="en-US" dirty="0" err="1"/>
              <a:t>magyar</a:t>
            </a:r>
            <a:r>
              <a:rPr lang="en-US" dirty="0"/>
              <a:t>),</a:t>
            </a:r>
          </a:p>
          <a:p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tömörítéssel</a:t>
            </a:r>
            <a:r>
              <a:rPr lang="en-US" dirty="0"/>
              <a:t> (</a:t>
            </a:r>
            <a:r>
              <a:rPr lang="en-US" dirty="0" err="1"/>
              <a:t>gzip</a:t>
            </a:r>
            <a:r>
              <a:rPr lang="en-US" dirty="0"/>
              <a:t>)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cache-</a:t>
            </a:r>
            <a:r>
              <a:rPr lang="en-US" dirty="0" err="1"/>
              <a:t>elés</a:t>
            </a:r>
            <a:r>
              <a:rPr lang="en-US" dirty="0"/>
              <a:t> a web </a:t>
            </a:r>
            <a:r>
              <a:rPr lang="en-US" dirty="0" err="1"/>
              <a:t>sebességének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legfontosabb</a:t>
            </a:r>
            <a:r>
              <a:rPr lang="en-US" dirty="0"/>
              <a:t> </a:t>
            </a:r>
            <a:r>
              <a:rPr lang="en-US" dirty="0" err="1"/>
              <a:t>eleme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Cache-Control</a:t>
            </a:r>
            <a:r>
              <a:rPr lang="en-US" dirty="0"/>
              <a:t> header </a:t>
            </a:r>
            <a:r>
              <a:rPr lang="en-US" dirty="0" err="1"/>
              <a:t>határozza</a:t>
            </a:r>
            <a:r>
              <a:rPr lang="en-US" dirty="0"/>
              <a:t> meg,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meddig</a:t>
            </a:r>
            <a:r>
              <a:rPr lang="en-US" dirty="0"/>
              <a:t>,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feltételekkel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eltárolni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választ</a:t>
            </a:r>
            <a:r>
              <a:rPr lang="en-US" dirty="0"/>
              <a:t> a </a:t>
            </a:r>
            <a:r>
              <a:rPr lang="en-US" dirty="0" err="1"/>
              <a:t>böngészőben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CDN-ben.</a:t>
            </a:r>
          </a:p>
          <a:p>
            <a:r>
              <a:rPr lang="en-US" dirty="0"/>
              <a:t>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max-age</a:t>
            </a:r>
            <a:r>
              <a:rPr lang="en-US" dirty="0"/>
              <a:t> </a:t>
            </a:r>
            <a:r>
              <a:rPr lang="en-US" dirty="0" err="1"/>
              <a:t>megadja</a:t>
            </a:r>
            <a:r>
              <a:rPr lang="en-US" dirty="0"/>
              <a:t> </a:t>
            </a:r>
            <a:r>
              <a:rPr lang="en-US" dirty="0" err="1"/>
              <a:t>másodpercekben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érvényességi</a:t>
            </a:r>
            <a:r>
              <a:rPr lang="en-US" dirty="0"/>
              <a:t> </a:t>
            </a:r>
            <a:r>
              <a:rPr lang="en-US" dirty="0" err="1"/>
              <a:t>időt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no-cache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cache-</a:t>
            </a:r>
            <a:r>
              <a:rPr lang="en-US" dirty="0" err="1"/>
              <a:t>elhető</a:t>
            </a:r>
            <a:r>
              <a:rPr lang="en-US" dirty="0"/>
              <a:t> —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használat</a:t>
            </a:r>
            <a:r>
              <a:rPr lang="en-US" dirty="0"/>
              <a:t> </a:t>
            </a:r>
            <a:r>
              <a:rPr lang="en-US" dirty="0" err="1"/>
              <a:t>előtt</a:t>
            </a:r>
            <a:r>
              <a:rPr lang="en-US" dirty="0"/>
              <a:t> </a:t>
            </a:r>
            <a:r>
              <a:rPr lang="en-US" dirty="0" err="1"/>
              <a:t>ellenőrizni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a </a:t>
            </a:r>
            <a:r>
              <a:rPr lang="en-US" dirty="0" err="1"/>
              <a:t>szerverrel</a:t>
            </a:r>
            <a:r>
              <a:rPr lang="hu-HU" dirty="0"/>
              <a:t>. Azaz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tárolható</a:t>
            </a:r>
            <a:r>
              <a:rPr lang="en-US" dirty="0"/>
              <a:t>, de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felhasználás</a:t>
            </a:r>
            <a:r>
              <a:rPr lang="en-US" dirty="0"/>
              <a:t> </a:t>
            </a:r>
            <a:r>
              <a:rPr lang="en-US" dirty="0" err="1"/>
              <a:t>előtt</a:t>
            </a:r>
            <a:r>
              <a:rPr lang="en-US" dirty="0"/>
              <a:t> </a:t>
            </a:r>
            <a:r>
              <a:rPr lang="en-US" dirty="0" err="1"/>
              <a:t>kötelező</a:t>
            </a:r>
            <a:r>
              <a:rPr lang="en-US" dirty="0"/>
              <a:t> a </a:t>
            </a:r>
            <a:r>
              <a:rPr lang="en-US" dirty="0" err="1"/>
              <a:t>szerverrel</a:t>
            </a:r>
            <a:r>
              <a:rPr lang="en-US" dirty="0"/>
              <a:t> </a:t>
            </a:r>
            <a:r>
              <a:rPr lang="en-US" dirty="0" err="1"/>
              <a:t>való</a:t>
            </a:r>
            <a:r>
              <a:rPr lang="en-US" dirty="0"/>
              <a:t> </a:t>
            </a:r>
            <a:r>
              <a:rPr lang="en-US" dirty="0" err="1"/>
              <a:t>érvényesség-ellenőrzés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no-store</a:t>
            </a:r>
            <a:r>
              <a:rPr lang="en-US" dirty="0"/>
              <a:t> </a:t>
            </a:r>
            <a:r>
              <a:rPr lang="en-US" dirty="0" err="1"/>
              <a:t>viszont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valóban</a:t>
            </a:r>
            <a:r>
              <a:rPr lang="en-US" dirty="0"/>
              <a:t> </a:t>
            </a:r>
            <a:r>
              <a:rPr lang="en-US" dirty="0" err="1"/>
              <a:t>tiltja</a:t>
            </a:r>
            <a:r>
              <a:rPr lang="en-US" dirty="0"/>
              <a:t> a </a:t>
            </a:r>
            <a:r>
              <a:rPr lang="en-US" dirty="0" err="1"/>
              <a:t>tárolást</a:t>
            </a:r>
            <a:r>
              <a:rPr lang="en-US" dirty="0"/>
              <a:t>.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public</a:t>
            </a:r>
            <a:r>
              <a:rPr lang="hu-HU" dirty="0"/>
              <a:t>/</a:t>
            </a:r>
            <a:r>
              <a:rPr lang="hu-HU" dirty="0" err="1"/>
              <a:t>private</a:t>
            </a:r>
            <a:r>
              <a:rPr lang="hu-HU" dirty="0"/>
              <a:t> mondja meg, hogy ki gyorsítótárazhatja az adatot. Ha </a:t>
            </a:r>
            <a:r>
              <a:rPr lang="hu-HU" dirty="0" err="1"/>
              <a:t>private</a:t>
            </a:r>
            <a:r>
              <a:rPr lang="hu-HU" dirty="0"/>
              <a:t>, akkor csak a kliens (böngésző), a </a:t>
            </a:r>
            <a:r>
              <a:rPr lang="hu-HU" dirty="0" err="1"/>
              <a:t>public</a:t>
            </a:r>
            <a:r>
              <a:rPr lang="hu-HU" dirty="0"/>
              <a:t> esetén a köztes proxy-k 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hu-HU" dirty="0"/>
              <a:t>Ezen prezentáció során megismerkedtünk a HTTP működésével, megnéztük a </a:t>
            </a:r>
            <a:r>
              <a:rPr lang="hu-HU" dirty="0" err="1"/>
              <a:t>request</a:t>
            </a:r>
            <a:r>
              <a:rPr lang="hu-HU" dirty="0"/>
              <a:t>–</a:t>
            </a:r>
            <a:r>
              <a:rPr lang="hu-HU" dirty="0" err="1"/>
              <a:t>response</a:t>
            </a:r>
            <a:r>
              <a:rPr lang="hu-HU" dirty="0"/>
              <a:t> modell logikáját, a legfontosabb metódusokat, státuszkódokat és </a:t>
            </a:r>
            <a:r>
              <a:rPr lang="hu-HU" dirty="0" err="1"/>
              <a:t>headereket</a:t>
            </a:r>
            <a:r>
              <a:rPr lang="hu-HU" dirty="0"/>
              <a:t>.</a:t>
            </a:r>
          </a:p>
          <a:p>
            <a:r>
              <a:rPr lang="hu-HU" dirty="0"/>
              <a:t>Ezeket a technikákat minden fejlesztés során naponta használni fogjuk — akár weboldalt készítünk, akár egy REST API-t, akár valamilyen szolgáltatást integrálunk.</a:t>
            </a:r>
          </a:p>
          <a:p>
            <a:r>
              <a:rPr lang="hu-HU" dirty="0"/>
              <a:t>A következő alkalommal a HTTP fejlettebb lehetőségeit nézzük meg, és elkezdünk haladni a REST architektúra irányába.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726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zbalogh/oe-internetes-alkalmazaso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88D9-8305-0465-4F3D-7DA29873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6" y="1005178"/>
            <a:ext cx="4697730" cy="1097280"/>
          </a:xfrm>
        </p:spPr>
        <p:txBody>
          <a:bodyPr>
            <a:normAutofit/>
          </a:bodyPr>
          <a:lstStyle/>
          <a:p>
            <a:r>
              <a:rPr lang="hu-HU" dirty="0"/>
              <a:t>GitHub </a:t>
            </a:r>
            <a:r>
              <a:rPr lang="hu-HU" dirty="0" err="1"/>
              <a:t>repository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B6470-8D30-EA9B-70C6-C8C1DD303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952" y="2478686"/>
            <a:ext cx="5667118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dirty="0"/>
              <a:t>A tantárgyhoz kapcsolódó anyagok és példaprogramok elérhetők az alábbi GitHub linken: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1800" dirty="0">
                <a:hlinkClick r:id="rId2"/>
              </a:rPr>
              <a:t>https://github.com/zbalogh/oe-internetes-alkalmazasok</a:t>
            </a:r>
            <a:endParaRPr lang="hu-HU" sz="1800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CE131-709F-8000-6809-6F51AE690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80992" y="2290493"/>
            <a:ext cx="2572319" cy="257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79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hu-HU" sz="3700">
                <a:solidFill>
                  <a:srgbClr val="FFFFFF"/>
                </a:solidFill>
              </a:rPr>
              <a:t>HTTP működése – HTTP/1.1 alapjai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39E465-1570-FA04-7F1A-000829F532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153239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782" y="611643"/>
            <a:ext cx="4390199" cy="861546"/>
          </a:xfrm>
        </p:spPr>
        <p:txBody>
          <a:bodyPr anchor="b">
            <a:normAutofit/>
          </a:bodyPr>
          <a:lstStyle/>
          <a:p>
            <a:pPr algn="l"/>
            <a:r>
              <a:rPr lang="en-US" sz="4700" dirty="0"/>
              <a:t>Mi </a:t>
            </a:r>
            <a:r>
              <a:rPr lang="en-US" sz="4700" dirty="0" err="1"/>
              <a:t>az</a:t>
            </a:r>
            <a:r>
              <a:rPr lang="en-US" sz="4700" dirty="0"/>
              <a:t> a HTTP?</a:t>
            </a:r>
          </a:p>
        </p:txBody>
      </p:sp>
      <p:sp>
        <p:nvSpPr>
          <p:cNvPr id="512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93573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hu-HU" sz="1900" b="1" dirty="0" err="1"/>
              <a:t>HyperText</a:t>
            </a:r>
            <a:r>
              <a:rPr lang="hu-HU" sz="1900" b="1" dirty="0"/>
              <a:t> </a:t>
            </a:r>
            <a:r>
              <a:rPr lang="hu-HU" sz="1900" b="1" dirty="0" err="1"/>
              <a:t>Transfer</a:t>
            </a:r>
            <a:r>
              <a:rPr lang="hu-HU" sz="1900" b="1" dirty="0"/>
              <a:t> </a:t>
            </a:r>
            <a:r>
              <a:rPr lang="hu-HU" sz="1900" b="1" dirty="0" err="1"/>
              <a:t>Protocol</a:t>
            </a:r>
            <a:endParaRPr lang="hu-HU" sz="1900" b="1" dirty="0"/>
          </a:p>
          <a:p>
            <a:r>
              <a:rPr lang="hu-HU" sz="1900" dirty="0"/>
              <a:t>Kliens–szerver alapú protokoll</a:t>
            </a:r>
          </a:p>
          <a:p>
            <a:r>
              <a:rPr lang="hu-HU" sz="1900" dirty="0"/>
              <a:t>TCP felett működik (alkalmazási rétegben)</a:t>
            </a:r>
          </a:p>
          <a:p>
            <a:r>
              <a:rPr lang="hu-HU" sz="1900" dirty="0"/>
              <a:t>Állapotmentes (minden kérés független)</a:t>
            </a:r>
          </a:p>
          <a:p>
            <a:r>
              <a:rPr lang="hu-HU" sz="1900" dirty="0"/>
              <a:t>Szöveges (Human-</a:t>
            </a:r>
            <a:r>
              <a:rPr lang="hu-HU" sz="1900" dirty="0" err="1"/>
              <a:t>readable</a:t>
            </a:r>
            <a:r>
              <a:rPr lang="hu-HU" sz="1900" dirty="0"/>
              <a:t>)</a:t>
            </a:r>
          </a:p>
          <a:p>
            <a:r>
              <a:rPr lang="hu-HU" sz="1900" dirty="0"/>
              <a:t>HTTP/1.1 a legelterjedtebb verzió</a:t>
            </a:r>
          </a:p>
          <a:p>
            <a:pPr marL="0" indent="0">
              <a:buNone/>
            </a:pPr>
            <a:endParaRPr lang="hu-HU" sz="19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A9DB95D-F48F-6FB9-116D-BA2A4C797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2774" y="2343041"/>
            <a:ext cx="3935738" cy="226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Hol helyezkedik el a HTTP?</a:t>
            </a:r>
            <a:endParaRPr lang="en-US" sz="4700" dirty="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5913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HTTP a TCP/IP </a:t>
            </a:r>
            <a:r>
              <a:rPr lang="en-US" sz="2400" dirty="0" err="1"/>
              <a:t>modellben</a:t>
            </a:r>
            <a:r>
              <a:rPr lang="en-US" sz="2400" dirty="0"/>
              <a:t>:</a:t>
            </a:r>
          </a:p>
          <a:p>
            <a:r>
              <a:rPr lang="en-US" sz="2400" b="1" i="1" dirty="0"/>
              <a:t>HTTP → Application layer</a:t>
            </a:r>
          </a:p>
          <a:p>
            <a:r>
              <a:rPr lang="en-US" sz="2400" dirty="0"/>
              <a:t>TCP → Transport layer</a:t>
            </a:r>
          </a:p>
          <a:p>
            <a:r>
              <a:rPr lang="en-US" sz="2400" dirty="0"/>
              <a:t>IP → Internet layer</a:t>
            </a:r>
          </a:p>
          <a:p>
            <a:r>
              <a:rPr lang="en-US" sz="2400" dirty="0"/>
              <a:t>HTTP </a:t>
            </a:r>
            <a:r>
              <a:rPr lang="en-US" sz="2400" dirty="0" err="1"/>
              <a:t>az</a:t>
            </a:r>
            <a:r>
              <a:rPr lang="en-US" sz="2400" dirty="0"/>
              <a:t> </a:t>
            </a:r>
            <a:r>
              <a:rPr lang="en-US" sz="2400" dirty="0" err="1"/>
              <a:t>alkalmazás</a:t>
            </a:r>
            <a:r>
              <a:rPr lang="en-US" sz="2400" dirty="0"/>
              <a:t> </a:t>
            </a:r>
            <a:r>
              <a:rPr lang="en-US" sz="2400" dirty="0" err="1"/>
              <a:t>logikával</a:t>
            </a:r>
            <a:r>
              <a:rPr lang="en-US" sz="2400" dirty="0"/>
              <a:t> </a:t>
            </a:r>
            <a:r>
              <a:rPr lang="en-US" sz="2400" dirty="0" err="1"/>
              <a:t>foglalkozik</a:t>
            </a:r>
            <a:endParaRPr lang="en-US" sz="2400" dirty="0"/>
          </a:p>
          <a:p>
            <a:r>
              <a:rPr lang="en-US" sz="2400" dirty="0" err="1"/>
              <a:t>Ezért</a:t>
            </a:r>
            <a:r>
              <a:rPr lang="en-US" sz="2400" dirty="0"/>
              <a:t> </a:t>
            </a:r>
            <a:r>
              <a:rPr lang="en-US" sz="2400" dirty="0" err="1"/>
              <a:t>fejlesztőként</a:t>
            </a:r>
            <a:r>
              <a:rPr lang="en-US" sz="2400" dirty="0"/>
              <a:t> </a:t>
            </a:r>
            <a:r>
              <a:rPr lang="en-US" sz="2400" dirty="0" err="1"/>
              <a:t>nekünk</a:t>
            </a:r>
            <a:r>
              <a:rPr lang="en-US" sz="2400" dirty="0"/>
              <a:t> </a:t>
            </a:r>
            <a:r>
              <a:rPr lang="en-US" sz="2400" dirty="0" err="1"/>
              <a:t>ez</a:t>
            </a:r>
            <a:r>
              <a:rPr lang="en-US" sz="2400" dirty="0"/>
              <a:t> a </a:t>
            </a:r>
            <a:r>
              <a:rPr lang="en-US" sz="2400" dirty="0" err="1"/>
              <a:t>legfontosabb</a:t>
            </a:r>
            <a:r>
              <a:rPr lang="en-US" sz="2400" dirty="0"/>
              <a:t> </a:t>
            </a:r>
            <a:r>
              <a:rPr lang="en-US" sz="2400" dirty="0" err="1"/>
              <a:t>réteg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HTTP üzenetek felépítése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3"/>
            <a:ext cx="7886700" cy="4563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Két</a:t>
            </a:r>
            <a:r>
              <a:rPr lang="en-US" sz="2000" b="1" dirty="0"/>
              <a:t> </a:t>
            </a:r>
            <a:r>
              <a:rPr lang="en-US" sz="2000" b="1" dirty="0" err="1"/>
              <a:t>fő</a:t>
            </a:r>
            <a:r>
              <a:rPr lang="en-US" sz="2000" b="1" dirty="0"/>
              <a:t> </a:t>
            </a:r>
            <a:r>
              <a:rPr lang="en-US" sz="2000" b="1" dirty="0" err="1"/>
              <a:t>elem</a:t>
            </a:r>
            <a:r>
              <a:rPr lang="en-US" sz="2000" b="1" dirty="0"/>
              <a:t>:</a:t>
            </a:r>
          </a:p>
          <a:p>
            <a:r>
              <a:rPr lang="en-US" sz="2000" dirty="0" err="1"/>
              <a:t>Kérés</a:t>
            </a:r>
            <a:r>
              <a:rPr lang="en-US" sz="2000" dirty="0"/>
              <a:t> (Request)</a:t>
            </a:r>
          </a:p>
          <a:p>
            <a:r>
              <a:rPr lang="en-US" sz="2000" dirty="0" err="1"/>
              <a:t>Válasz</a:t>
            </a:r>
            <a:r>
              <a:rPr lang="en-US" sz="2000" dirty="0"/>
              <a:t> (Response)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Request </a:t>
            </a:r>
            <a:r>
              <a:rPr lang="en-US" sz="2000" b="1" dirty="0" err="1"/>
              <a:t>tartalma</a:t>
            </a:r>
            <a:r>
              <a:rPr lang="en-US" sz="2000" b="1" dirty="0"/>
              <a:t>:</a:t>
            </a:r>
          </a:p>
          <a:p>
            <a:r>
              <a:rPr lang="en-US" sz="2000" dirty="0"/>
              <a:t>Request line (pl. GET /index.html HTTP/1.1)</a:t>
            </a:r>
          </a:p>
          <a:p>
            <a:r>
              <a:rPr lang="en-US" sz="2000" dirty="0" err="1"/>
              <a:t>Fejlécek</a:t>
            </a:r>
            <a:r>
              <a:rPr lang="en-US" sz="2000" dirty="0"/>
              <a:t> (</a:t>
            </a:r>
            <a:r>
              <a:rPr lang="en-US" sz="2000" dirty="0" err="1"/>
              <a:t>Headerek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Törzs</a:t>
            </a:r>
            <a:r>
              <a:rPr lang="en-US" sz="2000" dirty="0"/>
              <a:t> (Body), </a:t>
            </a:r>
            <a:r>
              <a:rPr lang="en-US" sz="2000" dirty="0" err="1"/>
              <a:t>ez</a:t>
            </a:r>
            <a:r>
              <a:rPr lang="en-US" sz="2000" dirty="0"/>
              <a:t> </a:t>
            </a:r>
            <a:r>
              <a:rPr lang="en-US" sz="2000" dirty="0" err="1"/>
              <a:t>opcionális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Response </a:t>
            </a:r>
            <a:r>
              <a:rPr lang="en-US" sz="2000" b="1" dirty="0" err="1"/>
              <a:t>tartalma</a:t>
            </a:r>
            <a:r>
              <a:rPr lang="en-US" sz="2000" b="1" dirty="0"/>
              <a:t>:</a:t>
            </a:r>
          </a:p>
          <a:p>
            <a:r>
              <a:rPr lang="en-US" sz="2000" dirty="0"/>
              <a:t>Status line</a:t>
            </a:r>
          </a:p>
          <a:p>
            <a:r>
              <a:rPr lang="en-US" sz="2000" dirty="0" err="1"/>
              <a:t>Fejlécek</a:t>
            </a:r>
            <a:r>
              <a:rPr lang="en-US" sz="2000" dirty="0"/>
              <a:t> (</a:t>
            </a:r>
            <a:r>
              <a:rPr lang="en-US" sz="2000" dirty="0" err="1"/>
              <a:t>Headerek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Törzs</a:t>
            </a:r>
            <a:r>
              <a:rPr lang="en-US" sz="2000" dirty="0"/>
              <a:t> (Body): </a:t>
            </a:r>
            <a:r>
              <a:rPr lang="en-US" sz="2000" dirty="0" err="1"/>
              <a:t>tipikusan</a:t>
            </a:r>
            <a:r>
              <a:rPr lang="en-US" sz="2000" dirty="0"/>
              <a:t> HTML, JSON, </a:t>
            </a:r>
            <a:r>
              <a:rPr lang="en-US" sz="2000" dirty="0" err="1"/>
              <a:t>kép</a:t>
            </a:r>
            <a:r>
              <a:rPr lang="en-US" sz="2000" dirty="0"/>
              <a:t> </a:t>
            </a:r>
            <a:r>
              <a:rPr lang="en-US" sz="2000" dirty="0" err="1"/>
              <a:t>stb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HTTP Request példa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GET</a:t>
            </a:r>
            <a:r>
              <a:rPr lang="en-US" sz="2800" dirty="0"/>
              <a:t> /products HTTP/1.1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Host</a:t>
            </a:r>
            <a:r>
              <a:rPr lang="en-US" sz="2800" dirty="0"/>
              <a:t>: example.com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User-Agent</a:t>
            </a:r>
            <a:r>
              <a:rPr lang="en-US" sz="2800" dirty="0"/>
              <a:t>: Chrome/123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Accept</a:t>
            </a:r>
            <a:r>
              <a:rPr lang="en-US" sz="2800" dirty="0"/>
              <a:t>: text/html</a:t>
            </a:r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HTTP Response példa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HTTP/1.1 </a:t>
            </a:r>
            <a:r>
              <a:rPr lang="en-US" sz="2800" dirty="0">
                <a:solidFill>
                  <a:srgbClr val="00B050"/>
                </a:solidFill>
              </a:rPr>
              <a:t>200 OK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Content-Type</a:t>
            </a:r>
            <a:r>
              <a:rPr lang="en-US" sz="2800" dirty="0"/>
              <a:t>: text/html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Content-Length</a:t>
            </a:r>
            <a:r>
              <a:rPr lang="en-US" sz="2800" dirty="0"/>
              <a:t>: 532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&lt;html&gt;...&lt;/html&gt;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HTTP/1.1 újdonságai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A </a:t>
            </a:r>
            <a:r>
              <a:rPr lang="en-US" sz="2800" b="1" dirty="0" err="1"/>
              <a:t>korábbi</a:t>
            </a:r>
            <a:r>
              <a:rPr lang="en-US" sz="2800" b="1" dirty="0"/>
              <a:t> 1.0-hoz </a:t>
            </a:r>
            <a:r>
              <a:rPr lang="en-US" sz="2800" b="1" dirty="0" err="1"/>
              <a:t>képest</a:t>
            </a:r>
            <a:r>
              <a:rPr lang="en-US" sz="2800" b="1" dirty="0"/>
              <a:t>:</a:t>
            </a:r>
          </a:p>
          <a:p>
            <a:r>
              <a:rPr lang="en-US" sz="2800" dirty="0"/>
              <a:t>Persistent (</a:t>
            </a:r>
            <a:r>
              <a:rPr lang="en-US" sz="2800" b="1" dirty="0"/>
              <a:t>keep-alive</a:t>
            </a:r>
            <a:r>
              <a:rPr lang="en-US" sz="2800" dirty="0"/>
              <a:t>) </a:t>
            </a:r>
            <a:r>
              <a:rPr lang="en-US" sz="2800" dirty="0" err="1"/>
              <a:t>kapcsolatok</a:t>
            </a:r>
            <a:endParaRPr lang="en-US" sz="2800" dirty="0"/>
          </a:p>
          <a:p>
            <a:r>
              <a:rPr lang="en-US" sz="2800" b="1" dirty="0"/>
              <a:t>Host </a:t>
            </a:r>
            <a:r>
              <a:rPr lang="en-US" sz="2800" dirty="0"/>
              <a:t>header </a:t>
            </a:r>
            <a:r>
              <a:rPr lang="en-US" sz="2800" dirty="0" err="1"/>
              <a:t>kötelező</a:t>
            </a:r>
            <a:endParaRPr lang="en-US" sz="2800" dirty="0"/>
          </a:p>
          <a:p>
            <a:r>
              <a:rPr lang="en-US" sz="2800" dirty="0" err="1"/>
              <a:t>Fejlettebb</a:t>
            </a:r>
            <a:r>
              <a:rPr lang="en-US" sz="2800" dirty="0"/>
              <a:t> </a:t>
            </a:r>
            <a:r>
              <a:rPr lang="en-US" sz="2800" b="1" dirty="0"/>
              <a:t>cache</a:t>
            </a:r>
            <a:r>
              <a:rPr lang="en-US" sz="2800" dirty="0"/>
              <a:t>-</a:t>
            </a:r>
            <a:r>
              <a:rPr lang="en-US" sz="2800" dirty="0" err="1"/>
              <a:t>elés</a:t>
            </a:r>
            <a:r>
              <a:rPr lang="en-US" sz="2800" dirty="0"/>
              <a:t> </a:t>
            </a:r>
            <a:r>
              <a:rPr lang="en-US" sz="2800" dirty="0" err="1"/>
              <a:t>támogatása</a:t>
            </a:r>
            <a:endParaRPr lang="en-US" sz="2800" dirty="0"/>
          </a:p>
          <a:p>
            <a:r>
              <a:rPr lang="en-US" sz="2800" b="1" dirty="0"/>
              <a:t>Chunked </a:t>
            </a:r>
            <a:r>
              <a:rPr lang="en-US" sz="2800" dirty="0"/>
              <a:t>Transfer</a:t>
            </a:r>
            <a:r>
              <a:rPr lang="en-US" sz="2800" b="1" dirty="0"/>
              <a:t> </a:t>
            </a:r>
            <a:r>
              <a:rPr lang="en-US" sz="2800" dirty="0"/>
              <a:t>Encoding</a:t>
            </a:r>
          </a:p>
          <a:p>
            <a:r>
              <a:rPr lang="en-US" sz="2800" dirty="0"/>
              <a:t>Content-Encoding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HTTP metódusok áttekintése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C12757-9576-3195-AB6E-6480D7DB58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29384"/>
            <a:ext cx="78867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GET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- adatlekérés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POST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adat küldés/létrehozás (pl. űrlapok)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PUT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adat módosítás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PATCH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részleges adat módosítás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DELETE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adat törlés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HEAD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fejlécek lekérése (tartalom nélkül)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OPTIONS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elérhető opciók és műveletek lekérdezése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060237"/>
          </a:xfrm>
        </p:spPr>
        <p:txBody>
          <a:bodyPr>
            <a:normAutofit/>
          </a:bodyPr>
          <a:lstStyle/>
          <a:p>
            <a:r>
              <a:rPr lang="en-US" sz="4700" dirty="0"/>
              <a:t>GET </a:t>
            </a:r>
            <a:r>
              <a:rPr lang="en-US" sz="4700" dirty="0" err="1"/>
              <a:t>metódus</a:t>
            </a:r>
            <a:endParaRPr lang="en-US" sz="47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21BDFA-7C17-B4A0-A9AE-72698BD952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29384"/>
            <a:ext cx="78867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Olvasási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művelet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(lekérdezés)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Általában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nincs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body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Biztonságos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(safe)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Idempotens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Gyorsítótárazható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Cach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ing)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sz="2400" dirty="0"/>
              <a:t> </a:t>
            </a:r>
            <a:r>
              <a:rPr lang="en-US" sz="2400" dirty="0"/>
              <a:t>URL query </a:t>
            </a:r>
            <a:r>
              <a:rPr lang="en-US" sz="2400" dirty="0" err="1"/>
              <a:t>paramétereket</a:t>
            </a:r>
            <a:r>
              <a:rPr lang="en-US" sz="2400" dirty="0"/>
              <a:t> </a:t>
            </a:r>
            <a:r>
              <a:rPr lang="en-US" sz="2400" dirty="0" err="1"/>
              <a:t>használ</a:t>
            </a:r>
            <a:r>
              <a:rPr lang="hu-HU" sz="2400" dirty="0"/>
              <a:t>hat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POST metódus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8F1D72-EF5C-9F5A-7910-81C010174F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29384"/>
            <a:ext cx="78867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Új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erőforrás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létrehozása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Body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szükséges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az adatokkal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Nem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idempotens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művelet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sz="2800" dirty="0" err="1"/>
              <a:t>Formok</a:t>
            </a:r>
            <a:r>
              <a:rPr lang="en-US" sz="2800" dirty="0"/>
              <a:t>, API-k </a:t>
            </a:r>
            <a:r>
              <a:rPr lang="en-US" sz="2800" dirty="0" err="1"/>
              <a:t>tipikus</a:t>
            </a:r>
            <a:r>
              <a:rPr lang="en-US" sz="2800" dirty="0"/>
              <a:t> </a:t>
            </a:r>
            <a:r>
              <a:rPr lang="en-US" sz="2800" dirty="0" err="1"/>
              <a:t>metódusa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PUT és PATCH metódusok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2800" b="1" dirty="0"/>
              <a:t>PUT</a:t>
            </a:r>
          </a:p>
          <a:p>
            <a:r>
              <a:rPr lang="en-US" sz="2800" dirty="0" err="1"/>
              <a:t>Teljes</a:t>
            </a:r>
            <a:r>
              <a:rPr lang="en-US" sz="2800" dirty="0"/>
              <a:t> </a:t>
            </a:r>
            <a:r>
              <a:rPr lang="en-US" sz="2800" dirty="0" err="1"/>
              <a:t>erőforrás</a:t>
            </a:r>
            <a:r>
              <a:rPr lang="en-US" sz="2800" dirty="0"/>
              <a:t> </a:t>
            </a:r>
            <a:r>
              <a:rPr lang="en-US" sz="2800" dirty="0" err="1"/>
              <a:t>cseréje</a:t>
            </a:r>
            <a:r>
              <a:rPr lang="en-US" sz="2800" dirty="0"/>
              <a:t>/</a:t>
            </a:r>
            <a:r>
              <a:rPr lang="en-US" sz="2800" dirty="0" err="1"/>
              <a:t>felülírása</a:t>
            </a:r>
            <a:endParaRPr lang="en-US" sz="2800" dirty="0"/>
          </a:p>
          <a:p>
            <a:r>
              <a:rPr lang="en-US" sz="2800" dirty="0" err="1"/>
              <a:t>Idempotens</a:t>
            </a:r>
            <a:endParaRPr lang="hu-HU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PATCH</a:t>
            </a:r>
          </a:p>
          <a:p>
            <a:r>
              <a:rPr lang="en-US" sz="2800" dirty="0" err="1"/>
              <a:t>Részleges</a:t>
            </a:r>
            <a:r>
              <a:rPr lang="en-US" sz="2800" dirty="0"/>
              <a:t> </a:t>
            </a:r>
            <a:r>
              <a:rPr lang="en-US" sz="2800" dirty="0" err="1"/>
              <a:t>módosítás</a:t>
            </a:r>
            <a:endParaRPr lang="en-US" sz="2800" dirty="0"/>
          </a:p>
          <a:p>
            <a:r>
              <a:rPr lang="en-US" sz="2800" dirty="0"/>
              <a:t>Nem </a:t>
            </a:r>
            <a:r>
              <a:rPr lang="en-US" sz="2800" dirty="0" err="1"/>
              <a:t>feltétlen</a:t>
            </a:r>
            <a:r>
              <a:rPr lang="en-US" sz="2800" dirty="0"/>
              <a:t> </a:t>
            </a:r>
            <a:r>
              <a:rPr lang="en-US" sz="2800" dirty="0" err="1"/>
              <a:t>idempotens</a:t>
            </a:r>
            <a:endParaRPr lang="en-US" sz="2800" dirty="0"/>
          </a:p>
          <a:p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DELETE metódus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Erőforrás</a:t>
            </a:r>
            <a:r>
              <a:rPr lang="en-US" sz="2800" dirty="0"/>
              <a:t> </a:t>
            </a:r>
            <a:r>
              <a:rPr lang="en-US" sz="2800" dirty="0" err="1"/>
              <a:t>törlése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Idempotens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API </a:t>
            </a:r>
            <a:r>
              <a:rPr lang="en-US" sz="2800" dirty="0" err="1"/>
              <a:t>hívások</a:t>
            </a:r>
            <a:r>
              <a:rPr lang="en-US" sz="2800" dirty="0"/>
              <a:t> </a:t>
            </a:r>
            <a:r>
              <a:rPr lang="en-US" sz="2800" dirty="0" err="1"/>
              <a:t>ezt</a:t>
            </a:r>
            <a:r>
              <a:rPr lang="en-US" sz="2800" dirty="0"/>
              <a:t> </a:t>
            </a:r>
            <a:r>
              <a:rPr lang="en-US" sz="2800" dirty="0" err="1"/>
              <a:t>használják</a:t>
            </a:r>
            <a:r>
              <a:rPr lang="en-US" sz="2800" dirty="0"/>
              <a:t> </a:t>
            </a:r>
            <a:r>
              <a:rPr lang="en-US" sz="2800" dirty="0" err="1"/>
              <a:t>törlésre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HTTP státuszkódok - kategóriák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3D9E91-1E99-0810-5ED7-8040E01A08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29384"/>
            <a:ext cx="78867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1xx –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Információs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2xx – Siker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3xx –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Átirányítás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4xx –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Kliens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hiba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5xx –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Szerver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hiba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Gyakoribb 2xx és 3xx kódok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2400" b="1" dirty="0"/>
              <a:t>2xx</a:t>
            </a:r>
          </a:p>
          <a:p>
            <a:r>
              <a:rPr lang="en-US" sz="2400" dirty="0"/>
              <a:t>200 OK</a:t>
            </a:r>
          </a:p>
          <a:p>
            <a:r>
              <a:rPr lang="en-US" sz="2400" dirty="0"/>
              <a:t>201 Created</a:t>
            </a:r>
          </a:p>
          <a:p>
            <a:r>
              <a:rPr lang="en-US" sz="2400" dirty="0"/>
              <a:t>204 No Content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3xx</a:t>
            </a:r>
          </a:p>
          <a:p>
            <a:r>
              <a:rPr lang="en-US" sz="2400" dirty="0"/>
              <a:t>301 Moved Permanently</a:t>
            </a:r>
          </a:p>
          <a:p>
            <a:r>
              <a:rPr lang="en-US" sz="2400" dirty="0"/>
              <a:t>302 Found (Moved Temporarily)</a:t>
            </a:r>
          </a:p>
          <a:p>
            <a:r>
              <a:rPr lang="en-US" sz="2400" dirty="0"/>
              <a:t>304 Not Modified</a:t>
            </a:r>
          </a:p>
          <a:p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Gyakoribb 4xx és 5xx kódok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2400" b="1" dirty="0"/>
              <a:t>4xx – </a:t>
            </a:r>
            <a:r>
              <a:rPr lang="en-US" sz="2400" b="1" dirty="0" err="1"/>
              <a:t>klienshibák</a:t>
            </a:r>
            <a:endParaRPr lang="en-US" sz="2400" b="1" dirty="0"/>
          </a:p>
          <a:p>
            <a:r>
              <a:rPr lang="en-US" sz="2400" dirty="0"/>
              <a:t>400 Bad Request</a:t>
            </a:r>
          </a:p>
          <a:p>
            <a:r>
              <a:rPr lang="en-US" sz="2400" dirty="0"/>
              <a:t>401 Unauthorized</a:t>
            </a:r>
          </a:p>
          <a:p>
            <a:r>
              <a:rPr lang="en-US" sz="2400" dirty="0"/>
              <a:t>403 Forbidden</a:t>
            </a:r>
          </a:p>
          <a:p>
            <a:r>
              <a:rPr lang="en-US" sz="2400" dirty="0"/>
              <a:t>404 Not Found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5xx – </a:t>
            </a:r>
            <a:r>
              <a:rPr lang="en-US" sz="2400" b="1" dirty="0" err="1"/>
              <a:t>szerverhibák</a:t>
            </a:r>
            <a:endParaRPr lang="en-US" sz="2400" b="1" dirty="0"/>
          </a:p>
          <a:p>
            <a:r>
              <a:rPr lang="en-US" sz="2400" dirty="0"/>
              <a:t>500 Internal Server Error</a:t>
            </a:r>
          </a:p>
          <a:p>
            <a:r>
              <a:rPr lang="en-US" sz="2400" dirty="0"/>
              <a:t>503 Service Unavailable</a:t>
            </a:r>
          </a:p>
          <a:p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HTTP headers (</a:t>
            </a:r>
            <a:r>
              <a:rPr lang="en-US" sz="4700" dirty="0" err="1"/>
              <a:t>fejlécek</a:t>
            </a:r>
            <a:r>
              <a:rPr lang="en-US" sz="4700" dirty="0"/>
              <a:t>) </a:t>
            </a:r>
            <a:r>
              <a:rPr lang="en-US" sz="4700" dirty="0" err="1"/>
              <a:t>szerepe</a:t>
            </a:r>
            <a:endParaRPr lang="en-US" sz="47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479015-B3EC-2C5C-502C-18C1BF582F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29384"/>
            <a:ext cx="78867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000" b="1" dirty="0" err="1"/>
              <a:t>Két</a:t>
            </a:r>
            <a:r>
              <a:rPr lang="en-US" sz="2000" b="1" dirty="0"/>
              <a:t> </a:t>
            </a:r>
            <a:r>
              <a:rPr lang="en-US" sz="2000" b="1" dirty="0" err="1"/>
              <a:t>fő</a:t>
            </a:r>
            <a:r>
              <a:rPr lang="en-US" sz="2000" b="1" dirty="0"/>
              <a:t> </a:t>
            </a:r>
            <a:r>
              <a:rPr lang="en-US" sz="2000" b="1" dirty="0" err="1"/>
              <a:t>típus</a:t>
            </a:r>
            <a:r>
              <a:rPr lang="en-US" sz="2000" b="1" dirty="0"/>
              <a:t>:</a:t>
            </a:r>
          </a:p>
          <a:p>
            <a:r>
              <a:rPr lang="en-US" sz="2000" dirty="0"/>
              <a:t>Request </a:t>
            </a:r>
            <a:r>
              <a:rPr lang="en-US" sz="2000" dirty="0" err="1"/>
              <a:t>headerek</a:t>
            </a:r>
            <a:endParaRPr lang="en-US" sz="2000" dirty="0"/>
          </a:p>
          <a:p>
            <a:r>
              <a:rPr lang="en-US" sz="2000" dirty="0"/>
              <a:t>Response </a:t>
            </a:r>
            <a:r>
              <a:rPr lang="en-US" sz="2000" dirty="0" err="1"/>
              <a:t>headerek</a:t>
            </a:r>
            <a:endParaRPr lang="hu-HU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Tartalmazhatnak</a:t>
            </a:r>
            <a:r>
              <a:rPr lang="en-US" sz="2000" b="1" dirty="0"/>
              <a:t>:</a:t>
            </a:r>
          </a:p>
          <a:p>
            <a:r>
              <a:rPr lang="en-US" sz="2000" dirty="0" err="1"/>
              <a:t>Metaadat</a:t>
            </a:r>
            <a:r>
              <a:rPr lang="hu-HU" sz="2000" dirty="0" err="1"/>
              <a:t>okat</a:t>
            </a:r>
            <a:endParaRPr lang="en-US" sz="2000" dirty="0"/>
          </a:p>
          <a:p>
            <a:r>
              <a:rPr lang="hu-HU" sz="2000" dirty="0"/>
              <a:t>Tartalom (</a:t>
            </a:r>
            <a:r>
              <a:rPr lang="hu-HU" sz="2000" dirty="0" err="1"/>
              <a:t>content</a:t>
            </a:r>
            <a:r>
              <a:rPr lang="hu-HU" sz="2000" dirty="0"/>
              <a:t>) leírás</a:t>
            </a:r>
          </a:p>
          <a:p>
            <a:r>
              <a:rPr lang="en-US" sz="2000" dirty="0" err="1"/>
              <a:t>Nyelv</a:t>
            </a:r>
            <a:r>
              <a:rPr lang="en-US" sz="2000" dirty="0"/>
              <a:t>, </a:t>
            </a:r>
            <a:r>
              <a:rPr lang="en-US" sz="2000" dirty="0" err="1"/>
              <a:t>tömörítés</a:t>
            </a:r>
            <a:r>
              <a:rPr lang="hu-HU" sz="2000" dirty="0"/>
              <a:t> információk</a:t>
            </a:r>
            <a:endParaRPr lang="en-US" sz="2000" dirty="0"/>
          </a:p>
          <a:p>
            <a:r>
              <a:rPr lang="en-US" sz="2000" dirty="0"/>
              <a:t>Cache-</a:t>
            </a:r>
            <a:r>
              <a:rPr lang="en-US" sz="2000" dirty="0" err="1"/>
              <a:t>információk</a:t>
            </a:r>
            <a:endParaRPr lang="en-US" sz="2000" dirty="0"/>
          </a:p>
          <a:p>
            <a:r>
              <a:rPr lang="hu-HU" sz="2000" dirty="0" err="1"/>
              <a:t>Hítelesítési</a:t>
            </a:r>
            <a:r>
              <a:rPr lang="en-US" sz="2000" dirty="0"/>
              <a:t> </a:t>
            </a:r>
            <a:r>
              <a:rPr lang="en-US" sz="2000" dirty="0" err="1"/>
              <a:t>adatok</a:t>
            </a:r>
            <a:endParaRPr lang="en-US" sz="2000" dirty="0"/>
          </a:p>
          <a:p>
            <a:r>
              <a:rPr lang="en-US" sz="2000" dirty="0" err="1"/>
              <a:t>Kapcsolatkezelés</a:t>
            </a:r>
            <a:r>
              <a:rPr lang="hu-HU" sz="2000" dirty="0"/>
              <a:t> </a:t>
            </a:r>
            <a:r>
              <a:rPr lang="en-US" sz="2000" dirty="0"/>
              <a:t>(keep-alive)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0271D-F195-1B74-30A0-87374FB12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5"/>
            <a:ext cx="8140445" cy="132556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000" dirty="0"/>
              <a:t>Fontos request és response </a:t>
            </a:r>
            <a:r>
              <a:rPr lang="en-US" sz="4000" dirty="0" err="1"/>
              <a:t>headerek</a:t>
            </a:r>
            <a:endParaRPr lang="en-US" sz="40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0B4B1-D11A-9598-B880-CFF8ADAB8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83" y="1836971"/>
            <a:ext cx="7886700" cy="465590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dirty="0"/>
              <a:t>Request: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Host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User-Agent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Accept</a:t>
            </a:r>
            <a:endParaRPr lang="hu-HU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Accept-Language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Authorization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Cache-Control</a:t>
            </a:r>
            <a:endParaRPr lang="hu-HU" sz="1800" dirty="0"/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b="1" dirty="0"/>
              <a:t>Response: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Content-Type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Content-Length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Set-Cookie</a:t>
            </a:r>
            <a:endParaRPr lang="hu-HU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Cache-Control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Connection: keep-alive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Keep-Alive: timeout=30, max=100</a:t>
            </a:r>
          </a:p>
        </p:txBody>
      </p:sp>
    </p:spTree>
    <p:extLst>
      <p:ext uri="{BB962C8B-B14F-4D97-AF65-F5344CB8AC3E}">
        <p14:creationId xmlns:p14="http://schemas.microsoft.com/office/powerpoint/2010/main" val="3705777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Content Negotiation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„Milyen </a:t>
            </a:r>
            <a:r>
              <a:rPr lang="en-US" sz="2400" dirty="0" err="1"/>
              <a:t>formátumban</a:t>
            </a:r>
            <a:r>
              <a:rPr lang="en-US" sz="2400" dirty="0"/>
              <a:t> </a:t>
            </a:r>
            <a:r>
              <a:rPr lang="en-US" sz="2400" dirty="0" err="1"/>
              <a:t>szeretné</a:t>
            </a:r>
            <a:r>
              <a:rPr lang="en-US" sz="2400" dirty="0"/>
              <a:t> a </a:t>
            </a:r>
            <a:r>
              <a:rPr lang="en-US" sz="2400" dirty="0" err="1"/>
              <a:t>kliens</a:t>
            </a:r>
            <a:r>
              <a:rPr lang="en-US" sz="2400" dirty="0"/>
              <a:t> </a:t>
            </a:r>
            <a:r>
              <a:rPr lang="en-US" sz="2400" dirty="0" err="1"/>
              <a:t>az</a:t>
            </a:r>
            <a:r>
              <a:rPr lang="en-US" sz="2400" dirty="0"/>
              <a:t> </a:t>
            </a:r>
            <a:r>
              <a:rPr lang="en-US" sz="2400" dirty="0" err="1"/>
              <a:t>adatot</a:t>
            </a:r>
            <a:r>
              <a:rPr lang="en-US" sz="2400" dirty="0"/>
              <a:t>?”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</a:rPr>
              <a:t>Accept</a:t>
            </a:r>
            <a:r>
              <a:rPr lang="hu-HU" sz="2400" dirty="0"/>
              <a:t>: </a:t>
            </a:r>
            <a:r>
              <a:rPr lang="en-US" sz="2400" dirty="0"/>
              <a:t>text/html, application/</a:t>
            </a:r>
            <a:r>
              <a:rPr lang="en-US" sz="2400" dirty="0" err="1"/>
              <a:t>json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</a:rPr>
              <a:t>Accept-Language</a:t>
            </a:r>
            <a:r>
              <a:rPr lang="hu-HU" sz="2400" dirty="0"/>
              <a:t>: hu-HU, </a:t>
            </a:r>
            <a:r>
              <a:rPr lang="hu-HU" sz="2400" dirty="0" err="1"/>
              <a:t>en</a:t>
            </a:r>
            <a:r>
              <a:rPr lang="hu-HU" sz="2400" dirty="0"/>
              <a:t>-US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</a:rPr>
              <a:t>Accept-Encoding</a:t>
            </a:r>
            <a:r>
              <a:rPr lang="hu-HU" sz="2400" dirty="0"/>
              <a:t>: </a:t>
            </a:r>
            <a:r>
              <a:rPr lang="hu-HU" sz="2400" dirty="0" err="1"/>
              <a:t>gzip</a:t>
            </a:r>
            <a:endParaRPr lang="en-US" sz="2400" dirty="0"/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hu-HU" sz="4700"/>
              <a:t>Caching alapjai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hu-HU" sz="2400" b="1" dirty="0"/>
              <a:t>Példák a </a:t>
            </a:r>
            <a:r>
              <a:rPr lang="en-US" sz="2400" b="1" dirty="0"/>
              <a:t>Cache-Control </a:t>
            </a:r>
            <a:r>
              <a:rPr lang="hu-HU" sz="2400" b="1" dirty="0"/>
              <a:t>fejlécre</a:t>
            </a:r>
            <a:r>
              <a:rPr lang="en-US" sz="2400" b="1" dirty="0"/>
              <a:t>:</a:t>
            </a:r>
          </a:p>
          <a:p>
            <a:r>
              <a:rPr lang="en-US" sz="2400" dirty="0"/>
              <a:t>max-age</a:t>
            </a:r>
          </a:p>
          <a:p>
            <a:r>
              <a:rPr lang="en-US" sz="2400" dirty="0"/>
              <a:t>no-cache</a:t>
            </a:r>
          </a:p>
          <a:p>
            <a:r>
              <a:rPr lang="en-US" sz="2400" dirty="0"/>
              <a:t>no-store</a:t>
            </a:r>
          </a:p>
          <a:p>
            <a:r>
              <a:rPr lang="en-US" sz="2400" dirty="0"/>
              <a:t>public / private</a:t>
            </a:r>
            <a:endParaRPr lang="hu-HU" sz="2400" dirty="0"/>
          </a:p>
          <a:p>
            <a:pPr marL="0" indent="0">
              <a:buNone/>
            </a:pPr>
            <a:endParaRPr lang="hu-HU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Cache-Control</a:t>
            </a:r>
            <a:r>
              <a:rPr lang="en-US" sz="2400" dirty="0"/>
              <a:t>: public, max-age=3600</a:t>
            </a:r>
            <a:endParaRPr lang="hu-HU" sz="2400" dirty="0"/>
          </a:p>
          <a:p>
            <a:pPr marL="0" indent="0">
              <a:buNone/>
            </a:pPr>
            <a:r>
              <a:rPr lang="hu-HU" sz="2400" dirty="0"/>
              <a:t>vagy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Cache-Control</a:t>
            </a:r>
            <a:r>
              <a:rPr lang="en-US" sz="2400" dirty="0"/>
              <a:t>: no-store, no-cache</a:t>
            </a:r>
          </a:p>
          <a:p>
            <a:pPr marL="0" indent="0">
              <a:buNone/>
            </a:pPr>
            <a:endParaRPr lang="hu-HU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93CAC-BA65-728B-7B8C-157521C9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Összefoglalás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F1B188-88E5-FB24-9ECE-847A1D783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29384"/>
            <a:ext cx="78867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egyszerű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szöveges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stateless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Metódusok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szabályozzák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műveleteket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Státuszkódok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kommunikálnak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klienssel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Headerek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metaadatok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tömörítés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hitelesítés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cache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Content negotiation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→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kliens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igényeihez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igazított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válasz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Cach</a:t>
            </a:r>
            <a:r>
              <a:rPr kumimoji="0" lang="hu-HU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gyorsabb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web,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kevesebb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terhelés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69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2683</Words>
  <Application>Microsoft Office PowerPoint</Application>
  <PresentationFormat>On-screen Show (4:3)</PresentationFormat>
  <Paragraphs>277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GitHub repository</vt:lpstr>
      <vt:lpstr>HTTP működése – HTTP/1.1 alapjai</vt:lpstr>
      <vt:lpstr>Mi az a HTTP?</vt:lpstr>
      <vt:lpstr>Hol helyezkedik el a HTTP?</vt:lpstr>
      <vt:lpstr>HTTP üzenetek felépítése</vt:lpstr>
      <vt:lpstr>HTTP Request példa</vt:lpstr>
      <vt:lpstr>HTTP Response példa</vt:lpstr>
      <vt:lpstr>HTTP/1.1 újdonságai</vt:lpstr>
      <vt:lpstr>HTTP metódusok áttekintése</vt:lpstr>
      <vt:lpstr>GET metódus</vt:lpstr>
      <vt:lpstr>POST metódus</vt:lpstr>
      <vt:lpstr>PUT és PATCH metódusok</vt:lpstr>
      <vt:lpstr>DELETE metódus</vt:lpstr>
      <vt:lpstr>HTTP státuszkódok - kategóriák</vt:lpstr>
      <vt:lpstr>Gyakoribb 2xx és 3xx kódok</vt:lpstr>
      <vt:lpstr>Gyakoribb 4xx és 5xx kódok</vt:lpstr>
      <vt:lpstr>HTTP headers (fejlécek) szerepe</vt:lpstr>
      <vt:lpstr>Fontos request és response headerek</vt:lpstr>
      <vt:lpstr>Content Negotiation</vt:lpstr>
      <vt:lpstr>Caching alapjai</vt:lpstr>
      <vt:lpstr>Összefoglalás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Zoltan Balogh</cp:lastModifiedBy>
  <cp:revision>40</cp:revision>
  <dcterms:created xsi:type="dcterms:W3CDTF">2013-01-27T09:14:16Z</dcterms:created>
  <dcterms:modified xsi:type="dcterms:W3CDTF">2026-02-22T15:42:24Z</dcterms:modified>
  <cp:category/>
</cp:coreProperties>
</file>