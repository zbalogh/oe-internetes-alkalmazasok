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19"/>
  </p:notesMasterIdLst>
  <p:sldIdLst>
    <p:sldId id="256" r:id="rId2"/>
    <p:sldId id="259" r:id="rId3"/>
    <p:sldId id="275" r:id="rId4"/>
    <p:sldId id="276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7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75182" autoAdjust="0"/>
  </p:normalViewPr>
  <p:slideViewPr>
    <p:cSldViewPr snapToGrid="0">
      <p:cViewPr varScale="1">
        <p:scale>
          <a:sx n="95" d="100"/>
          <a:sy n="95" d="100"/>
        </p:scale>
        <p:origin x="10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482E4E-5CEC-44A9-BF2B-512FB3B5604F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23EBC-67FA-4278-B97C-82D0A52FD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096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Ebben a prezentációban több, egymástól </a:t>
            </a:r>
            <a:r>
              <a:rPr lang="hu-HU" b="0" dirty="0"/>
              <a:t>nagyon különböző </a:t>
            </a:r>
            <a:r>
              <a:rPr lang="hu-HU" b="1" dirty="0"/>
              <a:t>kommunikációs technológiát</a:t>
            </a:r>
            <a:r>
              <a:rPr lang="hu-HU" dirty="0"/>
              <a:t> fogunk megnézni:</a:t>
            </a:r>
            <a:br>
              <a:rPr lang="hu-HU" dirty="0"/>
            </a:br>
            <a:r>
              <a:rPr lang="hu-HU" dirty="0"/>
              <a:t>A </a:t>
            </a:r>
            <a:r>
              <a:rPr lang="hu-HU" b="1" dirty="0"/>
              <a:t>SOAP-alapú </a:t>
            </a:r>
            <a:r>
              <a:rPr lang="hu-HU" b="0" dirty="0"/>
              <a:t>XML webszolgáltatásokat</a:t>
            </a:r>
            <a:r>
              <a:rPr lang="hu-HU" dirty="0"/>
              <a:t>, a </a:t>
            </a:r>
            <a:r>
              <a:rPr lang="hu-HU" b="1" dirty="0"/>
              <a:t>modern </a:t>
            </a:r>
            <a:r>
              <a:rPr lang="hu-HU" b="1" dirty="0" err="1"/>
              <a:t>gRPC</a:t>
            </a:r>
            <a:r>
              <a:rPr lang="hu-HU" b="1" dirty="0"/>
              <a:t>-t </a:t>
            </a:r>
            <a:r>
              <a:rPr lang="hu-HU" b="0" dirty="0"/>
              <a:t>bináris </a:t>
            </a:r>
            <a:r>
              <a:rPr lang="hu-HU" b="1" dirty="0" err="1"/>
              <a:t>Protobuf</a:t>
            </a:r>
            <a:r>
              <a:rPr lang="hu-HU" b="0" dirty="0"/>
              <a:t> formátummal</a:t>
            </a:r>
            <a:r>
              <a:rPr lang="hu-HU" dirty="0"/>
              <a:t>, valamint a </a:t>
            </a:r>
            <a:r>
              <a:rPr lang="hu-HU" b="1" dirty="0" err="1"/>
              <a:t>WebSocketet</a:t>
            </a:r>
            <a:r>
              <a:rPr lang="hu-HU" dirty="0"/>
              <a:t>, amely valós idejű kommunikációra alkalmas.</a:t>
            </a:r>
          </a:p>
          <a:p>
            <a:endParaRPr lang="hu-HU" dirty="0"/>
          </a:p>
          <a:p>
            <a:r>
              <a:rPr lang="hu-HU" dirty="0"/>
              <a:t>A cél </a:t>
            </a:r>
            <a:r>
              <a:rPr lang="hu-HU" b="1" dirty="0"/>
              <a:t>nem az</a:t>
            </a:r>
            <a:r>
              <a:rPr lang="hu-HU" dirty="0"/>
              <a:t>, hogy holnaptól ezekből mind kódolni tudjunk, hanem hogy:</a:t>
            </a:r>
          </a:p>
          <a:p>
            <a:r>
              <a:rPr lang="hu-HU" dirty="0"/>
              <a:t>- megértsük, </a:t>
            </a:r>
            <a:r>
              <a:rPr lang="hu-HU" b="1" dirty="0"/>
              <a:t>miért jöttek létre</a:t>
            </a:r>
            <a:endParaRPr lang="hu-HU" dirty="0"/>
          </a:p>
          <a:p>
            <a:r>
              <a:rPr lang="hu-HU" b="0" dirty="0"/>
              <a:t>- </a:t>
            </a:r>
            <a:r>
              <a:rPr lang="hu-HU" b="1" dirty="0"/>
              <a:t>milyen problémára </a:t>
            </a:r>
            <a:r>
              <a:rPr lang="hu-HU" b="0" dirty="0"/>
              <a:t>adnak választ</a:t>
            </a:r>
          </a:p>
          <a:p>
            <a:r>
              <a:rPr lang="hu-HU" dirty="0"/>
              <a:t>- és mikor </a:t>
            </a:r>
            <a:r>
              <a:rPr lang="hu-HU" b="1" dirty="0"/>
              <a:t>melyiket érdemes választani</a:t>
            </a:r>
            <a:r>
              <a:rPr lang="hu-HU" dirty="0"/>
              <a:t> (különösen </a:t>
            </a:r>
            <a:r>
              <a:rPr lang="hu-HU" b="1" dirty="0" err="1"/>
              <a:t>microservice</a:t>
            </a:r>
            <a:r>
              <a:rPr lang="hu-HU" b="1" dirty="0"/>
              <a:t> </a:t>
            </a:r>
            <a:r>
              <a:rPr lang="hu-HU" b="0" dirty="0"/>
              <a:t>architektúrában</a:t>
            </a:r>
            <a:r>
              <a:rPr lang="hu-HU" dirty="0"/>
              <a:t>).</a:t>
            </a:r>
          </a:p>
          <a:p>
            <a:endParaRPr lang="hu-HU" dirty="0"/>
          </a:p>
          <a:p>
            <a:r>
              <a:rPr lang="hu-HU" dirty="0"/>
              <a:t>Ez az előadás egyfajta </a:t>
            </a:r>
            <a:r>
              <a:rPr lang="hu-HU" b="1" dirty="0"/>
              <a:t>technológiai térkép</a:t>
            </a:r>
            <a:r>
              <a:rPr lang="hu-HU" dirty="0"/>
              <a:t>: segít eligazodni a régi és az új megoldások között.</a:t>
            </a:r>
          </a:p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838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Jogos kérdésnek tűnik:</a:t>
            </a:r>
            <a:br>
              <a:rPr lang="hu-HU" dirty="0"/>
            </a:br>
            <a:r>
              <a:rPr lang="hu-HU" dirty="0"/>
              <a:t>ha ma van HTTP, REST és JSON, </a:t>
            </a:r>
            <a:r>
              <a:rPr lang="hu-HU" b="1" dirty="0"/>
              <a:t>miért létezik még SOAP, </a:t>
            </a:r>
            <a:r>
              <a:rPr lang="hu-HU" b="1" dirty="0" err="1"/>
              <a:t>gRPC</a:t>
            </a:r>
            <a:r>
              <a:rPr lang="hu-HU" b="1" dirty="0"/>
              <a:t> vagy </a:t>
            </a:r>
            <a:r>
              <a:rPr lang="hu-HU" b="1" dirty="0" err="1"/>
              <a:t>WebSocket</a:t>
            </a:r>
            <a:r>
              <a:rPr lang="hu-HU" b="1" dirty="0"/>
              <a:t>?</a:t>
            </a:r>
            <a:endParaRPr lang="hu-HU" dirty="0"/>
          </a:p>
          <a:p>
            <a:endParaRPr lang="hu-HU" dirty="0"/>
          </a:p>
          <a:p>
            <a:r>
              <a:rPr lang="hu-HU" dirty="0"/>
              <a:t>A válasz az, hogy:</a:t>
            </a:r>
          </a:p>
          <a:p>
            <a:r>
              <a:rPr lang="hu-HU" b="0" dirty="0"/>
              <a:t>- </a:t>
            </a:r>
            <a:r>
              <a:rPr lang="hu-HU" b="1" dirty="0"/>
              <a:t>más problémákra</a:t>
            </a:r>
            <a:r>
              <a:rPr lang="hu-HU" dirty="0"/>
              <a:t> születtek</a:t>
            </a:r>
          </a:p>
          <a:p>
            <a:r>
              <a:rPr lang="hu-HU" b="0" dirty="0"/>
              <a:t>- </a:t>
            </a:r>
            <a:r>
              <a:rPr lang="hu-HU" b="1" dirty="0"/>
              <a:t>más időszakban</a:t>
            </a:r>
            <a:endParaRPr lang="hu-HU" dirty="0"/>
          </a:p>
          <a:p>
            <a:r>
              <a:rPr lang="hu-HU" dirty="0"/>
              <a:t>- és </a:t>
            </a:r>
            <a:r>
              <a:rPr lang="hu-HU" b="1" dirty="0"/>
              <a:t>más prioritásokkal</a:t>
            </a:r>
            <a:endParaRPr lang="hu-HU" dirty="0"/>
          </a:p>
          <a:p>
            <a:endParaRPr lang="hu-HU" dirty="0"/>
          </a:p>
          <a:p>
            <a:r>
              <a:rPr lang="hu-HU" dirty="0"/>
              <a:t>Például:</a:t>
            </a:r>
          </a:p>
          <a:p>
            <a:r>
              <a:rPr lang="hu-HU" dirty="0"/>
              <a:t>- vállalati integrációknál a </a:t>
            </a:r>
            <a:r>
              <a:rPr lang="hu-HU" b="1" dirty="0"/>
              <a:t>formális szerződés</a:t>
            </a:r>
            <a:r>
              <a:rPr lang="hu-HU" dirty="0"/>
              <a:t> és a kompatibilitás volt fontos → SOAP</a:t>
            </a:r>
          </a:p>
          <a:p>
            <a:r>
              <a:rPr lang="hu-HU" dirty="0"/>
              <a:t>- nagy teljesítményű belső kommunikációnál a </a:t>
            </a:r>
            <a:r>
              <a:rPr lang="hu-HU" b="1" dirty="0"/>
              <a:t>sebesség és hatékonyság</a:t>
            </a:r>
            <a:r>
              <a:rPr lang="hu-HU" dirty="0"/>
              <a:t> → </a:t>
            </a:r>
            <a:r>
              <a:rPr lang="hu-HU" dirty="0" err="1"/>
              <a:t>gRPC</a:t>
            </a:r>
            <a:endParaRPr lang="hu-HU" dirty="0"/>
          </a:p>
          <a:p>
            <a:r>
              <a:rPr lang="hu-HU" dirty="0"/>
              <a:t>- valós idejű alkalmazásoknál a </a:t>
            </a:r>
            <a:r>
              <a:rPr lang="hu-HU" b="1" dirty="0"/>
              <a:t>folyamatos kapcsolat</a:t>
            </a:r>
            <a:r>
              <a:rPr lang="hu-HU" dirty="0"/>
              <a:t> → </a:t>
            </a:r>
            <a:r>
              <a:rPr lang="hu-HU" dirty="0" err="1"/>
              <a:t>WebSocket</a:t>
            </a:r>
            <a:endParaRPr lang="hu-HU" dirty="0"/>
          </a:p>
          <a:p>
            <a:endParaRPr lang="hu-HU" dirty="0"/>
          </a:p>
          <a:p>
            <a:r>
              <a:rPr lang="hu-HU" dirty="0"/>
              <a:t>Ezért nem „jobb–rosszabb” viszonyról beszélünk, hanem </a:t>
            </a:r>
            <a:r>
              <a:rPr lang="hu-HU" b="1" dirty="0"/>
              <a:t>alkalmazási területekről</a:t>
            </a:r>
            <a:r>
              <a:rPr lang="hu-HU" dirty="0"/>
              <a:t>.</a:t>
            </a:r>
          </a:p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6053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SOAP a </a:t>
            </a:r>
            <a:r>
              <a:rPr lang="en-US" b="1" dirty="0" err="1"/>
              <a:t>klasszikus</a:t>
            </a:r>
            <a:r>
              <a:rPr lang="en-US" b="1" dirty="0"/>
              <a:t> enterprise </a:t>
            </a:r>
            <a:r>
              <a:rPr lang="en-US" b="1" dirty="0" err="1"/>
              <a:t>világ</a:t>
            </a:r>
            <a:r>
              <a:rPr lang="en-US" b="1" dirty="0"/>
              <a:t> </a:t>
            </a:r>
            <a:r>
              <a:rPr lang="en-US" b="1" dirty="0" err="1"/>
              <a:t>szülötte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Olyan </a:t>
            </a:r>
            <a:r>
              <a:rPr lang="en-US" dirty="0" err="1"/>
              <a:t>környezetben</a:t>
            </a:r>
            <a:r>
              <a:rPr lang="en-US" dirty="0"/>
              <a:t> </a:t>
            </a:r>
            <a:r>
              <a:rPr lang="en-US" dirty="0" err="1"/>
              <a:t>jött</a:t>
            </a:r>
            <a:r>
              <a:rPr lang="en-US" dirty="0"/>
              <a:t> </a:t>
            </a:r>
            <a:r>
              <a:rPr lang="en-US" dirty="0" err="1"/>
              <a:t>létre</a:t>
            </a:r>
            <a:r>
              <a:rPr lang="en-US" dirty="0"/>
              <a:t>, </a:t>
            </a:r>
            <a:r>
              <a:rPr lang="en-US" dirty="0" err="1"/>
              <a:t>ahol</a:t>
            </a:r>
            <a:r>
              <a:rPr lang="en-US" dirty="0"/>
              <a:t>:</a:t>
            </a:r>
          </a:p>
          <a:p>
            <a:r>
              <a:rPr lang="hu-HU" dirty="0"/>
              <a:t>- </a:t>
            </a:r>
            <a:r>
              <a:rPr lang="en-US" dirty="0" err="1"/>
              <a:t>nagyvállalatok</a:t>
            </a:r>
            <a:r>
              <a:rPr lang="en-US" dirty="0"/>
              <a:t> </a:t>
            </a:r>
            <a:r>
              <a:rPr lang="en-US" dirty="0" err="1"/>
              <a:t>rendszereit</a:t>
            </a:r>
            <a:r>
              <a:rPr lang="en-US" dirty="0"/>
              <a:t> </a:t>
            </a:r>
            <a:r>
              <a:rPr lang="en-US" dirty="0" err="1"/>
              <a:t>kellett</a:t>
            </a:r>
            <a:r>
              <a:rPr lang="en-US" dirty="0"/>
              <a:t> </a:t>
            </a:r>
            <a:r>
              <a:rPr lang="en-US" dirty="0" err="1"/>
              <a:t>összekötni</a:t>
            </a:r>
            <a:endParaRPr lang="en-US" dirty="0"/>
          </a:p>
          <a:p>
            <a:r>
              <a:rPr lang="hu-HU" dirty="0"/>
              <a:t>- </a:t>
            </a:r>
            <a:r>
              <a:rPr lang="en-US" dirty="0" err="1"/>
              <a:t>különböző</a:t>
            </a:r>
            <a:r>
              <a:rPr lang="en-US" dirty="0"/>
              <a:t> </a:t>
            </a:r>
            <a:r>
              <a:rPr lang="en-US" dirty="0" err="1"/>
              <a:t>technológiák</a:t>
            </a:r>
            <a:r>
              <a:rPr lang="en-US" dirty="0"/>
              <a:t>, </a:t>
            </a:r>
            <a:r>
              <a:rPr lang="en-US" dirty="0" err="1"/>
              <a:t>nyelvek</a:t>
            </a:r>
            <a:r>
              <a:rPr lang="en-US" dirty="0"/>
              <a:t>, </a:t>
            </a:r>
            <a:r>
              <a:rPr lang="en-US" dirty="0" err="1"/>
              <a:t>platformok</a:t>
            </a:r>
            <a:r>
              <a:rPr lang="en-US" dirty="0"/>
              <a:t> </a:t>
            </a:r>
            <a:r>
              <a:rPr lang="en-US" dirty="0" err="1"/>
              <a:t>között</a:t>
            </a:r>
            <a:endParaRPr lang="en-US" dirty="0"/>
          </a:p>
          <a:p>
            <a:r>
              <a:rPr lang="hu-HU" dirty="0"/>
              <a:t>- </a:t>
            </a:r>
            <a:r>
              <a:rPr lang="en-US" dirty="0" err="1"/>
              <a:t>hosszú</a:t>
            </a:r>
            <a:r>
              <a:rPr lang="en-US" dirty="0"/>
              <a:t> </a:t>
            </a:r>
            <a:r>
              <a:rPr lang="en-US" dirty="0" err="1"/>
              <a:t>távú</a:t>
            </a:r>
            <a:r>
              <a:rPr lang="en-US" dirty="0"/>
              <a:t> </a:t>
            </a:r>
            <a:r>
              <a:rPr lang="en-US" dirty="0" err="1"/>
              <a:t>stabilitás</a:t>
            </a:r>
            <a:r>
              <a:rPr lang="en-US" dirty="0"/>
              <a:t> volt a </a:t>
            </a:r>
            <a:r>
              <a:rPr lang="en-US" dirty="0" err="1"/>
              <a:t>cél</a:t>
            </a:r>
            <a:endParaRPr lang="en-US" dirty="0"/>
          </a:p>
          <a:p>
            <a:endParaRPr lang="hu-HU" dirty="0"/>
          </a:p>
          <a:p>
            <a:r>
              <a:rPr lang="en-US" dirty="0"/>
              <a:t>A SOAP </a:t>
            </a:r>
            <a:r>
              <a:rPr lang="en-US" dirty="0" err="1"/>
              <a:t>egyik</a:t>
            </a:r>
            <a:r>
              <a:rPr lang="en-US" dirty="0"/>
              <a:t> </a:t>
            </a:r>
            <a:r>
              <a:rPr lang="en-US" dirty="0" err="1"/>
              <a:t>legnagyobb</a:t>
            </a:r>
            <a:r>
              <a:rPr lang="en-US" dirty="0"/>
              <a:t> </a:t>
            </a:r>
            <a:r>
              <a:rPr lang="en-US" dirty="0" err="1"/>
              <a:t>erőssége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volt,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b="1" dirty="0" err="1"/>
              <a:t>nagyon</a:t>
            </a:r>
            <a:r>
              <a:rPr lang="en-US" b="1" dirty="0"/>
              <a:t> </a:t>
            </a:r>
            <a:r>
              <a:rPr lang="en-US" b="1" dirty="0" err="1"/>
              <a:t>formális</a:t>
            </a:r>
            <a:r>
              <a:rPr lang="en-US" dirty="0"/>
              <a:t>:</a:t>
            </a:r>
          </a:p>
          <a:p>
            <a:r>
              <a:rPr lang="hu-HU" dirty="0"/>
              <a:t>- </a:t>
            </a:r>
            <a:r>
              <a:rPr lang="en-US" dirty="0" err="1"/>
              <a:t>minden</a:t>
            </a:r>
            <a:r>
              <a:rPr lang="en-US" dirty="0"/>
              <a:t> </a:t>
            </a:r>
            <a:r>
              <a:rPr lang="en-US" dirty="0" err="1"/>
              <a:t>pontosan</a:t>
            </a:r>
            <a:r>
              <a:rPr lang="en-US" dirty="0"/>
              <a:t> le volt </a:t>
            </a:r>
            <a:r>
              <a:rPr lang="en-US" dirty="0" err="1"/>
              <a:t>írva</a:t>
            </a:r>
            <a:endParaRPr lang="en-US" dirty="0"/>
          </a:p>
          <a:p>
            <a:r>
              <a:rPr lang="hu-HU" dirty="0"/>
              <a:t>- </a:t>
            </a:r>
            <a:r>
              <a:rPr lang="en-US" dirty="0" err="1"/>
              <a:t>nem</a:t>
            </a:r>
            <a:r>
              <a:rPr lang="en-US" dirty="0"/>
              <a:t> volt </a:t>
            </a:r>
            <a:r>
              <a:rPr lang="en-US" dirty="0" err="1"/>
              <a:t>helye</a:t>
            </a:r>
            <a:r>
              <a:rPr lang="en-US" dirty="0"/>
              <a:t> </a:t>
            </a:r>
            <a:r>
              <a:rPr lang="en-US" dirty="0" err="1"/>
              <a:t>félreértésnek</a:t>
            </a:r>
            <a:endParaRPr lang="en-US" dirty="0"/>
          </a:p>
          <a:p>
            <a:r>
              <a:rPr lang="hu-HU" dirty="0"/>
              <a:t>- a</a:t>
            </a:r>
            <a:r>
              <a:rPr lang="en-US" dirty="0"/>
              <a:t> </a:t>
            </a:r>
            <a:r>
              <a:rPr lang="en-US" dirty="0" err="1"/>
              <a:t>kliens</a:t>
            </a:r>
            <a:r>
              <a:rPr lang="en-US" dirty="0"/>
              <a:t> és a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dirty="0" err="1"/>
              <a:t>között</a:t>
            </a:r>
            <a:r>
              <a:rPr lang="en-US" dirty="0"/>
              <a:t> </a:t>
            </a:r>
            <a:r>
              <a:rPr lang="en-US" b="1" dirty="0" err="1"/>
              <a:t>szerződés</a:t>
            </a:r>
            <a:r>
              <a:rPr lang="en-US" dirty="0"/>
              <a:t> </a:t>
            </a:r>
            <a:r>
              <a:rPr lang="en-US" dirty="0" err="1"/>
              <a:t>létezett</a:t>
            </a:r>
            <a:endParaRPr lang="en-US" dirty="0"/>
          </a:p>
          <a:p>
            <a:endParaRPr lang="hu-HU" dirty="0"/>
          </a:p>
          <a:p>
            <a:r>
              <a:rPr lang="en-US" dirty="0"/>
              <a:t>Ez </a:t>
            </a:r>
            <a:r>
              <a:rPr lang="en-US" dirty="0" err="1"/>
              <a:t>nagyon</a:t>
            </a:r>
            <a:r>
              <a:rPr lang="en-US" dirty="0"/>
              <a:t> </a:t>
            </a:r>
            <a:r>
              <a:rPr lang="en-US" dirty="0" err="1"/>
              <a:t>vonzó</a:t>
            </a:r>
            <a:r>
              <a:rPr lang="en-US" dirty="0"/>
              <a:t> volt </a:t>
            </a:r>
            <a:r>
              <a:rPr lang="en-US" dirty="0" err="1"/>
              <a:t>banki</a:t>
            </a:r>
            <a:r>
              <a:rPr lang="en-US" dirty="0"/>
              <a:t>, </a:t>
            </a:r>
            <a:r>
              <a:rPr lang="en-US" dirty="0" err="1"/>
              <a:t>biztosítási</a:t>
            </a:r>
            <a:r>
              <a:rPr lang="en-US" dirty="0"/>
              <a:t>, </a:t>
            </a:r>
            <a:r>
              <a:rPr lang="en-US" dirty="0" err="1"/>
              <a:t>állami</a:t>
            </a:r>
            <a:r>
              <a:rPr lang="en-US" dirty="0"/>
              <a:t> </a:t>
            </a:r>
            <a:r>
              <a:rPr lang="en-US" dirty="0" err="1"/>
              <a:t>rendszerekben</a:t>
            </a:r>
            <a:r>
              <a:rPr lang="en-US" dirty="0"/>
              <a:t> – és </a:t>
            </a:r>
            <a:r>
              <a:rPr lang="en-US" dirty="0" err="1"/>
              <a:t>sok</a:t>
            </a:r>
            <a:r>
              <a:rPr lang="en-US" dirty="0"/>
              <a:t> </a:t>
            </a:r>
            <a:r>
              <a:rPr lang="en-US" dirty="0" err="1"/>
              <a:t>helyen</a:t>
            </a:r>
            <a:r>
              <a:rPr lang="en-US" dirty="0"/>
              <a:t> </a:t>
            </a:r>
            <a:r>
              <a:rPr lang="en-US" b="1" dirty="0"/>
              <a:t>ma is </a:t>
            </a:r>
            <a:r>
              <a:rPr lang="en-US" b="1" dirty="0" err="1"/>
              <a:t>él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5650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</a:t>
            </a:r>
            <a:r>
              <a:rPr lang="hu-HU" b="1" dirty="0"/>
              <a:t>SOAP</a:t>
            </a:r>
            <a:r>
              <a:rPr lang="hu-HU" dirty="0"/>
              <a:t> nem csak egy üzenetformátum – </a:t>
            </a:r>
            <a:r>
              <a:rPr lang="hu-HU" b="1" dirty="0"/>
              <a:t>ökoszisztéma</a:t>
            </a:r>
            <a:r>
              <a:rPr lang="hu-HU" dirty="0"/>
              <a:t>.</a:t>
            </a:r>
          </a:p>
          <a:p>
            <a:br>
              <a:rPr lang="hu-HU" dirty="0"/>
            </a:br>
            <a:r>
              <a:rPr lang="hu-HU" dirty="0"/>
              <a:t>A </a:t>
            </a:r>
            <a:r>
              <a:rPr lang="hu-HU" b="1" dirty="0"/>
              <a:t>WSDL</a:t>
            </a:r>
            <a:r>
              <a:rPr lang="hu-HU" dirty="0"/>
              <a:t> (Web </a:t>
            </a:r>
            <a:r>
              <a:rPr lang="hu-HU" dirty="0" err="1"/>
              <a:t>Services</a:t>
            </a:r>
            <a:r>
              <a:rPr lang="hu-HU" dirty="0"/>
              <a:t> </a:t>
            </a:r>
            <a:r>
              <a:rPr lang="hu-HU" dirty="0" err="1"/>
              <a:t>Description</a:t>
            </a:r>
            <a:r>
              <a:rPr lang="hu-HU" dirty="0"/>
              <a:t> </a:t>
            </a:r>
            <a:r>
              <a:rPr lang="hu-HU" dirty="0" err="1"/>
              <a:t>Language</a:t>
            </a:r>
            <a:r>
              <a:rPr lang="hu-HU" dirty="0"/>
              <a:t>) írja le a </a:t>
            </a:r>
            <a:r>
              <a:rPr lang="hu-HU" b="1" dirty="0"/>
              <a:t>szolgáltatások</a:t>
            </a:r>
            <a:r>
              <a:rPr lang="hu-HU" dirty="0"/>
              <a:t> funkcióit, működését és elérését:</a:t>
            </a:r>
          </a:p>
          <a:p>
            <a:r>
              <a:rPr lang="hu-HU" dirty="0"/>
              <a:t>- milyen műveletek érhetők el</a:t>
            </a:r>
          </a:p>
          <a:p>
            <a:r>
              <a:rPr lang="hu-HU" dirty="0"/>
              <a:t>- milyen paraméterekkel</a:t>
            </a:r>
          </a:p>
          <a:p>
            <a:r>
              <a:rPr lang="hu-HU" dirty="0"/>
              <a:t>- milyen válaszokat ad vissza a szolgáltatás</a:t>
            </a:r>
          </a:p>
          <a:p>
            <a:br>
              <a:rPr lang="hu-HU" dirty="0"/>
            </a:br>
            <a:r>
              <a:rPr lang="hu-HU" dirty="0"/>
              <a:t>Az </a:t>
            </a:r>
            <a:r>
              <a:rPr lang="hu-HU" b="1" dirty="0"/>
              <a:t>XSD</a:t>
            </a:r>
            <a:r>
              <a:rPr lang="hu-HU" dirty="0"/>
              <a:t> (XML </a:t>
            </a:r>
            <a:r>
              <a:rPr lang="hu-HU" dirty="0" err="1"/>
              <a:t>Schema</a:t>
            </a:r>
            <a:r>
              <a:rPr lang="hu-HU" dirty="0"/>
              <a:t> </a:t>
            </a:r>
            <a:r>
              <a:rPr lang="hu-HU" dirty="0" err="1"/>
              <a:t>Definition</a:t>
            </a:r>
            <a:r>
              <a:rPr lang="hu-HU" dirty="0"/>
              <a:t>) pedig pontosan meghatározza az </a:t>
            </a:r>
            <a:r>
              <a:rPr lang="hu-HU" b="1" dirty="0"/>
              <a:t>adatstruktúrákat</a:t>
            </a:r>
            <a:r>
              <a:rPr lang="hu-HU" dirty="0"/>
              <a:t>:</a:t>
            </a:r>
          </a:p>
          <a:p>
            <a:r>
              <a:rPr lang="hu-HU" dirty="0"/>
              <a:t>- milyen mezők vannak</a:t>
            </a:r>
          </a:p>
          <a:p>
            <a:r>
              <a:rPr lang="hu-HU" dirty="0"/>
              <a:t>- milyen típusúak</a:t>
            </a:r>
          </a:p>
          <a:p>
            <a:r>
              <a:rPr lang="hu-HU" dirty="0"/>
              <a:t>- kötelezők-e vagy sem</a:t>
            </a:r>
          </a:p>
          <a:p>
            <a:br>
              <a:rPr lang="hu-HU" dirty="0"/>
            </a:br>
            <a:r>
              <a:rPr lang="hu-HU" dirty="0"/>
              <a:t>Ez lehetővé teszi, hogy Java, .NET vagy más kliensoldali kódot </a:t>
            </a:r>
            <a:r>
              <a:rPr lang="hu-HU" b="1" dirty="0"/>
              <a:t>automatikusan generáljunk, </a:t>
            </a:r>
            <a:r>
              <a:rPr lang="hu-HU" dirty="0"/>
              <a:t>fordítási időben kapjunk hibát, nem futásidőben. Ez a szigor egyben </a:t>
            </a:r>
            <a:r>
              <a:rPr lang="hu-HU" b="1" dirty="0"/>
              <a:t>előny és hátrány is</a:t>
            </a:r>
            <a:r>
              <a:rPr lang="hu-H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7414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Egy SOAP üzenet mindig XML, és nagyon </a:t>
            </a:r>
            <a:r>
              <a:rPr lang="hu-HU" b="1" dirty="0"/>
              <a:t>strukturált:</a:t>
            </a:r>
            <a:endParaRPr lang="hu-HU" dirty="0"/>
          </a:p>
          <a:p>
            <a:endParaRPr lang="hu-HU" dirty="0"/>
          </a:p>
          <a:p>
            <a:r>
              <a:rPr lang="hu-HU" dirty="0"/>
              <a:t>- egy </a:t>
            </a:r>
            <a:r>
              <a:rPr lang="hu-HU" b="1" dirty="0" err="1"/>
              <a:t>Envelope</a:t>
            </a:r>
            <a:r>
              <a:rPr lang="hu-HU" dirty="0"/>
              <a:t>, ami az egész üzenetet körbeveszi</a:t>
            </a:r>
          </a:p>
          <a:p>
            <a:r>
              <a:rPr lang="hu-HU" dirty="0"/>
              <a:t>- egy opcionális </a:t>
            </a:r>
            <a:r>
              <a:rPr lang="hu-HU" b="1" dirty="0" err="1"/>
              <a:t>Header</a:t>
            </a:r>
            <a:r>
              <a:rPr lang="hu-HU" dirty="0"/>
              <a:t>, például </a:t>
            </a:r>
            <a:r>
              <a:rPr lang="hu-HU" dirty="0" err="1"/>
              <a:t>autentikációra</a:t>
            </a:r>
            <a:endParaRPr lang="hu-HU" dirty="0"/>
          </a:p>
          <a:p>
            <a:r>
              <a:rPr lang="hu-HU" dirty="0"/>
              <a:t>- és a </a:t>
            </a:r>
            <a:r>
              <a:rPr lang="hu-HU" b="1" dirty="0"/>
              <a:t>Body</a:t>
            </a:r>
            <a:r>
              <a:rPr lang="hu-HU" dirty="0"/>
              <a:t>, ahol maga az üzleti adat van</a:t>
            </a:r>
          </a:p>
          <a:p>
            <a:br>
              <a:rPr lang="hu-HU" dirty="0"/>
            </a:br>
            <a:r>
              <a:rPr lang="hu-HU" dirty="0"/>
              <a:t>Ez nagyon jól értelmezhető, emberileg olvasható, viszont:</a:t>
            </a:r>
          </a:p>
          <a:p>
            <a:r>
              <a:rPr lang="hu-HU" dirty="0"/>
              <a:t>- nagy méretű</a:t>
            </a:r>
          </a:p>
          <a:p>
            <a:r>
              <a:rPr lang="hu-HU" dirty="0"/>
              <a:t>- sok redundáns szöveget tartalmaz</a:t>
            </a:r>
          </a:p>
          <a:p>
            <a:r>
              <a:rPr lang="hu-HU" dirty="0"/>
              <a:t>- lassabb feldolgozású</a:t>
            </a:r>
          </a:p>
          <a:p>
            <a:br>
              <a:rPr lang="hu-HU" dirty="0"/>
            </a:br>
            <a:r>
              <a:rPr lang="hu-HU" dirty="0"/>
              <a:t>Ez a </a:t>
            </a:r>
            <a:r>
              <a:rPr lang="hu-HU" b="1" dirty="0"/>
              <a:t>bőbeszédűség</a:t>
            </a:r>
            <a:r>
              <a:rPr lang="hu-HU" dirty="0"/>
              <a:t> az egyik fő oka annak, hogy a SOAP háttérbe szorult.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3797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SOAP </a:t>
            </a:r>
            <a:r>
              <a:rPr lang="en-US" b="1" dirty="0" err="1"/>
              <a:t>nem</a:t>
            </a:r>
            <a:r>
              <a:rPr lang="en-US" b="1" dirty="0"/>
              <a:t> </a:t>
            </a:r>
            <a:r>
              <a:rPr lang="en-US" b="1" dirty="0" err="1"/>
              <a:t>rossz</a:t>
            </a:r>
            <a:r>
              <a:rPr lang="en-US" b="1" dirty="0"/>
              <a:t> </a:t>
            </a:r>
            <a:r>
              <a:rPr lang="en-US" b="1" dirty="0" err="1"/>
              <a:t>technológia</a:t>
            </a:r>
            <a:r>
              <a:rPr lang="en-US" dirty="0"/>
              <a:t>, </a:t>
            </a:r>
            <a:r>
              <a:rPr lang="en-US" dirty="0" err="1"/>
              <a:t>hanem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b="1" dirty="0" err="1"/>
              <a:t>más</a:t>
            </a:r>
            <a:r>
              <a:rPr lang="en-US" b="1" dirty="0"/>
              <a:t> </a:t>
            </a:r>
            <a:r>
              <a:rPr lang="en-US" b="1" dirty="0" err="1"/>
              <a:t>korszak</a:t>
            </a:r>
            <a:r>
              <a:rPr lang="en-US" b="1" dirty="0"/>
              <a:t> </a:t>
            </a:r>
            <a:r>
              <a:rPr lang="en-US" b="1" dirty="0" err="1"/>
              <a:t>problémáira</a:t>
            </a:r>
            <a:r>
              <a:rPr lang="en-US" b="1" dirty="0"/>
              <a:t> </a:t>
            </a:r>
            <a:r>
              <a:rPr lang="en-US" b="0" dirty="0" err="1"/>
              <a:t>adott</a:t>
            </a:r>
            <a:r>
              <a:rPr lang="en-US" b="0" dirty="0"/>
              <a:t> </a:t>
            </a:r>
            <a:r>
              <a:rPr lang="en-US" b="0" dirty="0" err="1"/>
              <a:t>válasz</a:t>
            </a:r>
            <a:r>
              <a:rPr lang="en-US" dirty="0"/>
              <a:t>.</a:t>
            </a:r>
            <a:endParaRPr lang="hu-HU" dirty="0"/>
          </a:p>
          <a:p>
            <a:endParaRPr lang="hu-HU" dirty="0"/>
          </a:p>
          <a:p>
            <a:r>
              <a:rPr lang="en-US" dirty="0"/>
              <a:t>Az </a:t>
            </a:r>
            <a:r>
              <a:rPr lang="en-US" dirty="0" err="1"/>
              <a:t>első</a:t>
            </a:r>
            <a:r>
              <a:rPr lang="en-US" dirty="0"/>
              <a:t> és </a:t>
            </a:r>
            <a:r>
              <a:rPr lang="en-US" dirty="0" err="1"/>
              <a:t>talán</a:t>
            </a:r>
            <a:r>
              <a:rPr lang="en-US" dirty="0"/>
              <a:t> </a:t>
            </a:r>
            <a:r>
              <a:rPr lang="en-US" dirty="0" err="1"/>
              <a:t>legnagyobb</a:t>
            </a:r>
            <a:r>
              <a:rPr lang="en-US" dirty="0"/>
              <a:t> </a:t>
            </a:r>
            <a:r>
              <a:rPr lang="en-US" dirty="0" err="1"/>
              <a:t>előnye</a:t>
            </a:r>
            <a:r>
              <a:rPr lang="en-US" dirty="0"/>
              <a:t> a SOAP-nak a </a:t>
            </a:r>
            <a:r>
              <a:rPr lang="en-US" b="1" dirty="0" err="1"/>
              <a:t>szigorú</a:t>
            </a:r>
            <a:r>
              <a:rPr lang="en-US" b="1" dirty="0"/>
              <a:t> </a:t>
            </a:r>
            <a:r>
              <a:rPr lang="en-US" b="1" dirty="0" err="1"/>
              <a:t>szerződés</a:t>
            </a:r>
            <a:r>
              <a:rPr lang="hu-HU" b="1" dirty="0"/>
              <a:t>, </a:t>
            </a:r>
            <a:r>
              <a:rPr lang="hu-HU" b="0" dirty="0"/>
              <a:t>amit a WSDL és az XSD </a:t>
            </a:r>
            <a:r>
              <a:rPr lang="hu-HU" b="0" dirty="0" err="1"/>
              <a:t>biztosíit</a:t>
            </a:r>
            <a:r>
              <a:rPr lang="hu-HU" b="0" dirty="0"/>
              <a:t>. </a:t>
            </a:r>
            <a:r>
              <a:rPr lang="en-US" dirty="0"/>
              <a:t>A SOAP </a:t>
            </a:r>
            <a:r>
              <a:rPr lang="en-US" dirty="0" err="1"/>
              <a:t>második</a:t>
            </a:r>
            <a:r>
              <a:rPr lang="en-US" dirty="0"/>
              <a:t> </a:t>
            </a:r>
            <a:r>
              <a:rPr lang="en-US" dirty="0" err="1"/>
              <a:t>nagy</a:t>
            </a:r>
            <a:r>
              <a:rPr lang="en-US" dirty="0"/>
              <a:t> </a:t>
            </a:r>
            <a:r>
              <a:rPr lang="en-US" dirty="0" err="1"/>
              <a:t>erőssége</a:t>
            </a:r>
            <a:r>
              <a:rPr lang="en-US" dirty="0"/>
              <a:t> a </a:t>
            </a:r>
            <a:r>
              <a:rPr lang="en-US" b="1" dirty="0" err="1"/>
              <a:t>stabilitás</a:t>
            </a:r>
            <a:r>
              <a:rPr lang="hu-HU" b="0" dirty="0"/>
              <a:t>. Egy SOAP szolgáltatás é</a:t>
            </a:r>
            <a:r>
              <a:rPr lang="en-US" dirty="0" err="1"/>
              <a:t>veken</a:t>
            </a:r>
            <a:r>
              <a:rPr lang="en-US" dirty="0"/>
              <a:t>, </a:t>
            </a:r>
            <a:r>
              <a:rPr lang="en-US" dirty="0" err="1"/>
              <a:t>akár</a:t>
            </a:r>
            <a:r>
              <a:rPr lang="en-US" dirty="0"/>
              <a:t> </a:t>
            </a:r>
            <a:r>
              <a:rPr lang="en-US" dirty="0" err="1"/>
              <a:t>évtizedeken</a:t>
            </a:r>
            <a:r>
              <a:rPr lang="en-US" dirty="0"/>
              <a:t> </a:t>
            </a:r>
            <a:r>
              <a:rPr lang="en-US" dirty="0" err="1"/>
              <a:t>keresztül</a:t>
            </a:r>
            <a:r>
              <a:rPr lang="en-US" dirty="0"/>
              <a:t> </a:t>
            </a:r>
            <a:r>
              <a:rPr lang="en-US" dirty="0" err="1"/>
              <a:t>változatlan</a:t>
            </a:r>
            <a:r>
              <a:rPr lang="en-US" dirty="0"/>
              <a:t> </a:t>
            </a:r>
            <a:r>
              <a:rPr lang="en-US" dirty="0" err="1"/>
              <a:t>maradhat</a:t>
            </a:r>
            <a:r>
              <a:rPr lang="hu-HU" dirty="0"/>
              <a:t>, és a változások rendkívül kontrolláltak.</a:t>
            </a:r>
          </a:p>
          <a:p>
            <a:endParaRPr lang="hu-HU" dirty="0"/>
          </a:p>
          <a:p>
            <a:r>
              <a:rPr lang="hu-HU" dirty="0"/>
              <a:t>A SOAP egyik legnagyobb hátránya az, hogy </a:t>
            </a:r>
            <a:r>
              <a:rPr lang="hu-HU" b="1" dirty="0"/>
              <a:t>rendkívül bőbeszédű. </a:t>
            </a:r>
            <a:r>
              <a:rPr lang="en-US" dirty="0"/>
              <a:t>Ez a modern, </a:t>
            </a:r>
            <a:r>
              <a:rPr lang="en-US" dirty="0" err="1"/>
              <a:t>nagy</a:t>
            </a:r>
            <a:r>
              <a:rPr lang="en-US" dirty="0"/>
              <a:t> </a:t>
            </a:r>
            <a:r>
              <a:rPr lang="en-US" dirty="0" err="1"/>
              <a:t>forgalmú</a:t>
            </a:r>
            <a:r>
              <a:rPr lang="en-US" dirty="0"/>
              <a:t> </a:t>
            </a:r>
            <a:r>
              <a:rPr lang="en-US" dirty="0" err="1"/>
              <a:t>rendszereknél</a:t>
            </a:r>
            <a:r>
              <a:rPr lang="en-US" dirty="0"/>
              <a:t> </a:t>
            </a:r>
            <a:r>
              <a:rPr lang="en-US" dirty="0" err="1"/>
              <a:t>már</a:t>
            </a:r>
            <a:r>
              <a:rPr lang="en-US" dirty="0"/>
              <a:t> </a:t>
            </a:r>
            <a:r>
              <a:rPr lang="en-US" b="1" dirty="0" err="1"/>
              <a:t>komoly</a:t>
            </a:r>
            <a:r>
              <a:rPr lang="en-US" b="1" dirty="0"/>
              <a:t> </a:t>
            </a:r>
            <a:r>
              <a:rPr lang="en-US" b="1" dirty="0" err="1"/>
              <a:t>probléma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/>
              <a:t>A </a:t>
            </a:r>
            <a:r>
              <a:rPr lang="en-US" dirty="0" err="1"/>
              <a:t>második</a:t>
            </a:r>
            <a:r>
              <a:rPr lang="en-US" dirty="0"/>
              <a:t> </a:t>
            </a:r>
            <a:r>
              <a:rPr lang="en-US" dirty="0" err="1"/>
              <a:t>nagy</a:t>
            </a:r>
            <a:r>
              <a:rPr lang="en-US" dirty="0"/>
              <a:t> </a:t>
            </a:r>
            <a:r>
              <a:rPr lang="en-US" dirty="0" err="1"/>
              <a:t>hátrány</a:t>
            </a:r>
            <a:r>
              <a:rPr lang="en-US" dirty="0"/>
              <a:t> a </a:t>
            </a:r>
            <a:r>
              <a:rPr lang="en-US" b="1" dirty="0" err="1"/>
              <a:t>komplexitás</a:t>
            </a:r>
            <a:r>
              <a:rPr lang="hu-HU" b="1" dirty="0"/>
              <a:t>.</a:t>
            </a:r>
            <a:endParaRPr lang="hu-HU" dirty="0"/>
          </a:p>
          <a:p>
            <a:endParaRPr lang="hu-HU" dirty="0"/>
          </a:p>
          <a:p>
            <a:r>
              <a:rPr lang="hu-HU" dirty="0"/>
              <a:t>Ma</a:t>
            </a:r>
          </a:p>
          <a:p>
            <a:r>
              <a:rPr lang="hu-HU" dirty="0"/>
              <a:t>- ha egy régi banki rendszerhez csatlakozunk → valószínűleg SOAP</a:t>
            </a:r>
          </a:p>
          <a:p>
            <a:r>
              <a:rPr lang="hu-HU" dirty="0"/>
              <a:t>- új rendszert már ritkán tervezünk így.</a:t>
            </a:r>
          </a:p>
          <a:p>
            <a:endParaRPr lang="hu-HU" dirty="0"/>
          </a:p>
          <a:p>
            <a:r>
              <a:rPr lang="hu-HU" dirty="0"/>
              <a:t>A REST és később a </a:t>
            </a:r>
            <a:r>
              <a:rPr lang="hu-HU" dirty="0" err="1"/>
              <a:t>gRPC</a:t>
            </a:r>
            <a:r>
              <a:rPr lang="hu-HU" dirty="0"/>
              <a:t> sokkal rugalmasabb és könnyebb lett.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9082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gRPC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b="1" dirty="0"/>
              <a:t>modern </a:t>
            </a:r>
            <a:r>
              <a:rPr lang="en-US" b="1" dirty="0" err="1"/>
              <a:t>válasz</a:t>
            </a:r>
            <a:r>
              <a:rPr lang="en-US" dirty="0"/>
              <a:t> a SOAP </a:t>
            </a:r>
            <a:r>
              <a:rPr lang="en-US" dirty="0" err="1"/>
              <a:t>problémáira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/>
              <a:t>Nem XML-t </a:t>
            </a:r>
            <a:r>
              <a:rPr lang="en-US" dirty="0" err="1"/>
              <a:t>használ</a:t>
            </a:r>
            <a:r>
              <a:rPr lang="en-US" dirty="0"/>
              <a:t>, </a:t>
            </a:r>
            <a:r>
              <a:rPr lang="en-US" dirty="0" err="1"/>
              <a:t>hanem</a:t>
            </a:r>
            <a:r>
              <a:rPr lang="hu-HU" dirty="0"/>
              <a:t> </a:t>
            </a:r>
            <a:r>
              <a:rPr lang="en-US" dirty="0" err="1"/>
              <a:t>bináris</a:t>
            </a:r>
            <a:r>
              <a:rPr lang="en-US" dirty="0"/>
              <a:t> </a:t>
            </a:r>
            <a:r>
              <a:rPr lang="en-US" dirty="0" err="1"/>
              <a:t>adatoka</a:t>
            </a:r>
            <a:r>
              <a:rPr lang="hu-HU" dirty="0"/>
              <a:t>t, </a:t>
            </a:r>
            <a:r>
              <a:rPr lang="en-US" dirty="0" err="1"/>
              <a:t>nagyon</a:t>
            </a:r>
            <a:r>
              <a:rPr lang="en-US" dirty="0"/>
              <a:t> </a:t>
            </a:r>
            <a:r>
              <a:rPr lang="en-US" dirty="0" err="1"/>
              <a:t>hatékonyan</a:t>
            </a:r>
            <a:r>
              <a:rPr lang="hu-HU" dirty="0"/>
              <a:t>, </a:t>
            </a:r>
            <a:r>
              <a:rPr lang="en-US" dirty="0"/>
              <a:t>HTTP/2 </a:t>
            </a:r>
            <a:r>
              <a:rPr lang="en-US" dirty="0" err="1"/>
              <a:t>felett</a:t>
            </a:r>
            <a:r>
              <a:rPr lang="hu-HU" dirty="0"/>
              <a:t>.</a:t>
            </a:r>
            <a:endParaRPr lang="en-US" dirty="0"/>
          </a:p>
          <a:p>
            <a:br>
              <a:rPr lang="hu-HU" dirty="0"/>
            </a:br>
            <a:r>
              <a:rPr lang="en-US" dirty="0"/>
              <a:t>A </a:t>
            </a:r>
            <a:r>
              <a:rPr lang="en-US" dirty="0" err="1"/>
              <a:t>gRPC</a:t>
            </a:r>
            <a:r>
              <a:rPr lang="en-US" dirty="0"/>
              <a:t> </a:t>
            </a:r>
            <a:r>
              <a:rPr lang="en-US" dirty="0" err="1"/>
              <a:t>célja</a:t>
            </a:r>
            <a:r>
              <a:rPr lang="en-US" dirty="0"/>
              <a:t> </a:t>
            </a:r>
            <a:r>
              <a:rPr lang="en-US" dirty="0" err="1"/>
              <a:t>főleg</a:t>
            </a:r>
            <a:r>
              <a:rPr lang="en-US" dirty="0"/>
              <a:t>:</a:t>
            </a:r>
          </a:p>
          <a:p>
            <a:r>
              <a:rPr lang="hu-HU" b="1" dirty="0"/>
              <a:t>- </a:t>
            </a:r>
            <a:r>
              <a:rPr lang="en-US" b="1" dirty="0" err="1"/>
              <a:t>belső</a:t>
            </a:r>
            <a:r>
              <a:rPr lang="en-US" b="1" dirty="0"/>
              <a:t> </a:t>
            </a:r>
            <a:r>
              <a:rPr lang="en-US" b="1" dirty="0" err="1"/>
              <a:t>rendszerkommunikáció</a:t>
            </a:r>
            <a:endParaRPr lang="en-US" dirty="0"/>
          </a:p>
          <a:p>
            <a:r>
              <a:rPr lang="hu-HU" dirty="0"/>
              <a:t>- </a:t>
            </a:r>
            <a:r>
              <a:rPr lang="en-US" dirty="0"/>
              <a:t>microservice-ek </a:t>
            </a:r>
            <a:r>
              <a:rPr lang="en-US" dirty="0" err="1"/>
              <a:t>között</a:t>
            </a:r>
            <a:endParaRPr lang="en-US" dirty="0"/>
          </a:p>
          <a:p>
            <a:r>
              <a:rPr lang="hu-HU" dirty="0"/>
              <a:t>- </a:t>
            </a:r>
            <a:r>
              <a:rPr lang="en-US" dirty="0" err="1"/>
              <a:t>nagy</a:t>
            </a:r>
            <a:r>
              <a:rPr lang="en-US" dirty="0"/>
              <a:t> </a:t>
            </a:r>
            <a:r>
              <a:rPr lang="en-US" dirty="0" err="1"/>
              <a:t>teljesítmény</a:t>
            </a:r>
            <a:r>
              <a:rPr lang="en-US" dirty="0"/>
              <a:t> </a:t>
            </a:r>
            <a:r>
              <a:rPr lang="en-US" dirty="0" err="1"/>
              <a:t>mellett</a:t>
            </a:r>
            <a:endParaRPr lang="en-US" dirty="0"/>
          </a:p>
          <a:p>
            <a:endParaRPr lang="hu-HU" dirty="0"/>
          </a:p>
          <a:p>
            <a:r>
              <a:rPr lang="en-US" dirty="0"/>
              <a:t>Ez </a:t>
            </a:r>
            <a:r>
              <a:rPr lang="en-US" dirty="0" err="1"/>
              <a:t>már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emberi</a:t>
            </a:r>
            <a:r>
              <a:rPr lang="en-US" dirty="0"/>
              <a:t> </a:t>
            </a:r>
            <a:r>
              <a:rPr lang="en-US" dirty="0" err="1"/>
              <a:t>olvashatóságra</a:t>
            </a:r>
            <a:r>
              <a:rPr lang="en-US" dirty="0"/>
              <a:t>, </a:t>
            </a:r>
            <a:r>
              <a:rPr lang="en-US" dirty="0" err="1"/>
              <a:t>hanem</a:t>
            </a:r>
            <a:r>
              <a:rPr lang="en-US" dirty="0"/>
              <a:t> </a:t>
            </a:r>
            <a:r>
              <a:rPr lang="en-US" b="1" dirty="0" err="1"/>
              <a:t>gépi</a:t>
            </a:r>
            <a:r>
              <a:rPr lang="en-US" b="1" dirty="0"/>
              <a:t> </a:t>
            </a:r>
            <a:r>
              <a:rPr lang="en-US" b="1" dirty="0" err="1"/>
              <a:t>hatékonyságra</a:t>
            </a:r>
            <a:r>
              <a:rPr lang="en-US" dirty="0"/>
              <a:t> </a:t>
            </a:r>
            <a:r>
              <a:rPr lang="en-US" dirty="0" err="1"/>
              <a:t>optimalizált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217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Ahhoz, hogy a </a:t>
            </a:r>
            <a:r>
              <a:rPr lang="hu-HU" dirty="0" err="1"/>
              <a:t>gRPC</a:t>
            </a:r>
            <a:r>
              <a:rPr lang="hu-HU" dirty="0"/>
              <a:t>-t igazán megértsük, </a:t>
            </a:r>
            <a:r>
              <a:rPr lang="hu-HU" b="0" dirty="0"/>
              <a:t>muszáj külön beszélnünk a</a:t>
            </a:r>
            <a:r>
              <a:rPr lang="hu-HU" b="1" dirty="0"/>
              <a:t> </a:t>
            </a:r>
            <a:r>
              <a:rPr lang="hu-HU" b="1" dirty="0" err="1"/>
              <a:t>Protobufról</a:t>
            </a:r>
            <a:r>
              <a:rPr lang="hu-HU" dirty="0"/>
              <a:t>, mert a kettő gyakorlatilag </a:t>
            </a:r>
            <a:r>
              <a:rPr lang="hu-HU" b="1" dirty="0"/>
              <a:t>elválaszthatatlan</a:t>
            </a:r>
            <a:r>
              <a:rPr lang="hu-HU" dirty="0"/>
              <a:t> egymástól.</a:t>
            </a:r>
          </a:p>
          <a:p>
            <a:r>
              <a:rPr lang="hu-HU" dirty="0"/>
              <a:t>A </a:t>
            </a:r>
            <a:r>
              <a:rPr lang="hu-HU" dirty="0" err="1"/>
              <a:t>Protobuf</a:t>
            </a:r>
            <a:r>
              <a:rPr lang="hu-HU" dirty="0"/>
              <a:t>, teljes nevén </a:t>
            </a:r>
            <a:r>
              <a:rPr lang="hu-HU" b="1" dirty="0" err="1"/>
              <a:t>Protocol</a:t>
            </a:r>
            <a:r>
              <a:rPr lang="hu-HU" b="1" dirty="0"/>
              <a:t> </a:t>
            </a:r>
            <a:r>
              <a:rPr lang="hu-HU" b="1" dirty="0" err="1"/>
              <a:t>Buffers</a:t>
            </a:r>
            <a:r>
              <a:rPr lang="hu-HU" dirty="0"/>
              <a:t>, egy </a:t>
            </a:r>
            <a:r>
              <a:rPr lang="hu-HU" b="1" dirty="0"/>
              <a:t>adatleíró és adatcsere formátum</a:t>
            </a:r>
            <a:r>
              <a:rPr lang="hu-HU" dirty="0"/>
              <a:t>, amelyet eredetileg a Google fejlesztett ki.</a:t>
            </a:r>
            <a:br>
              <a:rPr lang="hu-HU" dirty="0"/>
            </a:br>
            <a:br>
              <a:rPr lang="hu-HU" dirty="0"/>
            </a:br>
            <a:r>
              <a:rPr lang="hu-HU" dirty="0"/>
              <a:t>A célja nem az volt, hogy az adat </a:t>
            </a:r>
            <a:r>
              <a:rPr lang="hu-HU" b="0" dirty="0"/>
              <a:t>emberileg jól olvasható </a:t>
            </a:r>
            <a:r>
              <a:rPr lang="hu-HU" dirty="0"/>
              <a:t>legyen, hanem az, hogy:</a:t>
            </a:r>
          </a:p>
          <a:p>
            <a:r>
              <a:rPr lang="hu-HU" b="1" dirty="0"/>
              <a:t>- gyors legyen</a:t>
            </a:r>
            <a:endParaRPr lang="hu-HU" dirty="0"/>
          </a:p>
          <a:p>
            <a:r>
              <a:rPr lang="hu-HU" b="1" dirty="0"/>
              <a:t>- kicsi legyen</a:t>
            </a:r>
            <a:endParaRPr lang="hu-HU" dirty="0"/>
          </a:p>
          <a:p>
            <a:r>
              <a:rPr lang="hu-HU" b="1" dirty="0"/>
              <a:t>- egyértelmű legyen a struktúrája</a:t>
            </a:r>
            <a:endParaRPr lang="hu-HU" dirty="0"/>
          </a:p>
          <a:p>
            <a:r>
              <a:rPr lang="hu-HU" dirty="0"/>
              <a:t>- és </a:t>
            </a:r>
            <a:r>
              <a:rPr lang="hu-HU" b="1" dirty="0"/>
              <a:t>gépek közötti kommunikációra </a:t>
            </a:r>
            <a:r>
              <a:rPr lang="hu-HU" b="0" dirty="0"/>
              <a:t>optimalizált legyen</a:t>
            </a:r>
          </a:p>
          <a:p>
            <a:endParaRPr lang="hu-HU" dirty="0"/>
          </a:p>
          <a:p>
            <a:r>
              <a:rPr lang="en-US" dirty="0"/>
              <a:t>A </a:t>
            </a:r>
            <a:r>
              <a:rPr lang="en-US" dirty="0" err="1"/>
              <a:t>futás</a:t>
            </a:r>
            <a:r>
              <a:rPr lang="en-US" dirty="0"/>
              <a:t> </a:t>
            </a:r>
            <a:r>
              <a:rPr lang="en-US" dirty="0" err="1"/>
              <a:t>során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adatok</a:t>
            </a:r>
            <a:r>
              <a:rPr lang="en-US" dirty="0"/>
              <a:t> </a:t>
            </a:r>
            <a:r>
              <a:rPr lang="en-US" b="1" dirty="0" err="1"/>
              <a:t>bináris</a:t>
            </a:r>
            <a:r>
              <a:rPr lang="en-US" b="1" dirty="0"/>
              <a:t> </a:t>
            </a:r>
            <a:r>
              <a:rPr lang="en-US" b="1" dirty="0" err="1"/>
              <a:t>formában</a:t>
            </a:r>
            <a:r>
              <a:rPr lang="en-US" dirty="0"/>
              <a:t> </a:t>
            </a:r>
            <a:r>
              <a:rPr lang="en-US" dirty="0" err="1"/>
              <a:t>mennek</a:t>
            </a:r>
            <a:r>
              <a:rPr lang="en-US" dirty="0"/>
              <a:t> </a:t>
            </a:r>
            <a:r>
              <a:rPr lang="en-US" dirty="0" err="1"/>
              <a:t>át</a:t>
            </a:r>
            <a:r>
              <a:rPr lang="en-US" dirty="0"/>
              <a:t> a </a:t>
            </a:r>
            <a:r>
              <a:rPr lang="en-US" dirty="0" err="1"/>
              <a:t>hálózaton</a:t>
            </a:r>
            <a:r>
              <a:rPr lang="hu-HU" dirty="0"/>
              <a:t>.</a:t>
            </a:r>
          </a:p>
          <a:p>
            <a:endParaRPr lang="hu-HU" dirty="0"/>
          </a:p>
          <a:p>
            <a:r>
              <a:rPr lang="en-US" dirty="0"/>
              <a:t>Ez </a:t>
            </a:r>
            <a:r>
              <a:rPr lang="en-US" dirty="0" err="1"/>
              <a:t>különösen</a:t>
            </a:r>
            <a:r>
              <a:rPr lang="en-US" dirty="0"/>
              <a:t> </a:t>
            </a:r>
            <a:r>
              <a:rPr lang="en-US" dirty="0" err="1"/>
              <a:t>fontos</a:t>
            </a:r>
            <a:r>
              <a:rPr lang="hu-HU" dirty="0"/>
              <a:t> </a:t>
            </a:r>
            <a:r>
              <a:rPr lang="en-US" dirty="0" err="1"/>
              <a:t>nagy</a:t>
            </a:r>
            <a:r>
              <a:rPr lang="en-US" dirty="0"/>
              <a:t> </a:t>
            </a:r>
            <a:r>
              <a:rPr lang="en-US" dirty="0" err="1"/>
              <a:t>forgalomnál</a:t>
            </a:r>
            <a:r>
              <a:rPr lang="hu-HU" dirty="0"/>
              <a:t>, </a:t>
            </a:r>
            <a:r>
              <a:rPr lang="en-US" dirty="0" err="1"/>
              <a:t>sok</a:t>
            </a:r>
            <a:r>
              <a:rPr lang="en-US" dirty="0"/>
              <a:t> microservice </a:t>
            </a:r>
            <a:r>
              <a:rPr lang="en-US" dirty="0" err="1"/>
              <a:t>esetén</a:t>
            </a:r>
            <a:r>
              <a:rPr lang="hu-HU" dirty="0"/>
              <a:t>, </a:t>
            </a:r>
            <a:r>
              <a:rPr lang="en-US" dirty="0" err="1"/>
              <a:t>alacsony</a:t>
            </a:r>
            <a:r>
              <a:rPr lang="en-US" dirty="0"/>
              <a:t> </a:t>
            </a:r>
            <a:r>
              <a:rPr lang="hu-HU" dirty="0"/>
              <a:t>késleltetés</a:t>
            </a:r>
            <a:r>
              <a:rPr lang="en-US" dirty="0"/>
              <a:t> </a:t>
            </a:r>
            <a:r>
              <a:rPr lang="en-US" dirty="0" err="1"/>
              <a:t>igénynél</a:t>
            </a:r>
            <a:r>
              <a:rPr lang="hu-HU" dirty="0"/>
              <a:t>.</a:t>
            </a:r>
            <a:endParaRPr lang="en-US" dirty="0"/>
          </a:p>
          <a:p>
            <a:endParaRPr lang="hu-HU" dirty="0"/>
          </a:p>
          <a:p>
            <a:r>
              <a:rPr lang="hu-HU" dirty="0"/>
              <a:t>Ez már önmagában egy nagyon fontos szemléletváltás a JSON-hoz vagy XML-hez képest.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1877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egyik</a:t>
            </a:r>
            <a:r>
              <a:rPr lang="en-US" dirty="0"/>
              <a:t> </a:t>
            </a:r>
            <a:r>
              <a:rPr lang="en-US" dirty="0" err="1"/>
              <a:t>legnagyobb</a:t>
            </a:r>
            <a:r>
              <a:rPr lang="en-US" dirty="0"/>
              <a:t> </a:t>
            </a:r>
            <a:r>
              <a:rPr lang="en-US" dirty="0" err="1"/>
              <a:t>különbség</a:t>
            </a:r>
            <a:r>
              <a:rPr lang="en-US" dirty="0"/>
              <a:t> a REST-</a:t>
            </a:r>
            <a:r>
              <a:rPr lang="en-US" dirty="0" err="1"/>
              <a:t>hez</a:t>
            </a:r>
            <a:r>
              <a:rPr lang="en-US" dirty="0"/>
              <a:t> </a:t>
            </a:r>
            <a:r>
              <a:rPr lang="en-US" dirty="0" err="1"/>
              <a:t>képest</a:t>
            </a:r>
            <a:r>
              <a:rPr lang="en-US" dirty="0"/>
              <a:t>.</a:t>
            </a:r>
          </a:p>
          <a:p>
            <a:endParaRPr lang="hu-HU" dirty="0"/>
          </a:p>
          <a:p>
            <a:r>
              <a:rPr lang="en-US" dirty="0"/>
              <a:t>A </a:t>
            </a:r>
            <a:r>
              <a:rPr lang="en-US" dirty="0" err="1"/>
              <a:t>gRPC</a:t>
            </a:r>
            <a:r>
              <a:rPr lang="en-US" dirty="0"/>
              <a:t> </a:t>
            </a:r>
            <a:r>
              <a:rPr lang="en-US" b="1" dirty="0" err="1"/>
              <a:t>nem</a:t>
            </a:r>
            <a:r>
              <a:rPr lang="en-US" b="1" dirty="0"/>
              <a:t> </a:t>
            </a:r>
            <a:r>
              <a:rPr lang="en-US" b="1" dirty="0" err="1"/>
              <a:t>csak</a:t>
            </a:r>
            <a:r>
              <a:rPr lang="en-US" b="1" dirty="0"/>
              <a:t> request–response</a:t>
            </a:r>
            <a:r>
              <a:rPr lang="en-US" dirty="0"/>
              <a:t>:</a:t>
            </a:r>
          </a:p>
          <a:p>
            <a:r>
              <a:rPr lang="hu-HU" dirty="0"/>
              <a:t>- </a:t>
            </a:r>
            <a:r>
              <a:rPr lang="en-US" dirty="0"/>
              <a:t>a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dirty="0" err="1"/>
              <a:t>folyamatosan</a:t>
            </a:r>
            <a:r>
              <a:rPr lang="en-US" dirty="0"/>
              <a:t> </a:t>
            </a:r>
            <a:r>
              <a:rPr lang="en-US" dirty="0" err="1"/>
              <a:t>küldhet</a:t>
            </a:r>
            <a:r>
              <a:rPr lang="en-US" dirty="0"/>
              <a:t> </a:t>
            </a:r>
            <a:r>
              <a:rPr lang="en-US" dirty="0" err="1"/>
              <a:t>adatot</a:t>
            </a:r>
            <a:endParaRPr lang="en-US" dirty="0"/>
          </a:p>
          <a:p>
            <a:r>
              <a:rPr lang="hu-HU" dirty="0"/>
              <a:t>- </a:t>
            </a:r>
            <a:r>
              <a:rPr lang="en-US" dirty="0"/>
              <a:t>a </a:t>
            </a:r>
            <a:r>
              <a:rPr lang="en-US" dirty="0" err="1"/>
              <a:t>kliens</a:t>
            </a:r>
            <a:r>
              <a:rPr lang="en-US" dirty="0"/>
              <a:t> is </a:t>
            </a:r>
            <a:r>
              <a:rPr lang="en-US" dirty="0" err="1"/>
              <a:t>streamelhet</a:t>
            </a:r>
            <a:endParaRPr lang="en-US" dirty="0"/>
          </a:p>
          <a:p>
            <a:r>
              <a:rPr lang="hu-HU" dirty="0"/>
              <a:t>- </a:t>
            </a:r>
            <a:r>
              <a:rPr lang="en-US" dirty="0" err="1"/>
              <a:t>akár</a:t>
            </a:r>
            <a:r>
              <a:rPr lang="en-US" dirty="0"/>
              <a:t> </a:t>
            </a:r>
            <a:r>
              <a:rPr lang="en-US" dirty="0" err="1"/>
              <a:t>kétirányú</a:t>
            </a:r>
            <a:r>
              <a:rPr lang="en-US" dirty="0"/>
              <a:t> </a:t>
            </a:r>
            <a:r>
              <a:rPr lang="en-US" dirty="0" err="1"/>
              <a:t>kommunikáció</a:t>
            </a:r>
            <a:r>
              <a:rPr lang="en-US" dirty="0"/>
              <a:t> is </a:t>
            </a:r>
            <a:r>
              <a:rPr lang="en-US" dirty="0" err="1"/>
              <a:t>lehet</a:t>
            </a:r>
            <a:endParaRPr lang="en-US" dirty="0"/>
          </a:p>
          <a:p>
            <a:endParaRPr lang="hu-HU" dirty="0"/>
          </a:p>
          <a:p>
            <a:r>
              <a:rPr lang="en-US" dirty="0"/>
              <a:t>Ez </a:t>
            </a:r>
            <a:r>
              <a:rPr lang="en-US" dirty="0" err="1"/>
              <a:t>nagyon</a:t>
            </a:r>
            <a:r>
              <a:rPr lang="en-US" dirty="0"/>
              <a:t> </a:t>
            </a:r>
            <a:r>
              <a:rPr lang="en-US" dirty="0" err="1"/>
              <a:t>jól</a:t>
            </a:r>
            <a:r>
              <a:rPr lang="en-US" dirty="0"/>
              <a:t> </a:t>
            </a:r>
            <a:r>
              <a:rPr lang="en-US" dirty="0" err="1"/>
              <a:t>jön</a:t>
            </a:r>
            <a:r>
              <a:rPr lang="en-US" dirty="0"/>
              <a:t>:</a:t>
            </a:r>
          </a:p>
          <a:p>
            <a:r>
              <a:rPr lang="hu-HU" dirty="0"/>
              <a:t>- </a:t>
            </a:r>
            <a:r>
              <a:rPr lang="en-US" dirty="0"/>
              <a:t>real-time </a:t>
            </a:r>
            <a:r>
              <a:rPr lang="en-US" dirty="0" err="1"/>
              <a:t>adatoknál</a:t>
            </a:r>
            <a:endParaRPr lang="en-US" dirty="0"/>
          </a:p>
          <a:p>
            <a:r>
              <a:rPr lang="hu-HU" dirty="0"/>
              <a:t>- </a:t>
            </a:r>
            <a:r>
              <a:rPr lang="en-US" dirty="0" err="1"/>
              <a:t>eseményfolyamoknál</a:t>
            </a:r>
            <a:endParaRPr lang="en-US" dirty="0"/>
          </a:p>
          <a:p>
            <a:r>
              <a:rPr lang="hu-HU" dirty="0"/>
              <a:t>- </a:t>
            </a:r>
            <a:r>
              <a:rPr lang="en-US" dirty="0" err="1"/>
              <a:t>belső</a:t>
            </a:r>
            <a:r>
              <a:rPr lang="en-US" dirty="0"/>
              <a:t> </a:t>
            </a:r>
            <a:r>
              <a:rPr lang="en-US" dirty="0" err="1"/>
              <a:t>szolgáltatásoknál</a:t>
            </a:r>
            <a:endParaRPr lang="hu-HU" dirty="0"/>
          </a:p>
          <a:p>
            <a:endParaRPr lang="en-US" dirty="0"/>
          </a:p>
          <a:p>
            <a:r>
              <a:rPr lang="hu-HU" dirty="0"/>
              <a:t>Mindez </a:t>
            </a:r>
            <a:r>
              <a:rPr lang="en-US" dirty="0" err="1"/>
              <a:t>bináris</a:t>
            </a:r>
            <a:r>
              <a:rPr lang="en-US" dirty="0"/>
              <a:t> </a:t>
            </a:r>
            <a:r>
              <a:rPr lang="en-US" dirty="0" err="1"/>
              <a:t>adat</a:t>
            </a:r>
            <a:r>
              <a:rPr lang="hu-HU" dirty="0"/>
              <a:t>okkal, </a:t>
            </a:r>
            <a:r>
              <a:rPr lang="en-US" dirty="0" err="1"/>
              <a:t>nagyon</a:t>
            </a:r>
            <a:r>
              <a:rPr lang="en-US" dirty="0"/>
              <a:t> </a:t>
            </a:r>
            <a:r>
              <a:rPr lang="en-US" dirty="0" err="1"/>
              <a:t>hatékonyan</a:t>
            </a:r>
            <a:r>
              <a:rPr lang="hu-HU" dirty="0"/>
              <a:t>, </a:t>
            </a:r>
            <a:r>
              <a:rPr lang="en-US" dirty="0"/>
              <a:t>HTTP/2 </a:t>
            </a:r>
            <a:r>
              <a:rPr lang="en-US" dirty="0" err="1"/>
              <a:t>felett</a:t>
            </a:r>
            <a:r>
              <a:rPr lang="hu-H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1754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Ahhoz, hogy megértsük, </a:t>
            </a:r>
            <a:r>
              <a:rPr lang="hu-HU" b="1" dirty="0"/>
              <a:t>miért kellett a </a:t>
            </a:r>
            <a:r>
              <a:rPr lang="hu-HU" b="1" dirty="0" err="1"/>
              <a:t>WebSocket</a:t>
            </a:r>
            <a:r>
              <a:rPr lang="hu-HU" dirty="0"/>
              <a:t>, először nagyon pontosan meg kell értenünk, </a:t>
            </a:r>
            <a:r>
              <a:rPr lang="hu-HU" b="1" dirty="0"/>
              <a:t>hogyan működik a HTTP</a:t>
            </a:r>
            <a:r>
              <a:rPr lang="hu-HU" dirty="0"/>
              <a:t>, és mik az </a:t>
            </a:r>
            <a:r>
              <a:rPr lang="hu-HU" b="1" dirty="0"/>
              <a:t>alapvető </a:t>
            </a:r>
            <a:r>
              <a:rPr lang="hu-HU" b="1" dirty="0" err="1"/>
              <a:t>korlátai</a:t>
            </a:r>
            <a:r>
              <a:rPr lang="hu-HU" dirty="0"/>
              <a:t>.</a:t>
            </a:r>
          </a:p>
          <a:p>
            <a:endParaRPr lang="hu-HU" dirty="0"/>
          </a:p>
          <a:p>
            <a:r>
              <a:rPr lang="en-US" dirty="0"/>
              <a:t>A HTTP </a:t>
            </a:r>
            <a:r>
              <a:rPr lang="en-US" dirty="0" err="1"/>
              <a:t>alapvetően</a:t>
            </a:r>
            <a:r>
              <a:rPr lang="en-US" dirty="0"/>
              <a:t> </a:t>
            </a:r>
            <a:r>
              <a:rPr lang="en-US" b="1" dirty="0" err="1"/>
              <a:t>kérés</a:t>
            </a:r>
            <a:r>
              <a:rPr lang="en-US" b="1" dirty="0"/>
              <a:t>–</a:t>
            </a:r>
            <a:r>
              <a:rPr lang="en-US" b="1" dirty="0" err="1"/>
              <a:t>válasz</a:t>
            </a:r>
            <a:r>
              <a:rPr lang="en-US" b="1" dirty="0"/>
              <a:t> </a:t>
            </a:r>
            <a:r>
              <a:rPr lang="en-US" b="1" dirty="0" err="1"/>
              <a:t>alapú</a:t>
            </a:r>
            <a:r>
              <a:rPr lang="hu-HU" b="1" dirty="0"/>
              <a:t> </a:t>
            </a:r>
            <a:r>
              <a:rPr lang="hu-HU" b="0" dirty="0"/>
              <a:t>és</a:t>
            </a:r>
            <a:r>
              <a:rPr lang="hu-HU" b="1" dirty="0"/>
              <a:t> állapotmentes.</a:t>
            </a:r>
            <a:endParaRPr lang="en-US" dirty="0"/>
          </a:p>
          <a:p>
            <a:endParaRPr lang="hu-HU" dirty="0"/>
          </a:p>
          <a:p>
            <a:r>
              <a:rPr lang="en-US" dirty="0"/>
              <a:t>Ha </a:t>
            </a:r>
            <a:r>
              <a:rPr lang="en-US" b="1" dirty="0"/>
              <a:t>real-time</a:t>
            </a:r>
            <a:r>
              <a:rPr lang="en-US" dirty="0"/>
              <a:t> </a:t>
            </a:r>
            <a:r>
              <a:rPr lang="en-US" dirty="0" err="1"/>
              <a:t>adat</a:t>
            </a:r>
            <a:r>
              <a:rPr lang="en-US" dirty="0"/>
              <a:t> </a:t>
            </a:r>
            <a:r>
              <a:rPr lang="en-US" dirty="0" err="1"/>
              <a:t>kell</a:t>
            </a:r>
            <a:r>
              <a:rPr lang="en-US" dirty="0"/>
              <a:t>:</a:t>
            </a:r>
          </a:p>
          <a:p>
            <a:r>
              <a:rPr lang="hu-HU" dirty="0"/>
              <a:t>- </a:t>
            </a:r>
            <a:r>
              <a:rPr lang="en-US" dirty="0"/>
              <a:t>a </a:t>
            </a:r>
            <a:r>
              <a:rPr lang="en-US" dirty="0" err="1"/>
              <a:t>kliens</a:t>
            </a:r>
            <a:r>
              <a:rPr lang="en-US" dirty="0"/>
              <a:t> </a:t>
            </a:r>
            <a:r>
              <a:rPr lang="en-US" dirty="0" err="1"/>
              <a:t>kérdezget</a:t>
            </a:r>
            <a:r>
              <a:rPr lang="hu-HU" dirty="0"/>
              <a:t> (</a:t>
            </a:r>
            <a:r>
              <a:rPr lang="hu-HU" dirty="0" err="1"/>
              <a:t>polling</a:t>
            </a:r>
            <a:r>
              <a:rPr lang="hu-HU" dirty="0"/>
              <a:t>)</a:t>
            </a:r>
            <a:endParaRPr lang="en-US" dirty="0"/>
          </a:p>
          <a:p>
            <a:r>
              <a:rPr lang="hu-HU" dirty="0"/>
              <a:t>- </a:t>
            </a:r>
            <a:r>
              <a:rPr lang="en-US" dirty="0" err="1"/>
              <a:t>ez</a:t>
            </a:r>
            <a:r>
              <a:rPr lang="en-US" dirty="0"/>
              <a:t> </a:t>
            </a:r>
            <a:r>
              <a:rPr lang="en-US" dirty="0" err="1"/>
              <a:t>pazarló</a:t>
            </a:r>
            <a:r>
              <a:rPr lang="en-US" dirty="0"/>
              <a:t> és </a:t>
            </a:r>
            <a:r>
              <a:rPr lang="en-US" dirty="0" err="1"/>
              <a:t>lassú</a:t>
            </a:r>
            <a:r>
              <a:rPr lang="hu-HU" dirty="0"/>
              <a:t>.</a:t>
            </a:r>
            <a:endParaRPr lang="en-US" dirty="0"/>
          </a:p>
          <a:p>
            <a:endParaRPr lang="hu-HU" dirty="0"/>
          </a:p>
          <a:p>
            <a:r>
              <a:rPr lang="en-US" dirty="0"/>
              <a:t>A </a:t>
            </a:r>
            <a:r>
              <a:rPr lang="en-US" b="1" dirty="0"/>
              <a:t>WebSocket</a:t>
            </a:r>
            <a:r>
              <a:rPr lang="en-US" dirty="0"/>
              <a:t> </a:t>
            </a:r>
            <a:r>
              <a:rPr lang="en-US" dirty="0" err="1"/>
              <a:t>erre</a:t>
            </a:r>
            <a:r>
              <a:rPr lang="en-US" dirty="0"/>
              <a:t> ad </a:t>
            </a:r>
            <a:r>
              <a:rPr lang="en-US" dirty="0" err="1"/>
              <a:t>választ</a:t>
            </a:r>
            <a:r>
              <a:rPr lang="en-US" dirty="0"/>
              <a:t>:</a:t>
            </a:r>
          </a:p>
          <a:p>
            <a:r>
              <a:rPr lang="hu-HU" dirty="0"/>
              <a:t>- </a:t>
            </a:r>
            <a:r>
              <a:rPr lang="en-US" dirty="0" err="1"/>
              <a:t>egyszer</a:t>
            </a:r>
            <a:r>
              <a:rPr lang="en-US" dirty="0"/>
              <a:t> </a:t>
            </a:r>
            <a:r>
              <a:rPr lang="en-US" dirty="0" err="1"/>
              <a:t>felépül</a:t>
            </a:r>
            <a:r>
              <a:rPr lang="en-US" dirty="0"/>
              <a:t> a </a:t>
            </a:r>
            <a:r>
              <a:rPr lang="en-US" dirty="0" err="1"/>
              <a:t>kapcsolat</a:t>
            </a:r>
            <a:endParaRPr lang="en-US" dirty="0"/>
          </a:p>
          <a:p>
            <a:r>
              <a:rPr lang="hu-HU" dirty="0"/>
              <a:t>- </a:t>
            </a:r>
            <a:r>
              <a:rPr lang="en-US" dirty="0" err="1"/>
              <a:t>utána</a:t>
            </a:r>
            <a:r>
              <a:rPr lang="en-US" dirty="0"/>
              <a:t> </a:t>
            </a:r>
            <a:r>
              <a:rPr lang="en-US" dirty="0" err="1"/>
              <a:t>folyamatos</a:t>
            </a:r>
            <a:r>
              <a:rPr lang="en-US" dirty="0"/>
              <a:t>, </a:t>
            </a:r>
            <a:r>
              <a:rPr lang="en-US" dirty="0" err="1"/>
              <a:t>kétirányú</a:t>
            </a:r>
            <a:r>
              <a:rPr lang="en-US" dirty="0"/>
              <a:t> </a:t>
            </a:r>
            <a:r>
              <a:rPr lang="en-US" dirty="0" err="1"/>
              <a:t>adatcsere</a:t>
            </a:r>
            <a:r>
              <a:rPr lang="hu-HU" dirty="0"/>
              <a:t>.</a:t>
            </a:r>
            <a:endParaRPr lang="en-US" dirty="0"/>
          </a:p>
          <a:p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Tipikusan </a:t>
            </a:r>
            <a:r>
              <a:rPr lang="hu-HU" b="1" dirty="0"/>
              <a:t>frontend</a:t>
            </a:r>
            <a:r>
              <a:rPr lang="hu-HU" dirty="0"/>
              <a:t> (böngésző vagy mobil kliens) és </a:t>
            </a:r>
            <a:r>
              <a:rPr lang="hu-HU" b="1" dirty="0"/>
              <a:t>backend</a:t>
            </a:r>
            <a:r>
              <a:rPr lang="hu-HU" dirty="0"/>
              <a:t> közti </a:t>
            </a:r>
            <a:r>
              <a:rPr lang="hu-HU" dirty="0" err="1"/>
              <a:t>real-time</a:t>
            </a:r>
            <a:r>
              <a:rPr lang="hu-HU" dirty="0"/>
              <a:t> </a:t>
            </a:r>
            <a:r>
              <a:rPr lang="hu-HU" dirty="0" err="1"/>
              <a:t>kétirányú</a:t>
            </a:r>
            <a:r>
              <a:rPr lang="hu-HU" dirty="0"/>
              <a:t> kommunikációra használják.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5844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err="1"/>
              <a:t>WebSocket</a:t>
            </a:r>
            <a:r>
              <a:rPr lang="hu-HU" dirty="0"/>
              <a:t> jellemzője:</a:t>
            </a:r>
          </a:p>
          <a:p>
            <a:r>
              <a:rPr lang="hu-HU" dirty="0"/>
              <a:t>- </a:t>
            </a:r>
            <a:r>
              <a:rPr lang="en-US" dirty="0"/>
              <a:t>HTTP handshake</a:t>
            </a:r>
          </a:p>
          <a:p>
            <a:r>
              <a:rPr lang="hu-HU" dirty="0"/>
              <a:t>- </a:t>
            </a:r>
            <a:r>
              <a:rPr lang="en-US" dirty="0"/>
              <a:t>upgrade </a:t>
            </a:r>
            <a:r>
              <a:rPr lang="en-US" dirty="0" err="1"/>
              <a:t>WebSocketre</a:t>
            </a:r>
            <a:endParaRPr lang="en-US" dirty="0"/>
          </a:p>
          <a:p>
            <a:r>
              <a:rPr lang="hu-HU" dirty="0"/>
              <a:t>- </a:t>
            </a:r>
            <a:r>
              <a:rPr lang="en-US" dirty="0"/>
              <a:t>full-duplex </a:t>
            </a:r>
            <a:r>
              <a:rPr lang="en-US" dirty="0" err="1"/>
              <a:t>kapcsolat</a:t>
            </a:r>
            <a:endParaRPr lang="hu-HU" dirty="0"/>
          </a:p>
          <a:p>
            <a:endParaRPr lang="hu-HU" dirty="0"/>
          </a:p>
          <a:p>
            <a:r>
              <a:rPr lang="en-US" dirty="0"/>
              <a:t>A </a:t>
            </a:r>
            <a:r>
              <a:rPr lang="en-US" b="1" dirty="0"/>
              <a:t>WebSocket</a:t>
            </a:r>
            <a:r>
              <a:rPr lang="en-US" dirty="0"/>
              <a:t> </a:t>
            </a:r>
            <a:r>
              <a:rPr lang="en-US" dirty="0" err="1"/>
              <a:t>érdekessége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hu-HU" dirty="0"/>
              <a:t> </a:t>
            </a:r>
            <a:r>
              <a:rPr lang="en-US" dirty="0"/>
              <a:t>HTTP-n </a:t>
            </a:r>
            <a:r>
              <a:rPr lang="en-US" dirty="0" err="1"/>
              <a:t>indul</a:t>
            </a:r>
            <a:r>
              <a:rPr lang="hu-HU" dirty="0"/>
              <a:t>, </a:t>
            </a:r>
            <a:r>
              <a:rPr lang="en-US" dirty="0" err="1"/>
              <a:t>majd</a:t>
            </a:r>
            <a:r>
              <a:rPr lang="en-US" dirty="0"/>
              <a:t> </a:t>
            </a:r>
            <a:r>
              <a:rPr lang="en-US" dirty="0" err="1"/>
              <a:t>átvált</a:t>
            </a:r>
            <a:r>
              <a:rPr lang="en-US" dirty="0"/>
              <a:t> WebSocket </a:t>
            </a:r>
            <a:r>
              <a:rPr lang="en-US" dirty="0" err="1"/>
              <a:t>módra</a:t>
            </a:r>
            <a:r>
              <a:rPr lang="hu-HU" dirty="0"/>
              <a:t>. A kommunikáció továbbra is </a:t>
            </a:r>
            <a:r>
              <a:rPr lang="hu-HU" b="1" dirty="0"/>
              <a:t>ugyanazon a </a:t>
            </a:r>
            <a:r>
              <a:rPr lang="hu-HU" b="1" dirty="0" err="1"/>
              <a:t>porton</a:t>
            </a:r>
            <a:r>
              <a:rPr lang="hu-HU" b="1" dirty="0"/>
              <a:t> </a:t>
            </a:r>
            <a:r>
              <a:rPr lang="hu-HU" b="0" dirty="0"/>
              <a:t>és</a:t>
            </a:r>
            <a:r>
              <a:rPr lang="hu-HU" b="1" dirty="0"/>
              <a:t> TCP kapcsolaton </a:t>
            </a:r>
            <a:r>
              <a:rPr lang="hu-HU" dirty="0"/>
              <a:t>zajlik. („tűzfal-barát”)</a:t>
            </a:r>
            <a:endParaRPr lang="en-US" dirty="0"/>
          </a:p>
          <a:p>
            <a:endParaRPr lang="hu-HU" dirty="0"/>
          </a:p>
          <a:p>
            <a:r>
              <a:rPr lang="en-US" dirty="0" err="1"/>
              <a:t>Ezután</a:t>
            </a:r>
            <a:r>
              <a:rPr lang="en-US" dirty="0"/>
              <a:t>:</a:t>
            </a:r>
          </a:p>
          <a:p>
            <a:r>
              <a:rPr lang="hu-HU" dirty="0"/>
              <a:t>- </a:t>
            </a:r>
            <a:r>
              <a:rPr lang="en-US" dirty="0" err="1"/>
              <a:t>nincs</a:t>
            </a:r>
            <a:r>
              <a:rPr lang="en-US" dirty="0"/>
              <a:t> request–response</a:t>
            </a:r>
            <a:endParaRPr lang="hu-HU" dirty="0"/>
          </a:p>
          <a:p>
            <a:r>
              <a:rPr lang="hu-HU" dirty="0"/>
              <a:t>- nem HTTP alapú kommunikáció, hanem </a:t>
            </a:r>
            <a:r>
              <a:rPr lang="hu-HU" dirty="0" err="1"/>
              <a:t>WebSocket</a:t>
            </a:r>
            <a:r>
              <a:rPr lang="hu-HU" dirty="0"/>
              <a:t> </a:t>
            </a:r>
            <a:r>
              <a:rPr lang="hu-HU" dirty="0" err="1"/>
              <a:t>frame</a:t>
            </a:r>
            <a:r>
              <a:rPr lang="hu-HU" dirty="0"/>
              <a:t>-ek,</a:t>
            </a:r>
          </a:p>
          <a:p>
            <a:r>
              <a:rPr lang="hu-HU" dirty="0"/>
              <a:t>- a kapcsolat </a:t>
            </a:r>
            <a:r>
              <a:rPr lang="hu-HU" dirty="0" err="1"/>
              <a:t>stateful</a:t>
            </a:r>
            <a:endParaRPr lang="en-US" dirty="0"/>
          </a:p>
          <a:p>
            <a:r>
              <a:rPr lang="hu-HU" dirty="0"/>
              <a:t>- </a:t>
            </a:r>
            <a:r>
              <a:rPr lang="en-US" dirty="0" err="1"/>
              <a:t>mindkét</a:t>
            </a:r>
            <a:r>
              <a:rPr lang="en-US" dirty="0"/>
              <a:t> </a:t>
            </a:r>
            <a:r>
              <a:rPr lang="en-US" dirty="0" err="1"/>
              <a:t>fél</a:t>
            </a:r>
            <a:r>
              <a:rPr lang="en-US" dirty="0"/>
              <a:t> </a:t>
            </a:r>
            <a:r>
              <a:rPr lang="en-US" dirty="0" err="1"/>
              <a:t>küldhet</a:t>
            </a:r>
            <a:r>
              <a:rPr lang="en-US" dirty="0"/>
              <a:t> </a:t>
            </a:r>
            <a:r>
              <a:rPr lang="en-US" dirty="0" err="1"/>
              <a:t>adatot</a:t>
            </a:r>
            <a:r>
              <a:rPr lang="en-US" dirty="0"/>
              <a:t> </a:t>
            </a:r>
            <a:r>
              <a:rPr lang="en-US" dirty="0" err="1"/>
              <a:t>bármikor</a:t>
            </a:r>
            <a:endParaRPr lang="en-US" dirty="0"/>
          </a:p>
          <a:p>
            <a:endParaRPr lang="hu-HU" dirty="0"/>
          </a:p>
          <a:p>
            <a:r>
              <a:rPr lang="en-US" dirty="0"/>
              <a:t>Ez </a:t>
            </a:r>
            <a:r>
              <a:rPr lang="en-US" dirty="0" err="1"/>
              <a:t>ideális</a:t>
            </a:r>
            <a:r>
              <a:rPr lang="en-US" dirty="0"/>
              <a:t>:</a:t>
            </a:r>
          </a:p>
          <a:p>
            <a:pPr marL="0" indent="0">
              <a:buFontTx/>
              <a:buNone/>
            </a:pPr>
            <a:r>
              <a:rPr lang="hu-HU" dirty="0"/>
              <a:t>- </a:t>
            </a:r>
            <a:r>
              <a:rPr lang="en-US" dirty="0"/>
              <a:t>chat </a:t>
            </a:r>
            <a:r>
              <a:rPr lang="en-US" dirty="0" err="1"/>
              <a:t>alkalmazásokhoz</a:t>
            </a:r>
            <a:r>
              <a:rPr lang="hu-HU" dirty="0"/>
              <a:t>,</a:t>
            </a:r>
          </a:p>
          <a:p>
            <a:pPr marL="0" indent="0">
              <a:buFontTx/>
              <a:buNone/>
            </a:pPr>
            <a:r>
              <a:rPr lang="hu-HU" dirty="0"/>
              <a:t>- </a:t>
            </a:r>
            <a:r>
              <a:rPr lang="hu-HU" dirty="0" err="1"/>
              <a:t>eseményvezérelt</a:t>
            </a:r>
            <a:r>
              <a:rPr lang="hu-HU" dirty="0"/>
              <a:t> értesítésekhez</a:t>
            </a:r>
            <a:endParaRPr lang="en-US" dirty="0"/>
          </a:p>
          <a:p>
            <a:pPr marL="0" indent="0">
              <a:buFontTx/>
              <a:buNone/>
            </a:pPr>
            <a:r>
              <a:rPr lang="hu-HU" dirty="0"/>
              <a:t>- </a:t>
            </a:r>
            <a:r>
              <a:rPr lang="en-US" dirty="0"/>
              <a:t>live </a:t>
            </a:r>
            <a:r>
              <a:rPr lang="en-US" dirty="0" err="1"/>
              <a:t>dashboardokhoz</a:t>
            </a:r>
            <a:endParaRPr lang="hu-HU" dirty="0"/>
          </a:p>
          <a:p>
            <a:pPr marL="0" indent="0">
              <a:buFontTx/>
              <a:buNone/>
            </a:pPr>
            <a:endParaRPr lang="hu-HU" dirty="0"/>
          </a:p>
          <a:p>
            <a:pPr marL="0" indent="0">
              <a:buFontTx/>
              <a:buNone/>
            </a:pPr>
            <a:r>
              <a:rPr lang="hu-HU" dirty="0"/>
              <a:t>A </a:t>
            </a:r>
            <a:r>
              <a:rPr lang="hu-HU" dirty="0" err="1"/>
              <a:t>WebSocket</a:t>
            </a:r>
            <a:r>
              <a:rPr lang="hu-HU" dirty="0"/>
              <a:t> szöveges (UTF-8) és bináris adatot is képes továbbítani. De a protokoll nem határozza meg az adat struktúráját – ez alkalmazás-szintű döntés. A </a:t>
            </a:r>
            <a:r>
              <a:rPr lang="hu-HU" dirty="0" err="1"/>
              <a:t>WebSocket</a:t>
            </a:r>
            <a:r>
              <a:rPr lang="hu-HU" dirty="0"/>
              <a:t> csak a kapcsolatot és a keretezést adja.</a:t>
            </a:r>
          </a:p>
          <a:p>
            <a:pPr marL="0" indent="0">
              <a:buFontTx/>
              <a:buNone/>
            </a:pPr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5484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 </a:t>
            </a:r>
            <a:r>
              <a:rPr lang="en-US" dirty="0" err="1"/>
              <a:t>első</a:t>
            </a:r>
            <a:r>
              <a:rPr lang="en-US" dirty="0"/>
              <a:t> és </a:t>
            </a:r>
            <a:r>
              <a:rPr lang="en-US" dirty="0" err="1"/>
              <a:t>legnagyobb</a:t>
            </a:r>
            <a:r>
              <a:rPr lang="en-US" dirty="0"/>
              <a:t> </a:t>
            </a:r>
            <a:r>
              <a:rPr lang="en-US" dirty="0" err="1"/>
              <a:t>előnye</a:t>
            </a:r>
            <a:r>
              <a:rPr lang="en-US" dirty="0"/>
              <a:t> a </a:t>
            </a:r>
            <a:r>
              <a:rPr lang="en-US" dirty="0" err="1"/>
              <a:t>WebSocketnek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b="1" dirty="0" err="1"/>
              <a:t>valódi</a:t>
            </a:r>
            <a:r>
              <a:rPr lang="en-US" b="1" dirty="0"/>
              <a:t> real-time </a:t>
            </a:r>
            <a:r>
              <a:rPr lang="en-US" b="1" dirty="0" err="1"/>
              <a:t>kommunikációt</a:t>
            </a:r>
            <a:r>
              <a:rPr lang="en-US" b="1" dirty="0"/>
              <a:t> </a:t>
            </a:r>
            <a:r>
              <a:rPr lang="en-US" b="1" dirty="0" err="1"/>
              <a:t>tesz</a:t>
            </a:r>
            <a:r>
              <a:rPr lang="en-US" b="1" dirty="0"/>
              <a:t> </a:t>
            </a:r>
            <a:r>
              <a:rPr lang="en-US" b="1" dirty="0" err="1"/>
              <a:t>lehetővé</a:t>
            </a:r>
            <a:r>
              <a:rPr lang="hu-HU" b="1" dirty="0"/>
              <a:t>.</a:t>
            </a:r>
            <a:r>
              <a:rPr lang="hu-HU" b="0" dirty="0"/>
              <a:t> </a:t>
            </a:r>
            <a:r>
              <a:rPr lang="en-US" dirty="0"/>
              <a:t>A WebSocket </a:t>
            </a:r>
            <a:r>
              <a:rPr lang="en-US" dirty="0" err="1"/>
              <a:t>második</a:t>
            </a:r>
            <a:r>
              <a:rPr lang="en-US" dirty="0"/>
              <a:t> </a:t>
            </a:r>
            <a:r>
              <a:rPr lang="en-US" dirty="0" err="1"/>
              <a:t>nagy</a:t>
            </a:r>
            <a:r>
              <a:rPr lang="en-US" dirty="0"/>
              <a:t> </a:t>
            </a:r>
            <a:r>
              <a:rPr lang="en-US" dirty="0" err="1"/>
              <a:t>előnye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b="1" dirty="0" err="1"/>
              <a:t>alacsony</a:t>
            </a:r>
            <a:r>
              <a:rPr lang="en-US" b="1" dirty="0"/>
              <a:t> </a:t>
            </a:r>
            <a:r>
              <a:rPr lang="en-US" b="1" dirty="0" err="1"/>
              <a:t>késleltetés</a:t>
            </a:r>
            <a:r>
              <a:rPr lang="hu-HU" b="0" dirty="0"/>
              <a:t>.</a:t>
            </a:r>
          </a:p>
          <a:p>
            <a:endParaRPr lang="hu-HU" b="0" dirty="0"/>
          </a:p>
          <a:p>
            <a:r>
              <a:rPr lang="en-US" dirty="0"/>
              <a:t>A WebSocket </a:t>
            </a:r>
            <a:r>
              <a:rPr lang="en-US" b="1" dirty="0" err="1"/>
              <a:t>állandó</a:t>
            </a:r>
            <a:r>
              <a:rPr lang="en-US" b="1" dirty="0"/>
              <a:t> </a:t>
            </a:r>
            <a:r>
              <a:rPr lang="en-US" b="1" dirty="0" err="1"/>
              <a:t>kapcsolatot</a:t>
            </a:r>
            <a:r>
              <a:rPr lang="en-US" b="1" dirty="0"/>
              <a:t> </a:t>
            </a:r>
            <a:r>
              <a:rPr lang="en-US" b="0" dirty="0"/>
              <a:t>tart </a:t>
            </a:r>
            <a:r>
              <a:rPr lang="en-US" b="0" dirty="0" err="1"/>
              <a:t>fenn</a:t>
            </a:r>
            <a:r>
              <a:rPr lang="en-US" dirty="0"/>
              <a:t>.</a:t>
            </a:r>
          </a:p>
          <a:p>
            <a:r>
              <a:rPr lang="en-US" dirty="0"/>
              <a:t>Ez </a:t>
            </a:r>
            <a:r>
              <a:rPr lang="en-US" dirty="0" err="1"/>
              <a:t>azt</a:t>
            </a:r>
            <a:r>
              <a:rPr lang="en-US" dirty="0"/>
              <a:t> </a:t>
            </a:r>
            <a:r>
              <a:rPr lang="en-US" dirty="0" err="1"/>
              <a:t>jelenti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:</a:t>
            </a:r>
          </a:p>
          <a:p>
            <a:r>
              <a:rPr lang="hu-HU" dirty="0"/>
              <a:t>- </a:t>
            </a:r>
            <a:r>
              <a:rPr lang="en-US" dirty="0"/>
              <a:t>a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b="1" dirty="0" err="1"/>
              <a:t>emlékszik</a:t>
            </a:r>
            <a:r>
              <a:rPr lang="en-US" b="1" dirty="0"/>
              <a:t> a </a:t>
            </a:r>
            <a:r>
              <a:rPr lang="en-US" b="1" dirty="0" err="1"/>
              <a:t>kliensre</a:t>
            </a:r>
            <a:endParaRPr lang="en-US" dirty="0"/>
          </a:p>
          <a:p>
            <a:r>
              <a:rPr lang="hu-HU" dirty="0"/>
              <a:t>- </a:t>
            </a:r>
            <a:r>
              <a:rPr lang="en-US" dirty="0" err="1"/>
              <a:t>nyilvántartja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b="1" dirty="0" err="1"/>
              <a:t>aktív</a:t>
            </a:r>
            <a:r>
              <a:rPr lang="en-US" dirty="0"/>
              <a:t> </a:t>
            </a:r>
            <a:r>
              <a:rPr lang="en-US" dirty="0" err="1"/>
              <a:t>kapcsolatokat</a:t>
            </a:r>
            <a:endParaRPr lang="en-US" dirty="0"/>
          </a:p>
          <a:p>
            <a:r>
              <a:rPr lang="hu-HU" dirty="0"/>
              <a:t>- </a:t>
            </a:r>
            <a:r>
              <a:rPr lang="en-US" b="1" dirty="0" err="1"/>
              <a:t>állapotot</a:t>
            </a:r>
            <a:r>
              <a:rPr lang="en-US" dirty="0"/>
              <a:t> </a:t>
            </a:r>
            <a:r>
              <a:rPr lang="en-US" dirty="0" err="1"/>
              <a:t>kezel</a:t>
            </a:r>
            <a:r>
              <a:rPr lang="hu-HU" dirty="0"/>
              <a:t>.</a:t>
            </a:r>
          </a:p>
          <a:p>
            <a:endParaRPr lang="en-US" dirty="0"/>
          </a:p>
          <a:p>
            <a:r>
              <a:rPr lang="hu-HU" dirty="0"/>
              <a:t>Ennek következménye: több memóriaigény, több nyitott kapcsolat, érzékenyebb a hálózati problémákra.</a:t>
            </a:r>
          </a:p>
          <a:p>
            <a:endParaRPr lang="hu-HU" dirty="0"/>
          </a:p>
          <a:p>
            <a:r>
              <a:rPr lang="en-US" dirty="0"/>
              <a:t>Az </a:t>
            </a:r>
            <a:r>
              <a:rPr lang="en-US" dirty="0" err="1"/>
              <a:t>állandó</a:t>
            </a:r>
            <a:r>
              <a:rPr lang="en-US" dirty="0"/>
              <a:t> </a:t>
            </a:r>
            <a:r>
              <a:rPr lang="en-US" dirty="0" err="1"/>
              <a:t>kapcsolatok</a:t>
            </a:r>
            <a:r>
              <a:rPr lang="en-US" dirty="0"/>
              <a:t> </a:t>
            </a:r>
            <a:r>
              <a:rPr lang="en-US" dirty="0" err="1"/>
              <a:t>miatt</a:t>
            </a:r>
            <a:r>
              <a:rPr lang="en-US" dirty="0"/>
              <a:t> a WebSocket </a:t>
            </a:r>
            <a:r>
              <a:rPr lang="en-US" b="1" dirty="0" err="1"/>
              <a:t>sokkal</a:t>
            </a:r>
            <a:r>
              <a:rPr lang="en-US" b="1" dirty="0"/>
              <a:t> </a:t>
            </a:r>
            <a:r>
              <a:rPr lang="en-US" b="1" dirty="0" err="1"/>
              <a:t>nehezebben</a:t>
            </a:r>
            <a:r>
              <a:rPr lang="en-US" b="1" dirty="0"/>
              <a:t> </a:t>
            </a:r>
            <a:r>
              <a:rPr lang="en-US" b="1" dirty="0" err="1"/>
              <a:t>skálázható</a:t>
            </a:r>
            <a:r>
              <a:rPr lang="en-US" dirty="0"/>
              <a:t>, mint a </a:t>
            </a:r>
            <a:r>
              <a:rPr lang="en-US" dirty="0" err="1"/>
              <a:t>klasszikus</a:t>
            </a:r>
            <a:r>
              <a:rPr lang="en-US" dirty="0"/>
              <a:t> HTTP</a:t>
            </a:r>
            <a:r>
              <a:rPr lang="hu-HU" dirty="0"/>
              <a:t>. HTTP esetén a </a:t>
            </a:r>
            <a:r>
              <a:rPr lang="hu-HU" dirty="0" err="1"/>
              <a:t>stateless</a:t>
            </a:r>
            <a:r>
              <a:rPr lang="hu-HU" dirty="0"/>
              <a:t> kérés bárhova mehet egy </a:t>
            </a:r>
            <a:r>
              <a:rPr lang="hu-HU" dirty="0" err="1"/>
              <a:t>load</a:t>
            </a:r>
            <a:r>
              <a:rPr lang="hu-HU" dirty="0"/>
              <a:t> </a:t>
            </a:r>
            <a:r>
              <a:rPr lang="hu-HU" dirty="0" err="1"/>
              <a:t>balancer</a:t>
            </a:r>
            <a:r>
              <a:rPr lang="hu-HU" dirty="0"/>
              <a:t> mögött.</a:t>
            </a:r>
          </a:p>
          <a:p>
            <a:r>
              <a:rPr lang="hu-HU" dirty="0" err="1"/>
              <a:t>WebSocket</a:t>
            </a:r>
            <a:r>
              <a:rPr lang="hu-HU" dirty="0"/>
              <a:t> esetén </a:t>
            </a:r>
            <a:r>
              <a:rPr lang="en-US" dirty="0" err="1"/>
              <a:t>kapcsolat</a:t>
            </a:r>
            <a:r>
              <a:rPr lang="en-US" dirty="0"/>
              <a:t> </a:t>
            </a:r>
            <a:r>
              <a:rPr lang="en-US" b="1" dirty="0" err="1"/>
              <a:t>egy</a:t>
            </a:r>
            <a:r>
              <a:rPr lang="en-US" b="1" dirty="0"/>
              <a:t> </a:t>
            </a:r>
            <a:r>
              <a:rPr lang="en-US" b="1" dirty="0" err="1"/>
              <a:t>konkrét</a:t>
            </a:r>
            <a:r>
              <a:rPr lang="en-US" b="1" dirty="0"/>
              <a:t> </a:t>
            </a:r>
            <a:r>
              <a:rPr lang="en-US" b="1" dirty="0" err="1"/>
              <a:t>szerverhez</a:t>
            </a:r>
            <a:r>
              <a:rPr lang="en-US" b="1" dirty="0"/>
              <a:t> </a:t>
            </a:r>
            <a:r>
              <a:rPr lang="en-US" b="1" dirty="0" err="1"/>
              <a:t>kötődik</a:t>
            </a:r>
            <a:r>
              <a:rPr lang="hu-HU" b="0" dirty="0"/>
              <a:t>, nem lehet csak úgy átirányítani egy másik </a:t>
            </a:r>
            <a:r>
              <a:rPr lang="hu-HU" b="0" dirty="0" err="1"/>
              <a:t>node-ra</a:t>
            </a:r>
            <a:r>
              <a:rPr lang="hu-HU" b="0" dirty="0"/>
              <a:t> (backend szerverre). Megoldható ,de nehézkes.</a:t>
            </a:r>
          </a:p>
          <a:p>
            <a:r>
              <a:rPr lang="hu-HU" b="0" dirty="0" err="1"/>
              <a:t>WebSocket</a:t>
            </a:r>
            <a:r>
              <a:rPr lang="hu-HU" b="0" dirty="0"/>
              <a:t>-nél figyelni kell a kapcsolat időtúllépésekre, </a:t>
            </a:r>
            <a:r>
              <a:rPr lang="hu-HU" b="0" dirty="0" err="1"/>
              <a:t>reconnect</a:t>
            </a:r>
            <a:r>
              <a:rPr lang="hu-HU" b="0" dirty="0"/>
              <a:t> logikára, hálózati szakadásokra, stb.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0948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b="1" dirty="0"/>
              <a:t>A </a:t>
            </a:r>
            <a:r>
              <a:rPr lang="en-US" b="1" dirty="0"/>
              <a:t>microservice </a:t>
            </a:r>
            <a:r>
              <a:rPr lang="en-US" b="1" dirty="0" err="1"/>
              <a:t>nem</a:t>
            </a:r>
            <a:r>
              <a:rPr lang="en-US" b="1" dirty="0"/>
              <a:t> </a:t>
            </a:r>
            <a:r>
              <a:rPr lang="hu-HU" b="1" dirty="0"/>
              <a:t>technológia és nem </a:t>
            </a:r>
            <a:r>
              <a:rPr lang="en-US" b="1" dirty="0" err="1"/>
              <a:t>protokoll</a:t>
            </a:r>
            <a:r>
              <a:rPr lang="en-US" b="1" dirty="0"/>
              <a:t>.</a:t>
            </a:r>
            <a:br>
              <a:rPr lang="en-US" b="1" dirty="0"/>
            </a:br>
            <a:r>
              <a:rPr lang="en-US" b="1" dirty="0"/>
              <a:t>Nem REST.</a:t>
            </a:r>
            <a:br>
              <a:rPr lang="en-US" b="1" dirty="0"/>
            </a:br>
            <a:r>
              <a:rPr lang="en-US" b="1" dirty="0"/>
              <a:t>Nem </a:t>
            </a:r>
            <a:r>
              <a:rPr lang="en-US" b="1" dirty="0" err="1"/>
              <a:t>gRPC</a:t>
            </a:r>
            <a:r>
              <a:rPr lang="en-US" b="1" dirty="0"/>
              <a:t>.</a:t>
            </a:r>
            <a:br>
              <a:rPr lang="en-US" b="1" dirty="0"/>
            </a:br>
            <a:r>
              <a:rPr lang="en-US" b="1" dirty="0"/>
              <a:t>Nem WebSocket.</a:t>
            </a:r>
            <a:endParaRPr lang="hu-HU" b="1" dirty="0"/>
          </a:p>
          <a:p>
            <a:endParaRPr lang="en-US" dirty="0"/>
          </a:p>
          <a:p>
            <a:r>
              <a:rPr lang="en-US" dirty="0"/>
              <a:t>A microservice</a:t>
            </a:r>
            <a:r>
              <a:rPr lang="hu-HU" dirty="0"/>
              <a:t> egy</a:t>
            </a:r>
            <a:r>
              <a:rPr lang="en-US" dirty="0"/>
              <a:t> </a:t>
            </a:r>
            <a:r>
              <a:rPr lang="en-US" b="1" dirty="0" err="1"/>
              <a:t>architektúra</a:t>
            </a:r>
            <a:r>
              <a:rPr lang="hu-HU" b="1" dirty="0"/>
              <a:t> </a:t>
            </a:r>
            <a:r>
              <a:rPr lang="hu-HU" b="0" dirty="0"/>
              <a:t>tervezési stílus</a:t>
            </a:r>
            <a:r>
              <a:rPr lang="hu-HU" b="1" dirty="0"/>
              <a:t>. </a:t>
            </a:r>
            <a:r>
              <a:rPr lang="en-US" dirty="0"/>
              <a:t>Egy </a:t>
            </a:r>
            <a:r>
              <a:rPr lang="en-US" dirty="0" err="1"/>
              <a:t>gondolkodásmód</a:t>
            </a:r>
            <a:r>
              <a:rPr lang="en-US" dirty="0"/>
              <a:t> </a:t>
            </a:r>
            <a:r>
              <a:rPr lang="en-US" dirty="0" err="1"/>
              <a:t>arról</a:t>
            </a:r>
            <a:r>
              <a:rPr lang="en-US" dirty="0"/>
              <a:t>, </a:t>
            </a:r>
            <a:r>
              <a:rPr lang="en-US" b="1" dirty="0" err="1"/>
              <a:t>hogyan</a:t>
            </a:r>
            <a:r>
              <a:rPr lang="en-US" b="1" dirty="0"/>
              <a:t> </a:t>
            </a:r>
            <a:r>
              <a:rPr lang="en-US" b="1" dirty="0" err="1"/>
              <a:t>építünk</a:t>
            </a:r>
            <a:r>
              <a:rPr lang="en-US" b="1" dirty="0"/>
              <a:t> </a:t>
            </a:r>
            <a:r>
              <a:rPr lang="en-US" b="1" dirty="0" err="1"/>
              <a:t>fel</a:t>
            </a:r>
            <a:r>
              <a:rPr lang="en-US" b="1" dirty="0"/>
              <a:t> </a:t>
            </a:r>
            <a:r>
              <a:rPr lang="en-US" b="1" dirty="0" err="1"/>
              <a:t>egy</a:t>
            </a:r>
            <a:r>
              <a:rPr lang="en-US" b="1" dirty="0"/>
              <a:t> </a:t>
            </a:r>
            <a:r>
              <a:rPr lang="hu-HU" b="1" dirty="0"/>
              <a:t>elosztott skálázható (backend) </a:t>
            </a:r>
            <a:r>
              <a:rPr lang="en-US" b="1" dirty="0" err="1"/>
              <a:t>rendszert</a:t>
            </a:r>
            <a:r>
              <a:rPr lang="en-US" dirty="0"/>
              <a:t>.</a:t>
            </a:r>
          </a:p>
          <a:p>
            <a:endParaRPr lang="hu-HU" dirty="0"/>
          </a:p>
          <a:p>
            <a:r>
              <a:rPr lang="en-US" dirty="0"/>
              <a:t>A microservice </a:t>
            </a:r>
            <a:r>
              <a:rPr lang="en-US" dirty="0" err="1"/>
              <a:t>architektúra</a:t>
            </a:r>
            <a:r>
              <a:rPr lang="en-US" dirty="0"/>
              <a:t> </a:t>
            </a:r>
            <a:r>
              <a:rPr lang="en-US" dirty="0" err="1"/>
              <a:t>alapelve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:</a:t>
            </a:r>
          </a:p>
          <a:p>
            <a:r>
              <a:rPr lang="hu-HU" dirty="0"/>
              <a:t>- </a:t>
            </a:r>
            <a:r>
              <a:rPr lang="en-US" dirty="0"/>
              <a:t>a </a:t>
            </a:r>
            <a:r>
              <a:rPr lang="en-US" dirty="0" err="1"/>
              <a:t>rendszer</a:t>
            </a:r>
            <a:r>
              <a:rPr lang="en-US" dirty="0"/>
              <a:t> </a:t>
            </a:r>
            <a:r>
              <a:rPr lang="en-US" b="1" dirty="0" err="1"/>
              <a:t>nem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nagy</a:t>
            </a:r>
            <a:r>
              <a:rPr lang="en-US" dirty="0"/>
              <a:t>, </a:t>
            </a:r>
            <a:r>
              <a:rPr lang="en-US" dirty="0" err="1"/>
              <a:t>mindent</a:t>
            </a:r>
            <a:r>
              <a:rPr lang="en-US" dirty="0"/>
              <a:t> </a:t>
            </a:r>
            <a:r>
              <a:rPr lang="en-US" dirty="0" err="1"/>
              <a:t>tartalmazó</a:t>
            </a:r>
            <a:r>
              <a:rPr lang="en-US" dirty="0"/>
              <a:t> </a:t>
            </a:r>
            <a:r>
              <a:rPr lang="hu-HU" dirty="0"/>
              <a:t>(</a:t>
            </a:r>
            <a:r>
              <a:rPr lang="hu-HU" b="1" dirty="0"/>
              <a:t>monolitikus</a:t>
            </a:r>
            <a:r>
              <a:rPr lang="hu-HU" dirty="0"/>
              <a:t>) </a:t>
            </a:r>
            <a:r>
              <a:rPr lang="en-US" dirty="0" err="1"/>
              <a:t>alkalmazás</a:t>
            </a:r>
            <a:endParaRPr lang="en-US" dirty="0"/>
          </a:p>
          <a:p>
            <a:r>
              <a:rPr lang="hu-HU" dirty="0"/>
              <a:t>- </a:t>
            </a:r>
            <a:r>
              <a:rPr lang="en-US" dirty="0" err="1"/>
              <a:t>hanem</a:t>
            </a:r>
            <a:r>
              <a:rPr lang="en-US" dirty="0"/>
              <a:t> </a:t>
            </a:r>
            <a:r>
              <a:rPr lang="en-US" b="1" dirty="0" err="1"/>
              <a:t>sok</a:t>
            </a:r>
            <a:r>
              <a:rPr lang="en-US" b="1" dirty="0"/>
              <a:t> </a:t>
            </a:r>
            <a:r>
              <a:rPr lang="en-US" b="1" dirty="0" err="1"/>
              <a:t>kisebb</a:t>
            </a:r>
            <a:r>
              <a:rPr lang="en-US" b="1" dirty="0"/>
              <a:t> </a:t>
            </a:r>
            <a:r>
              <a:rPr lang="en-US" b="1" dirty="0" err="1"/>
              <a:t>szolgáltatásból</a:t>
            </a:r>
            <a:r>
              <a:rPr lang="en-US" b="1" dirty="0"/>
              <a:t> </a:t>
            </a:r>
            <a:r>
              <a:rPr lang="en-US" b="1" dirty="0" err="1"/>
              <a:t>áll</a:t>
            </a:r>
            <a:endParaRPr lang="en-US" dirty="0"/>
          </a:p>
          <a:p>
            <a:endParaRPr lang="hu-HU" dirty="0"/>
          </a:p>
          <a:p>
            <a:r>
              <a:rPr lang="en-US" dirty="0"/>
              <a:t>Egy </a:t>
            </a:r>
            <a:r>
              <a:rPr lang="hu-HU" dirty="0" err="1"/>
              <a:t>micro</a:t>
            </a:r>
            <a:r>
              <a:rPr lang="en-US" dirty="0"/>
              <a:t>s</a:t>
            </a:r>
            <a:r>
              <a:rPr lang="hu-HU" dirty="0" err="1"/>
              <a:t>ervice</a:t>
            </a:r>
            <a:r>
              <a:rPr lang="hu-HU" dirty="0"/>
              <a:t> pedig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jól</a:t>
            </a:r>
            <a:r>
              <a:rPr lang="en-US" dirty="0"/>
              <a:t> </a:t>
            </a:r>
            <a:r>
              <a:rPr lang="en-US" dirty="0" err="1"/>
              <a:t>körülhatárolt</a:t>
            </a:r>
            <a:r>
              <a:rPr lang="en-US" dirty="0"/>
              <a:t> </a:t>
            </a:r>
            <a:r>
              <a:rPr lang="en-US" dirty="0" err="1"/>
              <a:t>üzleti</a:t>
            </a:r>
            <a:r>
              <a:rPr lang="en-US" dirty="0"/>
              <a:t> </a:t>
            </a:r>
            <a:r>
              <a:rPr lang="en-US" dirty="0" err="1"/>
              <a:t>funkcióért</a:t>
            </a:r>
            <a:r>
              <a:rPr lang="en-US" dirty="0"/>
              <a:t> </a:t>
            </a:r>
            <a:r>
              <a:rPr lang="en-US" dirty="0" err="1"/>
              <a:t>felel</a:t>
            </a:r>
            <a:r>
              <a:rPr lang="hu-HU" dirty="0"/>
              <a:t> saját adatkezeléssel, és saját felelősségi körökkel.</a:t>
            </a:r>
          </a:p>
          <a:p>
            <a:r>
              <a:rPr lang="hu-HU" dirty="0"/>
              <a:t>Egy </a:t>
            </a:r>
            <a:r>
              <a:rPr lang="hu-HU" dirty="0" err="1"/>
              <a:t>microservice</a:t>
            </a:r>
            <a:r>
              <a:rPr lang="hu-HU" dirty="0"/>
              <a:t>-t külön lehet </a:t>
            </a:r>
            <a:r>
              <a:rPr lang="hu-HU" dirty="0" err="1"/>
              <a:t>buildelni</a:t>
            </a:r>
            <a:r>
              <a:rPr lang="hu-HU" dirty="0"/>
              <a:t>, tesztelni, kiadni és frissíteni/telepíteni. (</a:t>
            </a:r>
            <a:r>
              <a:rPr lang="hu-HU" dirty="0" err="1"/>
              <a:t>deployment</a:t>
            </a:r>
            <a:r>
              <a:rPr lang="hu-HU" dirty="0"/>
              <a:t>).</a:t>
            </a:r>
          </a:p>
          <a:p>
            <a:r>
              <a:rPr lang="hu-HU" dirty="0"/>
              <a:t>Az egyes </a:t>
            </a:r>
            <a:r>
              <a:rPr lang="hu-HU" dirty="0" err="1"/>
              <a:t>microservice</a:t>
            </a:r>
            <a:r>
              <a:rPr lang="hu-HU" dirty="0"/>
              <a:t>-k hálózaton kommunikálnak: REST, </a:t>
            </a:r>
            <a:r>
              <a:rPr lang="hu-HU" dirty="0" err="1"/>
              <a:t>gRPC</a:t>
            </a:r>
            <a:r>
              <a:rPr lang="hu-HU" dirty="0"/>
              <a:t> (vagy </a:t>
            </a:r>
            <a:r>
              <a:rPr lang="hu-HU" dirty="0" err="1"/>
              <a:t>Message</a:t>
            </a:r>
            <a:r>
              <a:rPr lang="hu-HU" dirty="0"/>
              <a:t> </a:t>
            </a:r>
            <a:r>
              <a:rPr lang="hu-HU" dirty="0" err="1"/>
              <a:t>Queue</a:t>
            </a:r>
            <a:r>
              <a:rPr lang="hu-HU" dirty="0"/>
              <a:t>)</a:t>
            </a:r>
          </a:p>
          <a:p>
            <a:endParaRPr lang="hu-HU" dirty="0"/>
          </a:p>
          <a:p>
            <a:r>
              <a:rPr lang="en-US" dirty="0"/>
              <a:t>Microservice</a:t>
            </a:r>
            <a:r>
              <a:rPr lang="hu-HU" dirty="0"/>
              <a:t> architektúra</a:t>
            </a:r>
            <a:r>
              <a:rPr lang="en-US" dirty="0"/>
              <a:t> </a:t>
            </a:r>
            <a:r>
              <a:rPr lang="en-US" b="1" dirty="0" err="1"/>
              <a:t>akkor</a:t>
            </a:r>
            <a:r>
              <a:rPr lang="en-US" b="1" dirty="0"/>
              <a:t> </a:t>
            </a:r>
            <a:r>
              <a:rPr lang="en-US" b="1" dirty="0" err="1"/>
              <a:t>jó</a:t>
            </a:r>
            <a:r>
              <a:rPr lang="en-US" b="1" dirty="0"/>
              <a:t> </a:t>
            </a:r>
            <a:r>
              <a:rPr lang="en-US" b="1" dirty="0" err="1"/>
              <a:t>választás</a:t>
            </a:r>
            <a:r>
              <a:rPr lang="en-US" dirty="0"/>
              <a:t>, ha:</a:t>
            </a:r>
          </a:p>
          <a:p>
            <a:r>
              <a:rPr lang="hu-HU" dirty="0"/>
              <a:t>- </a:t>
            </a:r>
            <a:r>
              <a:rPr lang="en-US" dirty="0" err="1"/>
              <a:t>nagy</a:t>
            </a:r>
            <a:r>
              <a:rPr lang="en-US" dirty="0"/>
              <a:t> a </a:t>
            </a:r>
            <a:r>
              <a:rPr lang="en-US" dirty="0" err="1"/>
              <a:t>rendszer</a:t>
            </a:r>
            <a:endParaRPr lang="en-US" dirty="0"/>
          </a:p>
          <a:p>
            <a:r>
              <a:rPr lang="hu-HU" dirty="0"/>
              <a:t>- </a:t>
            </a:r>
            <a:r>
              <a:rPr lang="en-US" dirty="0" err="1"/>
              <a:t>több</a:t>
            </a:r>
            <a:r>
              <a:rPr lang="en-US" dirty="0"/>
              <a:t> </a:t>
            </a:r>
            <a:r>
              <a:rPr lang="en-US" dirty="0" err="1"/>
              <a:t>csapat</a:t>
            </a:r>
            <a:r>
              <a:rPr lang="en-US" dirty="0"/>
              <a:t> </a:t>
            </a:r>
            <a:r>
              <a:rPr lang="en-US" dirty="0" err="1"/>
              <a:t>dolgozik</a:t>
            </a:r>
            <a:r>
              <a:rPr lang="en-US" dirty="0"/>
              <a:t> </a:t>
            </a:r>
            <a:r>
              <a:rPr lang="en-US" dirty="0" err="1"/>
              <a:t>rajta</a:t>
            </a:r>
            <a:endParaRPr lang="en-US" dirty="0"/>
          </a:p>
          <a:p>
            <a:r>
              <a:rPr lang="hu-HU" dirty="0"/>
              <a:t>- </a:t>
            </a:r>
            <a:r>
              <a:rPr lang="en-US" dirty="0" err="1"/>
              <a:t>különböző</a:t>
            </a:r>
            <a:r>
              <a:rPr lang="en-US" dirty="0"/>
              <a:t> release </a:t>
            </a:r>
            <a:r>
              <a:rPr lang="en-US" dirty="0" err="1"/>
              <a:t>ciklusok</a:t>
            </a:r>
            <a:r>
              <a:rPr lang="en-US" dirty="0"/>
              <a:t> </a:t>
            </a:r>
            <a:r>
              <a:rPr lang="en-US" dirty="0" err="1"/>
              <a:t>vannak</a:t>
            </a:r>
            <a:endParaRPr lang="en-US" dirty="0"/>
          </a:p>
          <a:p>
            <a:r>
              <a:rPr lang="hu-HU" dirty="0"/>
              <a:t>- </a:t>
            </a:r>
            <a:r>
              <a:rPr lang="en-US" dirty="0" err="1"/>
              <a:t>skálázás</a:t>
            </a:r>
            <a:r>
              <a:rPr lang="en-US" dirty="0"/>
              <a:t> </a:t>
            </a:r>
            <a:r>
              <a:rPr lang="hu-HU" dirty="0"/>
              <a:t>kiemelten </a:t>
            </a:r>
            <a:r>
              <a:rPr lang="en-US" dirty="0" err="1"/>
              <a:t>fontos</a:t>
            </a:r>
            <a:endParaRPr lang="en-US" dirty="0"/>
          </a:p>
          <a:p>
            <a:endParaRPr lang="hu-HU" dirty="0"/>
          </a:p>
          <a:p>
            <a:r>
              <a:rPr lang="hu-HU" dirty="0"/>
              <a:t>Egy mondatban összefoglalva: </a:t>
            </a:r>
            <a:r>
              <a:rPr lang="hu-HU" b="1" dirty="0"/>
              <a:t>A </a:t>
            </a:r>
            <a:r>
              <a:rPr lang="hu-HU" b="1" dirty="0" err="1"/>
              <a:t>microservice</a:t>
            </a:r>
            <a:r>
              <a:rPr lang="hu-HU" b="1" dirty="0"/>
              <a:t> architektúra a rendszer logikai felbontása kisebb, önállóan működő, egymással kommunikáló szolgáltatásokra</a:t>
            </a:r>
            <a:r>
              <a:rPr lang="hu-HU" dirty="0"/>
              <a:t>.</a:t>
            </a:r>
          </a:p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740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Egy modern microservice </a:t>
            </a:r>
            <a:r>
              <a:rPr lang="en-US" b="0" dirty="0" err="1"/>
              <a:t>architektúrában</a:t>
            </a:r>
            <a:r>
              <a:rPr lang="en-US" b="0" dirty="0"/>
              <a:t> </a:t>
            </a:r>
            <a:r>
              <a:rPr lang="en-US" b="0" dirty="0" err="1"/>
              <a:t>teljesen</a:t>
            </a:r>
            <a:r>
              <a:rPr lang="en-US" b="0" dirty="0"/>
              <a:t> </a:t>
            </a:r>
            <a:r>
              <a:rPr lang="en-US" b="0" dirty="0" err="1"/>
              <a:t>természetes</a:t>
            </a:r>
            <a:r>
              <a:rPr lang="en-US" b="0" dirty="0"/>
              <a:t>, </a:t>
            </a:r>
            <a:r>
              <a:rPr lang="en-US" b="0" dirty="0" err="1"/>
              <a:t>hogy</a:t>
            </a:r>
            <a:r>
              <a:rPr lang="hu-HU" b="0" dirty="0"/>
              <a:t> </a:t>
            </a:r>
            <a:r>
              <a:rPr lang="en-US" b="0" dirty="0" err="1"/>
              <a:t>több</a:t>
            </a:r>
            <a:r>
              <a:rPr lang="en-US" b="0" dirty="0"/>
              <a:t> </a:t>
            </a:r>
            <a:r>
              <a:rPr lang="en-US" b="0" dirty="0" err="1"/>
              <a:t>kommunikációs</a:t>
            </a:r>
            <a:r>
              <a:rPr lang="en-US" b="0" dirty="0"/>
              <a:t> </a:t>
            </a:r>
            <a:r>
              <a:rPr lang="en-US" b="0" dirty="0" err="1"/>
              <a:t>technológia</a:t>
            </a:r>
            <a:r>
              <a:rPr lang="en-US" b="0" dirty="0"/>
              <a:t> </a:t>
            </a:r>
            <a:r>
              <a:rPr lang="en-US" b="0" dirty="0" err="1"/>
              <a:t>egyszerre</a:t>
            </a:r>
            <a:r>
              <a:rPr lang="en-US" b="0" dirty="0"/>
              <a:t> van </a:t>
            </a:r>
            <a:r>
              <a:rPr lang="en-US" b="0" dirty="0" err="1"/>
              <a:t>jelen</a:t>
            </a:r>
            <a:r>
              <a:rPr lang="en-US" b="0" dirty="0"/>
              <a:t>, </a:t>
            </a:r>
            <a:r>
              <a:rPr lang="en-US" b="0" dirty="0" err="1"/>
              <a:t>különböző</a:t>
            </a:r>
            <a:r>
              <a:rPr lang="en-US" b="0" dirty="0"/>
              <a:t> </a:t>
            </a:r>
            <a:r>
              <a:rPr lang="en-US" b="0" dirty="0" err="1"/>
              <a:t>szerepekben</a:t>
            </a:r>
            <a:r>
              <a:rPr lang="en-US" b="0" dirty="0"/>
              <a:t>.</a:t>
            </a:r>
            <a:endParaRPr lang="hu-HU" b="0" dirty="0"/>
          </a:p>
          <a:p>
            <a:endParaRPr lang="hu-HU" dirty="0"/>
          </a:p>
          <a:p>
            <a:r>
              <a:rPr lang="en-US" dirty="0"/>
              <a:t>A </a:t>
            </a:r>
            <a:r>
              <a:rPr lang="en-US" b="1" dirty="0" err="1"/>
              <a:t>külső</a:t>
            </a:r>
            <a:r>
              <a:rPr lang="en-US" b="1" dirty="0"/>
              <a:t> </a:t>
            </a:r>
            <a:r>
              <a:rPr lang="en-US" b="1" dirty="0" err="1"/>
              <a:t>kliensek</a:t>
            </a:r>
            <a:r>
              <a:rPr lang="en-US" b="1" dirty="0"/>
              <a:t> </a:t>
            </a:r>
            <a:r>
              <a:rPr lang="en-US" dirty="0"/>
              <a:t>– </a:t>
            </a:r>
            <a:r>
              <a:rPr lang="en-US" dirty="0" err="1"/>
              <a:t>például</a:t>
            </a:r>
            <a:r>
              <a:rPr lang="en-US" dirty="0"/>
              <a:t>:</a:t>
            </a:r>
            <a:r>
              <a:rPr lang="hu-HU" dirty="0"/>
              <a:t> </a:t>
            </a:r>
            <a:r>
              <a:rPr lang="en-US" dirty="0" err="1"/>
              <a:t>böngészők</a:t>
            </a:r>
            <a:r>
              <a:rPr lang="hu-HU" dirty="0"/>
              <a:t>, </a:t>
            </a:r>
            <a:r>
              <a:rPr lang="en-US" dirty="0" err="1"/>
              <a:t>mobil</a:t>
            </a:r>
            <a:r>
              <a:rPr lang="en-US" dirty="0"/>
              <a:t> </a:t>
            </a:r>
            <a:r>
              <a:rPr lang="en-US" dirty="0" err="1"/>
              <a:t>alkalmazások</a:t>
            </a:r>
            <a:r>
              <a:rPr lang="hu-HU" dirty="0"/>
              <a:t>, </a:t>
            </a:r>
            <a:r>
              <a:rPr lang="en-US" dirty="0"/>
              <a:t>third-party </a:t>
            </a:r>
            <a:r>
              <a:rPr lang="en-US" dirty="0" err="1"/>
              <a:t>rendszerek</a:t>
            </a:r>
            <a:r>
              <a:rPr lang="hu-HU" dirty="0"/>
              <a:t> - </a:t>
            </a:r>
            <a:r>
              <a:rPr lang="en-US" dirty="0" err="1"/>
              <a:t>szinte</a:t>
            </a:r>
            <a:r>
              <a:rPr lang="en-US" dirty="0"/>
              <a:t> </a:t>
            </a:r>
            <a:r>
              <a:rPr lang="en-US" dirty="0" err="1"/>
              <a:t>kivétel</a:t>
            </a:r>
            <a:r>
              <a:rPr lang="en-US" dirty="0"/>
              <a:t> </a:t>
            </a:r>
            <a:r>
              <a:rPr lang="en-US" dirty="0" err="1"/>
              <a:t>nélkül</a:t>
            </a:r>
            <a:r>
              <a:rPr lang="en-US" dirty="0"/>
              <a:t> </a:t>
            </a:r>
            <a:r>
              <a:rPr lang="en-US" b="1" dirty="0"/>
              <a:t>REST </a:t>
            </a:r>
            <a:r>
              <a:rPr lang="en-US" b="1" dirty="0" err="1"/>
              <a:t>alapú</a:t>
            </a:r>
            <a:r>
              <a:rPr lang="en-US" b="1" dirty="0"/>
              <a:t> API-n</a:t>
            </a:r>
            <a:r>
              <a:rPr lang="en-US" dirty="0"/>
              <a:t> </a:t>
            </a:r>
            <a:r>
              <a:rPr lang="en-US" dirty="0" err="1"/>
              <a:t>keresztül</a:t>
            </a:r>
            <a:r>
              <a:rPr lang="en-US" dirty="0"/>
              <a:t> </a:t>
            </a:r>
            <a:r>
              <a:rPr lang="en-US" dirty="0" err="1"/>
              <a:t>kommunikálnak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/>
              <a:t>Nem a </a:t>
            </a:r>
            <a:r>
              <a:rPr lang="en-US" dirty="0" err="1"/>
              <a:t>leggyorsabb</a:t>
            </a:r>
            <a:r>
              <a:rPr lang="en-US" dirty="0"/>
              <a:t>, </a:t>
            </a:r>
            <a:r>
              <a:rPr lang="en-US" dirty="0" err="1"/>
              <a:t>nem</a:t>
            </a:r>
            <a:r>
              <a:rPr lang="en-US" dirty="0"/>
              <a:t> a </a:t>
            </a:r>
            <a:r>
              <a:rPr lang="en-US" dirty="0" err="1"/>
              <a:t>leghatékonyabb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de </a:t>
            </a:r>
            <a:r>
              <a:rPr lang="en-US" b="0" dirty="0"/>
              <a:t>a </a:t>
            </a:r>
            <a:r>
              <a:rPr lang="en-US" b="0" dirty="0" err="1"/>
              <a:t>legjobban</a:t>
            </a:r>
            <a:r>
              <a:rPr lang="en-US" b="0" dirty="0"/>
              <a:t> </a:t>
            </a:r>
            <a:r>
              <a:rPr lang="en-US" b="0" dirty="0" err="1"/>
              <a:t>használható</a:t>
            </a:r>
            <a:r>
              <a:rPr lang="en-US" b="0" dirty="0"/>
              <a:t> a </a:t>
            </a:r>
            <a:r>
              <a:rPr lang="en-US" b="0" dirty="0" err="1"/>
              <a:t>külvilág</a:t>
            </a:r>
            <a:r>
              <a:rPr lang="en-US" b="0" dirty="0"/>
              <a:t> </a:t>
            </a:r>
            <a:r>
              <a:rPr lang="en-US" b="0" dirty="0" err="1"/>
              <a:t>felé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 err="1"/>
              <a:t>Ezért</a:t>
            </a:r>
            <a:r>
              <a:rPr lang="en-US" dirty="0"/>
              <a:t> </a:t>
            </a:r>
            <a:r>
              <a:rPr lang="en-US" dirty="0" err="1"/>
              <a:t>mondjuk</a:t>
            </a:r>
            <a:r>
              <a:rPr lang="en-US" dirty="0"/>
              <a:t> </a:t>
            </a:r>
            <a:r>
              <a:rPr lang="en-US" dirty="0" err="1"/>
              <a:t>azt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hu-HU" dirty="0"/>
              <a:t> a </a:t>
            </a:r>
            <a:r>
              <a:rPr lang="hu-HU" b="1" dirty="0"/>
              <a:t>R</a:t>
            </a:r>
            <a:r>
              <a:rPr lang="en-US" b="1" dirty="0"/>
              <a:t>EST </a:t>
            </a:r>
            <a:r>
              <a:rPr lang="en-US" b="1" dirty="0" err="1"/>
              <a:t>ideális</a:t>
            </a:r>
            <a:r>
              <a:rPr lang="en-US" b="1" dirty="0"/>
              <a:t> </a:t>
            </a:r>
            <a:r>
              <a:rPr lang="en-US" b="1" dirty="0" err="1"/>
              <a:t>publikus</a:t>
            </a:r>
            <a:r>
              <a:rPr lang="en-US" b="1" dirty="0"/>
              <a:t> API-</a:t>
            </a:r>
            <a:r>
              <a:rPr lang="en-US" b="1" dirty="0" err="1"/>
              <a:t>khoz</a:t>
            </a:r>
            <a:r>
              <a:rPr lang="hu-HU" b="1" dirty="0"/>
              <a:t>.</a:t>
            </a:r>
            <a:endParaRPr lang="en-US" dirty="0"/>
          </a:p>
          <a:p>
            <a:endParaRPr lang="hu-HU" dirty="0"/>
          </a:p>
          <a:p>
            <a:endParaRPr lang="hu-HU" dirty="0"/>
          </a:p>
          <a:p>
            <a:r>
              <a:rPr lang="hu-HU" dirty="0"/>
              <a:t>Most lépjünk be a </a:t>
            </a:r>
            <a:r>
              <a:rPr lang="hu-HU" b="1" dirty="0"/>
              <a:t>rendszer belső világába</a:t>
            </a:r>
            <a:r>
              <a:rPr lang="hu-HU" dirty="0"/>
              <a:t>, a </a:t>
            </a:r>
            <a:r>
              <a:rPr lang="hu-HU" dirty="0" err="1"/>
              <a:t>microservice</a:t>
            </a:r>
            <a:r>
              <a:rPr lang="hu-HU" dirty="0"/>
              <a:t>-ek közé.</a:t>
            </a:r>
          </a:p>
          <a:p>
            <a:r>
              <a:rPr lang="hu-HU" dirty="0"/>
              <a:t>Itt teljesen más szempontok dominálnak:</a:t>
            </a:r>
          </a:p>
          <a:p>
            <a:r>
              <a:rPr lang="hu-HU" dirty="0"/>
              <a:t>- nincs emberi felhasználó</a:t>
            </a:r>
          </a:p>
          <a:p>
            <a:r>
              <a:rPr lang="hu-HU" dirty="0"/>
              <a:t>- nincs böngésző</a:t>
            </a:r>
          </a:p>
          <a:p>
            <a:r>
              <a:rPr lang="hu-HU" dirty="0"/>
              <a:t>- nincs szükség emberi olvashatóságra</a:t>
            </a:r>
          </a:p>
          <a:p>
            <a:r>
              <a:rPr lang="hu-HU" dirty="0"/>
              <a:t>Itt az számít:</a:t>
            </a:r>
          </a:p>
          <a:p>
            <a:r>
              <a:rPr lang="hu-HU" dirty="0"/>
              <a:t>- gyors legyen</a:t>
            </a:r>
          </a:p>
          <a:p>
            <a:r>
              <a:rPr lang="hu-HU" dirty="0"/>
              <a:t>- kevés adat menjen át</a:t>
            </a:r>
          </a:p>
          <a:p>
            <a:r>
              <a:rPr lang="hu-HU" dirty="0"/>
              <a:t>- egyértelmű legyen a szerződés</a:t>
            </a:r>
          </a:p>
          <a:p>
            <a:r>
              <a:rPr lang="hu-HU" b="0" dirty="0"/>
              <a:t>Ez az a pont, ahol </a:t>
            </a:r>
            <a:r>
              <a:rPr lang="hu-HU" b="1" dirty="0"/>
              <a:t>a </a:t>
            </a:r>
            <a:r>
              <a:rPr lang="hu-HU" b="1" dirty="0" err="1"/>
              <a:t>gRPC</a:t>
            </a:r>
            <a:r>
              <a:rPr lang="hu-HU" b="1" dirty="0"/>
              <a:t> igazán erős</a:t>
            </a:r>
            <a:r>
              <a:rPr lang="hu-HU" b="0" dirty="0"/>
              <a:t>.</a:t>
            </a:r>
            <a:endParaRPr lang="hu-HU" dirty="0"/>
          </a:p>
          <a:p>
            <a:endParaRPr lang="hu-HU" dirty="0"/>
          </a:p>
          <a:p>
            <a:r>
              <a:rPr lang="hu-HU" dirty="0"/>
              <a:t>Van azonban egy harmadik kategória, ami </a:t>
            </a:r>
            <a:r>
              <a:rPr lang="hu-HU" b="0" dirty="0"/>
              <a:t>kilóg a klasszikus kérés–válasz modellből</a:t>
            </a:r>
            <a:r>
              <a:rPr lang="hu-HU" dirty="0"/>
              <a:t>.</a:t>
            </a:r>
          </a:p>
          <a:p>
            <a:r>
              <a:rPr lang="hu-HU" dirty="0"/>
              <a:t>Ilyenek például:</a:t>
            </a:r>
          </a:p>
          <a:p>
            <a:r>
              <a:rPr lang="hu-HU" dirty="0"/>
              <a:t>- élő értesítések</a:t>
            </a:r>
          </a:p>
          <a:p>
            <a:r>
              <a:rPr lang="hu-HU" dirty="0"/>
              <a:t>- státuszfrissítések</a:t>
            </a:r>
          </a:p>
          <a:p>
            <a:r>
              <a:rPr lang="hu-HU" dirty="0"/>
              <a:t>- chat üzenetek</a:t>
            </a:r>
          </a:p>
          <a:p>
            <a:r>
              <a:rPr lang="hu-HU" dirty="0"/>
              <a:t>- </a:t>
            </a:r>
            <a:r>
              <a:rPr lang="hu-HU" dirty="0" err="1"/>
              <a:t>dashboardok</a:t>
            </a:r>
            <a:r>
              <a:rPr lang="hu-HU" dirty="0"/>
              <a:t> valós idejű adatai</a:t>
            </a:r>
          </a:p>
          <a:p>
            <a:r>
              <a:rPr lang="hu-HU" dirty="0"/>
              <a:t>Ezeknél nem akarjuk, hogy:</a:t>
            </a:r>
          </a:p>
          <a:p>
            <a:r>
              <a:rPr lang="hu-HU" dirty="0"/>
              <a:t>- a kliens folyamatosan kérdezzen</a:t>
            </a:r>
          </a:p>
          <a:p>
            <a:r>
              <a:rPr lang="hu-HU" dirty="0"/>
              <a:t>- </a:t>
            </a:r>
            <a:r>
              <a:rPr lang="hu-HU" dirty="0" err="1"/>
              <a:t>polling</a:t>
            </a:r>
            <a:r>
              <a:rPr lang="hu-HU" dirty="0"/>
              <a:t> legyen</a:t>
            </a:r>
          </a:p>
          <a:p>
            <a:r>
              <a:rPr lang="hu-HU" dirty="0"/>
              <a:t>- késleltetés halmozódjon</a:t>
            </a:r>
          </a:p>
          <a:p>
            <a:r>
              <a:rPr lang="hu-HU" dirty="0"/>
              <a:t>Itt jön képbe a </a:t>
            </a:r>
            <a:r>
              <a:rPr lang="hu-HU" b="1" dirty="0" err="1"/>
              <a:t>WebSocket</a:t>
            </a:r>
            <a:r>
              <a:rPr lang="hu-H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5180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belső kommunikáció </a:t>
            </a:r>
            <a:r>
              <a:rPr lang="hu-HU" dirty="0" err="1"/>
              <a:t>gRPC</a:t>
            </a:r>
            <a:r>
              <a:rPr lang="hu-HU" dirty="0"/>
              <a:t> alapon működik. A nagy terhelésű és alacsony késleltetést igénylő rendszerekben hatékony megoldás kell a szolgáltatások közötti kommunikációra.</a:t>
            </a:r>
          </a:p>
          <a:p>
            <a:endParaRPr lang="hu-HU" dirty="0"/>
          </a:p>
          <a:p>
            <a:r>
              <a:rPr lang="hu-HU" dirty="0"/>
              <a:t>Megjegyzés: A hatékony kommunikáció másik módja az aszinkron alapú </a:t>
            </a:r>
            <a:r>
              <a:rPr lang="hu-HU" dirty="0" err="1"/>
              <a:t>Message</a:t>
            </a:r>
            <a:r>
              <a:rPr lang="hu-HU" dirty="0"/>
              <a:t> </a:t>
            </a:r>
            <a:r>
              <a:rPr lang="hu-HU" dirty="0" err="1"/>
              <a:t>Queue</a:t>
            </a:r>
            <a:r>
              <a:rPr lang="hu-HU" dirty="0"/>
              <a:t> rendszerek használata.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3905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belső kommunikáció is HTTP alapú. Nem a leghatékonyabb, de egyszerű és könnyen implementálható. Sok helyen használják, ahol a nagy terhelés és az alacsony késleltetés nem elsődleges szempont.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4140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legfontosabb tanulság:</a:t>
            </a:r>
            <a:r>
              <a:rPr lang="hu-HU" dirty="0"/>
              <a:t> </a:t>
            </a:r>
            <a:r>
              <a:rPr lang="pt-BR" b="1" dirty="0"/>
              <a:t>a technológia eszköz</a:t>
            </a:r>
            <a:r>
              <a:rPr lang="pt-BR" dirty="0"/>
              <a:t>, nem cél</a:t>
            </a:r>
            <a:r>
              <a:rPr lang="hu-HU" dirty="0"/>
              <a:t>.</a:t>
            </a:r>
          </a:p>
          <a:p>
            <a:r>
              <a:rPr lang="en-US" dirty="0" err="1"/>
              <a:t>Nincs</a:t>
            </a:r>
            <a:r>
              <a:rPr lang="en-US" dirty="0"/>
              <a:t> </a:t>
            </a:r>
            <a:r>
              <a:rPr lang="en-US" dirty="0" err="1"/>
              <a:t>egyetlen</a:t>
            </a:r>
            <a:r>
              <a:rPr lang="en-US" dirty="0"/>
              <a:t> „</a:t>
            </a:r>
            <a:r>
              <a:rPr lang="en-US" dirty="0" err="1"/>
              <a:t>legjobb</a:t>
            </a:r>
            <a:r>
              <a:rPr lang="en-US" dirty="0"/>
              <a:t>” </a:t>
            </a:r>
            <a:r>
              <a:rPr lang="en-US" dirty="0" err="1"/>
              <a:t>megoldás</a:t>
            </a:r>
            <a:r>
              <a:rPr lang="en-US" dirty="0"/>
              <a:t>.</a:t>
            </a:r>
          </a:p>
          <a:p>
            <a:br>
              <a:rPr lang="hu-HU" dirty="0"/>
            </a:br>
            <a:r>
              <a:rPr lang="en-US" dirty="0" err="1"/>
              <a:t>Mindig</a:t>
            </a:r>
            <a:r>
              <a:rPr lang="en-US" dirty="0"/>
              <a:t> </a:t>
            </a:r>
            <a:r>
              <a:rPr lang="en-US" dirty="0" err="1"/>
              <a:t>azt</a:t>
            </a:r>
            <a:r>
              <a:rPr lang="en-US" dirty="0"/>
              <a:t> </a:t>
            </a:r>
            <a:r>
              <a:rPr lang="en-US" dirty="0" err="1"/>
              <a:t>kérdezzük</a:t>
            </a:r>
            <a:r>
              <a:rPr lang="en-US" dirty="0"/>
              <a:t>:</a:t>
            </a:r>
          </a:p>
          <a:p>
            <a:r>
              <a:rPr lang="hu-HU" dirty="0"/>
              <a:t>- </a:t>
            </a:r>
            <a:r>
              <a:rPr lang="en-US" dirty="0" err="1"/>
              <a:t>kinek</a:t>
            </a:r>
            <a:r>
              <a:rPr lang="en-US" dirty="0"/>
              <a:t>?</a:t>
            </a:r>
            <a:r>
              <a:rPr lang="hu-HU" dirty="0"/>
              <a:t> milyen problémára?</a:t>
            </a:r>
            <a:endParaRPr lang="en-US" dirty="0"/>
          </a:p>
          <a:p>
            <a:r>
              <a:rPr lang="hu-HU" dirty="0"/>
              <a:t>- </a:t>
            </a:r>
            <a:r>
              <a:rPr lang="en-US" dirty="0" err="1"/>
              <a:t>milyen</a:t>
            </a:r>
            <a:r>
              <a:rPr lang="en-US" dirty="0"/>
              <a:t> </a:t>
            </a:r>
            <a:r>
              <a:rPr lang="en-US" dirty="0" err="1"/>
              <a:t>terhelés</a:t>
            </a:r>
            <a:r>
              <a:rPr lang="en-US" dirty="0"/>
              <a:t>?</a:t>
            </a:r>
          </a:p>
          <a:p>
            <a:r>
              <a:rPr lang="hu-HU" dirty="0"/>
              <a:t>- </a:t>
            </a:r>
            <a:r>
              <a:rPr lang="en-US" dirty="0" err="1"/>
              <a:t>milyen</a:t>
            </a:r>
            <a:r>
              <a:rPr lang="en-US" dirty="0"/>
              <a:t> </a:t>
            </a:r>
            <a:r>
              <a:rPr lang="en-US" dirty="0" err="1"/>
              <a:t>válaszidő</a:t>
            </a:r>
            <a:r>
              <a:rPr lang="en-US" dirty="0"/>
              <a:t>?</a:t>
            </a:r>
          </a:p>
          <a:p>
            <a:endParaRPr lang="hu-HU" dirty="0"/>
          </a:p>
          <a:p>
            <a:r>
              <a:rPr lang="hu-HU" dirty="0"/>
              <a:t>Az adott protokoll választásakor:</a:t>
            </a:r>
          </a:p>
          <a:p>
            <a:r>
              <a:rPr lang="hu-HU" dirty="0"/>
              <a:t>- </a:t>
            </a:r>
            <a:r>
              <a:rPr lang="en-US" dirty="0" err="1"/>
              <a:t>értsd</a:t>
            </a:r>
            <a:r>
              <a:rPr lang="en-US" dirty="0"/>
              <a:t> a </a:t>
            </a:r>
            <a:r>
              <a:rPr lang="en-US" dirty="0" err="1"/>
              <a:t>problémát</a:t>
            </a:r>
            <a:endParaRPr lang="en-US" dirty="0"/>
          </a:p>
          <a:p>
            <a:r>
              <a:rPr lang="hu-HU" dirty="0"/>
              <a:t>- </a:t>
            </a:r>
            <a:r>
              <a:rPr lang="en-US" dirty="0"/>
              <a:t>ne </a:t>
            </a:r>
            <a:r>
              <a:rPr lang="en-US" dirty="0" err="1"/>
              <a:t>divatból</a:t>
            </a:r>
            <a:r>
              <a:rPr lang="en-US" dirty="0"/>
              <a:t> </a:t>
            </a:r>
            <a:r>
              <a:rPr lang="en-US" dirty="0" err="1"/>
              <a:t>válassz</a:t>
            </a:r>
            <a:endParaRPr lang="en-US" dirty="0"/>
          </a:p>
          <a:p>
            <a:r>
              <a:rPr lang="hu-HU" dirty="0"/>
              <a:t>- </a:t>
            </a:r>
            <a:r>
              <a:rPr lang="en-US" dirty="0" err="1"/>
              <a:t>architektúrában</a:t>
            </a:r>
            <a:r>
              <a:rPr lang="en-US" dirty="0"/>
              <a:t> </a:t>
            </a:r>
            <a:r>
              <a:rPr lang="en-US" dirty="0" err="1"/>
              <a:t>gondolkodj</a:t>
            </a:r>
            <a:endParaRPr lang="en-US" dirty="0"/>
          </a:p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076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221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24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466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289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986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721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426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212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83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379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327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32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612390-7FD9-3A7E-F78F-3E71606EA9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8" y="969308"/>
            <a:ext cx="11153214" cy="3104980"/>
          </a:xfrm>
        </p:spPr>
        <p:txBody>
          <a:bodyPr anchor="b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400" dirty="0"/>
              <a:t>SOAP &amp; XML · </a:t>
            </a:r>
            <a:r>
              <a:rPr lang="en-US" sz="4400" dirty="0" err="1"/>
              <a:t>gRPC</a:t>
            </a:r>
            <a:r>
              <a:rPr lang="en-US" sz="4400" dirty="0"/>
              <a:t> &amp; </a:t>
            </a:r>
            <a:r>
              <a:rPr lang="en-US" sz="4400" dirty="0" err="1"/>
              <a:t>Protobuf</a:t>
            </a:r>
            <a:r>
              <a:rPr lang="en-US" sz="4400" dirty="0"/>
              <a:t> · WebSocket</a:t>
            </a:r>
            <a:br>
              <a:rPr lang="en-US" sz="4400" dirty="0"/>
            </a:br>
            <a:br>
              <a:rPr lang="hu-HU" sz="3600" dirty="0"/>
            </a:br>
            <a:r>
              <a:rPr lang="en-US" sz="3600" dirty="0"/>
              <a:t>Microservice </a:t>
            </a:r>
            <a:r>
              <a:rPr lang="en-US" sz="3600" dirty="0" err="1"/>
              <a:t>kommunikáció</a:t>
            </a:r>
            <a:r>
              <a:rPr lang="en-US" sz="3600" dirty="0"/>
              <a:t> – </a:t>
            </a:r>
            <a:r>
              <a:rPr lang="en-US" sz="3600" dirty="0" err="1"/>
              <a:t>áttekintés</a:t>
            </a:r>
            <a:br>
              <a:rPr lang="hu-HU" sz="3600" dirty="0"/>
            </a:br>
            <a:br>
              <a:rPr lang="hu-HU" sz="3600" dirty="0"/>
            </a:br>
            <a:br>
              <a:rPr lang="hu-HU" sz="3600" dirty="0"/>
            </a:br>
            <a:r>
              <a:rPr lang="en-US" sz="2400" dirty="0" err="1"/>
              <a:t>Hagyományos</a:t>
            </a:r>
            <a:r>
              <a:rPr lang="en-US" sz="2400" dirty="0"/>
              <a:t> és modern </a:t>
            </a:r>
            <a:r>
              <a:rPr lang="en-US" sz="2400" dirty="0" err="1"/>
              <a:t>kommunikációs</a:t>
            </a:r>
            <a:r>
              <a:rPr lang="en-US" sz="2400" dirty="0"/>
              <a:t> </a:t>
            </a:r>
            <a:r>
              <a:rPr lang="en-US" sz="2400" dirty="0" err="1"/>
              <a:t>technológiák</a:t>
            </a:r>
            <a:r>
              <a:rPr lang="en-US" sz="2400" dirty="0"/>
              <a:t> </a:t>
            </a:r>
            <a:r>
              <a:rPr lang="en-US" sz="2400" dirty="0" err="1"/>
              <a:t>összehasonlítása</a:t>
            </a:r>
            <a:br>
              <a:rPr lang="en-US" sz="2400" dirty="0"/>
            </a:br>
            <a:endParaRPr lang="en-US" sz="220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D0C058D-27D4-3139-E199-E2C11099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94E0531-D614-3CB6-996E-FF0184A33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574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0F56A-BB1E-8DA6-D6F7-07CE02A96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50392"/>
          </a:xfrm>
        </p:spPr>
        <p:txBody>
          <a:bodyPr>
            <a:normAutofit fontScale="90000"/>
          </a:bodyPr>
          <a:lstStyle/>
          <a:p>
            <a:r>
              <a:rPr lang="en-US" sz="4000" dirty="0" err="1"/>
              <a:t>Miért</a:t>
            </a:r>
            <a:r>
              <a:rPr lang="en-US" sz="4000" dirty="0"/>
              <a:t> </a:t>
            </a:r>
            <a:r>
              <a:rPr lang="en-US" sz="4000" dirty="0" err="1"/>
              <a:t>létezik</a:t>
            </a:r>
            <a:r>
              <a:rPr lang="en-US" sz="4000" dirty="0"/>
              <a:t> </a:t>
            </a:r>
            <a:r>
              <a:rPr lang="en-US" sz="4000" dirty="0" err="1"/>
              <a:t>ennyi</a:t>
            </a:r>
            <a:r>
              <a:rPr lang="en-US" sz="4000" dirty="0"/>
              <a:t> </a:t>
            </a:r>
            <a:r>
              <a:rPr lang="en-US" sz="4000" dirty="0" err="1"/>
              <a:t>kommunikációs</a:t>
            </a:r>
            <a:r>
              <a:rPr lang="en-US" sz="4000" dirty="0"/>
              <a:t> </a:t>
            </a:r>
            <a:r>
              <a:rPr lang="en-US" sz="4000" dirty="0" err="1"/>
              <a:t>technológia</a:t>
            </a:r>
            <a:r>
              <a:rPr lang="en-US" sz="4000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18EF2-0F32-2DE4-361C-973583F45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7" y="2240280"/>
            <a:ext cx="9814985" cy="337344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dirty="0" err="1"/>
              <a:t>Miért</a:t>
            </a:r>
            <a:r>
              <a:rPr lang="en-US" sz="2800" dirty="0"/>
              <a:t> </a:t>
            </a:r>
            <a:r>
              <a:rPr lang="en-US" sz="2800" dirty="0" err="1"/>
              <a:t>nem</a:t>
            </a:r>
            <a:r>
              <a:rPr lang="en-US" sz="2800" dirty="0"/>
              <a:t> </a:t>
            </a:r>
            <a:r>
              <a:rPr lang="en-US" sz="2800" dirty="0" err="1"/>
              <a:t>elég</a:t>
            </a:r>
            <a:r>
              <a:rPr lang="en-US" sz="2800" dirty="0"/>
              <a:t> „HTTP + JSON” </a:t>
            </a:r>
            <a:r>
              <a:rPr lang="hu-HU" sz="2800" dirty="0"/>
              <a:t>(REST) </a:t>
            </a:r>
            <a:r>
              <a:rPr lang="en-US" sz="2800" dirty="0" err="1"/>
              <a:t>mindenre</a:t>
            </a:r>
            <a:r>
              <a:rPr lang="en-US" sz="2800" dirty="0"/>
              <a:t>?</a:t>
            </a:r>
          </a:p>
          <a:p>
            <a:pPr>
              <a:lnSpc>
                <a:spcPct val="150000"/>
              </a:lnSpc>
            </a:pPr>
            <a:r>
              <a:rPr lang="en-US" sz="2800" dirty="0" err="1"/>
              <a:t>különböző</a:t>
            </a:r>
            <a:r>
              <a:rPr lang="en-US" sz="2800" dirty="0"/>
              <a:t> </a:t>
            </a:r>
            <a:r>
              <a:rPr lang="en-US" sz="2800" dirty="0" err="1"/>
              <a:t>igények</a:t>
            </a:r>
            <a:r>
              <a:rPr lang="hu-HU" sz="2800" dirty="0"/>
              <a:t> (és problémák)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dirty="0" err="1"/>
              <a:t>különböző</a:t>
            </a:r>
            <a:r>
              <a:rPr lang="en-US" sz="2800" dirty="0"/>
              <a:t> </a:t>
            </a:r>
            <a:r>
              <a:rPr lang="en-US" sz="2800" dirty="0" err="1"/>
              <a:t>korszakok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dirty="0" err="1"/>
              <a:t>különböző</a:t>
            </a:r>
            <a:r>
              <a:rPr lang="en-US" sz="2800" dirty="0"/>
              <a:t> </a:t>
            </a:r>
            <a:r>
              <a:rPr lang="en-US" sz="2800" dirty="0" err="1"/>
              <a:t>kompromisszumok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63087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4923D-5401-E2B9-1EE8-E1620E399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908960"/>
            <a:ext cx="11155680" cy="769369"/>
          </a:xfrm>
        </p:spPr>
        <p:txBody>
          <a:bodyPr>
            <a:normAutofit/>
          </a:bodyPr>
          <a:lstStyle/>
          <a:p>
            <a:r>
              <a:rPr lang="en-US" sz="4000" dirty="0"/>
              <a:t>SOAP: </a:t>
            </a:r>
            <a:r>
              <a:rPr lang="en-US" sz="4000" dirty="0" err="1"/>
              <a:t>történeti</a:t>
            </a:r>
            <a:r>
              <a:rPr lang="en-US" sz="4000" dirty="0"/>
              <a:t> és </a:t>
            </a:r>
            <a:r>
              <a:rPr lang="en-US" sz="4000" dirty="0" err="1"/>
              <a:t>üzleti</a:t>
            </a:r>
            <a:r>
              <a:rPr lang="en-US" sz="4000" dirty="0"/>
              <a:t> </a:t>
            </a:r>
            <a:r>
              <a:rPr lang="en-US" sz="4000" dirty="0" err="1"/>
              <a:t>háttér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A8D1-6CED-9AA9-88A2-1C45B86AD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999873"/>
            <a:ext cx="9236250" cy="408840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SOAP (Simple Object Access Protocol)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dirty="0"/>
              <a:t>2000-es </a:t>
            </a:r>
            <a:r>
              <a:rPr lang="en-US" sz="2800" dirty="0" err="1"/>
              <a:t>évek</a:t>
            </a:r>
            <a:r>
              <a:rPr lang="en-US" sz="2800" dirty="0"/>
              <a:t> </a:t>
            </a:r>
            <a:r>
              <a:rPr lang="en-US" sz="2800" dirty="0" err="1"/>
              <a:t>eleje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hu-HU" sz="2800" dirty="0"/>
              <a:t>nagyvállalatai (</a:t>
            </a:r>
            <a:r>
              <a:rPr lang="en-US" sz="2800" dirty="0"/>
              <a:t>enterprise</a:t>
            </a:r>
            <a:r>
              <a:rPr lang="hu-HU" sz="2800" dirty="0"/>
              <a:t>)</a:t>
            </a:r>
            <a:r>
              <a:rPr lang="en-US" sz="2800" dirty="0"/>
              <a:t> </a:t>
            </a:r>
            <a:r>
              <a:rPr lang="hu-HU" sz="2800" dirty="0"/>
              <a:t>rendszerek </a:t>
            </a:r>
            <a:r>
              <a:rPr lang="en-US" sz="2800" dirty="0" err="1"/>
              <a:t>integráció</a:t>
            </a:r>
            <a:r>
              <a:rPr lang="hu-HU" sz="2800" dirty="0"/>
              <a:t>ja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dirty="0"/>
              <a:t>platform- és </a:t>
            </a:r>
            <a:r>
              <a:rPr lang="en-US" sz="2800" dirty="0" err="1"/>
              <a:t>nyelvfüggetlenség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dirty="0" err="1"/>
              <a:t>szigorú</a:t>
            </a:r>
            <a:r>
              <a:rPr lang="en-US" sz="2800" dirty="0"/>
              <a:t> </a:t>
            </a:r>
            <a:r>
              <a:rPr lang="en-US" sz="2800" dirty="0" err="1"/>
              <a:t>szabványok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12889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BEFFF-CE42-B062-3C64-AF6F6DF9E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96691"/>
          </a:xfrm>
        </p:spPr>
        <p:txBody>
          <a:bodyPr>
            <a:normAutofit/>
          </a:bodyPr>
          <a:lstStyle/>
          <a:p>
            <a:r>
              <a:rPr lang="en-US" sz="4000" dirty="0"/>
              <a:t>SOAP </a:t>
            </a:r>
            <a:r>
              <a:rPr lang="en-US" sz="4000" dirty="0" err="1"/>
              <a:t>építőelemei</a:t>
            </a:r>
            <a:r>
              <a:rPr lang="en-US" sz="4000" dirty="0"/>
              <a:t>: WSDL és XSD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36CE257-A9A6-2540-4731-2DA24F1AE8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2385075"/>
            <a:ext cx="7338002" cy="2597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WSDL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szolgáltatás</a:t>
            </a: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ok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leírása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XSD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XML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adatstruktúrák</a:t>
            </a: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leírása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erős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típusosság</a:t>
            </a:r>
            <a:r>
              <a:rPr kumimoji="0" lang="hu-HU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jellemzi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automatikus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kliensgenerálás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2844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BE8A7-7C4C-E615-6CA9-06B94B66A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08961"/>
            <a:ext cx="11155680" cy="746220"/>
          </a:xfrm>
        </p:spPr>
        <p:txBody>
          <a:bodyPr>
            <a:normAutofit/>
          </a:bodyPr>
          <a:lstStyle/>
          <a:p>
            <a:r>
              <a:rPr lang="en-US" sz="4000" dirty="0"/>
              <a:t>SOAP </a:t>
            </a:r>
            <a:r>
              <a:rPr lang="en-US" sz="4000" dirty="0" err="1"/>
              <a:t>üzenet</a:t>
            </a:r>
            <a:r>
              <a:rPr lang="en-US" sz="4000" dirty="0"/>
              <a:t> </a:t>
            </a:r>
            <a:r>
              <a:rPr lang="en-US" sz="4000" dirty="0" err="1"/>
              <a:t>felépítése</a:t>
            </a:r>
            <a:endParaRPr lang="en-US" sz="4000" dirty="0"/>
          </a:p>
        </p:txBody>
      </p:sp>
      <p:pic>
        <p:nvPicPr>
          <p:cNvPr id="1026" name="Picture 2" descr="Building the Initial Framework – Laying the Foundation of the Application |  Building RESTful Web Services with .NET Core">
            <a:extLst>
              <a:ext uri="{FF2B5EF4-FFF2-40B4-BE49-F238E27FC236}">
                <a16:creationId xmlns:a16="http://schemas.microsoft.com/office/drawing/2014/main" id="{F1F0F10F-BB34-A1FA-DF46-34AB0D2546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435" y="1759352"/>
            <a:ext cx="6276989" cy="4565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8D888B-FABC-DEA9-5659-FD2F2D060B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2712947"/>
            <a:ext cx="4027643" cy="2060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XML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alapú</a:t>
            </a:r>
            <a:endParaRPr kumimoji="0" lang="hu-HU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hu-HU" altLang="en-US" sz="2200" dirty="0">
                <a:latin typeface="Arial" panose="020B0604020202020204" pitchFamily="34" charset="0"/>
              </a:rPr>
              <a:t> </a:t>
            </a:r>
            <a:r>
              <a:rPr lang="hu-HU" altLang="en-US" sz="2200" b="1" dirty="0">
                <a:latin typeface="Arial" panose="020B0604020202020204" pitchFamily="34" charset="0"/>
              </a:rPr>
              <a:t>strukturált</a:t>
            </a:r>
            <a:r>
              <a:rPr lang="hu-HU" altLang="en-US" sz="2200" dirty="0">
                <a:latin typeface="Arial" panose="020B0604020202020204" pitchFamily="34" charset="0"/>
              </a:rPr>
              <a:t> felépítés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Envelope / Header / Body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bőbeszédű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formátum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935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5843C-E4C8-707D-DCD4-954DABCE7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874236"/>
            <a:ext cx="11155680" cy="780944"/>
          </a:xfrm>
        </p:spPr>
        <p:txBody>
          <a:bodyPr>
            <a:normAutofit/>
          </a:bodyPr>
          <a:lstStyle/>
          <a:p>
            <a:r>
              <a:rPr lang="en-US" sz="4000" dirty="0"/>
              <a:t>SOAP </a:t>
            </a:r>
            <a:r>
              <a:rPr lang="en-US" sz="4000" dirty="0" err="1"/>
              <a:t>előnyök</a:t>
            </a:r>
            <a:r>
              <a:rPr lang="en-US" sz="4000" dirty="0"/>
              <a:t> és </a:t>
            </a:r>
            <a:r>
              <a:rPr lang="en-US" sz="4000" dirty="0" err="1"/>
              <a:t>hátrányok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88B9D-2B48-2AB3-471B-6170F9992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361235"/>
            <a:ext cx="4444331" cy="2777924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sz="2400" b="1" dirty="0" err="1"/>
              <a:t>Előnyök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 err="1"/>
              <a:t>szigorú</a:t>
            </a:r>
            <a:r>
              <a:rPr lang="en-US" sz="2400" dirty="0"/>
              <a:t> </a:t>
            </a:r>
            <a:r>
              <a:rPr lang="en-US" sz="2400" dirty="0" err="1"/>
              <a:t>szerződés</a:t>
            </a:r>
            <a:r>
              <a:rPr lang="hu-HU" sz="2400" dirty="0"/>
              <a:t> (WSDL, XSD)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 err="1"/>
              <a:t>stabilitás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enterprise </a:t>
            </a:r>
            <a:r>
              <a:rPr lang="en-US" sz="2400" dirty="0" err="1"/>
              <a:t>támogatás</a:t>
            </a: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1FD978F-E5EB-8690-F205-58778F021A50}"/>
              </a:ext>
            </a:extLst>
          </p:cNvPr>
          <p:cNvSpPr txBox="1">
            <a:spLocks/>
          </p:cNvSpPr>
          <p:nvPr/>
        </p:nvSpPr>
        <p:spPr>
          <a:xfrm>
            <a:off x="5322425" y="2361235"/>
            <a:ext cx="6252258" cy="277792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70000"/>
              </a:lnSpc>
            </a:pPr>
            <a:r>
              <a:rPr lang="en-US" sz="2800" b="1" dirty="0" err="1"/>
              <a:t>Hátrányok</a:t>
            </a:r>
            <a:endParaRPr lang="en-US" sz="2800" dirty="0"/>
          </a:p>
          <a:p>
            <a:pPr>
              <a:lnSpc>
                <a:spcPct val="170000"/>
              </a:lnSpc>
            </a:pPr>
            <a:r>
              <a:rPr lang="hu-HU" sz="2800" dirty="0"/>
              <a:t>Bőbeszédű (</a:t>
            </a:r>
            <a:r>
              <a:rPr lang="hu-HU" sz="2800" dirty="0" err="1"/>
              <a:t>verbose</a:t>
            </a:r>
            <a:r>
              <a:rPr lang="hu-HU" sz="2800" dirty="0"/>
              <a:t>)</a:t>
            </a:r>
            <a:r>
              <a:rPr lang="en-US" sz="2800" dirty="0"/>
              <a:t> XML</a:t>
            </a:r>
          </a:p>
          <a:p>
            <a:pPr>
              <a:lnSpc>
                <a:spcPct val="170000"/>
              </a:lnSpc>
            </a:pPr>
            <a:r>
              <a:rPr lang="en-US" sz="2800" dirty="0" err="1"/>
              <a:t>komplexitás</a:t>
            </a:r>
            <a:endParaRPr lang="en-US" sz="2800" dirty="0"/>
          </a:p>
          <a:p>
            <a:pPr>
              <a:lnSpc>
                <a:spcPct val="170000"/>
              </a:lnSpc>
            </a:pPr>
            <a:r>
              <a:rPr lang="en-US" sz="2800" dirty="0" err="1"/>
              <a:t>lassabb</a:t>
            </a:r>
            <a:r>
              <a:rPr lang="en-US" sz="2800" dirty="0"/>
              <a:t> </a:t>
            </a:r>
            <a:r>
              <a:rPr lang="hu-HU" sz="2800" dirty="0"/>
              <a:t>adatfeldolgozás és </a:t>
            </a:r>
            <a:r>
              <a:rPr lang="en-US" sz="2800" dirty="0" err="1"/>
              <a:t>kommunikáció</a:t>
            </a:r>
            <a:endParaRPr lang="en-US" sz="2800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423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46B76-5091-244E-5417-017CD3830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85116"/>
          </a:xfrm>
        </p:spPr>
        <p:txBody>
          <a:bodyPr>
            <a:normAutofit/>
          </a:bodyPr>
          <a:lstStyle/>
          <a:p>
            <a:r>
              <a:rPr lang="en-US" sz="4000" dirty="0" err="1"/>
              <a:t>gRPC</a:t>
            </a:r>
            <a:r>
              <a:rPr lang="en-US" sz="4000" dirty="0"/>
              <a:t>: mi </a:t>
            </a:r>
            <a:r>
              <a:rPr lang="en-US" sz="4000" dirty="0" err="1"/>
              <a:t>ez</a:t>
            </a:r>
            <a:r>
              <a:rPr lang="en-US" sz="4000" dirty="0"/>
              <a:t> </a:t>
            </a:r>
            <a:r>
              <a:rPr lang="en-US" sz="4000" dirty="0" err="1"/>
              <a:t>valójában</a:t>
            </a:r>
            <a:r>
              <a:rPr lang="en-US" sz="4000" dirty="0"/>
              <a:t>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88924FA-D31A-E8E9-8063-C5FBC9DCFC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9" y="2261460"/>
            <a:ext cx="7870438" cy="3244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Google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által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fejlesztett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RPC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framework</a:t>
            </a:r>
            <a:endParaRPr kumimoji="0" lang="hu-HU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hu-HU" altLang="en-US" sz="2800" dirty="0">
                <a:latin typeface="Arial" panose="020B0604020202020204" pitchFamily="34" charset="0"/>
              </a:rPr>
              <a:t> RPC = </a:t>
            </a:r>
            <a:r>
              <a:rPr lang="hu-HU" altLang="en-US" sz="2800" dirty="0" err="1">
                <a:latin typeface="Arial" panose="020B0604020202020204" pitchFamily="34" charset="0"/>
              </a:rPr>
              <a:t>Remote</a:t>
            </a:r>
            <a:r>
              <a:rPr lang="hu-HU" altLang="en-US" sz="2800" dirty="0">
                <a:latin typeface="Arial" panose="020B0604020202020204" pitchFamily="34" charset="0"/>
              </a:rPr>
              <a:t> </a:t>
            </a:r>
            <a:r>
              <a:rPr lang="hu-HU" altLang="en-US" sz="2800" dirty="0" err="1">
                <a:latin typeface="Arial" panose="020B0604020202020204" pitchFamily="34" charset="0"/>
              </a:rPr>
              <a:t>Procedure</a:t>
            </a:r>
            <a:r>
              <a:rPr lang="hu-HU" altLang="en-US" sz="2800" dirty="0">
                <a:latin typeface="Arial" panose="020B0604020202020204" pitchFamily="34" charset="0"/>
              </a:rPr>
              <a:t> </a:t>
            </a:r>
            <a:r>
              <a:rPr lang="hu-HU" altLang="en-US" sz="2800" dirty="0" err="1">
                <a:latin typeface="Arial" panose="020B0604020202020204" pitchFamily="34" charset="0"/>
              </a:rPr>
              <a:t>Call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HTTP/2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felett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működik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bináris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kommunikáció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erős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típusosság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2364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B849D-291E-E9E5-6E71-30EF09F12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85116"/>
          </a:xfrm>
        </p:spPr>
        <p:txBody>
          <a:bodyPr>
            <a:normAutofit/>
          </a:bodyPr>
          <a:lstStyle/>
          <a:p>
            <a:r>
              <a:rPr lang="en-US" sz="4000" dirty="0" err="1"/>
              <a:t>Protobuf</a:t>
            </a:r>
            <a:r>
              <a:rPr lang="en-US" sz="4000" dirty="0"/>
              <a:t>: </a:t>
            </a:r>
            <a:r>
              <a:rPr lang="en-US" sz="4000" dirty="0" err="1"/>
              <a:t>miért</a:t>
            </a:r>
            <a:r>
              <a:rPr lang="en-US" sz="4000" dirty="0"/>
              <a:t> </a:t>
            </a:r>
            <a:r>
              <a:rPr lang="en-US" sz="4000" dirty="0" err="1"/>
              <a:t>bináris</a:t>
            </a:r>
            <a:r>
              <a:rPr lang="en-US" sz="4000" dirty="0"/>
              <a:t>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7CC8A6D-03C6-6116-B5A5-6663AF11B0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2481188"/>
            <a:ext cx="4999916" cy="2568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hu-HU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hu-HU" altLang="en-US" sz="2200" dirty="0">
                <a:latin typeface="Arial" panose="020B0604020202020204" pitchFamily="34" charset="0"/>
              </a:rPr>
              <a:t> </a:t>
            </a:r>
            <a:r>
              <a:rPr lang="hu-HU" altLang="en-US" sz="2200" b="1" dirty="0" err="1">
                <a:latin typeface="Arial" panose="020B0604020202020204" pitchFamily="34" charset="0"/>
              </a:rPr>
              <a:t>gRPC</a:t>
            </a:r>
            <a:r>
              <a:rPr lang="hu-HU" altLang="en-US" sz="2200" dirty="0">
                <a:latin typeface="Arial" panose="020B0604020202020204" pitchFamily="34" charset="0"/>
              </a:rPr>
              <a:t> alapja</a:t>
            </a:r>
            <a:endParaRPr kumimoji="0" lang="hu-HU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hu-HU" altLang="en-US" sz="2200" dirty="0">
                <a:latin typeface="Arial" panose="020B0604020202020204" pitchFamily="34" charset="0"/>
              </a:rPr>
              <a:t> </a:t>
            </a:r>
            <a:r>
              <a:rPr kumimoji="0" lang="hu-HU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strukturált</a:t>
            </a:r>
            <a:r>
              <a:rPr kumimoji="0" lang="hu-HU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u-HU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bináris</a:t>
            </a:r>
            <a:r>
              <a:rPr kumimoji="0" lang="hu-HU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adatformátum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hu-HU" altLang="en-US" sz="2200" dirty="0">
                <a:latin typeface="Arial" panose="020B0604020202020204" pitchFamily="34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kisebb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üzenetméret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gyorsabb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feldolgozás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Szigorú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séma</a:t>
            </a:r>
            <a:endParaRPr lang="hu-HU" altLang="en-US" sz="2200" dirty="0"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D0F8C9-3B4D-D3F7-F69D-F633D3BFC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365" y="2045798"/>
            <a:ext cx="5663531" cy="3741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995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82AD8-F449-6A60-A9E5-395125B70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15668"/>
          </a:xfrm>
        </p:spPr>
        <p:txBody>
          <a:bodyPr>
            <a:normAutofit/>
          </a:bodyPr>
          <a:lstStyle/>
          <a:p>
            <a:r>
              <a:rPr lang="en-US" sz="4000" dirty="0" err="1"/>
              <a:t>gRPC</a:t>
            </a:r>
            <a:r>
              <a:rPr lang="en-US" sz="4000" dirty="0"/>
              <a:t> </a:t>
            </a:r>
            <a:r>
              <a:rPr lang="en-US" sz="4000" dirty="0" err="1"/>
              <a:t>kommunikációs</a:t>
            </a:r>
            <a:r>
              <a:rPr lang="en-US" sz="4000" dirty="0"/>
              <a:t> </a:t>
            </a:r>
            <a:r>
              <a:rPr lang="en-US" sz="4000" dirty="0" err="1"/>
              <a:t>módok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5EC9C-2A1E-5BDD-F3E4-629ACE8DA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2156016"/>
            <a:ext cx="8822610" cy="3527154"/>
          </a:xfrm>
        </p:spPr>
        <p:txBody>
          <a:bodyPr/>
          <a:lstStyle/>
          <a:p>
            <a:pPr marL="0" indent="0">
              <a:buNone/>
            </a:pPr>
            <a:r>
              <a:rPr lang="hu-HU" sz="2400" b="1" dirty="0">
                <a:latin typeface="Arial" panose="020B0604020202020204" pitchFamily="34" charset="0"/>
                <a:cs typeface="Arial" panose="020B0604020202020204" pitchFamily="34" charset="0"/>
              </a:rPr>
              <a:t>HTTP/2 </a:t>
            </a: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felett működik, és az alábbi módokat támogatja:</a:t>
            </a:r>
          </a:p>
          <a:p>
            <a:pPr marL="0" indent="0">
              <a:buNone/>
            </a:pPr>
            <a:endParaRPr lang="hu-HU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Unary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(1 </a:t>
            </a: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kérés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– 1 </a:t>
            </a: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válasz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Server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streaming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Client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streaming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Bidirectional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streaming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2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68B81-6338-8C88-830C-720254501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73541"/>
          </a:xfrm>
        </p:spPr>
        <p:txBody>
          <a:bodyPr>
            <a:normAutofit/>
          </a:bodyPr>
          <a:lstStyle/>
          <a:p>
            <a:r>
              <a:rPr lang="en-US" sz="4000" dirty="0"/>
              <a:t>WebSocket: </a:t>
            </a:r>
            <a:r>
              <a:rPr lang="en-US" sz="4000" dirty="0" err="1"/>
              <a:t>miért</a:t>
            </a:r>
            <a:r>
              <a:rPr lang="en-US" sz="4000" dirty="0"/>
              <a:t> </a:t>
            </a:r>
            <a:r>
              <a:rPr lang="en-US" sz="4000" dirty="0" err="1"/>
              <a:t>kellett</a:t>
            </a:r>
            <a:r>
              <a:rPr lang="en-US" sz="4000" dirty="0"/>
              <a:t>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420B849-FECB-29C8-7B55-E06AB7D9B5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2099458"/>
            <a:ext cx="5250701" cy="3155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A HTTP </a:t>
            </a:r>
            <a:r>
              <a:rPr lang="en-US" sz="2400" b="1" dirty="0" err="1"/>
              <a:t>korlátai</a:t>
            </a:r>
            <a:r>
              <a:rPr lang="en-US" sz="2400" b="1" dirty="0"/>
              <a:t> real-time </a:t>
            </a:r>
            <a:r>
              <a:rPr lang="en-US" sz="2400" b="1" dirty="0" err="1"/>
              <a:t>esetén</a:t>
            </a:r>
            <a:endParaRPr lang="en-US" sz="2400" b="1" dirty="0"/>
          </a:p>
          <a:p>
            <a:pPr>
              <a:lnSpc>
                <a:spcPct val="150000"/>
              </a:lnSpc>
            </a:pPr>
            <a:r>
              <a:rPr lang="en-US" sz="2200" dirty="0"/>
              <a:t>HTTP </a:t>
            </a:r>
            <a:r>
              <a:rPr lang="en-US" sz="2200" b="1" dirty="0"/>
              <a:t>stateless</a:t>
            </a:r>
          </a:p>
          <a:p>
            <a:pPr>
              <a:lnSpc>
                <a:spcPct val="150000"/>
              </a:lnSpc>
            </a:pPr>
            <a:r>
              <a:rPr lang="en-US" sz="2200" b="1" dirty="0" err="1"/>
              <a:t>kérés</a:t>
            </a:r>
            <a:r>
              <a:rPr lang="en-US" sz="2200" b="1" dirty="0"/>
              <a:t>–</a:t>
            </a:r>
            <a:r>
              <a:rPr lang="en-US" sz="2200" b="1" dirty="0" err="1"/>
              <a:t>válasz</a:t>
            </a:r>
            <a:r>
              <a:rPr lang="en-US" sz="2200" b="1" dirty="0"/>
              <a:t> </a:t>
            </a:r>
            <a:r>
              <a:rPr lang="en-US" sz="2200" dirty="0" err="1"/>
              <a:t>modell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b="1" dirty="0"/>
              <a:t>polling</a:t>
            </a:r>
            <a:r>
              <a:rPr lang="en-US" sz="2200" dirty="0"/>
              <a:t> → </a:t>
            </a:r>
            <a:r>
              <a:rPr lang="en-US" sz="2200" dirty="0" err="1"/>
              <a:t>pazarló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 err="1"/>
              <a:t>nincs</a:t>
            </a:r>
            <a:r>
              <a:rPr lang="en-US" sz="2200" dirty="0"/>
              <a:t> </a:t>
            </a:r>
            <a:r>
              <a:rPr lang="en-US" sz="2200" dirty="0" err="1"/>
              <a:t>natív</a:t>
            </a:r>
            <a:r>
              <a:rPr lang="en-US" sz="2200" dirty="0"/>
              <a:t> </a:t>
            </a:r>
            <a:r>
              <a:rPr lang="en-US" sz="2200" dirty="0" err="1"/>
              <a:t>szerver</a:t>
            </a:r>
            <a:r>
              <a:rPr lang="en-US" sz="2200" dirty="0"/>
              <a:t> → </a:t>
            </a:r>
            <a:r>
              <a:rPr lang="en-US" sz="2200" dirty="0" err="1"/>
              <a:t>kliens</a:t>
            </a:r>
            <a:r>
              <a:rPr lang="en-US" sz="2200" dirty="0"/>
              <a:t> </a:t>
            </a:r>
            <a:r>
              <a:rPr lang="en-US" sz="2200" b="1" dirty="0"/>
              <a:t>push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B9530BD-F3B8-50A4-9468-73E2F65A0C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0093" y="2099458"/>
            <a:ext cx="4934673" cy="304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WebSocket </a:t>
            </a:r>
            <a:r>
              <a:rPr lang="en-US" sz="2400" b="1" dirty="0" err="1"/>
              <a:t>megoldás</a:t>
            </a:r>
            <a:endParaRPr lang="en-US" sz="2400" b="1" dirty="0"/>
          </a:p>
          <a:p>
            <a:pPr>
              <a:lnSpc>
                <a:spcPct val="150000"/>
              </a:lnSpc>
            </a:pPr>
            <a:r>
              <a:rPr lang="en-US" sz="2200" b="1" dirty="0" err="1"/>
              <a:t>egyszeri</a:t>
            </a:r>
            <a:r>
              <a:rPr lang="en-US" sz="2200" dirty="0"/>
              <a:t> </a:t>
            </a:r>
            <a:r>
              <a:rPr lang="en-US" sz="2200" dirty="0" err="1"/>
              <a:t>kapcsolatfelépítés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b="1" dirty="0" err="1"/>
              <a:t>állandó</a:t>
            </a:r>
            <a:r>
              <a:rPr lang="en-US" sz="2200" dirty="0"/>
              <a:t>, </a:t>
            </a:r>
            <a:r>
              <a:rPr lang="en-US" sz="2200" b="1" dirty="0" err="1"/>
              <a:t>kétirányú</a:t>
            </a:r>
            <a:r>
              <a:rPr lang="en-US" sz="2200" dirty="0"/>
              <a:t> </a:t>
            </a:r>
            <a:r>
              <a:rPr lang="en-US" sz="2200" dirty="0" err="1"/>
              <a:t>kapcsolat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b="1" dirty="0" err="1"/>
              <a:t>alacsony</a:t>
            </a:r>
            <a:r>
              <a:rPr lang="en-US" sz="2200" dirty="0"/>
              <a:t> </a:t>
            </a:r>
            <a:r>
              <a:rPr lang="en-US" sz="2200" dirty="0" err="1"/>
              <a:t>késleltetés</a:t>
            </a:r>
            <a:r>
              <a:rPr lang="en-US" sz="2200" dirty="0"/>
              <a:t> (real-time)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en-U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4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9F8B5-E9E0-A210-35D5-AB54D6B34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874236"/>
            <a:ext cx="11155680" cy="861967"/>
          </a:xfrm>
        </p:spPr>
        <p:txBody>
          <a:bodyPr>
            <a:normAutofit/>
          </a:bodyPr>
          <a:lstStyle/>
          <a:p>
            <a:r>
              <a:rPr lang="hu-HU" sz="4000" dirty="0" err="1"/>
              <a:t>WebSocket</a:t>
            </a:r>
            <a:r>
              <a:rPr lang="hu-HU" sz="4000" dirty="0"/>
              <a:t> működése</a:t>
            </a:r>
            <a:endParaRPr lang="en-US" sz="4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F6607A-3239-888D-EC54-99B3851E4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179" y="1823430"/>
            <a:ext cx="8021255" cy="460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098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3886E-8440-CBC9-CD4A-93567D25B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897386"/>
            <a:ext cx="11155680" cy="908265"/>
          </a:xfrm>
        </p:spPr>
        <p:txBody>
          <a:bodyPr>
            <a:normAutofit/>
          </a:bodyPr>
          <a:lstStyle/>
          <a:p>
            <a:r>
              <a:rPr lang="en-US" sz="4000" dirty="0"/>
              <a:t>WebSocket </a:t>
            </a:r>
            <a:r>
              <a:rPr lang="en-US" sz="4000" dirty="0" err="1"/>
              <a:t>előnyök</a:t>
            </a:r>
            <a:r>
              <a:rPr lang="en-US" sz="4000" dirty="0"/>
              <a:t> és </a:t>
            </a:r>
            <a:r>
              <a:rPr lang="en-US" sz="4000" dirty="0" err="1"/>
              <a:t>korlátok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A03AD-0D7E-C11D-6907-F9A65DDEB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988299"/>
            <a:ext cx="11155680" cy="412313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b="1" dirty="0" err="1"/>
              <a:t>Előny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200" dirty="0"/>
              <a:t>real-time</a:t>
            </a:r>
            <a:r>
              <a:rPr lang="hu-HU" sz="2200" dirty="0"/>
              <a:t> </a:t>
            </a:r>
            <a:r>
              <a:rPr lang="hu-HU" sz="2200" dirty="0" err="1"/>
              <a:t>kétirányú</a:t>
            </a:r>
            <a:r>
              <a:rPr lang="hu-HU" sz="2200" dirty="0"/>
              <a:t> kommunikáció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 err="1"/>
              <a:t>alacsony</a:t>
            </a:r>
            <a:r>
              <a:rPr lang="en-US" sz="2200" dirty="0"/>
              <a:t> </a:t>
            </a:r>
            <a:r>
              <a:rPr lang="hu-HU" sz="2200" dirty="0"/>
              <a:t>késleltetés (</a:t>
            </a:r>
            <a:r>
              <a:rPr lang="hu-HU" sz="2200" dirty="0" err="1"/>
              <a:t>low</a:t>
            </a:r>
            <a:r>
              <a:rPr lang="hu-HU" sz="2200" dirty="0"/>
              <a:t> </a:t>
            </a:r>
            <a:r>
              <a:rPr lang="hu-HU" sz="2200" dirty="0" err="1"/>
              <a:t>latency</a:t>
            </a:r>
            <a:r>
              <a:rPr lang="hu-HU" sz="2200" dirty="0"/>
              <a:t>)</a:t>
            </a:r>
            <a:endParaRPr lang="en-US" sz="2200" dirty="0"/>
          </a:p>
          <a:p>
            <a:pPr>
              <a:lnSpc>
                <a:spcPct val="200000"/>
              </a:lnSpc>
            </a:pPr>
            <a:r>
              <a:rPr lang="en-US" sz="2400" b="1" dirty="0" err="1"/>
              <a:t>Hátrány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200" dirty="0" err="1"/>
              <a:t>Állandó</a:t>
            </a:r>
            <a:r>
              <a:rPr lang="hu-HU" sz="2200" dirty="0"/>
              <a:t> (</a:t>
            </a:r>
            <a:r>
              <a:rPr lang="hu-HU" sz="2200" dirty="0" err="1"/>
              <a:t>stateful</a:t>
            </a:r>
            <a:r>
              <a:rPr lang="hu-HU" sz="2200" dirty="0"/>
              <a:t>)</a:t>
            </a:r>
            <a:r>
              <a:rPr lang="en-US" sz="2200" dirty="0"/>
              <a:t> </a:t>
            </a:r>
            <a:r>
              <a:rPr lang="en-US" sz="2200" dirty="0" err="1"/>
              <a:t>kapcsolat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 err="1"/>
              <a:t>skálázási</a:t>
            </a:r>
            <a:r>
              <a:rPr lang="en-US" sz="2200" dirty="0"/>
              <a:t> </a:t>
            </a:r>
            <a:r>
              <a:rPr lang="hu-HU" sz="2200" dirty="0"/>
              <a:t>és üzemeltetési </a:t>
            </a:r>
            <a:r>
              <a:rPr lang="en-US" sz="2200" dirty="0" err="1"/>
              <a:t>nehézségek</a:t>
            </a:r>
            <a:endParaRPr lang="en-US" sz="22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993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B2473-55F6-5A28-0852-BF92D2885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42989"/>
          </a:xfrm>
        </p:spPr>
        <p:txBody>
          <a:bodyPr>
            <a:normAutofit/>
          </a:bodyPr>
          <a:lstStyle/>
          <a:p>
            <a:r>
              <a:rPr lang="en-US" sz="4000" dirty="0"/>
              <a:t>Microservice: mi </a:t>
            </a:r>
            <a:r>
              <a:rPr lang="en-US" sz="4000" dirty="0" err="1"/>
              <a:t>ez</a:t>
            </a:r>
            <a:r>
              <a:rPr lang="en-US" sz="4000" dirty="0"/>
              <a:t> </a:t>
            </a:r>
            <a:r>
              <a:rPr lang="en-US" sz="4000" dirty="0" err="1"/>
              <a:t>egyáltalán</a:t>
            </a:r>
            <a:r>
              <a:rPr lang="en-US" sz="4000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12D56-12F4-00EC-1588-0EEADDCC1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921397"/>
            <a:ext cx="11155680" cy="4439261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Microservice = </a:t>
            </a:r>
            <a:r>
              <a:rPr lang="en-US" sz="2400" b="1" dirty="0" err="1"/>
              <a:t>architektúra</a:t>
            </a:r>
            <a:r>
              <a:rPr lang="en-US" sz="2400" b="1" dirty="0"/>
              <a:t>,</a:t>
            </a:r>
            <a:r>
              <a:rPr lang="hu-HU" sz="2400" b="1" dirty="0"/>
              <a:t> </a:t>
            </a:r>
            <a:r>
              <a:rPr lang="en-US" sz="2400" b="1" dirty="0" err="1"/>
              <a:t>nem</a:t>
            </a:r>
            <a:r>
              <a:rPr lang="hu-HU" sz="2400" b="1" dirty="0"/>
              <a:t> </a:t>
            </a:r>
            <a:r>
              <a:rPr lang="en-US" sz="2400" b="1" dirty="0" err="1"/>
              <a:t>technológia</a:t>
            </a:r>
            <a:r>
              <a:rPr lang="hu-HU" sz="2400" b="1" dirty="0"/>
              <a:t> és nem protokoll</a:t>
            </a:r>
            <a:endParaRPr lang="en-US" sz="2400" b="1" dirty="0"/>
          </a:p>
          <a:p>
            <a:pPr>
              <a:lnSpc>
                <a:spcPct val="150000"/>
              </a:lnSpc>
            </a:pPr>
            <a:r>
              <a:rPr lang="en-US" sz="2400" b="1" dirty="0"/>
              <a:t>Sok </a:t>
            </a:r>
            <a:r>
              <a:rPr lang="en-US" sz="2400" b="1" dirty="0" err="1"/>
              <a:t>kis</a:t>
            </a:r>
            <a:r>
              <a:rPr lang="en-US" sz="2400" dirty="0"/>
              <a:t>, </a:t>
            </a:r>
            <a:r>
              <a:rPr lang="en-US" sz="2400" dirty="0" err="1"/>
              <a:t>jól</a:t>
            </a:r>
            <a:r>
              <a:rPr lang="en-US" sz="2400" dirty="0"/>
              <a:t> </a:t>
            </a:r>
            <a:r>
              <a:rPr lang="en-US" sz="2400" dirty="0" err="1"/>
              <a:t>körülhatárolt</a:t>
            </a:r>
            <a:r>
              <a:rPr lang="en-US" sz="2400" dirty="0"/>
              <a:t> </a:t>
            </a:r>
            <a:r>
              <a:rPr lang="en-US" sz="2400" b="1" dirty="0" err="1"/>
              <a:t>szolgáltatás</a:t>
            </a:r>
            <a:endParaRPr lang="en-US" sz="2400" b="1" dirty="0"/>
          </a:p>
          <a:p>
            <a:pPr>
              <a:lnSpc>
                <a:spcPct val="150000"/>
              </a:lnSpc>
            </a:pPr>
            <a:r>
              <a:rPr lang="en-US" sz="2400" b="1" dirty="0" err="1"/>
              <a:t>Önállóan</a:t>
            </a:r>
            <a:r>
              <a:rPr lang="en-US" sz="2400" dirty="0"/>
              <a:t> </a:t>
            </a:r>
            <a:r>
              <a:rPr lang="en-US" sz="2400" dirty="0" err="1"/>
              <a:t>fejleszthető</a:t>
            </a:r>
            <a:r>
              <a:rPr lang="en-US" sz="2400" dirty="0"/>
              <a:t> és </a:t>
            </a:r>
            <a:r>
              <a:rPr lang="hu-HU" sz="2400" dirty="0"/>
              <a:t>telepíthető szolgáltatások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 err="1"/>
              <a:t>Saját</a:t>
            </a:r>
            <a:r>
              <a:rPr lang="en-US" sz="2400" dirty="0"/>
              <a:t> </a:t>
            </a:r>
            <a:r>
              <a:rPr lang="en-US" sz="2400" dirty="0" err="1"/>
              <a:t>adatkezelés</a:t>
            </a:r>
            <a:r>
              <a:rPr lang="hu-HU" sz="2400" dirty="0" err="1"/>
              <a:t>sel</a:t>
            </a:r>
            <a:r>
              <a:rPr lang="hu-HU" sz="2400" dirty="0"/>
              <a:t> (business </a:t>
            </a:r>
            <a:r>
              <a:rPr lang="hu-HU" sz="2400" dirty="0" err="1"/>
              <a:t>domain</a:t>
            </a:r>
            <a:r>
              <a:rPr lang="hu-HU" sz="2400" dirty="0"/>
              <a:t>) rendelkezik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 err="1"/>
              <a:t>Hálózaton</a:t>
            </a:r>
            <a:r>
              <a:rPr lang="en-US" sz="2400" dirty="0"/>
              <a:t> </a:t>
            </a:r>
            <a:r>
              <a:rPr lang="en-US" sz="2400" dirty="0" err="1"/>
              <a:t>kommunikálnak</a:t>
            </a:r>
            <a:r>
              <a:rPr lang="en-US" sz="2400" dirty="0"/>
              <a:t> </a:t>
            </a:r>
            <a:r>
              <a:rPr lang="en-US" sz="2400" dirty="0" err="1"/>
              <a:t>egymással</a:t>
            </a:r>
            <a:endParaRPr lang="en-US" sz="2400" dirty="0"/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sz="2000" b="1" dirty="0"/>
              <a:t>A </a:t>
            </a:r>
            <a:r>
              <a:rPr lang="hu-HU" sz="2000" b="1" dirty="0" err="1"/>
              <a:t>microservice</a:t>
            </a:r>
            <a:r>
              <a:rPr lang="hu-HU" sz="2000" b="1" dirty="0"/>
              <a:t> architektúra a rendszer logikai felbontása kisebb, önállóan működő, egymással kommunikáló szolgáltatásokra</a:t>
            </a:r>
            <a:r>
              <a:rPr lang="hu-HU" sz="2000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1994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9E867-B0A5-A06F-38CB-218FD2052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858885"/>
            <a:ext cx="11155680" cy="861966"/>
          </a:xfrm>
        </p:spPr>
        <p:txBody>
          <a:bodyPr>
            <a:normAutofit/>
          </a:bodyPr>
          <a:lstStyle/>
          <a:p>
            <a:r>
              <a:rPr lang="en-US" sz="3600" dirty="0" err="1"/>
              <a:t>Kommunikáció</a:t>
            </a:r>
            <a:r>
              <a:rPr lang="en-US" sz="3600" dirty="0"/>
              <a:t> microservice </a:t>
            </a:r>
            <a:r>
              <a:rPr lang="en-US" sz="3600" dirty="0" err="1"/>
              <a:t>architektúrában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9442A-D38D-7356-1E97-0C75AC56E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7" y="2619254"/>
            <a:ext cx="4859091" cy="3892553"/>
          </a:xfrm>
        </p:spPr>
        <p:txBody>
          <a:bodyPr>
            <a:normAutofit lnSpcReduction="10000"/>
          </a:bodyPr>
          <a:lstStyle/>
          <a:p>
            <a:r>
              <a:rPr lang="en-US" sz="2000" b="1" dirty="0"/>
              <a:t>REST – </a:t>
            </a:r>
            <a:r>
              <a:rPr lang="en-US" sz="2000" b="1" dirty="0" err="1"/>
              <a:t>külső</a:t>
            </a:r>
            <a:r>
              <a:rPr lang="en-US" sz="2000" b="1" dirty="0"/>
              <a:t> API</a:t>
            </a:r>
            <a:endParaRPr lang="en-US" sz="2000" dirty="0"/>
          </a:p>
          <a:p>
            <a:r>
              <a:rPr lang="en-US" sz="2000" dirty="0" err="1"/>
              <a:t>böngészők</a:t>
            </a:r>
            <a:r>
              <a:rPr lang="en-US" sz="2000" dirty="0"/>
              <a:t>, </a:t>
            </a:r>
            <a:r>
              <a:rPr lang="en-US" sz="2000" dirty="0" err="1"/>
              <a:t>mobil</a:t>
            </a:r>
            <a:r>
              <a:rPr lang="en-US" sz="2000" dirty="0"/>
              <a:t> </a:t>
            </a:r>
            <a:r>
              <a:rPr lang="en-US" sz="2000" dirty="0" err="1"/>
              <a:t>kliensek</a:t>
            </a:r>
            <a:endParaRPr lang="en-US" sz="2000" dirty="0"/>
          </a:p>
          <a:p>
            <a:r>
              <a:rPr lang="en-US" sz="2000" dirty="0" err="1"/>
              <a:t>publikus</a:t>
            </a:r>
            <a:r>
              <a:rPr lang="en-US" sz="2000" dirty="0"/>
              <a:t>, </a:t>
            </a:r>
            <a:r>
              <a:rPr lang="hu-HU" sz="2000" dirty="0"/>
              <a:t>(„</a:t>
            </a:r>
            <a:r>
              <a:rPr lang="en-US" sz="2000" dirty="0" err="1"/>
              <a:t>emberbarát</a:t>
            </a:r>
            <a:r>
              <a:rPr lang="hu-HU" sz="2000" dirty="0"/>
              <a:t>”) szöveges</a:t>
            </a:r>
            <a:endParaRPr lang="en-US" sz="2000" dirty="0"/>
          </a:p>
          <a:p>
            <a:r>
              <a:rPr lang="en-US" sz="2000" dirty="0"/>
              <a:t>HTTP/JSON</a:t>
            </a:r>
          </a:p>
          <a:p>
            <a:pPr>
              <a:lnSpc>
                <a:spcPct val="200000"/>
              </a:lnSpc>
            </a:pPr>
            <a:r>
              <a:rPr lang="en-US" sz="2000" b="1" dirty="0" err="1"/>
              <a:t>gRPC</a:t>
            </a:r>
            <a:r>
              <a:rPr lang="en-US" sz="2000" b="1" dirty="0"/>
              <a:t> – </a:t>
            </a:r>
            <a:r>
              <a:rPr lang="en-US" sz="2000" b="1" dirty="0" err="1"/>
              <a:t>belső</a:t>
            </a:r>
            <a:r>
              <a:rPr lang="en-US" sz="2000" b="1" dirty="0"/>
              <a:t> </a:t>
            </a:r>
            <a:r>
              <a:rPr lang="en-US" sz="2000" b="1" dirty="0" err="1"/>
              <a:t>kommunikáció</a:t>
            </a:r>
            <a:endParaRPr lang="en-US" sz="2000" dirty="0"/>
          </a:p>
          <a:p>
            <a:r>
              <a:rPr lang="en-US" sz="2000" dirty="0"/>
              <a:t>microservice ↔ microservice</a:t>
            </a:r>
          </a:p>
          <a:p>
            <a:r>
              <a:rPr lang="en-US" sz="2000" dirty="0" err="1"/>
              <a:t>nagy</a:t>
            </a:r>
            <a:r>
              <a:rPr lang="en-US" sz="2000" dirty="0"/>
              <a:t> </a:t>
            </a:r>
            <a:r>
              <a:rPr lang="en-US" sz="2000" dirty="0" err="1"/>
              <a:t>teljesítmény</a:t>
            </a:r>
            <a:endParaRPr lang="en-US" sz="2000" dirty="0"/>
          </a:p>
          <a:p>
            <a:r>
              <a:rPr lang="en-US" sz="2000" dirty="0" err="1"/>
              <a:t>bináris</a:t>
            </a:r>
            <a:r>
              <a:rPr lang="en-US" sz="2000" dirty="0"/>
              <a:t>, </a:t>
            </a:r>
            <a:r>
              <a:rPr lang="en-US" sz="2000" dirty="0" err="1"/>
              <a:t>erősen</a:t>
            </a:r>
            <a:r>
              <a:rPr lang="en-US" sz="2000" dirty="0"/>
              <a:t> </a:t>
            </a:r>
            <a:r>
              <a:rPr lang="en-US" sz="2000" dirty="0" err="1"/>
              <a:t>típusos</a:t>
            </a:r>
            <a:endParaRPr lang="en-US" sz="20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8D193AA-2552-4B08-75EE-FBEDA504BA6F}"/>
              </a:ext>
            </a:extLst>
          </p:cNvPr>
          <p:cNvSpPr txBox="1">
            <a:spLocks/>
          </p:cNvSpPr>
          <p:nvPr/>
        </p:nvSpPr>
        <p:spPr>
          <a:xfrm>
            <a:off x="6437801" y="2622630"/>
            <a:ext cx="4859091" cy="27827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WebSocket – real-time</a:t>
            </a:r>
            <a:endParaRPr lang="en-US" sz="2000" dirty="0"/>
          </a:p>
          <a:p>
            <a:r>
              <a:rPr lang="hu-HU" sz="2000" dirty="0"/>
              <a:t>Böngészők, mobil kliensek</a:t>
            </a:r>
          </a:p>
          <a:p>
            <a:r>
              <a:rPr lang="en-US" sz="2000" dirty="0" err="1"/>
              <a:t>események</a:t>
            </a:r>
            <a:r>
              <a:rPr lang="en-US" sz="2000" dirty="0"/>
              <a:t>, push </a:t>
            </a:r>
            <a:r>
              <a:rPr lang="en-US" sz="2000" dirty="0" err="1"/>
              <a:t>értesítések</a:t>
            </a:r>
            <a:endParaRPr lang="en-US" sz="2000" dirty="0"/>
          </a:p>
          <a:p>
            <a:r>
              <a:rPr lang="en-US" sz="2000" dirty="0" err="1"/>
              <a:t>folyamatos</a:t>
            </a:r>
            <a:r>
              <a:rPr lang="en-US" sz="2000" dirty="0"/>
              <a:t> </a:t>
            </a:r>
            <a:r>
              <a:rPr lang="hu-HU" sz="2000" dirty="0" err="1"/>
              <a:t>kétirányú</a:t>
            </a:r>
            <a:r>
              <a:rPr lang="hu-HU" sz="2000" dirty="0"/>
              <a:t> </a:t>
            </a:r>
            <a:r>
              <a:rPr lang="en-US" sz="2000" dirty="0" err="1"/>
              <a:t>kapcsolat</a:t>
            </a:r>
            <a:endParaRPr lang="en-US" sz="2000" dirty="0"/>
          </a:p>
          <a:p>
            <a:r>
              <a:rPr lang="en-US" sz="2000" dirty="0" err="1"/>
              <a:t>alacsony</a:t>
            </a:r>
            <a:r>
              <a:rPr lang="en-US" sz="2000" dirty="0"/>
              <a:t> </a:t>
            </a:r>
            <a:r>
              <a:rPr lang="en-US" sz="2000" dirty="0" err="1"/>
              <a:t>késleltetés</a:t>
            </a:r>
            <a:endParaRPr lang="en-US" sz="2000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49F34C-7641-2D63-CFD7-8EB276D642D2}"/>
              </a:ext>
            </a:extLst>
          </p:cNvPr>
          <p:cNvSpPr txBox="1"/>
          <p:nvPr/>
        </p:nvSpPr>
        <p:spPr>
          <a:xfrm>
            <a:off x="521207" y="1830805"/>
            <a:ext cx="85649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Egy modern </a:t>
            </a:r>
            <a:r>
              <a:rPr lang="en-US" sz="2400" b="1" dirty="0" err="1"/>
              <a:t>rendszerben</a:t>
            </a:r>
            <a:r>
              <a:rPr lang="en-US" sz="2400" b="1" dirty="0"/>
              <a:t> </a:t>
            </a:r>
            <a:r>
              <a:rPr lang="en-US" sz="2400" b="1" dirty="0" err="1"/>
              <a:t>több</a:t>
            </a:r>
            <a:r>
              <a:rPr lang="en-US" sz="2400" b="1" dirty="0"/>
              <a:t> </a:t>
            </a:r>
            <a:r>
              <a:rPr lang="en-US" sz="2400" b="1" dirty="0" err="1"/>
              <a:t>protokoll</a:t>
            </a:r>
            <a:r>
              <a:rPr lang="en-US" sz="2400" b="1" dirty="0"/>
              <a:t> </a:t>
            </a:r>
            <a:r>
              <a:rPr lang="en-US" sz="2400" b="1" dirty="0" err="1"/>
              <a:t>együtt</a:t>
            </a:r>
            <a:r>
              <a:rPr lang="en-US" sz="2400" b="1" dirty="0"/>
              <a:t> </a:t>
            </a:r>
            <a:r>
              <a:rPr lang="en-US" sz="2400" b="1" dirty="0" err="1"/>
              <a:t>él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975947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E35E4E-80AE-EC6F-A9EE-0C5185589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409" y="1066115"/>
            <a:ext cx="8542117" cy="5321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321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55C51B4-FDDD-A7E3-33CE-6933F46DD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0927" y="1030146"/>
            <a:ext cx="8055980" cy="5329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0080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32E2D-F677-B187-DD35-131D6E3E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96691"/>
          </a:xfrm>
        </p:spPr>
        <p:txBody>
          <a:bodyPr>
            <a:normAutofit/>
          </a:bodyPr>
          <a:lstStyle/>
          <a:p>
            <a:r>
              <a:rPr lang="en-US" sz="4000" dirty="0" err="1"/>
              <a:t>Össz</a:t>
            </a:r>
            <a:r>
              <a:rPr lang="hu-HU" sz="4000" dirty="0" err="1"/>
              <a:t>efoglalás</a:t>
            </a:r>
            <a:endParaRPr lang="en-US" sz="40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70D2206-429B-47A5-27E0-AC13500965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003320"/>
              </p:ext>
            </p:extLst>
          </p:nvPr>
        </p:nvGraphicFramePr>
        <p:xfrm>
          <a:off x="521207" y="2338087"/>
          <a:ext cx="10023330" cy="3385225"/>
        </p:xfrm>
        <a:graphic>
          <a:graphicData uri="http://schemas.openxmlformats.org/drawingml/2006/table">
            <a:tbl>
              <a:tblPr/>
              <a:tblGrid>
                <a:gridCol w="3735852">
                  <a:extLst>
                    <a:ext uri="{9D8B030D-6E8A-4147-A177-3AD203B41FA5}">
                      <a16:colId xmlns:a16="http://schemas.microsoft.com/office/drawing/2014/main" val="2968867978"/>
                    </a:ext>
                  </a:extLst>
                </a:gridCol>
                <a:gridCol w="6287478">
                  <a:extLst>
                    <a:ext uri="{9D8B030D-6E8A-4147-A177-3AD203B41FA5}">
                      <a16:colId xmlns:a16="http://schemas.microsoft.com/office/drawing/2014/main" val="2426197452"/>
                    </a:ext>
                  </a:extLst>
                </a:gridCol>
              </a:tblGrid>
              <a:tr h="6770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 err="1"/>
                        <a:t>Technológia</a:t>
                      </a:r>
                      <a:endParaRPr 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 err="1"/>
                        <a:t>Tipikus</a:t>
                      </a:r>
                      <a:r>
                        <a:rPr lang="en-US" sz="2400" b="1" dirty="0"/>
                        <a:t> </a:t>
                      </a:r>
                      <a:r>
                        <a:rPr lang="en-US" sz="2400" b="1" dirty="0" err="1"/>
                        <a:t>cél</a:t>
                      </a:r>
                      <a:endParaRPr 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61835"/>
                  </a:ext>
                </a:extLst>
              </a:tr>
              <a:tr h="6770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SOAP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legacy enterprise</a:t>
                      </a:r>
                      <a:r>
                        <a:rPr lang="hu-HU" sz="2400" dirty="0"/>
                        <a:t> rendszerek integrációja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775267"/>
                  </a:ext>
                </a:extLst>
              </a:tr>
              <a:tr h="6770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gRPC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 err="1"/>
                        <a:t>belső</a:t>
                      </a:r>
                      <a:r>
                        <a:rPr lang="en-US" sz="2400" dirty="0"/>
                        <a:t> microservice</a:t>
                      </a:r>
                      <a:r>
                        <a:rPr lang="hu-HU" sz="2400" dirty="0"/>
                        <a:t> kommunikáció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45569"/>
                  </a:ext>
                </a:extLst>
              </a:tr>
              <a:tr h="6770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WebSocket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real-time</a:t>
                      </a:r>
                      <a:r>
                        <a:rPr lang="hu-HU" sz="2400" dirty="0"/>
                        <a:t> web kommunikáció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1125532"/>
                  </a:ext>
                </a:extLst>
              </a:tr>
              <a:tr h="6770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REST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 err="1"/>
                        <a:t>publikus</a:t>
                      </a:r>
                      <a:r>
                        <a:rPr lang="en-US" sz="2400" dirty="0"/>
                        <a:t> </a:t>
                      </a:r>
                      <a:r>
                        <a:rPr lang="hu-HU" sz="2400" dirty="0"/>
                        <a:t>Web </a:t>
                      </a:r>
                      <a:r>
                        <a:rPr lang="en-US" sz="2400" dirty="0"/>
                        <a:t>API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2357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7921055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1395</TotalTime>
  <Words>2054</Words>
  <Application>Microsoft Office PowerPoint</Application>
  <PresentationFormat>Widescreen</PresentationFormat>
  <Paragraphs>320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Bierstadt</vt:lpstr>
      <vt:lpstr>GestaltVTI</vt:lpstr>
      <vt:lpstr>SOAP &amp; XML · gRPC &amp; Protobuf · WebSocket  Microservice kommunikáció – áttekintés   Hagyományos és modern kommunikációs technológiák összehasonlítása </vt:lpstr>
      <vt:lpstr>Miért létezik ennyi kommunikációs technológia?</vt:lpstr>
      <vt:lpstr>SOAP: történeti és üzleti háttér</vt:lpstr>
      <vt:lpstr>SOAP építőelemei: WSDL és XSD</vt:lpstr>
      <vt:lpstr>SOAP üzenet felépítése</vt:lpstr>
      <vt:lpstr>SOAP előnyök és hátrányok</vt:lpstr>
      <vt:lpstr>gRPC: mi ez valójában?</vt:lpstr>
      <vt:lpstr>Protobuf: miért bináris?</vt:lpstr>
      <vt:lpstr>gRPC kommunikációs módok</vt:lpstr>
      <vt:lpstr>WebSocket: miért kellett?</vt:lpstr>
      <vt:lpstr>WebSocket működése</vt:lpstr>
      <vt:lpstr>WebSocket előnyök és korlátok</vt:lpstr>
      <vt:lpstr>Microservice: mi ez egyáltalán?</vt:lpstr>
      <vt:lpstr>Kommunikáció microservice architektúrában</vt:lpstr>
      <vt:lpstr>PowerPoint Presentation</vt:lpstr>
      <vt:lpstr>PowerPoint Presentation</vt:lpstr>
      <vt:lpstr>Összefoglalás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Zoltan Balogh</dc:creator>
  <cp:lastModifiedBy>Zoltan Balogh</cp:lastModifiedBy>
  <cp:revision>118</cp:revision>
  <dcterms:created xsi:type="dcterms:W3CDTF">2025-11-30T15:45:28Z</dcterms:created>
  <dcterms:modified xsi:type="dcterms:W3CDTF">2026-05-03T15:33:24Z</dcterms:modified>
</cp:coreProperties>
</file>